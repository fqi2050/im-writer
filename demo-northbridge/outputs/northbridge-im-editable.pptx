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a140d7b5884ad9" /><Relationship Type="http://schemas.openxmlformats.org/officeDocument/2006/relationships/extended-properties" Target="/docProps/app.xml" Id="R55ffa3ee1b75461b" /><Relationship Type="http://schemas.openxmlformats.org/officeDocument/2006/relationships/officeDocument" Target="/ppt/presentation.xml" Id="Ra8a6dfd36ce24733" /></Relationships>
</file>

<file path=ppt/presentation.xml><?xml version="1.0" encoding="utf-8"?>
<p:presentation xmlns:p="http://schemas.openxmlformats.org/presentationml/2006/main">
  <p:sldMasterIdLst>
    <p:sldMasterId xmlns:r="http://schemas.openxmlformats.org/officeDocument/2006/relationships" id="2147483648" r:id="R8f3e4bf9dc274c57"/>
  </p:sldMasterIdLst>
  <p:notesMasterIdLst>
    <p:notesMasterId xmlns:r="http://schemas.openxmlformats.org/officeDocument/2006/relationships" r:id="R7381f39bff434d1e"/>
  </p:notesMasterIdLst>
  <p:sldIdLst>
    <p:sldId xmlns:r="http://schemas.openxmlformats.org/officeDocument/2006/relationships" id="256" r:id="R0ce76bc5b66240ed"/>
    <p:sldId xmlns:r="http://schemas.openxmlformats.org/officeDocument/2006/relationships" id="257" r:id="R10dec70f03e24466"/>
    <p:sldId xmlns:r="http://schemas.openxmlformats.org/officeDocument/2006/relationships" id="258" r:id="R79650e84bb9c4e2f"/>
    <p:sldId xmlns:r="http://schemas.openxmlformats.org/officeDocument/2006/relationships" id="259" r:id="R9bd4bafbc0a44847"/>
    <p:sldId xmlns:r="http://schemas.openxmlformats.org/officeDocument/2006/relationships" id="260" r:id="R344760912e0d49fc"/>
    <p:sldId xmlns:r="http://schemas.openxmlformats.org/officeDocument/2006/relationships" id="261" r:id="R0a6340b5708f455b"/>
    <p:sldId xmlns:r="http://schemas.openxmlformats.org/officeDocument/2006/relationships" id="262" r:id="Rb00cfd94724e4cec"/>
    <p:sldId xmlns:r="http://schemas.openxmlformats.org/officeDocument/2006/relationships" id="263" r:id="R7c9160d6db534e44"/>
    <p:sldId xmlns:r="http://schemas.openxmlformats.org/officeDocument/2006/relationships" id="264" r:id="Rdc10ff18f69944e1"/>
    <p:sldId xmlns:r="http://schemas.openxmlformats.org/officeDocument/2006/relationships" id="265" r:id="R5d6dd252d6bd46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b35b92d05d403b" /><Relationship Type="http://schemas.openxmlformats.org/officeDocument/2006/relationships/slideMaster" Target="/ppt/slideMasters/slideMaster1.xml" Id="R8f3e4bf9dc274c57" /><Relationship Type="http://schemas.openxmlformats.org/officeDocument/2006/relationships/notesMaster" Target="/ppt/notesMasters/notesMaster1.xml" Id="R7381f39bff434d1e" /><Relationship Type="http://schemas.openxmlformats.org/officeDocument/2006/relationships/presProps" Target="/ppt/presProps.xml" Id="R3d8efa87e1674e0e" /><Relationship Type="http://schemas.openxmlformats.org/officeDocument/2006/relationships/tableStyles" Target="/ppt/tableStyles.xml" Id="R9690a93259af4aaa" /><Relationship Type="http://schemas.openxmlformats.org/officeDocument/2006/relationships/slide" Target="/ppt/slides/slide1.xml" Id="R0ce76bc5b66240ed" /><Relationship Type="http://schemas.openxmlformats.org/officeDocument/2006/relationships/slide" Target="/ppt/slides/slide2.xml" Id="R10dec70f03e24466" /><Relationship Type="http://schemas.openxmlformats.org/officeDocument/2006/relationships/slide" Target="/ppt/slides/slide3.xml" Id="R79650e84bb9c4e2f" /><Relationship Type="http://schemas.openxmlformats.org/officeDocument/2006/relationships/slide" Target="/ppt/slides/slide4.xml" Id="R9bd4bafbc0a44847" /><Relationship Type="http://schemas.openxmlformats.org/officeDocument/2006/relationships/slide" Target="/ppt/slides/slide5.xml" Id="R344760912e0d49fc" /><Relationship Type="http://schemas.openxmlformats.org/officeDocument/2006/relationships/slide" Target="/ppt/slides/slide6.xml" Id="R0a6340b5708f455b" /><Relationship Type="http://schemas.openxmlformats.org/officeDocument/2006/relationships/slide" Target="/ppt/slides/slide7.xml" Id="Rb00cfd94724e4cec" /><Relationship Type="http://schemas.openxmlformats.org/officeDocument/2006/relationships/slide" Target="/ppt/slides/slide8.xml" Id="R7c9160d6db534e44" /><Relationship Type="http://schemas.openxmlformats.org/officeDocument/2006/relationships/slide" Target="/ppt/slides/slide9.xml" Id="Rdc10ff18f69944e1" /><Relationship Type="http://schemas.openxmlformats.org/officeDocument/2006/relationships/slide" Target="/ppt/slides/slide10.xml" Id="R5d6dd252d6bd46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cce384121e49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239f5de275468c" /><Relationship Type="http://schemas.openxmlformats.org/officeDocument/2006/relationships/notesMaster" Target="/ppt/notesMasters/notesMaster1.xml" Id="Re8a99d38ab8d43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a9b22bf8e94ece" /><Relationship Type="http://schemas.openxmlformats.org/officeDocument/2006/relationships/notesMaster" Target="/ppt/notesMasters/notesMaster1.xml" Id="Rcaeded277e654f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e0346d78684635" /><Relationship Type="http://schemas.openxmlformats.org/officeDocument/2006/relationships/notesMaster" Target="/ppt/notesMasters/notesMaster1.xml" Id="Ra6821ff52eb441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a6fa4b410f4483" /><Relationship Type="http://schemas.openxmlformats.org/officeDocument/2006/relationships/notesMaster" Target="/ppt/notesMasters/notesMaster1.xml" Id="R860a5777f59840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e23cf912a746f6" /><Relationship Type="http://schemas.openxmlformats.org/officeDocument/2006/relationships/notesMaster" Target="/ppt/notesMasters/notesMaster1.xml" Id="Ra7910071267d48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3d53f3ff074e18" /><Relationship Type="http://schemas.openxmlformats.org/officeDocument/2006/relationships/notesMaster" Target="/ppt/notesMasters/notesMaster1.xml" Id="R1903caf625e34b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bd2da71e0e4025" /><Relationship Type="http://schemas.openxmlformats.org/officeDocument/2006/relationships/notesMaster" Target="/ppt/notesMasters/notesMaster1.xml" Id="R31faeb7b40334d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971f5b9a1646c9" /><Relationship Type="http://schemas.openxmlformats.org/officeDocument/2006/relationships/notesMaster" Target="/ppt/notesMasters/notesMaster1.xml" Id="R127eab690a344d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a4ef41446e46b6" /><Relationship Type="http://schemas.openxmlformats.org/officeDocument/2006/relationships/notesMaster" Target="/ppt/notesMasters/notesMaster1.xml" Id="R0d72ced661f741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923711c2ac4bfd" /><Relationship Type="http://schemas.openxmlformats.org/officeDocument/2006/relationships/notesMaster" Target="/ppt/notesMasters/notesMaster1.xml" Id="R72b9f2d25db447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BUS: Business and founding [source_supported]</a:t>
            </a:r>
          </a:p>
          <a:p xmlns:a="http://schemas.openxmlformats.org/drawingml/2006/main">
            <a:r>
              <a:t>01_company_brief.docx / paragraph 4 — Northbridge Field Services Ltd was founded in 2012. The UK business provides equipment maintenance and technical field support to industrial and logistics customers. Its headquarters are in Birmingham. The transaction perimeter is the entire standalone UK company.</a:t>
            </a:r>
          </a:p>
          <a:p xmlns:a="http://schemas.openxmlformats.org/drawingml/2006/main">
            <a:r>
              <a:t/>
            </a:r>
          </a:p>
          <a:p xmlns:a="http://schemas.openxmlformats.org/drawingml/2006/main">
            <a:r>
              <a:t>CONFLICT: FY2025 revenue difference [provisional_conflict]</a:t>
            </a:r>
          </a:p>
          <a:p xmlns:a="http://schemas.openxmlformats.org/drawingml/2006/main">
            <a:r>
              <a:t>02_management_model.xlsx / PnL!D6 — 25</a:t>
            </a:r>
          </a:p>
          <a:p xmlns:a="http://schemas.openxmlformats.org/drawingml/2006/main">
            <a:r>
              <a:t>01_company_brief.docx / paragraph 8 — The preliminary FY2025 revenue estimate is GBP 26.2 million. This briefing does not provide a reconciliation to the finance model. Financial years end on 31 December. All revenue figures exclude VAT.</a:t>
            </a:r>
          </a:p>
          <a:p xmlns:a="http://schemas.openxmlformats.org/drawingml/2006/main">
            <a:r>
              <a:t>04_cfo_email.eml / line 8 — Please use the attached management model as the provisional basis for the draft. The GBP 1.2m difference against the briefing remains unresolved and must remain visible in the draft. This is not confirmation that the model has been audited.</a:t>
            </a:r>
          </a:p>
          <a:p xmlns:a="http://schemas.openxmlformats.org/drawingml/2006/main">
            <a:r>
              <a:t>Limitations: Use model provisionally under CFO instruction; do not call reconciled.</a:t>
            </a:r>
          </a:p>
          <a:p xmlns:a="http://schemas.openxmlformats.org/drawingml/2006/main">
            <a:r>
              <a:t/>
            </a:r>
          </a:p>
          <a:p xmlns:a="http://schemas.openxmlformats.org/drawingml/2006/main">
            <a:r>
              <a:t>DEAL: Ownership and proposed sale [source_supported]</a:t>
            </a:r>
          </a:p>
          <a:p xmlns:a="http://schemas.openxmlformats.org/drawingml/2006/main">
            <a:r>
              <a:t>01_company_brief.docx / paragraph 14 — The founder holds 70%, management holds 20% and a seed investor holds 10% of ordinary equity. Shareholders are considering a sale of 70% to 100% of the company. Management rollover, valuation, timing and financing remain to be agreed. No debt, cash or working-capital schedule has been provided.</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MIX: FY2025 service revenue [source_supported]</a:t>
            </a:r>
          </a:p>
          <a:p xmlns:a="http://schemas.openxmlformats.org/drawingml/2006/main">
            <a:r>
              <a:t>02_management_model.xlsx / ServiceMix!A5 — Scheduled maintenance</a:t>
            </a:r>
          </a:p>
          <a:p xmlns:a="http://schemas.openxmlformats.org/drawingml/2006/main">
            <a:r>
              <a:t>02_management_model.xlsx / ServiceMix!B5 — 17500</a:t>
            </a:r>
          </a:p>
          <a:p xmlns:a="http://schemas.openxmlformats.org/drawingml/2006/main">
            <a:r>
              <a:t>02_management_model.xlsx / ServiceMix!C5 — Annual service contracts</a:t>
            </a:r>
          </a:p>
          <a:p xmlns:a="http://schemas.openxmlformats.org/drawingml/2006/main">
            <a:r>
              <a:t>02_management_model.xlsx / ServiceMix!A6 — Reactive repairs</a:t>
            </a:r>
          </a:p>
          <a:p xmlns:a="http://schemas.openxmlformats.org/drawingml/2006/main">
            <a:r>
              <a:t>02_management_model.xlsx / ServiceMix!B6 — 5000</a:t>
            </a:r>
          </a:p>
          <a:p xmlns:a="http://schemas.openxmlformats.org/drawingml/2006/main">
            <a:r>
              <a:t>02_management_model.xlsx / ServiceMix!C6 — Call-out and materials</a:t>
            </a:r>
          </a:p>
          <a:p xmlns:a="http://schemas.openxmlformats.org/drawingml/2006/main">
            <a:r>
              <a:t>02_management_model.xlsx / ServiceMix!A7 — Installation projects</a:t>
            </a:r>
          </a:p>
          <a:p xmlns:a="http://schemas.openxmlformats.org/drawingml/2006/main">
            <a:r>
              <a:t>02_management_model.xlsx / ServiceMix!B7 — 2500</a:t>
            </a:r>
          </a:p>
          <a:p xmlns:a="http://schemas.openxmlformats.org/drawingml/2006/main">
            <a:r>
              <a:t>02_management_model.xlsx / ServiceMix!C7 — Project-based work</a:t>
            </a:r>
          </a:p>
          <a:p xmlns:a="http://schemas.openxmlformats.org/drawingml/2006/main">
            <a:r>
              <a:t/>
            </a:r>
          </a:p>
          <a:p xmlns:a="http://schemas.openxmlformats.org/drawingml/2006/main">
            <a:r>
              <a:t>OPS: People, hubs and management [source_supported]</a:t>
            </a:r>
          </a:p>
          <a:p xmlns:a="http://schemas.openxmlformats.org/drawingml/2006/main">
            <a:r>
              <a:t>01_company_brief.docx / paragraph 10 —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a:t>
            </a:r>
          </a:p>
          <a:p xmlns:a="http://schemas.openxmlformats.org/drawingml/2006/main">
            <a:r>
              <a:t/>
            </a:r>
          </a:p>
          <a:p xmlns:a="http://schemas.openxmlformats.org/drawingml/2006/main">
            <a:r>
              <a:t>SERVICES: Services and contract terms [source_supported]</a:t>
            </a:r>
          </a:p>
          <a:p xmlns:a="http://schemas.openxmlformats.org/drawingml/2006/main">
            <a:r>
              <a:t>01_company_brief.docx / paragraph 6 — The business supplies scheduled maintenance under annual service contracts, reactive repairs and installation projects. Contracts generally run for one to three years and renew by agreement. Scheduled maintenance provides the contracted revenue stream. No assumption should be made that renewals are automatic. Customers include logistics operators, manufacturers and facilities managers.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BALANCE: Draft limited balance-sheet schedule [source_supported]</a:t>
            </a:r>
          </a:p>
          <a:p xmlns:a="http://schemas.openxmlformats.org/drawingml/2006/main">
            <a:r>
              <a:t>10_cfo_follow_up.eml / line 8 — At 31 December 2025, our draft schedule shows cash 2.4 and bank term debt 4.8. Lease liabilities, tax balances, debt-like items and restricted cash have not been assessed. These figures alone are insufficient for an enterprise-to-equity bridge.</a:t>
            </a:r>
          </a:p>
          <a:p xmlns:a="http://schemas.openxmlformats.org/drawingml/2006/main">
            <a:r>
              <a:t>10_cfo_follow_up.eml / line 9 — Draft trade receivables are 4.2, inventory 0.6 and trade payables 2.1 at 31 December 2025. Other working-capital items and monthly seasonality are missing. This limited snapshot is not normalised working capital.</a:t>
            </a:r>
          </a:p>
          <a:p xmlns:a="http://schemas.openxmlformats.org/drawingml/2006/main">
            <a:r>
              <a:t>Limitations: Missing leases, tax, debt-like items, restricted cash and other working-capital items. No normalised working capital.</a:t>
            </a:r>
          </a:p>
          <a:p xmlns:a="http://schemas.openxmlformats.org/drawingml/2006/main">
            <a:r>
              <a:t/>
            </a:r>
          </a:p>
          <a:p xmlns:a="http://schemas.openxmlformats.org/drawingml/2006/main">
            <a:r>
              <a:t>BRIDGE: Group-level forecast revenue bridge and engineer plan [source_supported]</a:t>
            </a:r>
          </a:p>
          <a:p xmlns:a="http://schemas.openxmlformats.org/drawingml/2006/main">
            <a:r>
              <a:t>11_forecast_bridge.csv / line 1 — # FICTIONAL TRAINING CASE; management submission 26 January 2026; unaudited</a:t>
            </a:r>
          </a:p>
          <a:p xmlns:a="http://schemas.openxmlformats.org/drawingml/2006/main">
            <a:r>
              <a:t>11_forecast_bridge.csv / line 2 — component,fy2026_gbp_m,fy2027_gbp_m,basis</a:t>
            </a:r>
          </a:p>
          <a:p xmlns:a="http://schemas.openxmlformats.org/drawingml/2006/main">
            <a:r>
              <a:t>11_forecast_bridge.csv / line 3 — Opening revenue,25,29,Prior year actual or forecast</a:t>
            </a:r>
          </a:p>
          <a:p xmlns:a="http://schemas.openxmlformats.org/drawingml/2006/main">
            <a:r>
              <a:t>11_forecast_bridge.csv / line 4 — Price,1,1.16,Management assumption; customer acceptance required</a:t>
            </a:r>
          </a:p>
          <a:p xmlns:a="http://schemas.openxmlformats.org/drawingml/2006/main">
            <a:r>
              <a:t>11_forecast_bridge.csv / line 5 — New contracts,2,2.4,Management assumption; unsigned pipeline</a:t>
            </a:r>
          </a:p>
          <a:p xmlns:a="http://schemas.openxmlformats.org/drawingml/2006/main">
            <a:r>
              <a:t>11_forecast_bridge.csv / line 6 — Cross-sell,1.6,1.74,Management assumption; conversion required</a:t>
            </a:r>
          </a:p>
          <a:p xmlns:a="http://schemas.openxmlformats.org/drawingml/2006/main">
            <a:r>
              <a:t>11_forecast_bridge.csv / line 7 — Attrition,-0.6,-0.7,Management assumption</a:t>
            </a:r>
          </a:p>
          <a:p xmlns:a="http://schemas.openxmlformats.org/drawingml/2006/main">
            <a:r>
              <a:t>11_forecast_bridge.csv / line 8 — Closing revenue,29,33.6,Management forecast</a:t>
            </a:r>
          </a:p>
          <a:p xmlns:a="http://schemas.openxmlformats.org/drawingml/2006/main">
            <a:r>
              <a:t>11_forecast_bridge.csv / line 9 — Year-end field engineers,95,105,Headcount; excludes attrition/replacement hiring; net growth from 85</a:t>
            </a:r>
          </a:p>
          <a:p xmlns:a="http://schemas.openxmlformats.org/drawingml/2006/main">
            <a:r>
              <a:t>Limitations: Group-level management assumptions. No customer bridge, signed pipeline or recruitment cost schedule.</a:t>
            </a:r>
          </a:p>
          <a:p xmlns:a="http://schemas.openxmlformats.org/drawingml/2006/main">
            <a:r>
              <a:t/>
            </a:r>
          </a:p>
          <a:p xmlns:a="http://schemas.openxmlformats.org/drawingml/2006/main">
            <a:r>
              <a:t>BUS: Business and founding [source_supported]</a:t>
            </a:r>
          </a:p>
          <a:p xmlns:a="http://schemas.openxmlformats.org/drawingml/2006/main">
            <a:r>
              <a:t>01_company_brief.docx / paragraph 4 — Northbridge Field Services Ltd was founded in 2012. The UK business provides equipment maintenance and technical field support to industrial and logistics customers. Its headquarters are in Birmingham. The transaction perimeter is the entire standalone UK company.</a:t>
            </a:r>
          </a:p>
          <a:p xmlns:a="http://schemas.openxmlformats.org/drawingml/2006/main">
            <a:r>
              <a:t/>
            </a:r>
          </a:p>
          <a:p xmlns:a="http://schemas.openxmlformats.org/drawingml/2006/main">
            <a:r>
              <a:t>COMMERCIAL: Service scope, pricing and account relationships [source_supported]</a:t>
            </a:r>
          </a:p>
          <a:p xmlns:a="http://schemas.openxmlformats.org/drawingml/2006/main">
            <a:r>
              <a:t>05_commercial_interview.txt / line 1 — FICTIONAL TRAINING CASE. All statements and figures are invented for workflow testing.</a:t>
            </a:r>
          </a:p>
          <a:p xmlns:a="http://schemas.openxmlformats.org/drawingml/2006/main">
            <a:r>
              <a:t>05_commercial_interview.txt / line 2 — Commercial director interview, 26 January 2026. Period: FY2025 unless specified.</a:t>
            </a:r>
          </a:p>
          <a:p xmlns:a="http://schemas.openxmlformats.org/drawingml/2006/main">
            <a:r>
              <a:t>05_commercial_interview.txt / line 3 — Scheduled maintenance covers planned inspections and preventive servicing. Most contracts specify scheduled visits and an annual fee. Reactive repairs charge call-out, labour and materials. Installation projects use a separately agreed scope and price.</a:t>
            </a:r>
          </a:p>
          <a:p xmlns:a="http://schemas.openxmlformats.org/drawingml/2006/main">
            <a:r>
              <a:t>05_commercial_interview.txt / line 4 — Contracts generally run for one to three years. Renewal requires agreement. Annual price reviews depend on contract terms and customer acceptance. Maintenance revenue should not be described as guaranteed future revenue or ARR.</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05_commercial_interview.txt / line 8 — Maya Reed remains the primary executive contact on the largest customer accounts. The commercial team needs to document deputy account ownership and review change-of-control provisions.</a:t>
            </a:r>
          </a:p>
          <a:p xmlns:a="http://schemas.openxmlformats.org/drawingml/2006/main">
            <a:r>
              <a:t>05_commercial_interview.txt / line 9 — No independent market-size, market-share or competitor study has been submitted.</a:t>
            </a:r>
          </a:p>
          <a:p xmlns:a="http://schemas.openxmlformats.org/drawingml/2006/main">
            <a:r>
              <a:t>Limitations: Unaudited synthetic management submission.</a:t>
            </a:r>
          </a:p>
          <a:p xmlns:a="http://schemas.openxmlformats.org/drawingml/2006/main">
            <a:r>
              <a:t/>
            </a:r>
          </a:p>
          <a:p xmlns:a="http://schemas.openxmlformats.org/drawingml/2006/main">
            <a:r>
              <a:t>CONFLICT: FY2025 revenue difference [provisional_conflict]</a:t>
            </a:r>
          </a:p>
          <a:p xmlns:a="http://schemas.openxmlformats.org/drawingml/2006/main">
            <a:r>
              <a:t>02_management_model.xlsx / PnL!D6 — 25</a:t>
            </a:r>
          </a:p>
          <a:p xmlns:a="http://schemas.openxmlformats.org/drawingml/2006/main">
            <a:r>
              <a:t>01_company_brief.docx / paragraph 8 — The preliminary FY2025 revenue estimate is GBP 26.2 million. This briefing does not provide a reconciliation to the finance model. Financial years end on 31 December. All revenue figures exclude VAT.</a:t>
            </a:r>
          </a:p>
          <a:p xmlns:a="http://schemas.openxmlformats.org/drawingml/2006/main">
            <a:r>
              <a:t>04_cfo_email.eml / line 8 — Please use the attached management model as the provisional basis for the draft. The GBP 1.2m difference against the briefing remains unresolved and must remain visible in the draft. This is not confirmation that the model has been audited.</a:t>
            </a:r>
          </a:p>
          <a:p xmlns:a="http://schemas.openxmlformats.org/drawingml/2006/main">
            <a:r>
              <a:t>Limitations: Use model provisionally under CFO instruction; do not call reconciled.</a:t>
            </a:r>
          </a:p>
          <a:p xmlns:a="http://schemas.openxmlformats.org/drawingml/2006/main">
            <a:r>
              <a:t/>
            </a:r>
          </a:p>
          <a:p xmlns:a="http://schemas.openxmlformats.org/drawingml/2006/main">
            <a:r>
              <a:t>CUSTOMERS: FY2025 customer sales [source_supported]</a:t>
            </a:r>
          </a:p>
          <a:p xmlns:a="http://schemas.openxmlformats.org/drawingml/2006/main">
            <a:r>
              <a:t>02_management_model.xlsx / CustomerSales!A5 — C001</a:t>
            </a:r>
          </a:p>
          <a:p xmlns:a="http://schemas.openxmlformats.org/drawingml/2006/main">
            <a:r>
              <a:t>02_management_model.xlsx / CustomerSales!B5 — Customer A</a:t>
            </a:r>
          </a:p>
          <a:p xmlns:a="http://schemas.openxmlformats.org/drawingml/2006/main">
            <a:r>
              <a:t>02_management_model.xlsx / CustomerSales!C5 — 3000</a:t>
            </a:r>
          </a:p>
          <a:p xmlns:a="http://schemas.openxmlformats.org/drawingml/2006/main">
            <a:r>
              <a:t>02_management_model.xlsx / CustomerSales!A6 — C002</a:t>
            </a:r>
          </a:p>
          <a:p xmlns:a="http://schemas.openxmlformats.org/drawingml/2006/main">
            <a:r>
              <a:t>02_management_model.xlsx / CustomerSales!B6 — Customer B</a:t>
            </a:r>
          </a:p>
          <a:p xmlns:a="http://schemas.openxmlformats.org/drawingml/2006/main">
            <a:r>
              <a:t>02_management_model.xlsx / CustomerSales!C6 — 2250</a:t>
            </a:r>
          </a:p>
          <a:p xmlns:a="http://schemas.openxmlformats.org/drawingml/2006/main">
            <a:r>
              <a:t>02_management_model.xlsx / CustomerSales!A7 — C003</a:t>
            </a:r>
          </a:p>
          <a:p xmlns:a="http://schemas.openxmlformats.org/drawingml/2006/main">
            <a:r>
              <a:t>02_management_model.xlsx / CustomerSales!B7 — Customer C</a:t>
            </a:r>
          </a:p>
          <a:p xmlns:a="http://schemas.openxmlformats.org/drawingml/2006/main">
            <a:r>
              <a:t>02_management_model.xlsx / CustomerSales!C7 — 2000</a:t>
            </a:r>
          </a:p>
          <a:p xmlns:a="http://schemas.openxmlformats.org/drawingml/2006/main">
            <a:r>
              <a:t>02_management_model.xlsx / CustomerSales!A8 — C004</a:t>
            </a:r>
          </a:p>
          <a:p xmlns:a="http://schemas.openxmlformats.org/drawingml/2006/main">
            <a:r>
              <a:t>02_management_model.xlsx / CustomerSales!B8 — Customer D</a:t>
            </a:r>
          </a:p>
          <a:p xmlns:a="http://schemas.openxmlformats.org/drawingml/2006/main">
            <a:r>
              <a:t>02_management_model.xlsx / CustomerSales!C8 — 1750</a:t>
            </a:r>
          </a:p>
          <a:p xmlns:a="http://schemas.openxmlformats.org/drawingml/2006/main">
            <a:r>
              <a:t>02_management_model.xlsx / CustomerSales!A9 — C005</a:t>
            </a:r>
          </a:p>
          <a:p xmlns:a="http://schemas.openxmlformats.org/drawingml/2006/main">
            <a:r>
              <a:t>02_management_model.xlsx / CustomerSales!B9 — Customer E</a:t>
            </a:r>
          </a:p>
          <a:p xmlns:a="http://schemas.openxmlformats.org/drawingml/2006/main">
            <a:r>
              <a:t>02_management_model.xlsx / CustomerSales!C9 — 1500</a:t>
            </a:r>
          </a:p>
          <a:p xmlns:a="http://schemas.openxmlformats.org/drawingml/2006/main">
            <a:r>
              <a:t>02_management_model.xlsx / CustomerSales!A10 — OTHER</a:t>
            </a:r>
          </a:p>
          <a:p xmlns:a="http://schemas.openxmlformats.org/drawingml/2006/main">
            <a:r>
              <a:t>02_management_model.xlsx / CustomerSales!B10 — All other customers (aggregate)</a:t>
            </a:r>
          </a:p>
          <a:p xmlns:a="http://schemas.openxmlformats.org/drawingml/2006/main">
            <a:r>
              <a:t>02_management_model.xlsx / CustomerSales!C10 — 14500</a:t>
            </a:r>
          </a:p>
          <a:p xmlns:a="http://schemas.openxmlformats.org/drawingml/2006/main">
            <a:r>
              <a:t>Limitations: OTHER is an aggregate.</a:t>
            </a:r>
          </a:p>
          <a:p xmlns:a="http://schemas.openxmlformats.org/drawingml/2006/main">
            <a:r>
              <a:t/>
            </a:r>
          </a:p>
          <a:p xmlns:a="http://schemas.openxmlformats.org/drawingml/2006/main">
            <a:r>
              <a:t>DEAL: Ownership and proposed sale [source_supported]</a:t>
            </a:r>
          </a:p>
          <a:p xmlns:a="http://schemas.openxmlformats.org/drawingml/2006/main">
            <a:r>
              <a:t>01_company_brief.docx / paragraph 14 — The founder holds 70%, management holds 20% and a seed investor holds 10% of ordinary equity. Shareholders are considering a sale of 70% to 100% of the company. Management rollover, valuation, timing and financing remain to be agreed. No debt, cash or working-capital schedule has been provided.</a:t>
            </a:r>
          </a:p>
          <a:p xmlns:a="http://schemas.openxmlformats.org/drawingml/2006/main">
            <a:r>
              <a:t/>
            </a:r>
          </a:p>
          <a:p xmlns:a="http://schemas.openxmlformats.org/drawingml/2006/main">
            <a:r>
              <a:t>FIN23: FY2023 financial statements [source_supported]</a:t>
            </a:r>
          </a:p>
          <a:p xmlns:a="http://schemas.openxmlformats.org/drawingml/2006/main">
            <a:r>
              <a:t>02_management_model.xlsx / PnL!B5 — FY2023A</a:t>
            </a:r>
          </a:p>
          <a:p xmlns:a="http://schemas.openxmlformats.org/drawingml/2006/main">
            <a:r>
              <a:t>02_management_model.xlsx / PnL!B6 — 18</a:t>
            </a:r>
          </a:p>
          <a:p xmlns:a="http://schemas.openxmlformats.org/drawingml/2006/main">
            <a:r>
              <a:t>02_management_model.xlsx / PnL!B7 — -10.8</a:t>
            </a:r>
          </a:p>
          <a:p xmlns:a="http://schemas.openxmlformats.org/drawingml/2006/main">
            <a:r>
              <a:t>02_management_model.xlsx / PnL!B8 — 7.199999999999999</a:t>
            </a:r>
          </a:p>
          <a:p xmlns:a="http://schemas.openxmlformats.org/drawingml/2006/main">
            <a:r>
              <a:t>02_management_model.xlsx / PnL!B9 — -4.5</a:t>
            </a:r>
          </a:p>
          <a:p xmlns:a="http://schemas.openxmlformats.org/drawingml/2006/main">
            <a:r>
              <a:t>02_management_model.xlsx / PnL!B10 — 2.6999999999999993</a:t>
            </a:r>
          </a:p>
          <a:p xmlns:a="http://schemas.openxmlformats.org/drawingml/2006/main">
            <a:r>
              <a:t>02_management_model.xlsx / PnL!B11 — 0.14999999999999997</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MIX: FY2025 service revenue [source_supported]</a:t>
            </a:r>
          </a:p>
          <a:p xmlns:a="http://schemas.openxmlformats.org/drawingml/2006/main">
            <a:r>
              <a:t>02_management_model.xlsx / ServiceMix!A5 — Scheduled maintenance</a:t>
            </a:r>
          </a:p>
          <a:p xmlns:a="http://schemas.openxmlformats.org/drawingml/2006/main">
            <a:r>
              <a:t>02_management_model.xlsx / ServiceMix!B5 — 17500</a:t>
            </a:r>
          </a:p>
          <a:p xmlns:a="http://schemas.openxmlformats.org/drawingml/2006/main">
            <a:r>
              <a:t>02_management_model.xlsx / ServiceMix!C5 — Annual service contracts</a:t>
            </a:r>
          </a:p>
          <a:p xmlns:a="http://schemas.openxmlformats.org/drawingml/2006/main">
            <a:r>
              <a:t>02_management_model.xlsx / ServiceMix!A6 — Reactive repairs</a:t>
            </a:r>
          </a:p>
          <a:p xmlns:a="http://schemas.openxmlformats.org/drawingml/2006/main">
            <a:r>
              <a:t>02_management_model.xlsx / ServiceMix!B6 — 5000</a:t>
            </a:r>
          </a:p>
          <a:p xmlns:a="http://schemas.openxmlformats.org/drawingml/2006/main">
            <a:r>
              <a:t>02_management_model.xlsx / ServiceMix!C6 — Call-out and materials</a:t>
            </a:r>
          </a:p>
          <a:p xmlns:a="http://schemas.openxmlformats.org/drawingml/2006/main">
            <a:r>
              <a:t>02_management_model.xlsx / ServiceMix!A7 — Installation projects</a:t>
            </a:r>
          </a:p>
          <a:p xmlns:a="http://schemas.openxmlformats.org/drawingml/2006/main">
            <a:r>
              <a:t>02_management_model.xlsx / ServiceMix!B7 — 2500</a:t>
            </a:r>
          </a:p>
          <a:p xmlns:a="http://schemas.openxmlformats.org/drawingml/2006/main">
            <a:r>
              <a:t>02_management_model.xlsx / ServiceMix!C7 — Project-based work</a:t>
            </a:r>
          </a:p>
          <a:p xmlns:a="http://schemas.openxmlformats.org/drawingml/2006/main">
            <a:r>
              <a:t/>
            </a:r>
          </a:p>
          <a:p xmlns:a="http://schemas.openxmlformats.org/drawingml/2006/main">
            <a:r>
              <a:t>OPS: People, hubs and management [source_supported]</a:t>
            </a:r>
          </a:p>
          <a:p xmlns:a="http://schemas.openxmlformats.org/drawingml/2006/main">
            <a:r>
              <a:t>01_company_brief.docx / paragraph 10 —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a:t>
            </a:r>
          </a:p>
          <a:p xmlns:a="http://schemas.openxmlformats.org/drawingml/2006/main">
            <a:r>
              <a:t/>
            </a:r>
          </a:p>
          <a:p xmlns:a="http://schemas.openxmlformats.org/drawingml/2006/main">
            <a:r>
              <a:t>PIPELINE: Unsigned unweighted opportunity pipeline [source_supported]</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Limitations: All unsigned. Not backlog or forecast revenue.</a:t>
            </a:r>
          </a:p>
          <a:p xmlns:a="http://schemas.openxmlformats.org/drawingml/2006/main">
            <a:r>
              <a:t/>
            </a:r>
          </a:p>
          <a:p xmlns:a="http://schemas.openxmlformats.org/drawingml/2006/main">
            <a:r>
              <a:t>PROCESS: Proposed transaction perimeter and preparation responsibilities [source_supported]</a:t>
            </a:r>
          </a:p>
          <a:p xmlns:a="http://schemas.openxmlformats.org/drawingml/2006/main">
            <a:r>
              <a:t>13_transaction_workshop.txt / line 1 — FICTIONAL TRAINING CASE. Invented transaction workshop notes, 26 January 2026.</a:t>
            </a:r>
          </a:p>
          <a:p xmlns:a="http://schemas.openxmlformats.org/drawingml/2006/main">
            <a:r>
              <a:t>13_transaction_workshop.txt / line 2 — Shareholders are considering a sale of 70% to 100% of the equity in the standalone UK company. The current ownership remains founder 70%, management 20%, seed investor 10%.</a:t>
            </a:r>
          </a:p>
          <a:p xmlns:a="http://schemas.openxmlformats.org/drawingml/2006/main">
            <a:r>
              <a:t>13_transaction_workshop.txt / line 3 — The proposed perimeter includes all three hubs, operating assets and customer contracts of the company. No excluded business has been identified. Legal entity, asset ownership and contract transferability require legal diligence.</a:t>
            </a:r>
          </a:p>
          <a:p xmlns:a="http://schemas.openxmlformats.org/drawingml/2006/main">
            <a:r>
              <a:t>13_transaction_workshop.txt / line 4 — No valuation, management rollover, financing structure or transaction timetable has been agreed. The process remains at preparation stage. No offers or signed sale terms exist in this fictional case.</a:t>
            </a:r>
          </a:p>
          <a:p xmlns:a="http://schemas.openxmlformats.org/drawingml/2006/main">
            <a:r>
              <a:t>13_transaction_workshop.txt / line 5 — Daniel Cole (CFO) owns revenue reconciliation, QoE preparation and balance-sheet schedules. Aisha Patel (COO) owns job-level KPI evidence, engineer recruitment and capacity planning. Maya Reed (CEO) owns key-account continuity and pipeline evidence. External legal counsel, not yet appointed, would review title, consents and change-of-control clauses. The strategy team owns independent market work.</a:t>
            </a:r>
          </a:p>
          <a:p xmlns:a="http://schemas.openxmlformats.org/drawingml/2006/main">
            <a:r>
              <a:t>Limitations: Unaudited synthetic management submission.</a:t>
            </a:r>
          </a:p>
          <a:p xmlns:a="http://schemas.openxmlformats.org/drawingml/2006/main">
            <a:r>
              <a:t/>
            </a:r>
          </a:p>
          <a:p xmlns:a="http://schemas.openxmlformats.org/drawingml/2006/main">
            <a:r>
              <a:t>QUARTERS: Quarterly revenue and management EBITDA [source_supported]</a:t>
            </a:r>
          </a:p>
          <a:p xmlns:a="http://schemas.openxmlformats.org/drawingml/2006/main">
            <a:r>
              <a:t>09_quarterly_accounts.csv / line 1 — # FICTIONAL TRAINING CASE; management submission 26 January 2026; unaudited</a:t>
            </a:r>
          </a:p>
          <a:p xmlns:a="http://schemas.openxmlformats.org/drawingml/2006/main">
            <a:r>
              <a:t>09_quarterly_accounts.csv / line 2 — quarter,revenue_gbp_m,ebitda_gbp_m,basis</a:t>
            </a:r>
          </a:p>
          <a:p xmlns:a="http://schemas.openxmlformats.org/drawingml/2006/main">
            <a:r>
              <a:t>09_quarterly_accounts.csv / line 3 — Q1 2025,5.7,0.9,Unaudited provisional management actuals</a:t>
            </a:r>
          </a:p>
          <a:p xmlns:a="http://schemas.openxmlformats.org/drawingml/2006/main">
            <a:r>
              <a:t>09_quarterly_accounts.csv / line 4 — Q2 2025,6.1,1.15,Unaudited provisional management actuals</a:t>
            </a:r>
          </a:p>
          <a:p xmlns:a="http://schemas.openxmlformats.org/drawingml/2006/main">
            <a:r>
              <a:t>09_quarterly_accounts.csv / line 5 — Q3 2025,6.4,1.3,Unaudited provisional management actuals</a:t>
            </a:r>
          </a:p>
          <a:p xmlns:a="http://schemas.openxmlformats.org/drawingml/2006/main">
            <a:r>
              <a:t>09_quarterly_accounts.csv / line 6 — Q4 2025,6.8,1.65,Unaudited provisional management actuals</a:t>
            </a:r>
          </a:p>
          <a:p xmlns:a="http://schemas.openxmlformats.org/drawingml/2006/main">
            <a:r>
              <a:t>Limitations: Unaudited synthetic management submission.</a:t>
            </a:r>
          </a:p>
          <a:p xmlns:a="http://schemas.openxmlformats.org/drawingml/2006/main">
            <a:r>
              <a:t/>
            </a:r>
          </a:p>
          <a:p xmlns:a="http://schemas.openxmlformats.org/drawingml/2006/main">
            <a:r>
              <a:t>RENEWALS: Defined maintenance agreement renewal cohort [source_supported]</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Limitations: Contract-level management cohort. Excludes price changes and additional scope. Not customer retention and not independently verified.</a:t>
            </a:r>
          </a:p>
          <a:p xmlns:a="http://schemas.openxmlformats.org/drawingml/2006/main">
            <a:r>
              <a:t/>
            </a:r>
          </a:p>
          <a:p xmlns:a="http://schemas.openxmlformats.org/drawingml/2006/main">
            <a:r>
              <a:t>SECTORS: Revenue by customer industry [source_supported]</a:t>
            </a:r>
          </a:p>
          <a:p xmlns:a="http://schemas.openxmlformats.org/drawingml/2006/main">
            <a:r>
              <a:t>12_sector_mix.csv / line 1 — # FICTIONAL TRAINING CASE; management submission 26 January 2026; unaudited</a:t>
            </a:r>
          </a:p>
          <a:p xmlns:a="http://schemas.openxmlformats.org/drawingml/2006/main">
            <a:r>
              <a:t>12_sector_mix.csv / line 2 — sector,fy2025_revenue_gbp_m</a:t>
            </a:r>
          </a:p>
          <a:p xmlns:a="http://schemas.openxmlformats.org/drawingml/2006/main">
            <a:r>
              <a:t>12_sector_mix.csv / line 3 — Logistics,11.25</a:t>
            </a:r>
          </a:p>
          <a:p xmlns:a="http://schemas.openxmlformats.org/drawingml/2006/main">
            <a:r>
              <a:t>12_sector_mix.csv / line 4 — Manufacturing,8.75</a:t>
            </a:r>
          </a:p>
          <a:p xmlns:a="http://schemas.openxmlformats.org/drawingml/2006/main">
            <a:r>
              <a:t>12_sector_mix.csv / line 5 — Facilities management,5</a:t>
            </a:r>
          </a:p>
          <a:p xmlns:a="http://schemas.openxmlformats.org/drawingml/2006/main">
            <a:r>
              <a:t>Limitations: Unaudited synthetic management submission.</a:t>
            </a:r>
          </a:p>
          <a:p xmlns:a="http://schemas.openxmlformats.org/drawingml/2006/main">
            <a:r>
              <a:t/>
            </a:r>
          </a:p>
          <a:p xmlns:a="http://schemas.openxmlformats.org/drawingml/2006/main">
            <a:r>
              <a:t>SERVICES: Services and contract terms [source_supported]</a:t>
            </a:r>
          </a:p>
          <a:p xmlns:a="http://schemas.openxmlformats.org/drawingml/2006/main">
            <a:r>
              <a:t>01_company_brief.docx / paragraph 6 — The business supplies scheduled maintenance under annual service contracts, reactive repairs and installation projects. Contracts generally run for one to three years and renew by agreement. Scheduled maintenance provides the contracted revenue stream. No assumption should be made that renewals are automatic. Customers include logistics operators, manufacturers and facilities managers.</a:t>
            </a:r>
          </a:p>
          <a:p xmlns:a="http://schemas.openxmlformats.org/drawingml/2006/main">
            <a:r>
              <a:t/>
            </a:r>
          </a:p>
          <a:p xmlns:a="http://schemas.openxmlformats.org/drawingml/2006/main">
            <a:r>
              <a:t>CAGR: {"id": "CAGR", "formula": "(FY2025 revenue / FY2023 revenue)^(1/2) - 1", "input_ids": ["FIN23", "FIN25"], "result": 0.17851130197757925, "unit": "ratio", "rounding": "Full precision internally; one decimal for GBP million and most percentages"}</a:t>
            </a:r>
          </a:p>
          <a:p xmlns:a="http://schemas.openxmlformats.org/drawingml/2006/main">
            <a:r>
              <a:t/>
            </a:r>
          </a:p>
          <a:p xmlns:a="http://schemas.openxmlformats.org/drawingml/2006/main">
            <a:r>
              <a:t>LARGEST: {"id": "LARGEST", "formula": "max(CustomerSales!C5:C9) / sum(CustomerSales!C5:C10)", "input_ids": ["CUSTOMERS"], "result": 0.12, "unit": "ratio", "rounding": "Full precision internally; one decimal for GBP million and most percentages"}</a:t>
            </a:r>
          </a:p>
          <a:p xmlns:a="http://schemas.openxmlformats.org/drawingml/2006/main">
            <a:r>
              <a:t/>
            </a:r>
          </a:p>
          <a:p xmlns:a="http://schemas.openxmlformats.org/drawingml/2006/main">
            <a:r>
              <a:t>MARGINS: {"id": "MARGINS", "formula": "Each period EBITDA / same period revenue", "input_ids": ["FIN23", "FIN24", "FIN25", "FIN26", "FIN27"], "result": [0.14999999999999997, 0.1813953488372093, 0.2, 0.21034482758620687, 0.22023809523809523], "unit": "ratio", "rounding": "Full precision internally; one decimal for GBP million and most percentages"}</a:t>
            </a:r>
          </a:p>
          <a:p xmlns:a="http://schemas.openxmlformats.org/drawingml/2006/main">
            <a:r>
              <a:t/>
            </a:r>
          </a:p>
          <a:p xmlns:a="http://schemas.openxmlformats.org/drawingml/2006/main">
            <a:r>
              <a:t>MIX_SHARE: {"id": "MIX_SHARE", "formula": "ServiceMix!B5:B7 / sum(ServiceMix!B5:B7)", "input_ids": ["MIX"], "result": [0.7, 0.2, 0.1], "unit": "ratio", "rounding": "Full precision internally; one decimal for GBP million and most percentages"}</a:t>
            </a:r>
          </a:p>
          <a:p xmlns:a="http://schemas.openxmlformats.org/drawingml/2006/main">
            <a:r>
              <a:t/>
            </a:r>
          </a:p>
          <a:p xmlns:a="http://schemas.openxmlformats.org/drawingml/2006/main">
            <a:r>
              <a:t>NORMALIZE: {"id": "NORMALIZE", "formula": "GBP thousand / 1000", "input_ids": ["MIX", "CUSTOMERS", "UNITS"], "result": {"services_m": [17.5, 5.0, 2.5], "customers_m": [3.0, 2.25, 2.0, 1.75, 1.5, 14.5]}, "unit": "GBP million", "rounding": "Full precision internally; one decimal for GBP million and most percentages"}</a:t>
            </a:r>
          </a:p>
          <a:p xmlns:a="http://schemas.openxmlformats.org/drawingml/2006/main">
            <a:r>
              <a:t/>
            </a:r>
          </a:p>
          <a:p xmlns:a="http://schemas.openxmlformats.org/drawingml/2006/main">
            <a:r>
              <a:t>RENEWAL_RATES: {"id": "RENEWAL_RATES", "formula": "Renewed contracts / due contracts; retained pre-price value / due annual value", "input_ids": ["RENEWALS"], "result": [0.92, 0.93], "unit": "ratio", "rounding": "Full precision internally; one decimal for GBP million and most percentages"}</a:t>
            </a:r>
          </a:p>
          <a:p xmlns:a="http://schemas.openxmlformats.org/drawingml/2006/main">
            <a:r>
              <a:t/>
            </a:r>
          </a:p>
          <a:p xmlns:a="http://schemas.openxmlformats.org/drawingml/2006/main">
            <a:r>
              <a:t>REVENUE_GAP: {"id": "REVENUE_GAP", "formula": "Briefing FY2025 revenue minus model FY2025 revenue", "input_ids": ["CONFLICT"], "result": 1.1999999999999993, "unit": "GBP million", "rounding": "Full precision internally; one decimal for GBP million and most percentages"}</a:t>
            </a:r>
          </a:p>
          <a:p xmlns:a="http://schemas.openxmlformats.org/drawingml/2006/main">
            <a:r>
              <a:t/>
            </a:r>
          </a:p>
          <a:p xmlns:a="http://schemas.openxmlformats.org/drawingml/2006/main">
            <a:r>
              <a:t>TOP5: {"id": "TOP5", "formula": "sum(CustomerSales!C5:C9) / sum(CustomerSales!C5:C10)", "input_ids": ["CUSTOMERS"], "result": 0.42,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BRIDGE: Group-level forecast revenue bridge and engineer plan [source_supported]</a:t>
            </a:r>
          </a:p>
          <a:p xmlns:a="http://schemas.openxmlformats.org/drawingml/2006/main">
            <a:r>
              <a:t>11_forecast_bridge.csv / line 1 — # FICTIONAL TRAINING CASE; management submission 26 January 2026; unaudited</a:t>
            </a:r>
          </a:p>
          <a:p xmlns:a="http://schemas.openxmlformats.org/drawingml/2006/main">
            <a:r>
              <a:t>11_forecast_bridge.csv / line 2 — component,fy2026_gbp_m,fy2027_gbp_m,basis</a:t>
            </a:r>
          </a:p>
          <a:p xmlns:a="http://schemas.openxmlformats.org/drawingml/2006/main">
            <a:r>
              <a:t>11_forecast_bridge.csv / line 3 — Opening revenue,25,29,Prior year actual or forecast</a:t>
            </a:r>
          </a:p>
          <a:p xmlns:a="http://schemas.openxmlformats.org/drawingml/2006/main">
            <a:r>
              <a:t>11_forecast_bridge.csv / line 4 — Price,1,1.16,Management assumption; customer acceptance required</a:t>
            </a:r>
          </a:p>
          <a:p xmlns:a="http://schemas.openxmlformats.org/drawingml/2006/main">
            <a:r>
              <a:t>11_forecast_bridge.csv / line 5 — New contracts,2,2.4,Management assumption; unsigned pipeline</a:t>
            </a:r>
          </a:p>
          <a:p xmlns:a="http://schemas.openxmlformats.org/drawingml/2006/main">
            <a:r>
              <a:t>11_forecast_bridge.csv / line 6 — Cross-sell,1.6,1.74,Management assumption; conversion required</a:t>
            </a:r>
          </a:p>
          <a:p xmlns:a="http://schemas.openxmlformats.org/drawingml/2006/main">
            <a:r>
              <a:t>11_forecast_bridge.csv / line 7 — Attrition,-0.6,-0.7,Management assumption</a:t>
            </a:r>
          </a:p>
          <a:p xmlns:a="http://schemas.openxmlformats.org/drawingml/2006/main">
            <a:r>
              <a:t>11_forecast_bridge.csv / line 8 — Closing revenue,29,33.6,Management forecast</a:t>
            </a:r>
          </a:p>
          <a:p xmlns:a="http://schemas.openxmlformats.org/drawingml/2006/main">
            <a:r>
              <a:t>11_forecast_bridge.csv / line 9 — Year-end field engineers,95,105,Headcount; excludes attrition/replacement hiring; net growth from 85</a:t>
            </a:r>
          </a:p>
          <a:p xmlns:a="http://schemas.openxmlformats.org/drawingml/2006/main">
            <a:r>
              <a:t>Limitations: Group-level management assumptions. No customer bridge, signed pipeline or recruitment cost schedule.</a:t>
            </a:r>
          </a:p>
          <a:p xmlns:a="http://schemas.openxmlformats.org/drawingml/2006/main">
            <a:r>
              <a:t/>
            </a:r>
          </a:p>
          <a:p xmlns:a="http://schemas.openxmlformats.org/drawingml/2006/main">
            <a:r>
              <a:t>COMMERCIAL: Service scope, pricing and account relationships [source_supported]</a:t>
            </a:r>
          </a:p>
          <a:p xmlns:a="http://schemas.openxmlformats.org/drawingml/2006/main">
            <a:r>
              <a:t>05_commercial_interview.txt / line 1 — FICTIONAL TRAINING CASE. All statements and figures are invented for workflow testing.</a:t>
            </a:r>
          </a:p>
          <a:p xmlns:a="http://schemas.openxmlformats.org/drawingml/2006/main">
            <a:r>
              <a:t>05_commercial_interview.txt / line 2 — Commercial director interview, 26 January 2026. Period: FY2025 unless specified.</a:t>
            </a:r>
          </a:p>
          <a:p xmlns:a="http://schemas.openxmlformats.org/drawingml/2006/main">
            <a:r>
              <a:t>05_commercial_interview.txt / line 3 — Scheduled maintenance covers planned inspections and preventive servicing. Most contracts specify scheduled visits and an annual fee. Reactive repairs charge call-out, labour and materials. Installation projects use a separately agreed scope and price.</a:t>
            </a:r>
          </a:p>
          <a:p xmlns:a="http://schemas.openxmlformats.org/drawingml/2006/main">
            <a:r>
              <a:t>05_commercial_interview.txt / line 4 — Contracts generally run for one to three years. Renewal requires agreement. Annual price reviews depend on contract terms and customer acceptance. Maintenance revenue should not be described as guaranteed future revenue or ARR.</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05_commercial_interview.txt / line 8 — Maya Reed remains the primary executive contact on the largest customer accounts. The commercial team needs to document deputy account ownership and review change-of-control provisions.</a:t>
            </a:r>
          </a:p>
          <a:p xmlns:a="http://schemas.openxmlformats.org/drawingml/2006/main">
            <a:r>
              <a:t>05_commercial_interview.txt / line 9 — No independent market-size, market-share or competitor study has been submitted.</a:t>
            </a:r>
          </a:p>
          <a:p xmlns:a="http://schemas.openxmlformats.org/drawingml/2006/main">
            <a:r>
              <a:t>Limitations: Unaudited synthetic management submission.</a:t>
            </a:r>
          </a:p>
          <a:p xmlns:a="http://schemas.openxmlformats.org/drawingml/2006/main">
            <a:r>
              <a:t/>
            </a:r>
          </a:p>
          <a:p xmlns:a="http://schemas.openxmlformats.org/drawingml/2006/main">
            <a:r>
              <a:t>CUSTOMERS: FY2025 customer sales [source_supported]</a:t>
            </a:r>
          </a:p>
          <a:p xmlns:a="http://schemas.openxmlformats.org/drawingml/2006/main">
            <a:r>
              <a:t>02_management_model.xlsx / CustomerSales!A5 — C001</a:t>
            </a:r>
          </a:p>
          <a:p xmlns:a="http://schemas.openxmlformats.org/drawingml/2006/main">
            <a:r>
              <a:t>02_management_model.xlsx / CustomerSales!B5 — Customer A</a:t>
            </a:r>
          </a:p>
          <a:p xmlns:a="http://schemas.openxmlformats.org/drawingml/2006/main">
            <a:r>
              <a:t>02_management_model.xlsx / CustomerSales!C5 — 3000</a:t>
            </a:r>
          </a:p>
          <a:p xmlns:a="http://schemas.openxmlformats.org/drawingml/2006/main">
            <a:r>
              <a:t>02_management_model.xlsx / CustomerSales!A6 — C002</a:t>
            </a:r>
          </a:p>
          <a:p xmlns:a="http://schemas.openxmlformats.org/drawingml/2006/main">
            <a:r>
              <a:t>02_management_model.xlsx / CustomerSales!B6 — Customer B</a:t>
            </a:r>
          </a:p>
          <a:p xmlns:a="http://schemas.openxmlformats.org/drawingml/2006/main">
            <a:r>
              <a:t>02_management_model.xlsx / CustomerSales!C6 — 2250</a:t>
            </a:r>
          </a:p>
          <a:p xmlns:a="http://schemas.openxmlformats.org/drawingml/2006/main">
            <a:r>
              <a:t>02_management_model.xlsx / CustomerSales!A7 — C003</a:t>
            </a:r>
          </a:p>
          <a:p xmlns:a="http://schemas.openxmlformats.org/drawingml/2006/main">
            <a:r>
              <a:t>02_management_model.xlsx / CustomerSales!B7 — Customer C</a:t>
            </a:r>
          </a:p>
          <a:p xmlns:a="http://schemas.openxmlformats.org/drawingml/2006/main">
            <a:r>
              <a:t>02_management_model.xlsx / CustomerSales!C7 — 2000</a:t>
            </a:r>
          </a:p>
          <a:p xmlns:a="http://schemas.openxmlformats.org/drawingml/2006/main">
            <a:r>
              <a:t>02_management_model.xlsx / CustomerSales!A8 — C004</a:t>
            </a:r>
          </a:p>
          <a:p xmlns:a="http://schemas.openxmlformats.org/drawingml/2006/main">
            <a:r>
              <a:t>02_management_model.xlsx / CustomerSales!B8 — Customer D</a:t>
            </a:r>
          </a:p>
          <a:p xmlns:a="http://schemas.openxmlformats.org/drawingml/2006/main">
            <a:r>
              <a:t>02_management_model.xlsx / CustomerSales!C8 — 1750</a:t>
            </a:r>
          </a:p>
          <a:p xmlns:a="http://schemas.openxmlformats.org/drawingml/2006/main">
            <a:r>
              <a:t>02_management_model.xlsx / CustomerSales!A9 — C005</a:t>
            </a:r>
          </a:p>
          <a:p xmlns:a="http://schemas.openxmlformats.org/drawingml/2006/main">
            <a:r>
              <a:t>02_management_model.xlsx / CustomerSales!B9 — Customer E</a:t>
            </a:r>
          </a:p>
          <a:p xmlns:a="http://schemas.openxmlformats.org/drawingml/2006/main">
            <a:r>
              <a:t>02_management_model.xlsx / CustomerSales!C9 — 1500</a:t>
            </a:r>
          </a:p>
          <a:p xmlns:a="http://schemas.openxmlformats.org/drawingml/2006/main">
            <a:r>
              <a:t>02_management_model.xlsx / CustomerSales!A10 — OTHER</a:t>
            </a:r>
          </a:p>
          <a:p xmlns:a="http://schemas.openxmlformats.org/drawingml/2006/main">
            <a:r>
              <a:t>02_management_model.xlsx / CustomerSales!B10 — All other customers (aggregate)</a:t>
            </a:r>
          </a:p>
          <a:p xmlns:a="http://schemas.openxmlformats.org/drawingml/2006/main">
            <a:r>
              <a:t>02_management_model.xlsx / CustomerSales!C10 — 14500</a:t>
            </a:r>
          </a:p>
          <a:p xmlns:a="http://schemas.openxmlformats.org/drawingml/2006/main">
            <a:r>
              <a:t>Limitations: OTHER is an aggregate.</a:t>
            </a:r>
          </a:p>
          <a:p xmlns:a="http://schemas.openxmlformats.org/drawingml/2006/main">
            <a:r>
              <a:t/>
            </a:r>
          </a:p>
          <a:p xmlns:a="http://schemas.openxmlformats.org/drawingml/2006/main">
            <a:r>
              <a:t>EXPIRIES: Maintenance revenue by agreement expiry year [source_supported]</a:t>
            </a:r>
          </a:p>
          <a:p xmlns:a="http://schemas.openxmlformats.org/drawingml/2006/main">
            <a:r>
              <a:t>08_contract_expiries.csv / line 1 — # FICTIONAL TRAINING CASE; management submission 26 January 2026; unaudited</a:t>
            </a:r>
          </a:p>
          <a:p xmlns:a="http://schemas.openxmlformats.org/drawingml/2006/main">
            <a:r>
              <a:t>08_contract_expiries.csv / line 2 — expiry_year,fy2025_maintenance_revenue_gbp_m,basis</a:t>
            </a:r>
          </a:p>
          <a:p xmlns:a="http://schemas.openxmlformats.org/drawingml/2006/main">
            <a:r>
              <a:t>08_contract_expiries.csv / line 3 — 2026,6.0,FY2025 revenue attributed to current agreement expiry year; not backlog</a:t>
            </a:r>
          </a:p>
          <a:p xmlns:a="http://schemas.openxmlformats.org/drawingml/2006/main">
            <a:r>
              <a:t>08_contract_expiries.csv / line 4 — 2027,7.5,FY2025 revenue attributed to current agreement expiry year; not backlog</a:t>
            </a:r>
          </a:p>
          <a:p xmlns:a="http://schemas.openxmlformats.org/drawingml/2006/main">
            <a:r>
              <a:t>08_contract_expiries.csv / line 5 — 2028,4.0,FY2025 revenue attributed to current agreement expiry year; not backlog</a:t>
            </a:r>
          </a:p>
          <a:p xmlns:a="http://schemas.openxmlformats.org/drawingml/2006/main">
            <a:r>
              <a:t>Limitations: FY2025 recognised revenue assigned to expiry cohorts. Not future contracted backlog.</a:t>
            </a:r>
          </a:p>
          <a:p xmlns:a="http://schemas.openxmlformats.org/drawingml/2006/main">
            <a:r>
              <a:t/>
            </a:r>
          </a:p>
          <a:p xmlns:a="http://schemas.openxmlformats.org/drawingml/2006/main">
            <a:r>
              <a:t>FIN23: FY2023 financial statements [source_supported]</a:t>
            </a:r>
          </a:p>
          <a:p xmlns:a="http://schemas.openxmlformats.org/drawingml/2006/main">
            <a:r>
              <a:t>02_management_model.xlsx / PnL!B5 — FY2023A</a:t>
            </a:r>
          </a:p>
          <a:p xmlns:a="http://schemas.openxmlformats.org/drawingml/2006/main">
            <a:r>
              <a:t>02_management_model.xlsx / PnL!B6 — 18</a:t>
            </a:r>
          </a:p>
          <a:p xmlns:a="http://schemas.openxmlformats.org/drawingml/2006/main">
            <a:r>
              <a:t>02_management_model.xlsx / PnL!B7 — -10.8</a:t>
            </a:r>
          </a:p>
          <a:p xmlns:a="http://schemas.openxmlformats.org/drawingml/2006/main">
            <a:r>
              <a:t>02_management_model.xlsx / PnL!B8 — 7.199999999999999</a:t>
            </a:r>
          </a:p>
          <a:p xmlns:a="http://schemas.openxmlformats.org/drawingml/2006/main">
            <a:r>
              <a:t>02_management_model.xlsx / PnL!B9 — -4.5</a:t>
            </a:r>
          </a:p>
          <a:p xmlns:a="http://schemas.openxmlformats.org/drawingml/2006/main">
            <a:r>
              <a:t>02_management_model.xlsx / PnL!B10 — 2.6999999999999993</a:t>
            </a:r>
          </a:p>
          <a:p xmlns:a="http://schemas.openxmlformats.org/drawingml/2006/main">
            <a:r>
              <a:t>02_management_model.xlsx / PnL!B11 — 0.14999999999999997</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HUBS: Hub revenue and year-end headcount [source_supported]</a:t>
            </a:r>
          </a:p>
          <a:p xmlns:a="http://schemas.openxmlformats.org/drawingml/2006/main">
            <a:r>
              <a:t>06_hub_schedule.csv / line 1 — # FICTIONAL TRAINING CASE; management submission 26 January 2026; unaudited</a:t>
            </a:r>
          </a:p>
          <a:p xmlns:a="http://schemas.openxmlformats.org/drawingml/2006/main">
            <a:r>
              <a:t>06_hub_schedule.csv / line 2 — hub,fy2025_revenue_gbp_m,employees_20251231,field_engineers_20251231</a:t>
            </a:r>
          </a:p>
          <a:p xmlns:a="http://schemas.openxmlformats.org/drawingml/2006/main">
            <a:r>
              <a:t>06_hub_schedule.csv / line 3 — Birmingham,11.5,55,40</a:t>
            </a:r>
          </a:p>
          <a:p xmlns:a="http://schemas.openxmlformats.org/drawingml/2006/main">
            <a:r>
              <a:t>06_hub_schedule.csv / line 4 — Manchester,8.0,38,27</a:t>
            </a:r>
          </a:p>
          <a:p xmlns:a="http://schemas.openxmlformats.org/drawingml/2006/main">
            <a:r>
              <a:t>06_hub_schedule.csv / line 5 — Bristol,5.5,27,18</a:t>
            </a:r>
          </a:p>
          <a:p xmlns:a="http://schemas.openxmlformats.org/drawingml/2006/main">
            <a:r>
              <a:t>Limitations: Unaudited synthetic management submission.</a:t>
            </a:r>
          </a:p>
          <a:p xmlns:a="http://schemas.openxmlformats.org/drawingml/2006/main">
            <a:r>
              <a:t/>
            </a:r>
          </a:p>
          <a:p xmlns:a="http://schemas.openxmlformats.org/drawingml/2006/main">
            <a:r>
              <a:t>KPIS: Defined service delivery measures [source_supported]</a:t>
            </a:r>
          </a:p>
          <a:p xmlns:a="http://schemas.openxmlformats.org/drawingml/2006/main">
            <a:r>
              <a:t>07_service_kpis.csv / line 1 — # FICTIONAL TRAINING CASE; management submission 26 January 2026; unaudited</a:t>
            </a:r>
          </a:p>
          <a:p xmlns:a="http://schemas.openxmlformats.org/drawingml/2006/main">
            <a:r>
              <a:t>07_service_kpis.csv / line 2 — metric,numerator,denominator,period,definition</a:t>
            </a:r>
          </a:p>
          <a:p xmlns:a="http://schemas.openxmlformats.org/drawingml/2006/main">
            <a:r>
              <a:t>07_service_kpis.csv / line 3 — Urgent response SLA,561,600,FY2025,Eligible urgent jobs attended within four hours / all eligible urgent jobs</a:t>
            </a:r>
          </a:p>
          <a:p xmlns:a="http://schemas.openxmlformats.org/drawingml/2006/main">
            <a:r>
              <a:t>07_service_kpis.csv / line 4 — First-time fix,2200,2500,FY2025,Closed reactive jobs resolved on first visit / all closed reactive jobs</a:t>
            </a:r>
          </a:p>
          <a:p xmlns:a="http://schemas.openxmlformats.org/drawingml/2006/main">
            <a:r>
              <a:t>07_service_kpis.csv / line 5 — Productive hours,126480,170000,FY2025,Recorded productive engineer hours / recorded available engineer hours; not billing utilisation</a:t>
            </a:r>
          </a:p>
          <a:p xmlns:a="http://schemas.openxmlformats.org/drawingml/2006/main">
            <a:r>
              <a:t>Limitations: Unaudited synthetic management submission.</a:t>
            </a:r>
          </a:p>
          <a:p xmlns:a="http://schemas.openxmlformats.org/drawingml/2006/main">
            <a:r>
              <a:t/>
            </a:r>
          </a:p>
          <a:p xmlns:a="http://schemas.openxmlformats.org/drawingml/2006/main">
            <a:r>
              <a:t>MARKET: Market size and share unavailable [missing]</a:t>
            </a:r>
          </a:p>
          <a:p xmlns:a="http://schemas.openxmlformats.org/drawingml/2006/main">
            <a:r>
              <a:t>01_company_brief.docx / paragraph 16 — Management describes the UK equipment-maintenance market as fragmented. No independent market-size study, market-share estimate or competitor benchmarking has been provided.</a:t>
            </a:r>
          </a:p>
          <a:p xmlns:a="http://schemas.openxmlformats.org/drawingml/2006/main">
            <a:r>
              <a:t>Limitations: Fragmentation is a management assertion without independent support.</a:t>
            </a:r>
          </a:p>
          <a:p xmlns:a="http://schemas.openxmlformats.org/drawingml/2006/main">
            <a:r>
              <a:t/>
            </a:r>
          </a:p>
          <a:p xmlns:a="http://schemas.openxmlformats.org/drawingml/2006/main">
            <a:r>
              <a:t>MIX: FY2025 service revenue [source_supported]</a:t>
            </a:r>
          </a:p>
          <a:p xmlns:a="http://schemas.openxmlformats.org/drawingml/2006/main">
            <a:r>
              <a:t>02_management_model.xlsx / ServiceMix!A5 — Scheduled maintenance</a:t>
            </a:r>
          </a:p>
          <a:p xmlns:a="http://schemas.openxmlformats.org/drawingml/2006/main">
            <a:r>
              <a:t>02_management_model.xlsx / ServiceMix!B5 — 17500</a:t>
            </a:r>
          </a:p>
          <a:p xmlns:a="http://schemas.openxmlformats.org/drawingml/2006/main">
            <a:r>
              <a:t>02_management_model.xlsx / ServiceMix!C5 — Annual service contracts</a:t>
            </a:r>
          </a:p>
          <a:p xmlns:a="http://schemas.openxmlformats.org/drawingml/2006/main">
            <a:r>
              <a:t>02_management_model.xlsx / ServiceMix!A6 — Reactive repairs</a:t>
            </a:r>
          </a:p>
          <a:p xmlns:a="http://schemas.openxmlformats.org/drawingml/2006/main">
            <a:r>
              <a:t>02_management_model.xlsx / ServiceMix!B6 — 5000</a:t>
            </a:r>
          </a:p>
          <a:p xmlns:a="http://schemas.openxmlformats.org/drawingml/2006/main">
            <a:r>
              <a:t>02_management_model.xlsx / ServiceMix!C6 — Call-out and materials</a:t>
            </a:r>
          </a:p>
          <a:p xmlns:a="http://schemas.openxmlformats.org/drawingml/2006/main">
            <a:r>
              <a:t>02_management_model.xlsx / ServiceMix!A7 — Installation projects</a:t>
            </a:r>
          </a:p>
          <a:p xmlns:a="http://schemas.openxmlformats.org/drawingml/2006/main">
            <a:r>
              <a:t>02_management_model.xlsx / ServiceMix!B7 — 2500</a:t>
            </a:r>
          </a:p>
          <a:p xmlns:a="http://schemas.openxmlformats.org/drawingml/2006/main">
            <a:r>
              <a:t>02_management_model.xlsx / ServiceMix!C7 — Project-based work</a:t>
            </a:r>
          </a:p>
          <a:p xmlns:a="http://schemas.openxmlformats.org/drawingml/2006/main">
            <a:r>
              <a:t/>
            </a:r>
          </a:p>
          <a:p xmlns:a="http://schemas.openxmlformats.org/drawingml/2006/main">
            <a:r>
              <a:t>OPS: People, hubs and management [source_supported]</a:t>
            </a:r>
          </a:p>
          <a:p xmlns:a="http://schemas.openxmlformats.org/drawingml/2006/main">
            <a:r>
              <a:t>01_company_brief.docx / paragraph 10 —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a:t>
            </a:r>
          </a:p>
          <a:p xmlns:a="http://schemas.openxmlformats.org/drawingml/2006/main">
            <a:r>
              <a:t/>
            </a:r>
          </a:p>
          <a:p xmlns:a="http://schemas.openxmlformats.org/drawingml/2006/main">
            <a:r>
              <a:t>PIPELINE: Unsigned unweighted opportunity pipeline [source_supported]</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Limitations: All unsigned. Not backlog or forecast revenue.</a:t>
            </a:r>
          </a:p>
          <a:p xmlns:a="http://schemas.openxmlformats.org/drawingml/2006/main">
            <a:r>
              <a:t/>
            </a:r>
          </a:p>
          <a:p xmlns:a="http://schemas.openxmlformats.org/drawingml/2006/main">
            <a:r>
              <a:t>RENEWALS: Defined maintenance agreement renewal cohort [source_supported]</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Limitations: Contract-level management cohort. Excludes price changes and additional scope. Not customer retention and not independently verified.</a:t>
            </a:r>
          </a:p>
          <a:p xmlns:a="http://schemas.openxmlformats.org/drawingml/2006/main">
            <a:r>
              <a:t/>
            </a:r>
          </a:p>
          <a:p xmlns:a="http://schemas.openxmlformats.org/drawingml/2006/main">
            <a:r>
              <a:t>RETENTION: Retention estimate lacks defined basis [management_unverified]</a:t>
            </a:r>
          </a:p>
          <a:p xmlns:a="http://schemas.openxmlformats.org/drawingml/2006/main">
            <a:r>
              <a:t>03_management_interview.txt / line 7 — [00:17] CEO: We estimate customer retention at 94% in FY2025, but have not supplied the cohort calculation or defined whether that refers to customers or revenue.</a:t>
            </a:r>
          </a:p>
          <a:p xmlns:a="http://schemas.openxmlformats.org/drawingml/2006/main">
            <a:r>
              <a:t>Limitations: No definition or cohort data; excluded from quantitative investment highlights.</a:t>
            </a:r>
          </a:p>
          <a:p xmlns:a="http://schemas.openxmlformats.org/drawingml/2006/main">
            <a:r>
              <a:t/>
            </a:r>
          </a:p>
          <a:p xmlns:a="http://schemas.openxmlformats.org/drawingml/2006/main">
            <a:r>
              <a:t>SECTORS: Revenue by customer industry [source_supported]</a:t>
            </a:r>
          </a:p>
          <a:p xmlns:a="http://schemas.openxmlformats.org/drawingml/2006/main">
            <a:r>
              <a:t>12_sector_mix.csv / line 1 — # FICTIONAL TRAINING CASE; management submission 26 January 2026; unaudited</a:t>
            </a:r>
          </a:p>
          <a:p xmlns:a="http://schemas.openxmlformats.org/drawingml/2006/main">
            <a:r>
              <a:t>12_sector_mix.csv / line 2 — sector,fy2025_revenue_gbp_m</a:t>
            </a:r>
          </a:p>
          <a:p xmlns:a="http://schemas.openxmlformats.org/drawingml/2006/main">
            <a:r>
              <a:t>12_sector_mix.csv / line 3 — Logistics,11.25</a:t>
            </a:r>
          </a:p>
          <a:p xmlns:a="http://schemas.openxmlformats.org/drawingml/2006/main">
            <a:r>
              <a:t>12_sector_mix.csv / line 4 — Manufacturing,8.75</a:t>
            </a:r>
          </a:p>
          <a:p xmlns:a="http://schemas.openxmlformats.org/drawingml/2006/main">
            <a:r>
              <a:t>12_sector_mix.csv / line 5 — Facilities management,5</a:t>
            </a:r>
          </a:p>
          <a:p xmlns:a="http://schemas.openxmlformats.org/drawingml/2006/main">
            <a:r>
              <a:t>Limitations: Unaudited synthetic management submission.</a:t>
            </a:r>
          </a:p>
          <a:p xmlns:a="http://schemas.openxmlformats.org/drawingml/2006/main">
            <a:r>
              <a:t/>
            </a:r>
          </a:p>
          <a:p xmlns:a="http://schemas.openxmlformats.org/drawingml/2006/main">
            <a:r>
              <a:t>KPI_RATES: {"id": "KPI_RATES", "formula": "Numerator / denominator for each defined service KPI", "input_ids": ["KPIS"], "result": [0.935, 0.88, 0.744], "unit": "ratio", "rounding": "Full precision internally; one decimal for GBP million and most percentages"}</a:t>
            </a:r>
          </a:p>
          <a:p xmlns:a="http://schemas.openxmlformats.org/drawingml/2006/main">
            <a:r>
              <a:t/>
            </a:r>
          </a:p>
          <a:p xmlns:a="http://schemas.openxmlformats.org/drawingml/2006/main">
            <a:r>
              <a:t>MIX_SHARE: {"id": "MIX_SHARE", "formula": "ServiceMix!B5:B7 / sum(ServiceMix!B5:B7)", "input_ids": ["MIX"], "result": [0.7, 0.2, 0.1], "unit": "ratio", "rounding": "Full precision internally; one decimal for GBP million and most percentages"}</a:t>
            </a:r>
          </a:p>
          <a:p xmlns:a="http://schemas.openxmlformats.org/drawingml/2006/main">
            <a:r>
              <a:t/>
            </a:r>
          </a:p>
          <a:p xmlns:a="http://schemas.openxmlformats.org/drawingml/2006/main">
            <a:r>
              <a:t>PROFIT_BRIDGE: {"id": "PROFIT_BRIDGE", "formula": "FY2025 minus FY2023: revenue, gross profit, operating expenses and EBITDA", "input_ids": ["FIN23", "FIN25"], "result": {"revenue": 7.0, "gross_profit": 3.3000000000000007, "opex": 1.0, "ebitda": 2.3000000000000007}, "unit": "GBP million", "rounding": "Full precision internally; one decimal for GBP million and most percentages"}</a:t>
            </a:r>
          </a:p>
          <a:p xmlns:a="http://schemas.openxmlformats.org/drawingml/2006/main">
            <a:r>
              <a:t/>
            </a:r>
          </a:p>
          <a:p xmlns:a="http://schemas.openxmlformats.org/drawingml/2006/main">
            <a:r>
              <a:t>RENEWAL_LOSS: {"id": "RENEWAL_LOSS", "formula": "Due agreements minus renewed; due annual value minus retained value", "input_ids": ["RENEWALS"], "result": {"agreements": 2, "annual_value": 0.2799999999999998}, "unit": "count / GBP million", "rounding": "Full precision internally; one decimal for GBP million and most percentages"}</a:t>
            </a:r>
          </a:p>
          <a:p xmlns:a="http://schemas.openxmlformats.org/drawingml/2006/main">
            <a:r>
              <a:t/>
            </a:r>
          </a:p>
          <a:p xmlns:a="http://schemas.openxmlformats.org/drawingml/2006/main">
            <a:r>
              <a:t>RENEWAL_RATES: {"id": "RENEWAL_RATES", "formula": "Renewed contracts / due contracts; retained pre-price value / due annual value", "input_ids": ["RENEWALS"], "result": [0.92, 0.93], "unit": "ratio", "rounding": "Full precision internally; one decimal for GBP million and most percentages"}</a:t>
            </a:r>
          </a:p>
          <a:p xmlns:a="http://schemas.openxmlformats.org/drawingml/2006/main">
            <a:r>
              <a:t/>
            </a:r>
          </a:p>
          <a:p xmlns:a="http://schemas.openxmlformats.org/drawingml/2006/main">
            <a:r>
              <a:t>SECTOR_COMBINATION: {"id": "SECTOR_COMBINATION", "formula": "Logistics revenue + manufacturing revenue", "input_ids": ["SECTORS"], "result": 20.0, "unit": "GBP million", "rounding": "Full precision internally; one decimal for GBP million and most percentages"}</a:t>
            </a:r>
          </a:p>
          <a:p xmlns:a="http://schemas.openxmlformats.org/drawingml/2006/main">
            <a:r>
              <a:t/>
            </a:r>
          </a:p>
          <a:p xmlns:a="http://schemas.openxmlformats.org/drawingml/2006/main">
            <a:r>
              <a:t>TOP5: {"id": "TOP5", "formula": "sum(CustomerSales!C5:C9) / sum(CustomerSales!C5:C10)", "input_ids": ["CUSTOMERS"], "result": 0.42,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BRIDGE: Group-level forecast revenue bridge and engineer plan [source_supported]</a:t>
            </a:r>
          </a:p>
          <a:p xmlns:a="http://schemas.openxmlformats.org/drawingml/2006/main">
            <a:r>
              <a:t>11_forecast_bridge.csv / line 1 — # FICTIONAL TRAINING CASE; management submission 26 January 2026; unaudited</a:t>
            </a:r>
          </a:p>
          <a:p xmlns:a="http://schemas.openxmlformats.org/drawingml/2006/main">
            <a:r>
              <a:t>11_forecast_bridge.csv / line 2 — component,fy2026_gbp_m,fy2027_gbp_m,basis</a:t>
            </a:r>
          </a:p>
          <a:p xmlns:a="http://schemas.openxmlformats.org/drawingml/2006/main">
            <a:r>
              <a:t>11_forecast_bridge.csv / line 3 — Opening revenue,25,29,Prior year actual or forecast</a:t>
            </a:r>
          </a:p>
          <a:p xmlns:a="http://schemas.openxmlformats.org/drawingml/2006/main">
            <a:r>
              <a:t>11_forecast_bridge.csv / line 4 — Price,1,1.16,Management assumption; customer acceptance required</a:t>
            </a:r>
          </a:p>
          <a:p xmlns:a="http://schemas.openxmlformats.org/drawingml/2006/main">
            <a:r>
              <a:t>11_forecast_bridge.csv / line 5 — New contracts,2,2.4,Management assumption; unsigned pipeline</a:t>
            </a:r>
          </a:p>
          <a:p xmlns:a="http://schemas.openxmlformats.org/drawingml/2006/main">
            <a:r>
              <a:t>11_forecast_bridge.csv / line 6 — Cross-sell,1.6,1.74,Management assumption; conversion required</a:t>
            </a:r>
          </a:p>
          <a:p xmlns:a="http://schemas.openxmlformats.org/drawingml/2006/main">
            <a:r>
              <a:t>11_forecast_bridge.csv / line 7 — Attrition,-0.6,-0.7,Management assumption</a:t>
            </a:r>
          </a:p>
          <a:p xmlns:a="http://schemas.openxmlformats.org/drawingml/2006/main">
            <a:r>
              <a:t>11_forecast_bridge.csv / line 8 — Closing revenue,29,33.6,Management forecast</a:t>
            </a:r>
          </a:p>
          <a:p xmlns:a="http://schemas.openxmlformats.org/drawingml/2006/main">
            <a:r>
              <a:t>11_forecast_bridge.csv / line 9 — Year-end field engineers,95,105,Headcount; excludes attrition/replacement hiring; net growth from 85</a:t>
            </a:r>
          </a:p>
          <a:p xmlns:a="http://schemas.openxmlformats.org/drawingml/2006/main">
            <a:r>
              <a:t>Limitations: Group-level management assumptions. No customer bridge, signed pipeline or recruitment cost schedule.</a:t>
            </a:r>
          </a:p>
          <a:p xmlns:a="http://schemas.openxmlformats.org/drawingml/2006/main">
            <a:r>
              <a:t/>
            </a:r>
          </a:p>
          <a:p xmlns:a="http://schemas.openxmlformats.org/drawingml/2006/main">
            <a:r>
              <a:t>COMMERCIAL: Service scope, pricing and account relationships [source_supported]</a:t>
            </a:r>
          </a:p>
          <a:p xmlns:a="http://schemas.openxmlformats.org/drawingml/2006/main">
            <a:r>
              <a:t>05_commercial_interview.txt / line 1 — FICTIONAL TRAINING CASE. All statements and figures are invented for workflow testing.</a:t>
            </a:r>
          </a:p>
          <a:p xmlns:a="http://schemas.openxmlformats.org/drawingml/2006/main">
            <a:r>
              <a:t>05_commercial_interview.txt / line 2 — Commercial director interview, 26 January 2026. Period: FY2025 unless specified.</a:t>
            </a:r>
          </a:p>
          <a:p xmlns:a="http://schemas.openxmlformats.org/drawingml/2006/main">
            <a:r>
              <a:t>05_commercial_interview.txt / line 3 — Scheduled maintenance covers planned inspections and preventive servicing. Most contracts specify scheduled visits and an annual fee. Reactive repairs charge call-out, labour and materials. Installation projects use a separately agreed scope and price.</a:t>
            </a:r>
          </a:p>
          <a:p xmlns:a="http://schemas.openxmlformats.org/drawingml/2006/main">
            <a:r>
              <a:t>05_commercial_interview.txt / line 4 — Contracts generally run for one to three years. Renewal requires agreement. Annual price reviews depend on contract terms and customer acceptance. Maintenance revenue should not be described as guaranteed future revenue or ARR.</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05_commercial_interview.txt / line 8 — Maya Reed remains the primary executive contact on the largest customer accounts. The commercial team needs to document deputy account ownership and review change-of-control provisions.</a:t>
            </a:r>
          </a:p>
          <a:p xmlns:a="http://schemas.openxmlformats.org/drawingml/2006/main">
            <a:r>
              <a:t>05_commercial_interview.txt / line 9 — No independent market-size, market-share or competitor study has been submitted.</a:t>
            </a:r>
          </a:p>
          <a:p xmlns:a="http://schemas.openxmlformats.org/drawingml/2006/main">
            <a:r>
              <a:t>Limitations: Unaudited synthetic management submission.</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FORECAST_BASIS: Forecast bridge unavailable [missing]</a:t>
            </a:r>
          </a:p>
          <a:p xmlns:a="http://schemas.openxmlformats.org/drawingml/2006/main">
            <a:r>
              <a:t>04_cfo_email.eml / line 12 — The model is version 2.0, dated 21 January 2026. The forecast is management's base case. There is no customer-level forecast bridge or recruitment cost schedule yet.</a:t>
            </a:r>
          </a:p>
          <a:p xmlns:a="http://schemas.openxmlformats.org/drawingml/2006/main">
            <a:r>
              <a:t>Limitations:  Historical submission. See FIN_UPDATE, BALANCE and BRIDGE for supplemental evidence dated 26 January 2026.</a:t>
            </a:r>
          </a:p>
          <a:p xmlns:a="http://schemas.openxmlformats.org/drawingml/2006/main">
            <a:r>
              <a:t/>
            </a:r>
          </a:p>
          <a:p xmlns:a="http://schemas.openxmlformats.org/drawingml/2006/main">
            <a:r>
              <a:t>MARKET: Market size and share unavailable [missing]</a:t>
            </a:r>
          </a:p>
          <a:p xmlns:a="http://schemas.openxmlformats.org/drawingml/2006/main">
            <a:r>
              <a:t>01_company_brief.docx / paragraph 16 — Management describes the UK equipment-maintenance market as fragmented. No independent market-size study, market-share estimate or competitor benchmarking has been provided.</a:t>
            </a:r>
          </a:p>
          <a:p xmlns:a="http://schemas.openxmlformats.org/drawingml/2006/main">
            <a:r>
              <a:t>Limitations: Fragmentation is a management assertion without independent support.</a:t>
            </a:r>
          </a:p>
          <a:p xmlns:a="http://schemas.openxmlformats.org/drawingml/2006/main">
            <a:r>
              <a:t/>
            </a:r>
          </a:p>
          <a:p xmlns:a="http://schemas.openxmlformats.org/drawingml/2006/main">
            <a:r>
              <a:t>MIX: FY2025 service revenue [source_supported]</a:t>
            </a:r>
          </a:p>
          <a:p xmlns:a="http://schemas.openxmlformats.org/drawingml/2006/main">
            <a:r>
              <a:t>02_management_model.xlsx / ServiceMix!A5 — Scheduled maintenance</a:t>
            </a:r>
          </a:p>
          <a:p xmlns:a="http://schemas.openxmlformats.org/drawingml/2006/main">
            <a:r>
              <a:t>02_management_model.xlsx / ServiceMix!B5 — 17500</a:t>
            </a:r>
          </a:p>
          <a:p xmlns:a="http://schemas.openxmlformats.org/drawingml/2006/main">
            <a:r>
              <a:t>02_management_model.xlsx / ServiceMix!C5 — Annual service contracts</a:t>
            </a:r>
          </a:p>
          <a:p xmlns:a="http://schemas.openxmlformats.org/drawingml/2006/main">
            <a:r>
              <a:t>02_management_model.xlsx / ServiceMix!A6 — Reactive repairs</a:t>
            </a:r>
          </a:p>
          <a:p xmlns:a="http://schemas.openxmlformats.org/drawingml/2006/main">
            <a:r>
              <a:t>02_management_model.xlsx / ServiceMix!B6 — 5000</a:t>
            </a:r>
          </a:p>
          <a:p xmlns:a="http://schemas.openxmlformats.org/drawingml/2006/main">
            <a:r>
              <a:t>02_management_model.xlsx / ServiceMix!C6 — Call-out and materials</a:t>
            </a:r>
          </a:p>
          <a:p xmlns:a="http://schemas.openxmlformats.org/drawingml/2006/main">
            <a:r>
              <a:t>02_management_model.xlsx / ServiceMix!A7 — Installation projects</a:t>
            </a:r>
          </a:p>
          <a:p xmlns:a="http://schemas.openxmlformats.org/drawingml/2006/main">
            <a:r>
              <a:t>02_management_model.xlsx / ServiceMix!B7 — 2500</a:t>
            </a:r>
          </a:p>
          <a:p xmlns:a="http://schemas.openxmlformats.org/drawingml/2006/main">
            <a:r>
              <a:t>02_management_model.xlsx / ServiceMix!C7 — Project-based work</a:t>
            </a:r>
          </a:p>
          <a:p xmlns:a="http://schemas.openxmlformats.org/drawingml/2006/main">
            <a:r>
              <a:t/>
            </a:r>
          </a:p>
          <a:p xmlns:a="http://schemas.openxmlformats.org/drawingml/2006/main">
            <a:r>
              <a:t>SECTORS: Revenue by customer industry [source_supported]</a:t>
            </a:r>
          </a:p>
          <a:p xmlns:a="http://schemas.openxmlformats.org/drawingml/2006/main">
            <a:r>
              <a:t>12_sector_mix.csv / line 1 — # FICTIONAL TRAINING CASE; management submission 26 January 2026; unaudited</a:t>
            </a:r>
          </a:p>
          <a:p xmlns:a="http://schemas.openxmlformats.org/drawingml/2006/main">
            <a:r>
              <a:t>12_sector_mix.csv / line 2 — sector,fy2025_revenue_gbp_m</a:t>
            </a:r>
          </a:p>
          <a:p xmlns:a="http://schemas.openxmlformats.org/drawingml/2006/main">
            <a:r>
              <a:t>12_sector_mix.csv / line 3 — Logistics,11.25</a:t>
            </a:r>
          </a:p>
          <a:p xmlns:a="http://schemas.openxmlformats.org/drawingml/2006/main">
            <a:r>
              <a:t>12_sector_mix.csv / line 4 — Manufacturing,8.75</a:t>
            </a:r>
          </a:p>
          <a:p xmlns:a="http://schemas.openxmlformats.org/drawingml/2006/main">
            <a:r>
              <a:t>12_sector_mix.csv / line 5 — Facilities management,5</a:t>
            </a:r>
          </a:p>
          <a:p xmlns:a="http://schemas.openxmlformats.org/drawingml/2006/main">
            <a:r>
              <a:t>Limitations: Unaudited synthetic management submission.</a:t>
            </a:r>
          </a:p>
          <a:p xmlns:a="http://schemas.openxmlformats.org/drawingml/2006/main">
            <a:r>
              <a:t/>
            </a:r>
          </a:p>
          <a:p xmlns:a="http://schemas.openxmlformats.org/drawingml/2006/main">
            <a:r>
              <a:t>UNITS: Financial and sales schedule units [source_supported]</a:t>
            </a:r>
          </a:p>
          <a:p xmlns:a="http://schemas.openxmlformats.org/drawingml/2006/main">
            <a:r>
              <a:t>04_cfo_email.eml / line 10 — The P&amp;L tab is in GBP millions. The CustomerSales and ServiceMix tabs are in GBP thousands. They cover FY2025 recognised revenue, excluding VAT, for the same UK company. CustomerSales contains the five largest customers plus one aggregate row for all others. Do not treat that aggregate as a single customer.</a:t>
            </a:r>
          </a:p>
          <a:p xmlns:a="http://schemas.openxmlformats.org/drawingml/2006/main">
            <a:r>
              <a:t/>
            </a:r>
          </a:p>
          <a:p xmlns:a="http://schemas.openxmlformats.org/drawingml/2006/main">
            <a:r>
              <a:t>MIX_SHARE: {"id": "MIX_SHARE", "formula": "ServiceMix!B5:B7 / sum(ServiceMix!B5:B7)", "input_ids": ["MIX"], "result": [0.7, 0.2, 0.1], "unit": "ratio", "rounding": "Full precision internally; one decimal for GBP million and most percentages"}</a:t>
            </a:r>
          </a:p>
          <a:p xmlns:a="http://schemas.openxmlformats.org/drawingml/2006/main">
            <a:r>
              <a:t/>
            </a:r>
          </a:p>
          <a:p xmlns:a="http://schemas.openxmlformats.org/drawingml/2006/main">
            <a:r>
              <a:t>NORMALIZE: {"id": "NORMALIZE", "formula": "GBP thousand / 1000", "input_ids": ["MIX", "CUSTOMERS", "UNITS"], "result": {"services_m": [17.5, 5.0, 2.5], "customers_m": [3.0, 2.25, 2.0, 1.75, 1.5, 14.5]}, "unit": "GBP million", "rounding": "Full precision internally; one decimal for GBP million and most percentages"}</a:t>
            </a:r>
          </a:p>
          <a:p xmlns:a="http://schemas.openxmlformats.org/drawingml/2006/main">
            <a:r>
              <a:t/>
            </a:r>
          </a:p>
          <a:p xmlns:a="http://schemas.openxmlformats.org/drawingml/2006/main">
            <a:r>
              <a:t>SECTOR_SHARE: {"id": "SECTOR_SHARE", "formula": "Sector revenue / FY2025 total revenue", "input_ids": ["SECTORS", "FIN25"], "result": [0.45, 0.35, 0.2],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COMMERCIAL: Service scope, pricing and account relationships [source_supported]</a:t>
            </a:r>
          </a:p>
          <a:p xmlns:a="http://schemas.openxmlformats.org/drawingml/2006/main">
            <a:r>
              <a:t>05_commercial_interview.txt / line 1 — FICTIONAL TRAINING CASE. All statements and figures are invented for workflow testing.</a:t>
            </a:r>
          </a:p>
          <a:p xmlns:a="http://schemas.openxmlformats.org/drawingml/2006/main">
            <a:r>
              <a:t>05_commercial_interview.txt / line 2 — Commercial director interview, 26 January 2026. Period: FY2025 unless specified.</a:t>
            </a:r>
          </a:p>
          <a:p xmlns:a="http://schemas.openxmlformats.org/drawingml/2006/main">
            <a:r>
              <a:t>05_commercial_interview.txt / line 3 — Scheduled maintenance covers planned inspections and preventive servicing. Most contracts specify scheduled visits and an annual fee. Reactive repairs charge call-out, labour and materials. Installation projects use a separately agreed scope and price.</a:t>
            </a:r>
          </a:p>
          <a:p xmlns:a="http://schemas.openxmlformats.org/drawingml/2006/main">
            <a:r>
              <a:t>05_commercial_interview.txt / line 4 — Contracts generally run for one to three years. Renewal requires agreement. Annual price reviews depend on contract terms and customer acceptance. Maintenance revenue should not be described as guaranteed future revenue or ARR.</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05_commercial_interview.txt / line 8 — Maya Reed remains the primary executive contact on the largest customer accounts. The commercial team needs to document deputy account ownership and review change-of-control provisions.</a:t>
            </a:r>
          </a:p>
          <a:p xmlns:a="http://schemas.openxmlformats.org/drawingml/2006/main">
            <a:r>
              <a:t>05_commercial_interview.txt / line 9 — No independent market-size, market-share or competitor study has been submitted.</a:t>
            </a:r>
          </a:p>
          <a:p xmlns:a="http://schemas.openxmlformats.org/drawingml/2006/main">
            <a:r>
              <a:t>Limitations: Unaudited synthetic management submission.</a:t>
            </a:r>
          </a:p>
          <a:p xmlns:a="http://schemas.openxmlformats.org/drawingml/2006/main">
            <a:r>
              <a:t/>
            </a:r>
          </a:p>
          <a:p xmlns:a="http://schemas.openxmlformats.org/drawingml/2006/main">
            <a:r>
              <a:t>CUSTOMERS: FY2025 customer sales [source_supported]</a:t>
            </a:r>
          </a:p>
          <a:p xmlns:a="http://schemas.openxmlformats.org/drawingml/2006/main">
            <a:r>
              <a:t>02_management_model.xlsx / CustomerSales!A5 — C001</a:t>
            </a:r>
          </a:p>
          <a:p xmlns:a="http://schemas.openxmlformats.org/drawingml/2006/main">
            <a:r>
              <a:t>02_management_model.xlsx / CustomerSales!B5 — Customer A</a:t>
            </a:r>
          </a:p>
          <a:p xmlns:a="http://schemas.openxmlformats.org/drawingml/2006/main">
            <a:r>
              <a:t>02_management_model.xlsx / CustomerSales!C5 — 3000</a:t>
            </a:r>
          </a:p>
          <a:p xmlns:a="http://schemas.openxmlformats.org/drawingml/2006/main">
            <a:r>
              <a:t>02_management_model.xlsx / CustomerSales!A6 — C002</a:t>
            </a:r>
          </a:p>
          <a:p xmlns:a="http://schemas.openxmlformats.org/drawingml/2006/main">
            <a:r>
              <a:t>02_management_model.xlsx / CustomerSales!B6 — Customer B</a:t>
            </a:r>
          </a:p>
          <a:p xmlns:a="http://schemas.openxmlformats.org/drawingml/2006/main">
            <a:r>
              <a:t>02_management_model.xlsx / CustomerSales!C6 — 2250</a:t>
            </a:r>
          </a:p>
          <a:p xmlns:a="http://schemas.openxmlformats.org/drawingml/2006/main">
            <a:r>
              <a:t>02_management_model.xlsx / CustomerSales!A7 — C003</a:t>
            </a:r>
          </a:p>
          <a:p xmlns:a="http://schemas.openxmlformats.org/drawingml/2006/main">
            <a:r>
              <a:t>02_management_model.xlsx / CustomerSales!B7 — Customer C</a:t>
            </a:r>
          </a:p>
          <a:p xmlns:a="http://schemas.openxmlformats.org/drawingml/2006/main">
            <a:r>
              <a:t>02_management_model.xlsx / CustomerSales!C7 — 2000</a:t>
            </a:r>
          </a:p>
          <a:p xmlns:a="http://schemas.openxmlformats.org/drawingml/2006/main">
            <a:r>
              <a:t>02_management_model.xlsx / CustomerSales!A8 — C004</a:t>
            </a:r>
          </a:p>
          <a:p xmlns:a="http://schemas.openxmlformats.org/drawingml/2006/main">
            <a:r>
              <a:t>02_management_model.xlsx / CustomerSales!B8 — Customer D</a:t>
            </a:r>
          </a:p>
          <a:p xmlns:a="http://schemas.openxmlformats.org/drawingml/2006/main">
            <a:r>
              <a:t>02_management_model.xlsx / CustomerSales!C8 — 1750</a:t>
            </a:r>
          </a:p>
          <a:p xmlns:a="http://schemas.openxmlformats.org/drawingml/2006/main">
            <a:r>
              <a:t>02_management_model.xlsx / CustomerSales!A9 — C005</a:t>
            </a:r>
          </a:p>
          <a:p xmlns:a="http://schemas.openxmlformats.org/drawingml/2006/main">
            <a:r>
              <a:t>02_management_model.xlsx / CustomerSales!B9 — Customer E</a:t>
            </a:r>
          </a:p>
          <a:p xmlns:a="http://schemas.openxmlformats.org/drawingml/2006/main">
            <a:r>
              <a:t>02_management_model.xlsx / CustomerSales!C9 — 1500</a:t>
            </a:r>
          </a:p>
          <a:p xmlns:a="http://schemas.openxmlformats.org/drawingml/2006/main">
            <a:r>
              <a:t>02_management_model.xlsx / CustomerSales!A10 — OTHER</a:t>
            </a:r>
          </a:p>
          <a:p xmlns:a="http://schemas.openxmlformats.org/drawingml/2006/main">
            <a:r>
              <a:t>02_management_model.xlsx / CustomerSales!B10 — All other customers (aggregate)</a:t>
            </a:r>
          </a:p>
          <a:p xmlns:a="http://schemas.openxmlformats.org/drawingml/2006/main">
            <a:r>
              <a:t>02_management_model.xlsx / CustomerSales!C10 — 14500</a:t>
            </a:r>
          </a:p>
          <a:p xmlns:a="http://schemas.openxmlformats.org/drawingml/2006/main">
            <a:r>
              <a:t>Limitations: OTHER is an aggregate.</a:t>
            </a:r>
          </a:p>
          <a:p xmlns:a="http://schemas.openxmlformats.org/drawingml/2006/main">
            <a:r>
              <a:t/>
            </a:r>
          </a:p>
          <a:p xmlns:a="http://schemas.openxmlformats.org/drawingml/2006/main">
            <a:r>
              <a:t>EXPIRIES: Maintenance revenue by agreement expiry year [source_supported]</a:t>
            </a:r>
          </a:p>
          <a:p xmlns:a="http://schemas.openxmlformats.org/drawingml/2006/main">
            <a:r>
              <a:t>08_contract_expiries.csv / line 1 — # FICTIONAL TRAINING CASE; management submission 26 January 2026; unaudited</a:t>
            </a:r>
          </a:p>
          <a:p xmlns:a="http://schemas.openxmlformats.org/drawingml/2006/main">
            <a:r>
              <a:t>08_contract_expiries.csv / line 2 — expiry_year,fy2025_maintenance_revenue_gbp_m,basis</a:t>
            </a:r>
          </a:p>
          <a:p xmlns:a="http://schemas.openxmlformats.org/drawingml/2006/main">
            <a:r>
              <a:t>08_contract_expiries.csv / line 3 — 2026,6.0,FY2025 revenue attributed to current agreement expiry year; not backlog</a:t>
            </a:r>
          </a:p>
          <a:p xmlns:a="http://schemas.openxmlformats.org/drawingml/2006/main">
            <a:r>
              <a:t>08_contract_expiries.csv / line 4 — 2027,7.5,FY2025 revenue attributed to current agreement expiry year; not backlog</a:t>
            </a:r>
          </a:p>
          <a:p xmlns:a="http://schemas.openxmlformats.org/drawingml/2006/main">
            <a:r>
              <a:t>08_contract_expiries.csv / line 5 — 2028,4.0,FY2025 revenue attributed to current agreement expiry year; not backlog</a:t>
            </a:r>
          </a:p>
          <a:p xmlns:a="http://schemas.openxmlformats.org/drawingml/2006/main">
            <a:r>
              <a:t>Limitations: FY2025 recognised revenue assigned to expiry cohorts. Not future contracted backlog.</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MIX: FY2025 service revenue [source_supported]</a:t>
            </a:r>
          </a:p>
          <a:p xmlns:a="http://schemas.openxmlformats.org/drawingml/2006/main">
            <a:r>
              <a:t>02_management_model.xlsx / ServiceMix!A5 — Scheduled maintenance</a:t>
            </a:r>
          </a:p>
          <a:p xmlns:a="http://schemas.openxmlformats.org/drawingml/2006/main">
            <a:r>
              <a:t>02_management_model.xlsx / ServiceMix!B5 — 17500</a:t>
            </a:r>
          </a:p>
          <a:p xmlns:a="http://schemas.openxmlformats.org/drawingml/2006/main">
            <a:r>
              <a:t>02_management_model.xlsx / ServiceMix!C5 — Annual service contracts</a:t>
            </a:r>
          </a:p>
          <a:p xmlns:a="http://schemas.openxmlformats.org/drawingml/2006/main">
            <a:r>
              <a:t>02_management_model.xlsx / ServiceMix!A6 — Reactive repairs</a:t>
            </a:r>
          </a:p>
          <a:p xmlns:a="http://schemas.openxmlformats.org/drawingml/2006/main">
            <a:r>
              <a:t>02_management_model.xlsx / ServiceMix!B6 — 5000</a:t>
            </a:r>
          </a:p>
          <a:p xmlns:a="http://schemas.openxmlformats.org/drawingml/2006/main">
            <a:r>
              <a:t>02_management_model.xlsx / ServiceMix!C6 — Call-out and materials</a:t>
            </a:r>
          </a:p>
          <a:p xmlns:a="http://schemas.openxmlformats.org/drawingml/2006/main">
            <a:r>
              <a:t>02_management_model.xlsx / ServiceMix!A7 — Installation projects</a:t>
            </a:r>
          </a:p>
          <a:p xmlns:a="http://schemas.openxmlformats.org/drawingml/2006/main">
            <a:r>
              <a:t>02_management_model.xlsx / ServiceMix!B7 — 2500</a:t>
            </a:r>
          </a:p>
          <a:p xmlns:a="http://schemas.openxmlformats.org/drawingml/2006/main">
            <a:r>
              <a:t>02_management_model.xlsx / ServiceMix!C7 — Project-based work</a:t>
            </a:r>
          </a:p>
          <a:p xmlns:a="http://schemas.openxmlformats.org/drawingml/2006/main">
            <a:r>
              <a:t/>
            </a:r>
          </a:p>
          <a:p xmlns:a="http://schemas.openxmlformats.org/drawingml/2006/main">
            <a:r>
              <a:t>PROCESS: Proposed transaction perimeter and preparation responsibilities [source_supported]</a:t>
            </a:r>
          </a:p>
          <a:p xmlns:a="http://schemas.openxmlformats.org/drawingml/2006/main">
            <a:r>
              <a:t>13_transaction_workshop.txt / line 1 — FICTIONAL TRAINING CASE. Invented transaction workshop notes, 26 January 2026.</a:t>
            </a:r>
          </a:p>
          <a:p xmlns:a="http://schemas.openxmlformats.org/drawingml/2006/main">
            <a:r>
              <a:t>13_transaction_workshop.txt / line 2 — Shareholders are considering a sale of 70% to 100% of the equity in the standalone UK company. The current ownership remains founder 70%, management 20%, seed investor 10%.</a:t>
            </a:r>
          </a:p>
          <a:p xmlns:a="http://schemas.openxmlformats.org/drawingml/2006/main">
            <a:r>
              <a:t>13_transaction_workshop.txt / line 3 — The proposed perimeter includes all three hubs, operating assets and customer contracts of the company. No excluded business has been identified. Legal entity, asset ownership and contract transferability require legal diligence.</a:t>
            </a:r>
          </a:p>
          <a:p xmlns:a="http://schemas.openxmlformats.org/drawingml/2006/main">
            <a:r>
              <a:t>13_transaction_workshop.txt / line 4 — No valuation, management rollover, financing structure or transaction timetable has been agreed. The process remains at preparation stage. No offers or signed sale terms exist in this fictional case.</a:t>
            </a:r>
          </a:p>
          <a:p xmlns:a="http://schemas.openxmlformats.org/drawingml/2006/main">
            <a:r>
              <a:t>13_transaction_workshop.txt / line 5 — Daniel Cole (CFO) owns revenue reconciliation, QoE preparation and balance-sheet schedules. Aisha Patel (COO) owns job-level KPI evidence, engineer recruitment and capacity planning. Maya Reed (CEO) owns key-account continuity and pipeline evidence. External legal counsel, not yet appointed, would review title, consents and change-of-control clauses. The strategy team owns independent market work.</a:t>
            </a:r>
          </a:p>
          <a:p xmlns:a="http://schemas.openxmlformats.org/drawingml/2006/main">
            <a:r>
              <a:t>Limitations: Unaudited synthetic management submission.</a:t>
            </a:r>
          </a:p>
          <a:p xmlns:a="http://schemas.openxmlformats.org/drawingml/2006/main">
            <a:r>
              <a:t/>
            </a:r>
          </a:p>
          <a:p xmlns:a="http://schemas.openxmlformats.org/drawingml/2006/main">
            <a:r>
              <a:t>RENEWALS: Defined maintenance agreement renewal cohort [source_supported]</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Limitations: Contract-level management cohort. Excludes price changes and additional scope. Not customer retention and not independently verified.</a:t>
            </a:r>
          </a:p>
          <a:p xmlns:a="http://schemas.openxmlformats.org/drawingml/2006/main">
            <a:r>
              <a:t/>
            </a:r>
          </a:p>
          <a:p xmlns:a="http://schemas.openxmlformats.org/drawingml/2006/main">
            <a:r>
              <a:t>RETENTION: Retention estimate lacks defined basis [management_unverified]</a:t>
            </a:r>
          </a:p>
          <a:p xmlns:a="http://schemas.openxmlformats.org/drawingml/2006/main">
            <a:r>
              <a:t>03_management_interview.txt / line 7 — [00:17] CEO: We estimate customer retention at 94% in FY2025, but have not supplied the cohort calculation or defined whether that refers to customers or revenue.</a:t>
            </a:r>
          </a:p>
          <a:p xmlns:a="http://schemas.openxmlformats.org/drawingml/2006/main">
            <a:r>
              <a:t>Limitations: No definition or cohort data; excluded from quantitative investment highlights.</a:t>
            </a:r>
          </a:p>
          <a:p xmlns:a="http://schemas.openxmlformats.org/drawingml/2006/main">
            <a:r>
              <a:t/>
            </a:r>
          </a:p>
          <a:p xmlns:a="http://schemas.openxmlformats.org/drawingml/2006/main">
            <a:r>
              <a:t>EXPIRY_SHARE: {"id": "EXPIRY_SHARE", "formula": "FY2025 revenue in each expiry cohort / FY2025 maintenance revenue", "input_ids": ["EXPIRIES", "MIX"], "result": [0.34285714285714286, 0.42857142857142855, 0.22857142857142856], "unit": "ratio", "rounding": "Full precision internally; one decimal for GBP million and most percentages"}</a:t>
            </a:r>
          </a:p>
          <a:p xmlns:a="http://schemas.openxmlformats.org/drawingml/2006/main">
            <a:r>
              <a:t/>
            </a:r>
          </a:p>
          <a:p xmlns:a="http://schemas.openxmlformats.org/drawingml/2006/main">
            <a:r>
              <a:t>EXPIRY_TOTAL_SHARE: {"id": "EXPIRY_TOTAL_SHARE", "formula": "FY2025 revenue attributed to 2026 expiries / total FY2025 revenue", "input_ids": ["EXPIRIES", "FIN25"], "result": 0.24, "unit": "ratio", "rounding": "Full precision internally; one decimal for GBP million and most percentages"}</a:t>
            </a:r>
          </a:p>
          <a:p xmlns:a="http://schemas.openxmlformats.org/drawingml/2006/main">
            <a:r>
              <a:t/>
            </a:r>
          </a:p>
          <a:p xmlns:a="http://schemas.openxmlformats.org/drawingml/2006/main">
            <a:r>
              <a:t>LARGEST: {"id": "LARGEST", "formula": "max(CustomerSales!C5:C9) / sum(CustomerSales!C5:C10)", "input_ids": ["CUSTOMERS"], "result": 0.12, "unit": "ratio", "rounding": "Full precision internally; one decimal for GBP million and most percentages"}</a:t>
            </a:r>
          </a:p>
          <a:p xmlns:a="http://schemas.openxmlformats.org/drawingml/2006/main">
            <a:r>
              <a:t/>
            </a:r>
          </a:p>
          <a:p xmlns:a="http://schemas.openxmlformats.org/drawingml/2006/main">
            <a:r>
              <a:t>NORMALIZE: {"id": "NORMALIZE", "formula": "GBP thousand / 1000", "input_ids": ["MIX", "CUSTOMERS", "UNITS"], "result": {"services_m": [17.5, 5.0, 2.5], "customers_m": [3.0, 2.25, 2.0, 1.75, 1.5, 14.5]}, "unit": "GBP million", "rounding": "Full precision internally; one decimal for GBP million and most percentages"}</a:t>
            </a:r>
          </a:p>
          <a:p xmlns:a="http://schemas.openxmlformats.org/drawingml/2006/main">
            <a:r>
              <a:t/>
            </a:r>
          </a:p>
          <a:p xmlns:a="http://schemas.openxmlformats.org/drawingml/2006/main">
            <a:r>
              <a:t>RENEWAL_LOSS: {"id": "RENEWAL_LOSS", "formula": "Due agreements minus renewed; due annual value minus retained value", "input_ids": ["RENEWALS"], "result": {"agreements": 2, "annual_value": 0.2799999999999998}, "unit": "count / GBP million", "rounding": "Full precision internally; one decimal for GBP million and most percentages"}</a:t>
            </a:r>
          </a:p>
          <a:p xmlns:a="http://schemas.openxmlformats.org/drawingml/2006/main">
            <a:r>
              <a:t/>
            </a:r>
          </a:p>
          <a:p xmlns:a="http://schemas.openxmlformats.org/drawingml/2006/main">
            <a:r>
              <a:t>RENEWAL_RATES: {"id": "RENEWAL_RATES", "formula": "Renewed contracts / due contracts; retained pre-price value / due annual value", "input_ids": ["RENEWALS"], "result": [0.92, 0.93], "unit": "ratio", "rounding": "Full precision internally; one decimal for GBP million and most percentages"}</a:t>
            </a:r>
          </a:p>
          <a:p xmlns:a="http://schemas.openxmlformats.org/drawingml/2006/main">
            <a:r>
              <a:t/>
            </a:r>
          </a:p>
          <a:p xmlns:a="http://schemas.openxmlformats.org/drawingml/2006/main">
            <a:r>
              <a:t>TOP5: {"id": "TOP5", "formula": "sum(CustomerSales!C5:C9) / sum(CustomerSales!C5:C10)", "input_ids": ["CUSTOMERS"], "result": 0.42,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BRIDGE: Group-level forecast revenue bridge and engineer plan [source_supported]</a:t>
            </a:r>
          </a:p>
          <a:p xmlns:a="http://schemas.openxmlformats.org/drawingml/2006/main">
            <a:r>
              <a:t>11_forecast_bridge.csv / line 1 — # FICTIONAL TRAINING CASE; management submission 26 January 2026; unaudited</a:t>
            </a:r>
          </a:p>
          <a:p xmlns:a="http://schemas.openxmlformats.org/drawingml/2006/main">
            <a:r>
              <a:t>11_forecast_bridge.csv / line 2 — component,fy2026_gbp_m,fy2027_gbp_m,basis</a:t>
            </a:r>
          </a:p>
          <a:p xmlns:a="http://schemas.openxmlformats.org/drawingml/2006/main">
            <a:r>
              <a:t>11_forecast_bridge.csv / line 3 — Opening revenue,25,29,Prior year actual or forecast</a:t>
            </a:r>
          </a:p>
          <a:p xmlns:a="http://schemas.openxmlformats.org/drawingml/2006/main">
            <a:r>
              <a:t>11_forecast_bridge.csv / line 4 — Price,1,1.16,Management assumption; customer acceptance required</a:t>
            </a:r>
          </a:p>
          <a:p xmlns:a="http://schemas.openxmlformats.org/drawingml/2006/main">
            <a:r>
              <a:t>11_forecast_bridge.csv / line 5 — New contracts,2,2.4,Management assumption; unsigned pipeline</a:t>
            </a:r>
          </a:p>
          <a:p xmlns:a="http://schemas.openxmlformats.org/drawingml/2006/main">
            <a:r>
              <a:t>11_forecast_bridge.csv / line 6 — Cross-sell,1.6,1.74,Management assumption; conversion required</a:t>
            </a:r>
          </a:p>
          <a:p xmlns:a="http://schemas.openxmlformats.org/drawingml/2006/main">
            <a:r>
              <a:t>11_forecast_bridge.csv / line 7 — Attrition,-0.6,-0.7,Management assumption</a:t>
            </a:r>
          </a:p>
          <a:p xmlns:a="http://schemas.openxmlformats.org/drawingml/2006/main">
            <a:r>
              <a:t>11_forecast_bridge.csv / line 8 — Closing revenue,29,33.6,Management forecast</a:t>
            </a:r>
          </a:p>
          <a:p xmlns:a="http://schemas.openxmlformats.org/drawingml/2006/main">
            <a:r>
              <a:t>11_forecast_bridge.csv / line 9 — Year-end field engineers,95,105,Headcount; excludes attrition/replacement hiring; net growth from 85</a:t>
            </a:r>
          </a:p>
          <a:p xmlns:a="http://schemas.openxmlformats.org/drawingml/2006/main">
            <a:r>
              <a:t>Limitations: Group-level management assumptions. No customer bridge, signed pipeline or recruitment cost schedule.</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FIN26: FY2026 financial statements [source_supported]</a:t>
            </a:r>
          </a:p>
          <a:p xmlns:a="http://schemas.openxmlformats.org/drawingml/2006/main">
            <a:r>
              <a:t>02_management_model.xlsx / PnL!E5 — FY2026F</a:t>
            </a:r>
          </a:p>
          <a:p xmlns:a="http://schemas.openxmlformats.org/drawingml/2006/main">
            <a:r>
              <a:t>02_management_model.xlsx / PnL!E6 — 29</a:t>
            </a:r>
          </a:p>
          <a:p xmlns:a="http://schemas.openxmlformats.org/drawingml/2006/main">
            <a:r>
              <a:t>02_management_model.xlsx / PnL!E7 — -16.5</a:t>
            </a:r>
          </a:p>
          <a:p xmlns:a="http://schemas.openxmlformats.org/drawingml/2006/main">
            <a:r>
              <a:t>02_management_model.xlsx / PnL!E8 — 12.5</a:t>
            </a:r>
          </a:p>
          <a:p xmlns:a="http://schemas.openxmlformats.org/drawingml/2006/main">
            <a:r>
              <a:t>02_management_model.xlsx / PnL!E9 — -6.4</a:t>
            </a:r>
          </a:p>
          <a:p xmlns:a="http://schemas.openxmlformats.org/drawingml/2006/main">
            <a:r>
              <a:t>02_management_model.xlsx / PnL!E10 — 6.1</a:t>
            </a:r>
          </a:p>
          <a:p xmlns:a="http://schemas.openxmlformats.org/drawingml/2006/main">
            <a:r>
              <a:t>02_management_model.xlsx / PnL!E11 — 0.21034482758620687</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HUBS: Hub revenue and year-end headcount [source_supported]</a:t>
            </a:r>
          </a:p>
          <a:p xmlns:a="http://schemas.openxmlformats.org/drawingml/2006/main">
            <a:r>
              <a:t>06_hub_schedule.csv / line 1 — # FICTIONAL TRAINING CASE; management submission 26 January 2026; unaudited</a:t>
            </a:r>
          </a:p>
          <a:p xmlns:a="http://schemas.openxmlformats.org/drawingml/2006/main">
            <a:r>
              <a:t>06_hub_schedule.csv / line 2 — hub,fy2025_revenue_gbp_m,employees_20251231,field_engineers_20251231</a:t>
            </a:r>
          </a:p>
          <a:p xmlns:a="http://schemas.openxmlformats.org/drawingml/2006/main">
            <a:r>
              <a:t>06_hub_schedule.csv / line 3 — Birmingham,11.5,55,40</a:t>
            </a:r>
          </a:p>
          <a:p xmlns:a="http://schemas.openxmlformats.org/drawingml/2006/main">
            <a:r>
              <a:t>06_hub_schedule.csv / line 4 — Manchester,8.0,38,27</a:t>
            </a:r>
          </a:p>
          <a:p xmlns:a="http://schemas.openxmlformats.org/drawingml/2006/main">
            <a:r>
              <a:t>06_hub_schedule.csv / line 5 — Bristol,5.5,27,18</a:t>
            </a:r>
          </a:p>
          <a:p xmlns:a="http://schemas.openxmlformats.org/drawingml/2006/main">
            <a:r>
              <a:t>Limitations: Unaudited synthetic management submission.</a:t>
            </a:r>
          </a:p>
          <a:p xmlns:a="http://schemas.openxmlformats.org/drawingml/2006/main">
            <a:r>
              <a:t/>
            </a:r>
          </a:p>
          <a:p xmlns:a="http://schemas.openxmlformats.org/drawingml/2006/main">
            <a:r>
              <a:t>KPIS: Defined service delivery measures [source_supported]</a:t>
            </a:r>
          </a:p>
          <a:p xmlns:a="http://schemas.openxmlformats.org/drawingml/2006/main">
            <a:r>
              <a:t>07_service_kpis.csv / line 1 — # FICTIONAL TRAINING CASE; management submission 26 January 2026; unaudited</a:t>
            </a:r>
          </a:p>
          <a:p xmlns:a="http://schemas.openxmlformats.org/drawingml/2006/main">
            <a:r>
              <a:t>07_service_kpis.csv / line 2 — metric,numerator,denominator,period,definition</a:t>
            </a:r>
          </a:p>
          <a:p xmlns:a="http://schemas.openxmlformats.org/drawingml/2006/main">
            <a:r>
              <a:t>07_service_kpis.csv / line 3 — Urgent response SLA,561,600,FY2025,Eligible urgent jobs attended within four hours / all eligible urgent jobs</a:t>
            </a:r>
          </a:p>
          <a:p xmlns:a="http://schemas.openxmlformats.org/drawingml/2006/main">
            <a:r>
              <a:t>07_service_kpis.csv / line 4 — First-time fix,2200,2500,FY2025,Closed reactive jobs resolved on first visit / all closed reactive jobs</a:t>
            </a:r>
          </a:p>
          <a:p xmlns:a="http://schemas.openxmlformats.org/drawingml/2006/main">
            <a:r>
              <a:t>07_service_kpis.csv / line 5 — Productive hours,126480,170000,FY2025,Recorded productive engineer hours / recorded available engineer hours; not billing utilisation</a:t>
            </a:r>
          </a:p>
          <a:p xmlns:a="http://schemas.openxmlformats.org/drawingml/2006/main">
            <a:r>
              <a:t>Limitations: Unaudited synthetic management submission.</a:t>
            </a:r>
          </a:p>
          <a:p xmlns:a="http://schemas.openxmlformats.org/drawingml/2006/main">
            <a:r>
              <a:t/>
            </a:r>
          </a:p>
          <a:p xmlns:a="http://schemas.openxmlformats.org/drawingml/2006/main">
            <a:r>
              <a:t>OPS: People, hubs and management [source_supported]</a:t>
            </a:r>
          </a:p>
          <a:p xmlns:a="http://schemas.openxmlformats.org/drawingml/2006/main">
            <a:r>
              <a:t>01_company_brief.docx / paragraph 10 —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a:t>
            </a:r>
          </a:p>
          <a:p xmlns:a="http://schemas.openxmlformats.org/drawingml/2006/main">
            <a:r>
              <a:t/>
            </a:r>
          </a:p>
          <a:p xmlns:a="http://schemas.openxmlformats.org/drawingml/2006/main">
            <a:r>
              <a:t>PROCESS: Proposed transaction perimeter and preparation responsibilities [source_supported]</a:t>
            </a:r>
          </a:p>
          <a:p xmlns:a="http://schemas.openxmlformats.org/drawingml/2006/main">
            <a:r>
              <a:t>13_transaction_workshop.txt / line 1 — FICTIONAL TRAINING CASE. Invented transaction workshop notes, 26 January 2026.</a:t>
            </a:r>
          </a:p>
          <a:p xmlns:a="http://schemas.openxmlformats.org/drawingml/2006/main">
            <a:r>
              <a:t>13_transaction_workshop.txt / line 2 — Shareholders are considering a sale of 70% to 100% of the equity in the standalone UK company. The current ownership remains founder 70%, management 20%, seed investor 10%.</a:t>
            </a:r>
          </a:p>
          <a:p xmlns:a="http://schemas.openxmlformats.org/drawingml/2006/main">
            <a:r>
              <a:t>13_transaction_workshop.txt / line 3 — The proposed perimeter includes all three hubs, operating assets and customer contracts of the company. No excluded business has been identified. Legal entity, asset ownership and contract transferability require legal diligence.</a:t>
            </a:r>
          </a:p>
          <a:p xmlns:a="http://schemas.openxmlformats.org/drawingml/2006/main">
            <a:r>
              <a:t>13_transaction_workshop.txt / line 4 — No valuation, management rollover, financing structure or transaction timetable has been agreed. The process remains at preparation stage. No offers or signed sale terms exist in this fictional case.</a:t>
            </a:r>
          </a:p>
          <a:p xmlns:a="http://schemas.openxmlformats.org/drawingml/2006/main">
            <a:r>
              <a:t>13_transaction_workshop.txt / line 5 — Daniel Cole (CFO) owns revenue reconciliation, QoE preparation and balance-sheet schedules. Aisha Patel (COO) owns job-level KPI evidence, engineer recruitment and capacity planning. Maya Reed (CEO) owns key-account continuity and pipeline evidence. External legal counsel, not yet appointed, would review title, consents and change-of-control clauses. The strategy team owns independent market work.</a:t>
            </a:r>
          </a:p>
          <a:p xmlns:a="http://schemas.openxmlformats.org/drawingml/2006/main">
            <a:r>
              <a:t>Limitations: Unaudited synthetic management submission.</a:t>
            </a:r>
          </a:p>
          <a:p xmlns:a="http://schemas.openxmlformats.org/drawingml/2006/main">
            <a:r>
              <a:t/>
            </a:r>
          </a:p>
          <a:p xmlns:a="http://schemas.openxmlformats.org/drawingml/2006/main">
            <a:r>
              <a:t>ENGINEER_MIX: {"id": "ENGINEER_MIX", "formula": "Total headcount minus engineers; engineers / headcount; future year-end engineer growth", "input_ids": ["OPS", "BRIDGE"], "result": {"non_engineers": 35, "share": 0.7083333333333334, "growth_2026": 0.11764705882352944, "growth_2027": 0.10526315789473695}, "unit": "ratio", "rounding": "Full precision internally; one decimal for GBP million and most percentages"}</a:t>
            </a:r>
          </a:p>
          <a:p xmlns:a="http://schemas.openxmlformats.org/drawingml/2006/main">
            <a:r>
              <a:t/>
            </a:r>
          </a:p>
          <a:p xmlns:a="http://schemas.openxmlformats.org/drawingml/2006/main">
            <a:r>
              <a:t>HUB_SHARE: {"id": "HUB_SHARE", "formula": "Hub revenue / FY2025 total revenue", "input_ids": ["HUBS", "FIN25"], "result": [0.46, 0.32, 0.22], "unit": "ratio", "rounding": "Full precision internally; one decimal for GBP million and most percentages"}</a:t>
            </a:r>
          </a:p>
          <a:p xmlns:a="http://schemas.openxmlformats.org/drawingml/2006/main">
            <a:r>
              <a:t/>
            </a:r>
          </a:p>
          <a:p xmlns:a="http://schemas.openxmlformats.org/drawingml/2006/main">
            <a:r>
              <a:t>KPI_RATES: {"id": "KPI_RATES", "formula": "Numerator / denominator for each defined service KPI", "input_ids": ["KPIS"], "result": [0.935, 0.88, 0.744], "unit": "ratio", "rounding": "Full precision internally; one decimal for GBP million and most percentages"}</a:t>
            </a:r>
          </a:p>
          <a:p xmlns:a="http://schemas.openxmlformats.org/drawingml/2006/main">
            <a:r>
              <a:t/>
            </a:r>
          </a:p>
          <a:p xmlns:a="http://schemas.openxmlformats.org/drawingml/2006/main">
            <a:r>
              <a:t>REVENUE_GROWTH: {"id": "REVENUE_GROWTH", "formula": "Current revenue / prior year revenue - 1", "input_ids": ["FIN23", "FIN24", "FIN25", "FIN26", "FIN27"], "result": [0.19444444444444442, 0.16279069767441867, 0.15999999999999992, 0.1586206896551725],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CONFLICT: FY2025 revenue difference [provisional_conflict]</a:t>
            </a:r>
          </a:p>
          <a:p xmlns:a="http://schemas.openxmlformats.org/drawingml/2006/main">
            <a:r>
              <a:t>02_management_model.xlsx / PnL!D6 — 25</a:t>
            </a:r>
          </a:p>
          <a:p xmlns:a="http://schemas.openxmlformats.org/drawingml/2006/main">
            <a:r>
              <a:t>01_company_brief.docx / paragraph 8 — The preliminary FY2025 revenue estimate is GBP 26.2 million. This briefing does not provide a reconciliation to the finance model. Financial years end on 31 December. All revenue figures exclude VAT.</a:t>
            </a:r>
          </a:p>
          <a:p xmlns:a="http://schemas.openxmlformats.org/drawingml/2006/main">
            <a:r>
              <a:t>04_cfo_email.eml / line 8 — Please use the attached management model as the provisional basis for the draft. The GBP 1.2m difference against the briefing remains unresolved and must remain visible in the draft. This is not confirmation that the model has been audited.</a:t>
            </a:r>
          </a:p>
          <a:p xmlns:a="http://schemas.openxmlformats.org/drawingml/2006/main">
            <a:r>
              <a:t>Limitations: Use model provisionally under CFO instruction; do not call reconciled.</a:t>
            </a:r>
          </a:p>
          <a:p xmlns:a="http://schemas.openxmlformats.org/drawingml/2006/main">
            <a:r>
              <a:t/>
            </a:r>
          </a:p>
          <a:p xmlns:a="http://schemas.openxmlformats.org/drawingml/2006/main">
            <a:r>
              <a:t>FIN23: FY2023 financial statements [source_supported]</a:t>
            </a:r>
          </a:p>
          <a:p xmlns:a="http://schemas.openxmlformats.org/drawingml/2006/main">
            <a:r>
              <a:t>02_management_model.xlsx / PnL!B5 — FY2023A</a:t>
            </a:r>
          </a:p>
          <a:p xmlns:a="http://schemas.openxmlformats.org/drawingml/2006/main">
            <a:r>
              <a:t>02_management_model.xlsx / PnL!B6 — 18</a:t>
            </a:r>
          </a:p>
          <a:p xmlns:a="http://schemas.openxmlformats.org/drawingml/2006/main">
            <a:r>
              <a:t>02_management_model.xlsx / PnL!B7 — -10.8</a:t>
            </a:r>
          </a:p>
          <a:p xmlns:a="http://schemas.openxmlformats.org/drawingml/2006/main">
            <a:r>
              <a:t>02_management_model.xlsx / PnL!B8 — 7.199999999999999</a:t>
            </a:r>
          </a:p>
          <a:p xmlns:a="http://schemas.openxmlformats.org/drawingml/2006/main">
            <a:r>
              <a:t>02_management_model.xlsx / PnL!B9 — -4.5</a:t>
            </a:r>
          </a:p>
          <a:p xmlns:a="http://schemas.openxmlformats.org/drawingml/2006/main">
            <a:r>
              <a:t>02_management_model.xlsx / PnL!B10 — 2.6999999999999993</a:t>
            </a:r>
          </a:p>
          <a:p xmlns:a="http://schemas.openxmlformats.org/drawingml/2006/main">
            <a:r>
              <a:t>02_management_model.xlsx / PnL!B11 — 0.14999999999999997</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FIN24: FY2024 financial statements [source_supported]</a:t>
            </a:r>
          </a:p>
          <a:p xmlns:a="http://schemas.openxmlformats.org/drawingml/2006/main">
            <a:r>
              <a:t>02_management_model.xlsx / PnL!C5 — FY2024A</a:t>
            </a:r>
          </a:p>
          <a:p xmlns:a="http://schemas.openxmlformats.org/drawingml/2006/main">
            <a:r>
              <a:t>02_management_model.xlsx / PnL!C6 — 21.5</a:t>
            </a:r>
          </a:p>
          <a:p xmlns:a="http://schemas.openxmlformats.org/drawingml/2006/main">
            <a:r>
              <a:t>02_management_model.xlsx / PnL!C7 — -12.7</a:t>
            </a:r>
          </a:p>
          <a:p xmlns:a="http://schemas.openxmlformats.org/drawingml/2006/main">
            <a:r>
              <a:t>02_management_model.xlsx / PnL!C8 — 8.8</a:t>
            </a:r>
          </a:p>
          <a:p xmlns:a="http://schemas.openxmlformats.org/drawingml/2006/main">
            <a:r>
              <a:t>02_management_model.xlsx / PnL!C9 — -4.9</a:t>
            </a:r>
          </a:p>
          <a:p xmlns:a="http://schemas.openxmlformats.org/drawingml/2006/main">
            <a:r>
              <a:t>02_management_model.xlsx / PnL!C10 — 3.9000000000000004</a:t>
            </a:r>
          </a:p>
          <a:p xmlns:a="http://schemas.openxmlformats.org/drawingml/2006/main">
            <a:r>
              <a:t>02_management_model.xlsx / PnL!C11 — 0.1813953488372093</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QUARTERS: Quarterly revenue and management EBITDA [source_supported]</a:t>
            </a:r>
          </a:p>
          <a:p xmlns:a="http://schemas.openxmlformats.org/drawingml/2006/main">
            <a:r>
              <a:t>09_quarterly_accounts.csv / line 1 — # FICTIONAL TRAINING CASE; management submission 26 January 2026; unaudited</a:t>
            </a:r>
          </a:p>
          <a:p xmlns:a="http://schemas.openxmlformats.org/drawingml/2006/main">
            <a:r>
              <a:t>09_quarterly_accounts.csv / line 2 — quarter,revenue_gbp_m,ebitda_gbp_m,basis</a:t>
            </a:r>
          </a:p>
          <a:p xmlns:a="http://schemas.openxmlformats.org/drawingml/2006/main">
            <a:r>
              <a:t>09_quarterly_accounts.csv / line 3 — Q1 2025,5.7,0.9,Unaudited provisional management actuals</a:t>
            </a:r>
          </a:p>
          <a:p xmlns:a="http://schemas.openxmlformats.org/drawingml/2006/main">
            <a:r>
              <a:t>09_quarterly_accounts.csv / line 4 — Q2 2025,6.1,1.15,Unaudited provisional management actuals</a:t>
            </a:r>
          </a:p>
          <a:p xmlns:a="http://schemas.openxmlformats.org/drawingml/2006/main">
            <a:r>
              <a:t>09_quarterly_accounts.csv / line 5 — Q3 2025,6.4,1.3,Unaudited provisional management actuals</a:t>
            </a:r>
          </a:p>
          <a:p xmlns:a="http://schemas.openxmlformats.org/drawingml/2006/main">
            <a:r>
              <a:t>09_quarterly_accounts.csv / line 6 — Q4 2025,6.8,1.65,Unaudited provisional management actuals</a:t>
            </a:r>
          </a:p>
          <a:p xmlns:a="http://schemas.openxmlformats.org/drawingml/2006/main">
            <a:r>
              <a:t>Limitations: Unaudited synthetic management submission.</a:t>
            </a:r>
          </a:p>
          <a:p xmlns:a="http://schemas.openxmlformats.org/drawingml/2006/main">
            <a:r>
              <a:t/>
            </a:r>
          </a:p>
          <a:p xmlns:a="http://schemas.openxmlformats.org/drawingml/2006/main">
            <a:r>
              <a:t>CAGR: {"id": "CAGR", "formula": "(FY2025 revenue / FY2023 revenue)^(1/2) - 1", "input_ids": ["FIN23", "FIN25"], "result": 0.17851130197757925, "unit": "ratio", "rounding": "Full precision internally; one decimal for GBP million and most percentages"}</a:t>
            </a:r>
          </a:p>
          <a:p xmlns:a="http://schemas.openxmlformats.org/drawingml/2006/main">
            <a:r>
              <a:t/>
            </a:r>
          </a:p>
          <a:p xmlns:a="http://schemas.openxmlformats.org/drawingml/2006/main">
            <a:r>
              <a:t>COST_RATIOS: {"id": "COST_RATIOS", "formula": "Gross profit / revenue; operating expenses / revenue", "input_ids": ["FIN23", "FIN24", "FIN25", "FIN26", "FIN27"], "result": {"gross_margin": [0.39999999999999997, 0.4093023255813954, 0.42, 0.43103448275862066, 0.4464285714285714], "opex_ratio": [0.25, 0.22790697674418606, 0.22, 0.22068965517241382, 0.22619047619047616]}, "unit": "ratio", "rounding": "Full precision internally; one decimal for GBP million and most percentages"}</a:t>
            </a:r>
          </a:p>
          <a:p xmlns:a="http://schemas.openxmlformats.org/drawingml/2006/main">
            <a:r>
              <a:t/>
            </a:r>
          </a:p>
          <a:p xmlns:a="http://schemas.openxmlformats.org/drawingml/2006/main">
            <a:r>
              <a:t>MARGINS: {"id": "MARGINS", "formula": "Each period EBITDA / same period revenue", "input_ids": ["FIN23", "FIN24", "FIN25", "FIN26", "FIN27"], "result": [0.14999999999999997, 0.1813953488372093, 0.2, 0.21034482758620687, 0.22023809523809523], "unit": "ratio", "rounding": "Full precision internally; one decimal for GBP million and most percentages"}</a:t>
            </a:r>
          </a:p>
          <a:p xmlns:a="http://schemas.openxmlformats.org/drawingml/2006/main">
            <a:r>
              <a:t/>
            </a:r>
          </a:p>
          <a:p xmlns:a="http://schemas.openxmlformats.org/drawingml/2006/main">
            <a:r>
              <a:t>PROFIT_BRIDGE: {"id": "PROFIT_BRIDGE", "formula": "FY2025 minus FY2023: revenue, gross profit, operating expenses and EBITDA", "input_ids": ["FIN23", "FIN25"], "result": {"revenue": 7.0, "gross_profit": 3.3000000000000007, "opex": 1.0, "ebitda": 2.3000000000000007}, "unit": "GBP million", "rounding": "Full precision internally; one decimal for GBP million and most percentages"}</a:t>
            </a:r>
          </a:p>
          <a:p xmlns:a="http://schemas.openxmlformats.org/drawingml/2006/main">
            <a:r>
              <a:t/>
            </a:r>
          </a:p>
          <a:p xmlns:a="http://schemas.openxmlformats.org/drawingml/2006/main">
            <a:r>
              <a:t>QUARTER_MARGINS: {"id": "QUARTER_MARGINS", "formula": "Quarter EBITDA / quarter revenue; Q4 / full year", "input_ids": ["QUARTERS", "FIN25"], "result": {"margins": [0.15789473684210525, 0.1885245901639344, 0.203125, 0.2426470588235294], "q4_revenue_share": 0.272, "q4_ebitda_share": 0.32999999999999996},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BRIDGE: Group-level forecast revenue bridge and engineer plan [source_supported]</a:t>
            </a:r>
          </a:p>
          <a:p xmlns:a="http://schemas.openxmlformats.org/drawingml/2006/main">
            <a:r>
              <a:t>11_forecast_bridge.csv / line 1 — # FICTIONAL TRAINING CASE; management submission 26 January 2026; unaudited</a:t>
            </a:r>
          </a:p>
          <a:p xmlns:a="http://schemas.openxmlformats.org/drawingml/2006/main">
            <a:r>
              <a:t>11_forecast_bridge.csv / line 2 — component,fy2026_gbp_m,fy2027_gbp_m,basis</a:t>
            </a:r>
          </a:p>
          <a:p xmlns:a="http://schemas.openxmlformats.org/drawingml/2006/main">
            <a:r>
              <a:t>11_forecast_bridge.csv / line 3 — Opening revenue,25,29,Prior year actual or forecast</a:t>
            </a:r>
          </a:p>
          <a:p xmlns:a="http://schemas.openxmlformats.org/drawingml/2006/main">
            <a:r>
              <a:t>11_forecast_bridge.csv / line 4 — Price,1,1.16,Management assumption; customer acceptance required</a:t>
            </a:r>
          </a:p>
          <a:p xmlns:a="http://schemas.openxmlformats.org/drawingml/2006/main">
            <a:r>
              <a:t>11_forecast_bridge.csv / line 5 — New contracts,2,2.4,Management assumption; unsigned pipeline</a:t>
            </a:r>
          </a:p>
          <a:p xmlns:a="http://schemas.openxmlformats.org/drawingml/2006/main">
            <a:r>
              <a:t>11_forecast_bridge.csv / line 6 — Cross-sell,1.6,1.74,Management assumption; conversion required</a:t>
            </a:r>
          </a:p>
          <a:p xmlns:a="http://schemas.openxmlformats.org/drawingml/2006/main">
            <a:r>
              <a:t>11_forecast_bridge.csv / line 7 — Attrition,-0.6,-0.7,Management assumption</a:t>
            </a:r>
          </a:p>
          <a:p xmlns:a="http://schemas.openxmlformats.org/drawingml/2006/main">
            <a:r>
              <a:t>11_forecast_bridge.csv / line 8 — Closing revenue,29,33.6,Management forecast</a:t>
            </a:r>
          </a:p>
          <a:p xmlns:a="http://schemas.openxmlformats.org/drawingml/2006/main">
            <a:r>
              <a:t>11_forecast_bridge.csv / line 9 — Year-end field engineers,95,105,Headcount; excludes attrition/replacement hiring; net growth from 85</a:t>
            </a:r>
          </a:p>
          <a:p xmlns:a="http://schemas.openxmlformats.org/drawingml/2006/main">
            <a:r>
              <a:t>Limitations: Group-level management assumptions. No customer bridge, signed pipeline or recruitment cost schedule.</a:t>
            </a:r>
          </a:p>
          <a:p xmlns:a="http://schemas.openxmlformats.org/drawingml/2006/main">
            <a:r>
              <a:t/>
            </a:r>
          </a:p>
          <a:p xmlns:a="http://schemas.openxmlformats.org/drawingml/2006/main">
            <a:r>
              <a:t>COMMERCIAL: Service scope, pricing and account relationships [source_supported]</a:t>
            </a:r>
          </a:p>
          <a:p xmlns:a="http://schemas.openxmlformats.org/drawingml/2006/main">
            <a:r>
              <a:t>05_commercial_interview.txt / line 1 — FICTIONAL TRAINING CASE. All statements and figures are invented for workflow testing.</a:t>
            </a:r>
          </a:p>
          <a:p xmlns:a="http://schemas.openxmlformats.org/drawingml/2006/main">
            <a:r>
              <a:t>05_commercial_interview.txt / line 2 — Commercial director interview, 26 January 2026. Period: FY2025 unless specified.</a:t>
            </a:r>
          </a:p>
          <a:p xmlns:a="http://schemas.openxmlformats.org/drawingml/2006/main">
            <a:r>
              <a:t>05_commercial_interview.txt / line 3 — Scheduled maintenance covers planned inspections and preventive servicing. Most contracts specify scheduled visits and an annual fee. Reactive repairs charge call-out, labour and materials. Installation projects use a separately agreed scope and price.</a:t>
            </a:r>
          </a:p>
          <a:p xmlns:a="http://schemas.openxmlformats.org/drawingml/2006/main">
            <a:r>
              <a:t>05_commercial_interview.txt / line 4 — Contracts generally run for one to three years. Renewal requires agreement. Annual price reviews depend on contract terms and customer acceptance. Maintenance revenue should not be described as guaranteed future revenue or ARR.</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05_commercial_interview.txt / line 8 — Maya Reed remains the primary executive contact on the largest customer accounts. The commercial team needs to document deputy account ownership and review change-of-control provisions.</a:t>
            </a:r>
          </a:p>
          <a:p xmlns:a="http://schemas.openxmlformats.org/drawingml/2006/main">
            <a:r>
              <a:t>05_commercial_interview.txt / line 9 — No independent market-size, market-share or competitor study has been submitted.</a:t>
            </a:r>
          </a:p>
          <a:p xmlns:a="http://schemas.openxmlformats.org/drawingml/2006/main">
            <a:r>
              <a:t>Limitations: Unaudited synthetic management submission.</a:t>
            </a:r>
          </a:p>
          <a:p xmlns:a="http://schemas.openxmlformats.org/drawingml/2006/main">
            <a:r>
              <a:t/>
            </a:r>
          </a:p>
          <a:p xmlns:a="http://schemas.openxmlformats.org/drawingml/2006/main">
            <a:r>
              <a:t>FIN25: FY2025 financial statements [provisional_conflict]</a:t>
            </a:r>
          </a:p>
          <a:p xmlns:a="http://schemas.openxmlformats.org/drawingml/2006/main">
            <a:r>
              <a:t>02_management_model.xlsx / PnL!D5 — FY2025A</a:t>
            </a:r>
          </a:p>
          <a:p xmlns:a="http://schemas.openxmlformats.org/drawingml/2006/main">
            <a:r>
              <a:t>02_management_model.xlsx / PnL!D6 — 25</a:t>
            </a:r>
          </a:p>
          <a:p xmlns:a="http://schemas.openxmlformats.org/drawingml/2006/main">
            <a:r>
              <a:t>02_management_model.xlsx / PnL!D7 — -14.5</a:t>
            </a:r>
          </a:p>
          <a:p xmlns:a="http://schemas.openxmlformats.org/drawingml/2006/main">
            <a:r>
              <a:t>02_management_model.xlsx / PnL!D8 — 10.5</a:t>
            </a:r>
          </a:p>
          <a:p xmlns:a="http://schemas.openxmlformats.org/drawingml/2006/main">
            <a:r>
              <a:t>02_management_model.xlsx / PnL!D9 — -5.5</a:t>
            </a:r>
          </a:p>
          <a:p xmlns:a="http://schemas.openxmlformats.org/drawingml/2006/main">
            <a:r>
              <a:t>02_management_model.xlsx / PnL!D10 — 5</a:t>
            </a:r>
          </a:p>
          <a:p xmlns:a="http://schemas.openxmlformats.org/drawingml/2006/main">
            <a:r>
              <a:t>02_management_model.xlsx / PnL!D11 — 0.2</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FIN26: FY2026 financial statements [source_supported]</a:t>
            </a:r>
          </a:p>
          <a:p xmlns:a="http://schemas.openxmlformats.org/drawingml/2006/main">
            <a:r>
              <a:t>02_management_model.xlsx / PnL!E5 — FY2026F</a:t>
            </a:r>
          </a:p>
          <a:p xmlns:a="http://schemas.openxmlformats.org/drawingml/2006/main">
            <a:r>
              <a:t>02_management_model.xlsx / PnL!E6 — 29</a:t>
            </a:r>
          </a:p>
          <a:p xmlns:a="http://schemas.openxmlformats.org/drawingml/2006/main">
            <a:r>
              <a:t>02_management_model.xlsx / PnL!E7 — -16.5</a:t>
            </a:r>
          </a:p>
          <a:p xmlns:a="http://schemas.openxmlformats.org/drawingml/2006/main">
            <a:r>
              <a:t>02_management_model.xlsx / PnL!E8 — 12.5</a:t>
            </a:r>
          </a:p>
          <a:p xmlns:a="http://schemas.openxmlformats.org/drawingml/2006/main">
            <a:r>
              <a:t>02_management_model.xlsx / PnL!E9 — -6.4</a:t>
            </a:r>
          </a:p>
          <a:p xmlns:a="http://schemas.openxmlformats.org/drawingml/2006/main">
            <a:r>
              <a:t>02_management_model.xlsx / PnL!E10 — 6.1</a:t>
            </a:r>
          </a:p>
          <a:p xmlns:a="http://schemas.openxmlformats.org/drawingml/2006/main">
            <a:r>
              <a:t>02_management_model.xlsx / PnL!E11 — 0.21034482758620687</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FIN27: FY2027 financial statements [source_supported]</a:t>
            </a:r>
          </a:p>
          <a:p xmlns:a="http://schemas.openxmlformats.org/drawingml/2006/main">
            <a:r>
              <a:t>02_management_model.xlsx / PnL!F5 — FY2027F</a:t>
            </a:r>
          </a:p>
          <a:p xmlns:a="http://schemas.openxmlformats.org/drawingml/2006/main">
            <a:r>
              <a:t>02_management_model.xlsx / PnL!F6 — 33.6</a:t>
            </a:r>
          </a:p>
          <a:p xmlns:a="http://schemas.openxmlformats.org/drawingml/2006/main">
            <a:r>
              <a:t>02_management_model.xlsx / PnL!F7 — -18.6</a:t>
            </a:r>
          </a:p>
          <a:p xmlns:a="http://schemas.openxmlformats.org/drawingml/2006/main">
            <a:r>
              <a:t>02_management_model.xlsx / PnL!F8 — 15</a:t>
            </a:r>
          </a:p>
          <a:p xmlns:a="http://schemas.openxmlformats.org/drawingml/2006/main">
            <a:r>
              <a:t>02_management_model.xlsx / PnL!F9 — -7.6</a:t>
            </a:r>
          </a:p>
          <a:p xmlns:a="http://schemas.openxmlformats.org/drawingml/2006/main">
            <a:r>
              <a:t>02_management_model.xlsx / PnL!F10 — 7.4</a:t>
            </a:r>
          </a:p>
          <a:p xmlns:a="http://schemas.openxmlformats.org/drawingml/2006/main">
            <a:r>
              <a:t>02_management_model.xlsx / PnL!F11 — 0.22023809523809523</a:t>
            </a:r>
          </a:p>
          <a:p xmlns:a="http://schemas.openxmlformats.org/drawingml/2006/main">
            <a:r>
              <a:t>Limitations: Unaudited management figures; FY2025 revenue conflict remains open.</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OPS: People, hubs and management [source_supported]</a:t>
            </a:r>
          </a:p>
          <a:p xmlns:a="http://schemas.openxmlformats.org/drawingml/2006/main">
            <a:r>
              <a:t>01_company_brief.docx / paragraph 10 —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a:t>
            </a:r>
          </a:p>
          <a:p xmlns:a="http://schemas.openxmlformats.org/drawingml/2006/main">
            <a:r>
              <a:t/>
            </a:r>
          </a:p>
          <a:p xmlns:a="http://schemas.openxmlformats.org/drawingml/2006/main">
            <a:r>
              <a:t>PIPELINE: Unsigned unweighted opportunity pipeline [source_supported]</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Limitations: All unsigned. Not backlog or forecast revenue.</a:t>
            </a:r>
          </a:p>
          <a:p xmlns:a="http://schemas.openxmlformats.org/drawingml/2006/main">
            <a:r>
              <a:t/>
            </a:r>
          </a:p>
          <a:p xmlns:a="http://schemas.openxmlformats.org/drawingml/2006/main">
            <a:r>
              <a:t>FORECAST_CONTRIBUTION: {"id": "FORECAST_CONTRIBUTION", "formula": "Each forecast movement / net revenue increase", "input_ids": ["BRIDGE"], "result": {"fy2026_gbp_m": [0.25, 0.5, 0.4, -0.15], "fy2027_gbp_m": [0.2521739130434782, 0.5217391304347825, 0.37826086956521726, -0.15217391304347822]}, "unit": "ratio", "rounding": "Full precision internally; one decimal for GBP million and most percentages"}</a:t>
            </a:r>
          </a:p>
          <a:p xmlns:a="http://schemas.openxmlformats.org/drawingml/2006/main">
            <a:r>
              <a:t/>
            </a:r>
          </a:p>
          <a:p xmlns:a="http://schemas.openxmlformats.org/drawingml/2006/main">
            <a:r>
              <a:t>FORECAST_TIE: {"id": "FORECAST_TIE", "formula": "Opening revenue + price + new contracts + cross-sell + attrition", "input_ids": ["BRIDGE"], "result": [29.0, 33.6], "unit": "GBP million", "rounding": "Full precision internally; one decimal for GBP million and most percentages"}</a:t>
            </a:r>
          </a:p>
          <a:p xmlns:a="http://schemas.openxmlformats.org/drawingml/2006/main">
            <a:r>
              <a:t/>
            </a:r>
          </a:p>
          <a:p xmlns:a="http://schemas.openxmlformats.org/drawingml/2006/main">
            <a:r>
              <a:t>MARGINS: {"id": "MARGINS", "formula": "Each period EBITDA / same period revenue", "input_ids": ["FIN23", "FIN24", "FIN25", "FIN26", "FIN27"], "result": [0.14999999999999997, 0.1813953488372093, 0.2, 0.21034482758620687, 0.22023809523809523], "unit": "ratio", "rounding": "Full precision internally; one decimal for GBP million and most percentages"}</a:t>
            </a:r>
          </a:p>
          <a:p xmlns:a="http://schemas.openxmlformats.org/drawingml/2006/main">
            <a:r>
              <a:t/>
            </a:r>
          </a:p>
          <a:p xmlns:a="http://schemas.openxmlformats.org/drawingml/2006/main">
            <a:r>
              <a:t>REVENUE_GROWTH: {"id": "REVENUE_GROWTH", "formula": "Current revenue / prior year revenue - 1", "input_ids": ["FIN23", "FIN24", "FIN25", "FIN26", "FIN27"], "result": [0.19444444444444442, 0.16279069767441867, 0.15999999999999992, 0.1586206896551725],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BALANCE: Draft limited balance-sheet schedule [source_supported]</a:t>
            </a:r>
          </a:p>
          <a:p xmlns:a="http://schemas.openxmlformats.org/drawingml/2006/main">
            <a:r>
              <a:t>10_cfo_follow_up.eml / line 8 — At 31 December 2025, our draft schedule shows cash 2.4 and bank term debt 4.8. Lease liabilities, tax balances, debt-like items and restricted cash have not been assessed. These figures alone are insufficient for an enterprise-to-equity bridge.</a:t>
            </a:r>
          </a:p>
          <a:p xmlns:a="http://schemas.openxmlformats.org/drawingml/2006/main">
            <a:r>
              <a:t>10_cfo_follow_up.eml / line 9 — Draft trade receivables are 4.2, inventory 0.6 and trade payables 2.1 at 31 December 2025. Other working-capital items and monthly seasonality are missing. This limited snapshot is not normalised working capital.</a:t>
            </a:r>
          </a:p>
          <a:p xmlns:a="http://schemas.openxmlformats.org/drawingml/2006/main">
            <a:r>
              <a:t>Limitations: Missing leases, tax, debt-like items, restricted cash and other working-capital items. No normalised working capital.</a:t>
            </a:r>
          </a:p>
          <a:p xmlns:a="http://schemas.openxmlformats.org/drawingml/2006/main">
            <a:r>
              <a:t/>
            </a:r>
          </a:p>
          <a:p xmlns:a="http://schemas.openxmlformats.org/drawingml/2006/main">
            <a:r>
              <a:t>DEAL: Ownership and proposed sale [source_supported]</a:t>
            </a:r>
          </a:p>
          <a:p xmlns:a="http://schemas.openxmlformats.org/drawingml/2006/main">
            <a:r>
              <a:t>01_company_brief.docx / paragraph 14 — The founder holds 70%, management holds 20% and a seed investor holds 10% of ordinary equity. Shareholders are considering a sale of 70% to 100% of the company. Management rollover, valuation, timing and financing remain to be agreed. No debt, cash or working-capital schedule has been provided.</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PROCESS: Proposed transaction perimeter and preparation responsibilities [source_supported]</a:t>
            </a:r>
          </a:p>
          <a:p xmlns:a="http://schemas.openxmlformats.org/drawingml/2006/main">
            <a:r>
              <a:t>13_transaction_workshop.txt / line 1 — FICTIONAL TRAINING CASE. Invented transaction workshop notes, 26 January 2026.</a:t>
            </a:r>
          </a:p>
          <a:p xmlns:a="http://schemas.openxmlformats.org/drawingml/2006/main">
            <a:r>
              <a:t>13_transaction_workshop.txt / line 2 — Shareholders are considering a sale of 70% to 100% of the equity in the standalone UK company. The current ownership remains founder 70%, management 20%, seed investor 10%.</a:t>
            </a:r>
          </a:p>
          <a:p xmlns:a="http://schemas.openxmlformats.org/drawingml/2006/main">
            <a:r>
              <a:t>13_transaction_workshop.txt / line 3 — The proposed perimeter includes all three hubs, operating assets and customer contracts of the company. No excluded business has been identified. Legal entity, asset ownership and contract transferability require legal diligence.</a:t>
            </a:r>
          </a:p>
          <a:p xmlns:a="http://schemas.openxmlformats.org/drawingml/2006/main">
            <a:r>
              <a:t>13_transaction_workshop.txt / line 4 — No valuation, management rollover, financing structure or transaction timetable has been agreed. The process remains at preparation stage. No offers or signed sale terms exist in this fictional case.</a:t>
            </a:r>
          </a:p>
          <a:p xmlns:a="http://schemas.openxmlformats.org/drawingml/2006/main">
            <a:r>
              <a:t>13_transaction_workshop.txt / line 5 — Daniel Cole (CFO) owns revenue reconciliation, QoE preparation and balance-sheet schedules. Aisha Patel (COO) owns job-level KPI evidence, engineer recruitment and capacity planning. Maya Reed (CEO) owns key-account continuity and pipeline evidence. External legal counsel, not yet appointed, would review title, consents and change-of-control clauses. The strategy team owns independent market work.</a:t>
            </a:r>
          </a:p>
          <a:p xmlns:a="http://schemas.openxmlformats.org/drawingml/2006/main">
            <a:r>
              <a:t>Limitations: Unaudited synthetic management submission.</a:t>
            </a:r>
          </a:p>
          <a:p xmlns:a="http://schemas.openxmlformats.org/drawingml/2006/main">
            <a:r>
              <a:t/>
            </a:r>
          </a:p>
          <a:p xmlns:a="http://schemas.openxmlformats.org/drawingml/2006/main">
            <a:r>
              <a:t>LIMITED_NET_DEBT: {"id": "LIMITED_NET_DEBT", "formula": "Bank term debt minus cash only", "input_ids": ["BALANCE"], "result": 2.4, "unit": "GBP million", "rounding": "Full precision internally; one decimal for GBP million and most percentages"}</a:t>
            </a:r>
          </a:p>
          <a:p xmlns:a="http://schemas.openxmlformats.org/drawingml/2006/main">
            <a:r>
              <a:t/>
            </a:r>
          </a:p>
          <a:p xmlns:a="http://schemas.openxmlformats.org/drawingml/2006/main">
            <a:r>
              <a:t>TRADE_WC: {"id": "TRADE_WC", "formula": "Trade receivables + inventory - trade payables", "input_ids": ["BALANCE"], "result": 2.6999999999999997, "unit": "GBP million",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All company and financial data are synthetic.</a:t>
            </a:r>
          </a:p>
          <a:p xmlns:a="http://schemas.openxmlformats.org/drawingml/2006/main">
            <a:r>
              <a:t/>
            </a:r>
          </a:p>
          <a:p xmlns:a="http://schemas.openxmlformats.org/drawingml/2006/main">
            <a:r>
              <a:t>BALANCE: Draft limited balance-sheet schedule [source_supported]</a:t>
            </a:r>
          </a:p>
          <a:p xmlns:a="http://schemas.openxmlformats.org/drawingml/2006/main">
            <a:r>
              <a:t>10_cfo_follow_up.eml / line 8 — At 31 December 2025, our draft schedule shows cash 2.4 and bank term debt 4.8. Lease liabilities, tax balances, debt-like items and restricted cash have not been assessed. These figures alone are insufficient for an enterprise-to-equity bridge.</a:t>
            </a:r>
          </a:p>
          <a:p xmlns:a="http://schemas.openxmlformats.org/drawingml/2006/main">
            <a:r>
              <a:t>10_cfo_follow_up.eml / line 9 — Draft trade receivables are 4.2, inventory 0.6 and trade payables 2.1 at 31 December 2025. Other working-capital items and monthly seasonality are missing. This limited snapshot is not normalised working capital.</a:t>
            </a:r>
          </a:p>
          <a:p xmlns:a="http://schemas.openxmlformats.org/drawingml/2006/main">
            <a:r>
              <a:t>Limitations: Missing leases, tax, debt-like items, restricted cash and other working-capital items. No normalised working capital.</a:t>
            </a:r>
          </a:p>
          <a:p xmlns:a="http://schemas.openxmlformats.org/drawingml/2006/main">
            <a:r>
              <a:t/>
            </a:r>
          </a:p>
          <a:p xmlns:a="http://schemas.openxmlformats.org/drawingml/2006/main">
            <a:r>
              <a:t>BRIDGE: Group-level forecast revenue bridge and engineer plan [source_supported]</a:t>
            </a:r>
          </a:p>
          <a:p xmlns:a="http://schemas.openxmlformats.org/drawingml/2006/main">
            <a:r>
              <a:t>11_forecast_bridge.csv / line 1 — # FICTIONAL TRAINING CASE; management submission 26 January 2026; unaudited</a:t>
            </a:r>
          </a:p>
          <a:p xmlns:a="http://schemas.openxmlformats.org/drawingml/2006/main">
            <a:r>
              <a:t>11_forecast_bridge.csv / line 2 — component,fy2026_gbp_m,fy2027_gbp_m,basis</a:t>
            </a:r>
          </a:p>
          <a:p xmlns:a="http://schemas.openxmlformats.org/drawingml/2006/main">
            <a:r>
              <a:t>11_forecast_bridge.csv / line 3 — Opening revenue,25,29,Prior year actual or forecast</a:t>
            </a:r>
          </a:p>
          <a:p xmlns:a="http://schemas.openxmlformats.org/drawingml/2006/main">
            <a:r>
              <a:t>11_forecast_bridge.csv / line 4 — Price,1,1.16,Management assumption; customer acceptance required</a:t>
            </a:r>
          </a:p>
          <a:p xmlns:a="http://schemas.openxmlformats.org/drawingml/2006/main">
            <a:r>
              <a:t>11_forecast_bridge.csv / line 5 — New contracts,2,2.4,Management assumption; unsigned pipeline</a:t>
            </a:r>
          </a:p>
          <a:p xmlns:a="http://schemas.openxmlformats.org/drawingml/2006/main">
            <a:r>
              <a:t>11_forecast_bridge.csv / line 6 — Cross-sell,1.6,1.74,Management assumption; conversion required</a:t>
            </a:r>
          </a:p>
          <a:p xmlns:a="http://schemas.openxmlformats.org/drawingml/2006/main">
            <a:r>
              <a:t>11_forecast_bridge.csv / line 7 — Attrition,-0.6,-0.7,Management assumption</a:t>
            </a:r>
          </a:p>
          <a:p xmlns:a="http://schemas.openxmlformats.org/drawingml/2006/main">
            <a:r>
              <a:t>11_forecast_bridge.csv / line 8 — Closing revenue,29,33.6,Management forecast</a:t>
            </a:r>
          </a:p>
          <a:p xmlns:a="http://schemas.openxmlformats.org/drawingml/2006/main">
            <a:r>
              <a:t>11_forecast_bridge.csv / line 9 — Year-end field engineers,95,105,Headcount; excludes attrition/replacement hiring; net growth from 85</a:t>
            </a:r>
          </a:p>
          <a:p xmlns:a="http://schemas.openxmlformats.org/drawingml/2006/main">
            <a:r>
              <a:t>Limitations: Group-level management assumptions. No customer bridge, signed pipeline or recruitment cost schedule.</a:t>
            </a:r>
          </a:p>
          <a:p xmlns:a="http://schemas.openxmlformats.org/drawingml/2006/main">
            <a:r>
              <a:t/>
            </a:r>
          </a:p>
          <a:p xmlns:a="http://schemas.openxmlformats.org/drawingml/2006/main">
            <a:r>
              <a:t>CONFLICT: FY2025 revenue difference [provisional_conflict]</a:t>
            </a:r>
          </a:p>
          <a:p xmlns:a="http://schemas.openxmlformats.org/drawingml/2006/main">
            <a:r>
              <a:t>02_management_model.xlsx / PnL!D6 — 25</a:t>
            </a:r>
          </a:p>
          <a:p xmlns:a="http://schemas.openxmlformats.org/drawingml/2006/main">
            <a:r>
              <a:t>01_company_brief.docx / paragraph 8 — The preliminary FY2025 revenue estimate is GBP 26.2 million. This briefing does not provide a reconciliation to the finance model. Financial years end on 31 December. All revenue figures exclude VAT.</a:t>
            </a:r>
          </a:p>
          <a:p xmlns:a="http://schemas.openxmlformats.org/drawingml/2006/main">
            <a:r>
              <a:t>04_cfo_email.eml / line 8 — Please use the attached management model as the provisional basis for the draft. The GBP 1.2m difference against the briefing remains unresolved and must remain visible in the draft. This is not confirmation that the model has been audited.</a:t>
            </a:r>
          </a:p>
          <a:p xmlns:a="http://schemas.openxmlformats.org/drawingml/2006/main">
            <a:r>
              <a:t>Limitations: Use model provisionally under CFO instruction; do not call reconciled.</a:t>
            </a:r>
          </a:p>
          <a:p xmlns:a="http://schemas.openxmlformats.org/drawingml/2006/main">
            <a:r>
              <a:t/>
            </a:r>
          </a:p>
          <a:p xmlns:a="http://schemas.openxmlformats.org/drawingml/2006/main">
            <a:r>
              <a:t>EXPIRIES: Maintenance revenue by agreement expiry year [source_supported]</a:t>
            </a:r>
          </a:p>
          <a:p xmlns:a="http://schemas.openxmlformats.org/drawingml/2006/main">
            <a:r>
              <a:t>08_contract_expiries.csv / line 1 — # FICTIONAL TRAINING CASE; management submission 26 January 2026; unaudited</a:t>
            </a:r>
          </a:p>
          <a:p xmlns:a="http://schemas.openxmlformats.org/drawingml/2006/main">
            <a:r>
              <a:t>08_contract_expiries.csv / line 2 — expiry_year,fy2025_maintenance_revenue_gbp_m,basis</a:t>
            </a:r>
          </a:p>
          <a:p xmlns:a="http://schemas.openxmlformats.org/drawingml/2006/main">
            <a:r>
              <a:t>08_contract_expiries.csv / line 3 — 2026,6.0,FY2025 revenue attributed to current agreement expiry year; not backlog</a:t>
            </a:r>
          </a:p>
          <a:p xmlns:a="http://schemas.openxmlformats.org/drawingml/2006/main">
            <a:r>
              <a:t>08_contract_expiries.csv / line 4 — 2027,7.5,FY2025 revenue attributed to current agreement expiry year; not backlog</a:t>
            </a:r>
          </a:p>
          <a:p xmlns:a="http://schemas.openxmlformats.org/drawingml/2006/main">
            <a:r>
              <a:t>08_contract_expiries.csv / line 5 — 2028,4.0,FY2025 revenue attributed to current agreement expiry year; not backlog</a:t>
            </a:r>
          </a:p>
          <a:p xmlns:a="http://schemas.openxmlformats.org/drawingml/2006/main">
            <a:r>
              <a:t>Limitations: FY2025 recognised revenue assigned to expiry cohorts. Not future contracted backlog.</a:t>
            </a:r>
          </a:p>
          <a:p xmlns:a="http://schemas.openxmlformats.org/drawingml/2006/main">
            <a:r>
              <a:t/>
            </a:r>
          </a:p>
          <a:p xmlns:a="http://schemas.openxmlformats.org/drawingml/2006/main">
            <a:r>
              <a:t>FIN_UPDATE: Updated financial diligence status [source_supported]</a:t>
            </a:r>
          </a:p>
          <a:p xmlns:a="http://schemas.openxmlformats.org/drawingml/2006/main">
            <a:r>
              <a:t>10_cfo_follow_up.eml / line 7 — Please continue to use the FY2025 revenue of 25.0 in the management model provisionally. The earlier 26.2 briefing figure remains unreconciled. We have identified 0.8 of possible orders relating to services scheduled for 2026, but have not verified this against invoices and the ledger. Do not deduct this amount and describe the difference as resolved.</a:t>
            </a:r>
          </a:p>
          <a:p xmlns:a="http://schemas.openxmlformats.org/drawingml/2006/main">
            <a:r>
              <a:t>10_cfo_follow_up.eml / line 10 — Management has proposed EBITDA adjustments of 0.18 for founder remuneration and 0.12 for systems implementation. We have not substantiated either adjustment. Retain management-reported EBITDA of 5.0 with no add-backs.</a:t>
            </a:r>
          </a:p>
          <a:p xmlns:a="http://schemas.openxmlformats.org/drawingml/2006/main">
            <a:r>
              <a:t>10_cfo_follow_up.eml / line 11 — The quarterly revenue and EBITDA schedule ties to the annual model. All figures remain unaudited. No quality-of-earnings report is available.</a:t>
            </a:r>
          </a:p>
          <a:p xmlns:a="http://schemas.openxmlformats.org/drawingml/2006/main">
            <a:r>
              <a:t>10_cfo_follow_up.eml / line 12 — The supplemental forecast bridge explains group-level movements only. No customer-level bridge, signed pipeline, recruitment cost schedule or timing of engineer productivity is available.</a:t>
            </a:r>
          </a:p>
          <a:p xmlns:a="http://schemas.openxmlformats.org/drawingml/2006/main">
            <a:r>
              <a:t>Limitations: Revenue conflict remains open. No verified EBITDA add-backs, QoE or customer-level forecast support.</a:t>
            </a:r>
          </a:p>
          <a:p xmlns:a="http://schemas.openxmlformats.org/drawingml/2006/main">
            <a:r>
              <a:t/>
            </a:r>
          </a:p>
          <a:p xmlns:a="http://schemas.openxmlformats.org/drawingml/2006/main">
            <a:r>
              <a:t>KPIS: Defined service delivery measures [source_supported]</a:t>
            </a:r>
          </a:p>
          <a:p xmlns:a="http://schemas.openxmlformats.org/drawingml/2006/main">
            <a:r>
              <a:t>07_service_kpis.csv / line 1 — # FICTIONAL TRAINING CASE; management submission 26 January 2026; unaudited</a:t>
            </a:r>
          </a:p>
          <a:p xmlns:a="http://schemas.openxmlformats.org/drawingml/2006/main">
            <a:r>
              <a:t>07_service_kpis.csv / line 2 — metric,numerator,denominator,period,definition</a:t>
            </a:r>
          </a:p>
          <a:p xmlns:a="http://schemas.openxmlformats.org/drawingml/2006/main">
            <a:r>
              <a:t>07_service_kpis.csv / line 3 — Urgent response SLA,561,600,FY2025,Eligible urgent jobs attended within four hours / all eligible urgent jobs</a:t>
            </a:r>
          </a:p>
          <a:p xmlns:a="http://schemas.openxmlformats.org/drawingml/2006/main">
            <a:r>
              <a:t>07_service_kpis.csv / line 4 — First-time fix,2200,2500,FY2025,Closed reactive jobs resolved on first visit / all closed reactive jobs</a:t>
            </a:r>
          </a:p>
          <a:p xmlns:a="http://schemas.openxmlformats.org/drawingml/2006/main">
            <a:r>
              <a:t>07_service_kpis.csv / line 5 — Productive hours,126480,170000,FY2025,Recorded productive engineer hours / recorded available engineer hours; not billing utilisation</a:t>
            </a:r>
          </a:p>
          <a:p xmlns:a="http://schemas.openxmlformats.org/drawingml/2006/main">
            <a:r>
              <a:t>Limitations: Unaudited synthetic management submission.</a:t>
            </a:r>
          </a:p>
          <a:p xmlns:a="http://schemas.openxmlformats.org/drawingml/2006/main">
            <a:r>
              <a:t/>
            </a:r>
          </a:p>
          <a:p xmlns:a="http://schemas.openxmlformats.org/drawingml/2006/main">
            <a:r>
              <a:t>MARKET: Market size and share unavailable [missing]</a:t>
            </a:r>
          </a:p>
          <a:p xmlns:a="http://schemas.openxmlformats.org/drawingml/2006/main">
            <a:r>
              <a:t>01_company_brief.docx / paragraph 16 — Management describes the UK equipment-maintenance market as fragmented. No independent market-size study, market-share estimate or competitor benchmarking has been provided.</a:t>
            </a:r>
          </a:p>
          <a:p xmlns:a="http://schemas.openxmlformats.org/drawingml/2006/main">
            <a:r>
              <a:t>Limitations: Fragmentation is a management assertion without independent support.</a:t>
            </a:r>
          </a:p>
          <a:p xmlns:a="http://schemas.openxmlformats.org/drawingml/2006/main">
            <a:r>
              <a:t/>
            </a:r>
          </a:p>
          <a:p xmlns:a="http://schemas.openxmlformats.org/drawingml/2006/main">
            <a:r>
              <a:t>PIPELINE: Unsigned unweighted opportunity pipeline [source_supported]</a:t>
            </a:r>
          </a:p>
          <a:p xmlns:a="http://schemas.openxmlformats.org/drawingml/2006/main">
            <a:r>
              <a:t>05_commercial_interview.txt / line 7 — Pipeline at 26 January 2026 totals GBP 4.8 million of indicative annual revenue: proposals GBP 2.4 million, negotiations GBP 1.5 million and preferred supplier GBP 0.9 million. All are unsigned. Stage values are unweighted and are not forecast revenue or backlog.</a:t>
            </a:r>
          </a:p>
          <a:p xmlns:a="http://schemas.openxmlformats.org/drawingml/2006/main">
            <a:r>
              <a:t>Limitations: All unsigned. Not backlog or forecast revenue.</a:t>
            </a:r>
          </a:p>
          <a:p xmlns:a="http://schemas.openxmlformats.org/drawingml/2006/main">
            <a:r>
              <a:t/>
            </a:r>
          </a:p>
          <a:p xmlns:a="http://schemas.openxmlformats.org/drawingml/2006/main">
            <a:r>
              <a:t>PROCESS: Proposed transaction perimeter and preparation responsibilities [source_supported]</a:t>
            </a:r>
          </a:p>
          <a:p xmlns:a="http://schemas.openxmlformats.org/drawingml/2006/main">
            <a:r>
              <a:t>13_transaction_workshop.txt / line 1 — FICTIONAL TRAINING CASE. Invented transaction workshop notes, 26 January 2026.</a:t>
            </a:r>
          </a:p>
          <a:p xmlns:a="http://schemas.openxmlformats.org/drawingml/2006/main">
            <a:r>
              <a:t>13_transaction_workshop.txt / line 2 — Shareholders are considering a sale of 70% to 100% of the equity in the standalone UK company. The current ownership remains founder 70%, management 20%, seed investor 10%.</a:t>
            </a:r>
          </a:p>
          <a:p xmlns:a="http://schemas.openxmlformats.org/drawingml/2006/main">
            <a:r>
              <a:t>13_transaction_workshop.txt / line 3 — The proposed perimeter includes all three hubs, operating assets and customer contracts of the company. No excluded business has been identified. Legal entity, asset ownership and contract transferability require legal diligence.</a:t>
            </a:r>
          </a:p>
          <a:p xmlns:a="http://schemas.openxmlformats.org/drawingml/2006/main">
            <a:r>
              <a:t>13_transaction_workshop.txt / line 4 — No valuation, management rollover, financing structure or transaction timetable has been agreed. The process remains at preparation stage. No offers or signed sale terms exist in this fictional case.</a:t>
            </a:r>
          </a:p>
          <a:p xmlns:a="http://schemas.openxmlformats.org/drawingml/2006/main">
            <a:r>
              <a:t>13_transaction_workshop.txt / line 5 — Daniel Cole (CFO) owns revenue reconciliation, QoE preparation and balance-sheet schedules. Aisha Patel (COO) owns job-level KPI evidence, engineer recruitment and capacity planning. Maya Reed (CEO) owns key-account continuity and pipeline evidence. External legal counsel, not yet appointed, would review title, consents and change-of-control clauses. The strategy team owns independent market work.</a:t>
            </a:r>
          </a:p>
          <a:p xmlns:a="http://schemas.openxmlformats.org/drawingml/2006/main">
            <a:r>
              <a:t>Limitations: Unaudited synthetic management submission.</a:t>
            </a:r>
          </a:p>
          <a:p xmlns:a="http://schemas.openxmlformats.org/drawingml/2006/main">
            <a:r>
              <a:t/>
            </a:r>
          </a:p>
          <a:p xmlns:a="http://schemas.openxmlformats.org/drawingml/2006/main">
            <a:r>
              <a:t>RENEWALS: Defined maintenance agreement renewal cohort [source_supported]</a:t>
            </a:r>
          </a:p>
          <a:p xmlns:a="http://schemas.openxmlformats.org/drawingml/2006/main">
            <a:r>
              <a:t>05_commercial_interview.txt / line 5 — The FY2025 renewal cohort comprised 25 maintenance agreements due for renewal, with GBP 4.00 million of annual contract value immediately before expiry. 23 agreements renewed. The annual value retained on those same agreements, before price changes or additional scope, was GBP 3.72 million. These are management-prepared counts and values, not independently verified customer retention.</a:t>
            </a:r>
          </a:p>
          <a:p xmlns:a="http://schemas.openxmlformats.org/drawingml/2006/main">
            <a:r>
              <a:t>05_commercial_interview.txt / line 6 — The earlier 94% retention estimate remains undefined. It uses no documented customer cohort and cannot be reconciled to this contract-level renewal schedule.</a:t>
            </a:r>
          </a:p>
          <a:p xmlns:a="http://schemas.openxmlformats.org/drawingml/2006/main">
            <a:r>
              <a:t>Limitations: Contract-level management cohort. Excludes price changes and additional scope. Not customer retention and not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fc40f269844f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abfd87910f4c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bff944426f48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59d89c0a414c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a19c449fdc43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574c4bf189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CFCD36-B64F-46E9-9BC9-7949A4D678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18E6A9-CEF7-4D74-9921-4EEA95C0DB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8C48CA-A1EB-461A-868C-79E0144BCD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B3A742-DEC4-4264-8043-56EBC39174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E5C3E0-E46C-43EC-B5DD-1CA3971D71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A31C34-8C63-441B-89E1-0810FD86E2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CB0805-A270-44D1-9EB9-6B1F6B7F09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64B677-2F1B-4D8D-BA27-0292547CE3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D6578B-442A-47AF-8DD6-3DE291C9EA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AEA6D4-BF34-4BC7-86E5-1EF7531C4F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27d1e1a0864c2c" /><Relationship Type="http://schemas.openxmlformats.org/officeDocument/2006/relationships/slideLayout" Target="/ppt/slideLayouts/slideLayout1.xml" Id="R559c866385c74c3b" /><Relationship Type="http://schemas.openxmlformats.org/officeDocument/2006/relationships/slideLayout" Target="/ppt/slideLayouts/slideLayout2.xml" Id="Rb644dc4ed8094e14" /><Relationship Type="http://schemas.openxmlformats.org/officeDocument/2006/relationships/slideLayout" Target="/ppt/slideLayouts/slideLayout3.xml" Id="R515dceeb31fc4b86" /><Relationship Type="http://schemas.openxmlformats.org/officeDocument/2006/relationships/slideLayout" Target="/ppt/slideLayouts/slideLayout4.xml" Id="R2d7eff41172748f8" /><Relationship Type="http://schemas.openxmlformats.org/officeDocument/2006/relationships/slideLayout" Target="/ppt/slideLayouts/slideLayout5.xml" Id="R429dbf6f7fdf4e31" /><Relationship Type="http://schemas.openxmlformats.org/officeDocument/2006/relationships/slideLayout" Target="/ppt/slideLayouts/slideLayout6.xml" Id="R071d3f1f81c04d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9c866385c74c3b"/>
    <p:sldLayoutId xmlns:r="http://schemas.openxmlformats.org/officeDocument/2006/relationships" id="2147483650" r:id="Rb644dc4ed8094e14"/>
    <p:sldLayoutId xmlns:r="http://schemas.openxmlformats.org/officeDocument/2006/relationships" id="2147483651" r:id="R515dceeb31fc4b86"/>
    <p:sldLayoutId xmlns:r="http://schemas.openxmlformats.org/officeDocument/2006/relationships" id="2147483652" r:id="R2d7eff41172748f8"/>
    <p:sldLayoutId xmlns:r="http://schemas.openxmlformats.org/officeDocument/2006/relationships" id="2147483653" r:id="R429dbf6f7fdf4e31"/>
    <p:sldLayoutId xmlns:r="http://schemas.openxmlformats.org/officeDocument/2006/relationships" id="2147483654" r:id="R071d3f1f81c04d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5c38083a664a69" /><Relationship Type="http://schemas.openxmlformats.org/officeDocument/2006/relationships/notesSlide" Target="/ppt/notesSlides/notesSlide1.xml" Id="R0f6a078bde0a45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c5d0ec75a44ff4" /><Relationship Type="http://schemas.openxmlformats.org/officeDocument/2006/relationships/notesSlide" Target="/ppt/notesSlides/notesSlide2.xml" Id="R663fcc4022a648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f98e0f6aae427e" /><Relationship Type="http://schemas.openxmlformats.org/officeDocument/2006/relationships/notesSlide" Target="/ppt/notesSlides/notesSlide3.xml" Id="R5b1e4032146741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ab4688df6c4f9b" /><Relationship Type="http://schemas.openxmlformats.org/officeDocument/2006/relationships/notesSlide" Target="/ppt/notesSlides/notesSlide4.xml" Id="Rcf26f7f6291d4b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1c3552190747a1" /><Relationship Type="http://schemas.openxmlformats.org/officeDocument/2006/relationships/chart" Target="/ppt/slides/charts/chart1.xml" Id="R423909c747114344" /><Relationship Type="http://schemas.openxmlformats.org/officeDocument/2006/relationships/notesSlide" Target="/ppt/notesSlides/notesSlide5.xml" Id="R07c6cb59f6fd42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71c14d09a946ab" /><Relationship Type="http://schemas.openxmlformats.org/officeDocument/2006/relationships/notesSlide" Target="/ppt/notesSlides/notesSlide6.xml" Id="Ree1b927e0e4b47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2b1014ad0c4951" /><Relationship Type="http://schemas.openxmlformats.org/officeDocument/2006/relationships/notesSlide" Target="/ppt/notesSlides/notesSlide7.xml" Id="R56159e84d5ab4d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bd82bba17b447c" /><Relationship Type="http://schemas.openxmlformats.org/officeDocument/2006/relationships/chart" Target="/ppt/slides/charts/chart2.xml" Id="R9d9436ba92ef4dc6" /><Relationship Type="http://schemas.openxmlformats.org/officeDocument/2006/relationships/notesSlide" Target="/ppt/notesSlides/notesSlide8.xml" Id="Rda768c44c2cc4f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dcf7c6198b4d28" /><Relationship Type="http://schemas.openxmlformats.org/officeDocument/2006/relationships/notesSlide" Target="/ppt/notesSlides/notesSlide9.xml" Id="Rf8fe898adefb49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e12778efd941ca" /><Relationship Type="http://schemas.openxmlformats.org/officeDocument/2006/relationships/notesSlide" Target="/ppt/notesSlides/notesSlide10.xml" Id="R97b002afca8d449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FY2025 revenue</c:v>
          </c:tx>
          <c:spPr>
            <a:solidFill xmlns:a="http://schemas.openxmlformats.org/drawingml/2006/main">
              <a:srgbClr val="00338D"/>
            </a:solidFill>
          </c:spPr>
          <c:invertIfNegative val="0"/>
          <c:cat>
            <c:strRef>
              <c:f>'Chart Data'!$A$2:$A$6</c:f>
              <c:strCache>
                <c:ptCount val="5"/>
                <c:pt idx="0">
                  <c:v>A</c:v>
                </c:pt>
                <c:pt idx="1">
                  <c:v>B</c:v>
                </c:pt>
                <c:pt idx="2">
                  <c:v>C</c:v>
                </c:pt>
                <c:pt idx="3">
                  <c:v>D</c:v>
                </c:pt>
                <c:pt idx="4">
                  <c:v>E</c:v>
                </c:pt>
              </c:strCache>
            </c:strRef>
          </c:cat>
          <c:val>
            <c:numRef>
              <c:f>'Chart Data'!$B$2:$B$6</c:f>
              <c:numCache>
                <c:formatCode>0.0%</c:formatCode>
                <c:ptCount val="5"/>
                <c:pt idx="0">
                  <c:v>0.12</c:v>
                </c:pt>
                <c:pt idx="1">
                  <c:v>0.09</c:v>
                </c:pt>
                <c:pt idx="2">
                  <c:v>0.08</c:v>
                </c:pt>
                <c:pt idx="3">
                  <c:v>0.07</c:v>
                </c:pt>
                <c:pt idx="4">
                  <c:v>0.06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b="1">
                  <a:solidFill>
                    <a:srgbClr val="00338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8C7DF"/>
            </a:solidFill>
          </a:ln>
        </c:spPr>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crossAx val="48672768"/>
      </c:catAx>
      <c:valAx>
        <c:axId val="48672768"/>
        <c:scaling>
          <c:orientation val="minMax"/>
          <c:max val="0.16"/>
          <c:min val="0"/>
        </c:scaling>
        <c:delete val="0"/>
        <c:axPos val="l"/>
        <c:majorGridlines>
          <c:spPr>
            <a:ln xmlns:a="http://schemas.openxmlformats.org/drawingml/2006/main" w="5715">
              <a:solidFill>
                <a:srgbClr val="B8C7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crossAx val="48650112"/>
        <c:crossBetween val="between"/>
        <c:majorUnit val="0.0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GBP million</c:v>
          </c:tx>
          <c:spPr>
            <a:solidFill xmlns:a="http://schemas.openxmlformats.org/drawingml/2006/main">
              <a:srgbClr val="00338D"/>
            </a:solidFill>
          </c:spPr>
          <c:invertIfNegative val="0"/>
          <c:cat>
            <c:strRef>
              <c:f>'Chart Data'!$A$2:$A$4</c:f>
              <c:strCache>
                <c:ptCount val="3"/>
                <c:pt idx="0">
                  <c:v>2025A</c:v>
                </c:pt>
                <c:pt idx="1">
                  <c:v>2026F</c:v>
                </c:pt>
                <c:pt idx="2">
                  <c:v>2027F</c:v>
                </c:pt>
              </c:strCache>
            </c:strRef>
          </c:cat>
          <c:val>
            <c:numRef>
              <c:f>'Chart Data'!$B$2:$B$4</c:f>
              <c:numCache>
                <c:formatCode>0.0</c:formatCode>
                <c:ptCount val="3"/>
                <c:pt idx="0">
                  <c:v>25</c:v>
                </c:pt>
                <c:pt idx="1">
                  <c:v>29</c:v>
                </c:pt>
                <c:pt idx="2">
                  <c:v>33.6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b="1">
                  <a:solidFill>
                    <a:srgbClr val="00338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8C7DF"/>
            </a:solidFill>
          </a:ln>
        </c:spPr>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5715">
              <a:solidFill>
                <a:srgbClr val="B8C7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ver-label">
            <a:extLst xmlns:a="http://schemas.openxmlformats.org/drawingml/2006/main">
              <a:ext uri="{FF2B5EF4-FFF2-40B4-BE49-F238E27FC236}">
                <a16:creationId xmlns:a16="http://schemas.microsoft.com/office/drawing/2014/main" id="{239FB7D6-7AA8-4FE4-8508-3E10C4B607C4}"/>
              </a:ext>
            </a:extLst>
          </p:cNvPr>
          <p:cNvSpPr>
            <a:spLocks xmlns:a="http://schemas.openxmlformats.org/drawingml/2006/main" noGrp="1"/>
          </p:cNvSpPr>
          <p:nvPr/>
        </p:nvSpPr>
        <p:spPr>
          <a:xfrm xmlns:a="http://schemas.openxmlformats.org/drawingml/2006/main">
            <a:off x="533400" y="3810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338D"/>
                </a:solidFill>
                <a:latin typeface="Arial"/>
                <a:ea typeface="Arial"/>
                <a:cs typeface="Arial"/>
              </a:defRPr>
            </a:defPPr>
            <a:lvl1pPr algn="l">
              <a:defRPr sz="1050" b="1">
                <a:solidFill>
                  <a:srgbClr val="00338D"/>
                </a:solidFill>
                <a:latin typeface="Arial"/>
                <a:ea typeface="Arial"/>
                <a:cs typeface="Arial"/>
              </a:defRPr>
            </a:lvl1pPr>
            <a:lvl2pPr algn="l">
              <a:defRPr sz="1050" b="1">
                <a:solidFill>
                  <a:srgbClr val="00338D"/>
                </a:solidFill>
                <a:latin typeface="Arial"/>
                <a:ea typeface="Arial"/>
                <a:cs typeface="Arial"/>
              </a:defRPr>
            </a:lvl2pPr>
            <a:lvl3pPr algn="l">
              <a:defRPr sz="1050" b="1">
                <a:solidFill>
                  <a:srgbClr val="00338D"/>
                </a:solidFill>
                <a:latin typeface="Arial"/>
                <a:ea typeface="Arial"/>
                <a:cs typeface="Arial"/>
              </a:defRPr>
            </a:lvl3pPr>
            <a:lvl4pPr algn="l">
              <a:defRPr sz="1050" b="1">
                <a:solidFill>
                  <a:srgbClr val="00338D"/>
                </a:solidFill>
                <a:latin typeface="Arial"/>
                <a:ea typeface="Arial"/>
                <a:cs typeface="Arial"/>
              </a:defRPr>
            </a:lvl4pPr>
            <a:lvl5pPr algn="l">
              <a:defRPr sz="1050" b="1">
                <a:solidFill>
                  <a:srgbClr val="00338D"/>
                </a:solidFill>
                <a:latin typeface="Arial"/>
                <a:ea typeface="Arial"/>
                <a:cs typeface="Arial"/>
              </a:defRPr>
            </a:lvl5pPr>
            <a:lvl6pPr algn="l">
              <a:defRPr sz="1050" b="1">
                <a:solidFill>
                  <a:srgbClr val="00338D"/>
                </a:solidFill>
                <a:latin typeface="Arial"/>
                <a:ea typeface="Arial"/>
                <a:cs typeface="Arial"/>
              </a:defRPr>
            </a:lvl6pPr>
            <a:lvl7pPr algn="l">
              <a:defRPr sz="1050" b="1">
                <a:solidFill>
                  <a:srgbClr val="00338D"/>
                </a:solidFill>
                <a:latin typeface="Arial"/>
                <a:ea typeface="Arial"/>
                <a:cs typeface="Arial"/>
              </a:defRPr>
            </a:lvl7pPr>
            <a:lvl8pPr algn="l">
              <a:defRPr sz="1050" b="1">
                <a:solidFill>
                  <a:srgbClr val="00338D"/>
                </a:solidFill>
                <a:latin typeface="Arial"/>
                <a:ea typeface="Arial"/>
                <a:cs typeface="Arial"/>
              </a:defRPr>
            </a:lvl8pPr>
            <a:lvl9pPr algn="l">
              <a:defRPr sz="1050" b="1">
                <a:solidFill>
                  <a:srgbClr val="00338D"/>
                </a:solidFill>
                <a:latin typeface="Arial"/>
                <a:ea typeface="Arial"/>
                <a:cs typeface="Arial"/>
              </a:defRPr>
            </a:lvl9pPr>
          </a:lstStyle>
          <a:p xmlns:a="http://schemas.openxmlformats.org/drawingml/2006/main">
            <a:pPr algn="l">
              <a:defRPr sz="1050" b="1">
                <a:solidFill>
                  <a:srgbClr val="00338D"/>
                </a:solidFill>
                <a:latin typeface="Arial"/>
                <a:ea typeface="Arial"/>
                <a:cs typeface="Arial"/>
              </a:defRPr>
            </a:pPr>
            <a:r>
              <a:rPr sz="1050" b="1">
                <a:solidFill>
                  <a:srgbClr val="00338D"/>
                </a:solidFill>
                <a:latin typeface="Arial"/>
                <a:ea typeface="Arial"/>
                <a:cs typeface="Arial"/>
              </a:rPr>
              <a:t>FICTIONAL TRANSACTION CASE</a:t>
            </a:r>
          </a:p>
        </p:txBody>
      </p:sp>
      <p:sp>
        <p:nvSpPr>
          <p:cNvPr id="2" name="cover-title">
            <a:extLst xmlns:a="http://schemas.openxmlformats.org/drawingml/2006/main">
              <a:ext uri="{FF2B5EF4-FFF2-40B4-BE49-F238E27FC236}">
                <a16:creationId xmlns:a16="http://schemas.microsoft.com/office/drawing/2014/main" id="{3E8A8925-81FF-4145-99BA-5C299B90249E}"/>
              </a:ext>
            </a:extLst>
          </p:cNvPr>
          <p:cNvSpPr>
            <a:spLocks xmlns:a="http://schemas.openxmlformats.org/drawingml/2006/main" noGrp="1"/>
          </p:cNvSpPr>
          <p:nvPr/>
        </p:nvSpPr>
        <p:spPr>
          <a:xfrm xmlns:a="http://schemas.openxmlformats.org/drawingml/2006/main">
            <a:off x="533400" y="1304925"/>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0338D"/>
                </a:solidFill>
                <a:latin typeface="Arial"/>
                <a:ea typeface="Arial"/>
                <a:cs typeface="Arial"/>
              </a:defRPr>
            </a:defPPr>
            <a:lvl1pPr algn="l">
              <a:defRPr sz="3450" b="1">
                <a:solidFill>
                  <a:srgbClr val="00338D"/>
                </a:solidFill>
                <a:latin typeface="Arial"/>
                <a:ea typeface="Arial"/>
                <a:cs typeface="Arial"/>
              </a:defRPr>
            </a:lvl1pPr>
            <a:lvl2pPr algn="l">
              <a:defRPr sz="3450" b="1">
                <a:solidFill>
                  <a:srgbClr val="00338D"/>
                </a:solidFill>
                <a:latin typeface="Arial"/>
                <a:ea typeface="Arial"/>
                <a:cs typeface="Arial"/>
              </a:defRPr>
            </a:lvl2pPr>
            <a:lvl3pPr algn="l">
              <a:defRPr sz="3450" b="1">
                <a:solidFill>
                  <a:srgbClr val="00338D"/>
                </a:solidFill>
                <a:latin typeface="Arial"/>
                <a:ea typeface="Arial"/>
                <a:cs typeface="Arial"/>
              </a:defRPr>
            </a:lvl3pPr>
            <a:lvl4pPr algn="l">
              <a:defRPr sz="3450" b="1">
                <a:solidFill>
                  <a:srgbClr val="00338D"/>
                </a:solidFill>
                <a:latin typeface="Arial"/>
                <a:ea typeface="Arial"/>
                <a:cs typeface="Arial"/>
              </a:defRPr>
            </a:lvl4pPr>
            <a:lvl5pPr algn="l">
              <a:defRPr sz="3450" b="1">
                <a:solidFill>
                  <a:srgbClr val="00338D"/>
                </a:solidFill>
                <a:latin typeface="Arial"/>
                <a:ea typeface="Arial"/>
                <a:cs typeface="Arial"/>
              </a:defRPr>
            </a:lvl5pPr>
            <a:lvl6pPr algn="l">
              <a:defRPr sz="3450" b="1">
                <a:solidFill>
                  <a:srgbClr val="00338D"/>
                </a:solidFill>
                <a:latin typeface="Arial"/>
                <a:ea typeface="Arial"/>
                <a:cs typeface="Arial"/>
              </a:defRPr>
            </a:lvl6pPr>
            <a:lvl7pPr algn="l">
              <a:defRPr sz="3450" b="1">
                <a:solidFill>
                  <a:srgbClr val="00338D"/>
                </a:solidFill>
                <a:latin typeface="Arial"/>
                <a:ea typeface="Arial"/>
                <a:cs typeface="Arial"/>
              </a:defRPr>
            </a:lvl7pPr>
            <a:lvl8pPr algn="l">
              <a:defRPr sz="3450" b="1">
                <a:solidFill>
                  <a:srgbClr val="00338D"/>
                </a:solidFill>
                <a:latin typeface="Arial"/>
                <a:ea typeface="Arial"/>
                <a:cs typeface="Arial"/>
              </a:defRPr>
            </a:lvl8pPr>
            <a:lvl9pPr algn="l">
              <a:defRPr sz="3450" b="1">
                <a:solidFill>
                  <a:srgbClr val="00338D"/>
                </a:solidFill>
                <a:latin typeface="Arial"/>
                <a:ea typeface="Arial"/>
                <a:cs typeface="Arial"/>
              </a:defRPr>
            </a:lvl9pPr>
          </a:lstStyle>
          <a:p xmlns:a="http://schemas.openxmlformats.org/drawingml/2006/main">
            <a:pPr algn="l">
              <a:defRPr sz="3450" b="1">
                <a:solidFill>
                  <a:srgbClr val="00338D"/>
                </a:solidFill>
                <a:latin typeface="Arial"/>
                <a:ea typeface="Arial"/>
                <a:cs typeface="Arial"/>
              </a:defRPr>
            </a:pPr>
            <a:r>
              <a:rPr sz="3450" b="1">
                <a:solidFill>
                  <a:srgbClr val="00338D"/>
                </a:solidFill>
                <a:latin typeface="Arial"/>
                <a:ea typeface="Arial"/>
                <a:cs typeface="Arial"/>
              </a:rPr>
              <a:t>Project Northbridge</a:t>
            </a:r>
          </a:p>
        </p:txBody>
      </p:sp>
      <p:sp>
        <p:nvSpPr>
          <p:cNvPr id="3" name="cover-subtitle">
            <a:extLst xmlns:a="http://schemas.openxmlformats.org/drawingml/2006/main">
              <a:ext uri="{FF2B5EF4-FFF2-40B4-BE49-F238E27FC236}">
                <a16:creationId xmlns:a16="http://schemas.microsoft.com/office/drawing/2014/main" id="{ACBC03DD-DD5C-4ED6-8372-D0788F95AA49}"/>
              </a:ext>
            </a:extLst>
          </p:cNvPr>
          <p:cNvSpPr>
            <a:spLocks xmlns:a="http://schemas.openxmlformats.org/drawingml/2006/main" noGrp="1"/>
          </p:cNvSpPr>
          <p:nvPr/>
        </p:nvSpPr>
        <p:spPr>
          <a:xfrm xmlns:a="http://schemas.openxmlformats.org/drawingml/2006/main">
            <a:off x="533400" y="21050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338D"/>
                </a:solidFill>
                <a:latin typeface="Arial"/>
                <a:ea typeface="Arial"/>
                <a:cs typeface="Arial"/>
              </a:defRPr>
            </a:defPPr>
            <a:lvl1pPr algn="l">
              <a:defRPr sz="2100" b="0">
                <a:solidFill>
                  <a:srgbClr val="00338D"/>
                </a:solidFill>
                <a:latin typeface="Arial"/>
                <a:ea typeface="Arial"/>
                <a:cs typeface="Arial"/>
              </a:defRPr>
            </a:lvl1pPr>
            <a:lvl2pPr algn="l">
              <a:defRPr sz="2100" b="0">
                <a:solidFill>
                  <a:srgbClr val="00338D"/>
                </a:solidFill>
                <a:latin typeface="Arial"/>
                <a:ea typeface="Arial"/>
                <a:cs typeface="Arial"/>
              </a:defRPr>
            </a:lvl2pPr>
            <a:lvl3pPr algn="l">
              <a:defRPr sz="2100" b="0">
                <a:solidFill>
                  <a:srgbClr val="00338D"/>
                </a:solidFill>
                <a:latin typeface="Arial"/>
                <a:ea typeface="Arial"/>
                <a:cs typeface="Arial"/>
              </a:defRPr>
            </a:lvl3pPr>
            <a:lvl4pPr algn="l">
              <a:defRPr sz="2100" b="0">
                <a:solidFill>
                  <a:srgbClr val="00338D"/>
                </a:solidFill>
                <a:latin typeface="Arial"/>
                <a:ea typeface="Arial"/>
                <a:cs typeface="Arial"/>
              </a:defRPr>
            </a:lvl4pPr>
            <a:lvl5pPr algn="l">
              <a:defRPr sz="2100" b="0">
                <a:solidFill>
                  <a:srgbClr val="00338D"/>
                </a:solidFill>
                <a:latin typeface="Arial"/>
                <a:ea typeface="Arial"/>
                <a:cs typeface="Arial"/>
              </a:defRPr>
            </a:lvl5pPr>
            <a:lvl6pPr algn="l">
              <a:defRPr sz="2100" b="0">
                <a:solidFill>
                  <a:srgbClr val="00338D"/>
                </a:solidFill>
                <a:latin typeface="Arial"/>
                <a:ea typeface="Arial"/>
                <a:cs typeface="Arial"/>
              </a:defRPr>
            </a:lvl6pPr>
            <a:lvl7pPr algn="l">
              <a:defRPr sz="2100" b="0">
                <a:solidFill>
                  <a:srgbClr val="00338D"/>
                </a:solidFill>
                <a:latin typeface="Arial"/>
                <a:ea typeface="Arial"/>
                <a:cs typeface="Arial"/>
              </a:defRPr>
            </a:lvl7pPr>
            <a:lvl8pPr algn="l">
              <a:defRPr sz="2100" b="0">
                <a:solidFill>
                  <a:srgbClr val="00338D"/>
                </a:solidFill>
                <a:latin typeface="Arial"/>
                <a:ea typeface="Arial"/>
                <a:cs typeface="Arial"/>
              </a:defRPr>
            </a:lvl8pPr>
            <a:lvl9pPr algn="l">
              <a:defRPr sz="2100" b="0">
                <a:solidFill>
                  <a:srgbClr val="00338D"/>
                </a:solidFill>
                <a:latin typeface="Arial"/>
                <a:ea typeface="Arial"/>
                <a:cs typeface="Arial"/>
              </a:defRPr>
            </a:lvl9pPr>
          </a:lstStyle>
          <a:p xmlns:a="http://schemas.openxmlformats.org/drawingml/2006/main">
            <a:pPr algn="l">
              <a:defRPr sz="2100" b="0">
                <a:solidFill>
                  <a:srgbClr val="00338D"/>
                </a:solidFill>
                <a:latin typeface="Arial"/>
                <a:ea typeface="Arial"/>
                <a:cs typeface="Arial"/>
              </a:defRPr>
            </a:pPr>
            <a:r>
              <a:rPr sz="2100" b="0">
                <a:solidFill>
                  <a:srgbClr val="00338D"/>
                </a:solidFill>
                <a:latin typeface="Arial"/>
                <a:ea typeface="Arial"/>
                <a:cs typeface="Arial"/>
              </a:rPr>
              <a:t>Information memorandum</a:t>
            </a:r>
          </a:p>
        </p:txBody>
      </p:sp>
      <p:sp>
        <p:nvSpPr>
          <p:cNvPr id="4" name="cover-rule">
            <a:extLst xmlns:a="http://schemas.openxmlformats.org/drawingml/2006/main">
              <a:ext uri="{FF2B5EF4-FFF2-40B4-BE49-F238E27FC236}">
                <a16:creationId xmlns:a16="http://schemas.microsoft.com/office/drawing/2014/main" id="{B2A9C4AF-B09B-469B-A7CC-3E3CC44D7F9E}"/>
              </a:ext>
            </a:extLst>
          </p:cNvPr>
          <p:cNvSpPr>
            <a:spLocks xmlns:a="http://schemas.openxmlformats.org/drawingml/2006/main" noGrp="1"/>
          </p:cNvSpPr>
          <p:nvPr/>
        </p:nvSpPr>
        <p:spPr>
          <a:xfrm xmlns:a="http://schemas.openxmlformats.org/drawingml/2006/main">
            <a:off x="533400" y="274320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5" name="cover-company">
            <a:extLst xmlns:a="http://schemas.openxmlformats.org/drawingml/2006/main">
              <a:ext uri="{FF2B5EF4-FFF2-40B4-BE49-F238E27FC236}">
                <a16:creationId xmlns:a16="http://schemas.microsoft.com/office/drawing/2014/main" id="{186F5331-4C2E-4E8F-9C42-DC9F60743D1C}"/>
              </a:ext>
            </a:extLst>
          </p:cNvPr>
          <p:cNvSpPr>
            <a:spLocks xmlns:a="http://schemas.openxmlformats.org/drawingml/2006/main" noGrp="1"/>
          </p:cNvSpPr>
          <p:nvPr/>
        </p:nvSpPr>
        <p:spPr>
          <a:xfrm xmlns:a="http://schemas.openxmlformats.org/drawingml/2006/main">
            <a:off x="533400" y="30384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Arial"/>
                <a:ea typeface="Arial"/>
                <a:cs typeface="Arial"/>
              </a:defRPr>
            </a:defPPr>
            <a:lvl1pPr algn="l">
              <a:defRPr sz="1725" b="0">
                <a:solidFill>
                  <a:srgbClr val="000000"/>
                </a:solidFill>
                <a:latin typeface="Arial"/>
                <a:ea typeface="Arial"/>
                <a:cs typeface="Arial"/>
              </a:defRPr>
            </a:lvl1pPr>
            <a:lvl2pPr algn="l">
              <a:defRPr sz="1725" b="0">
                <a:solidFill>
                  <a:srgbClr val="000000"/>
                </a:solidFill>
                <a:latin typeface="Arial"/>
                <a:ea typeface="Arial"/>
                <a:cs typeface="Arial"/>
              </a:defRPr>
            </a:lvl2pPr>
            <a:lvl3pPr algn="l">
              <a:defRPr sz="1725" b="0">
                <a:solidFill>
                  <a:srgbClr val="000000"/>
                </a:solidFill>
                <a:latin typeface="Arial"/>
                <a:ea typeface="Arial"/>
                <a:cs typeface="Arial"/>
              </a:defRPr>
            </a:lvl3pPr>
            <a:lvl4pPr algn="l">
              <a:defRPr sz="1725" b="0">
                <a:solidFill>
                  <a:srgbClr val="000000"/>
                </a:solidFill>
                <a:latin typeface="Arial"/>
                <a:ea typeface="Arial"/>
                <a:cs typeface="Arial"/>
              </a:defRPr>
            </a:lvl4pPr>
            <a:lvl5pPr algn="l">
              <a:defRPr sz="1725" b="0">
                <a:solidFill>
                  <a:srgbClr val="000000"/>
                </a:solidFill>
                <a:latin typeface="Arial"/>
                <a:ea typeface="Arial"/>
                <a:cs typeface="Arial"/>
              </a:defRPr>
            </a:lvl5pPr>
            <a:lvl6pPr algn="l">
              <a:defRPr sz="1725" b="0">
                <a:solidFill>
                  <a:srgbClr val="000000"/>
                </a:solidFill>
                <a:latin typeface="Arial"/>
                <a:ea typeface="Arial"/>
                <a:cs typeface="Arial"/>
              </a:defRPr>
            </a:lvl6pPr>
            <a:lvl7pPr algn="l">
              <a:defRPr sz="1725" b="0">
                <a:solidFill>
                  <a:srgbClr val="000000"/>
                </a:solidFill>
                <a:latin typeface="Arial"/>
                <a:ea typeface="Arial"/>
                <a:cs typeface="Arial"/>
              </a:defRPr>
            </a:lvl7pPr>
            <a:lvl8pPr algn="l">
              <a:defRPr sz="1725" b="0">
                <a:solidFill>
                  <a:srgbClr val="000000"/>
                </a:solidFill>
                <a:latin typeface="Arial"/>
                <a:ea typeface="Arial"/>
                <a:cs typeface="Arial"/>
              </a:defRPr>
            </a:lvl8pPr>
            <a:lvl9pPr algn="l">
              <a:defRPr sz="1725" b="0">
                <a:solidFill>
                  <a:srgbClr val="000000"/>
                </a:solidFill>
                <a:latin typeface="Arial"/>
                <a:ea typeface="Arial"/>
                <a:cs typeface="Arial"/>
              </a:defRPr>
            </a:lvl9pPr>
          </a:lstStyle>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Northbridge Field Services Ltd</a:t>
            </a:r>
          </a:p>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UK equipment maintenance and technical field support</a:t>
            </a:r>
          </a:p>
        </p:txBody>
      </p:sp>
      <p:sp>
        <p:nvSpPr>
          <p:cNvPr id="6" name="cover-description">
            <a:extLst xmlns:a="http://schemas.openxmlformats.org/drawingml/2006/main">
              <a:ext uri="{FF2B5EF4-FFF2-40B4-BE49-F238E27FC236}">
                <a16:creationId xmlns:a16="http://schemas.microsoft.com/office/drawing/2014/main" id="{D6E88784-98D5-4010-894D-D2CD91E5CFEC}"/>
              </a:ext>
            </a:extLst>
          </p:cNvPr>
          <p:cNvSpPr>
            <a:spLocks xmlns:a="http://schemas.openxmlformats.org/drawingml/2006/main" noGrp="1"/>
          </p:cNvSpPr>
          <p:nvPr/>
        </p:nvSpPr>
        <p:spPr>
          <a:xfrm xmlns:a="http://schemas.openxmlformats.org/drawingml/2006/main">
            <a:off x="533400" y="3914775"/>
            <a:ext cx="685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Founded in 2012, Northbridge provides scheduled maintenance, reactive repairs and installation services from three UK hubs. FY2025 management revenue is a provisional £25.0m, including £17.5m of maintenance activity. Shareholders are considering a sale of 70%–100% of the equity.</a:t>
            </a:r>
          </a:p>
        </p:txBody>
      </p:sp>
      <p:sp>
        <p:nvSpPr>
          <p:cNvPr id="7" name="cover-date">
            <a:extLst xmlns:a="http://schemas.openxmlformats.org/drawingml/2006/main">
              <a:ext uri="{FF2B5EF4-FFF2-40B4-BE49-F238E27FC236}">
                <a16:creationId xmlns:a16="http://schemas.microsoft.com/office/drawing/2014/main" id="{311B0B81-1C9A-4FBF-A41F-4E684CAD4990}"/>
              </a:ext>
            </a:extLst>
          </p:cNvPr>
          <p:cNvSpPr>
            <a:spLocks xmlns:a="http://schemas.openxmlformats.org/drawingml/2006/main" noGrp="1"/>
          </p:cNvSpPr>
          <p:nvPr/>
        </p:nvSpPr>
        <p:spPr>
          <a:xfrm xmlns:a="http://schemas.openxmlformats.org/drawingml/2006/main">
            <a:off x="8172450" y="3914775"/>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338D"/>
                </a:solidFill>
                <a:latin typeface="Arial"/>
                <a:ea typeface="Arial"/>
                <a:cs typeface="Arial"/>
              </a:defRPr>
            </a:defPPr>
            <a:lvl1pPr algn="l">
              <a:defRPr sz="1350" b="0">
                <a:solidFill>
                  <a:srgbClr val="00338D"/>
                </a:solidFill>
                <a:latin typeface="Arial"/>
                <a:ea typeface="Arial"/>
                <a:cs typeface="Arial"/>
              </a:defRPr>
            </a:lvl1pPr>
            <a:lvl2pPr algn="l">
              <a:defRPr sz="1350" b="0">
                <a:solidFill>
                  <a:srgbClr val="00338D"/>
                </a:solidFill>
                <a:latin typeface="Arial"/>
                <a:ea typeface="Arial"/>
                <a:cs typeface="Arial"/>
              </a:defRPr>
            </a:lvl2pPr>
            <a:lvl3pPr algn="l">
              <a:defRPr sz="1350" b="0">
                <a:solidFill>
                  <a:srgbClr val="00338D"/>
                </a:solidFill>
                <a:latin typeface="Arial"/>
                <a:ea typeface="Arial"/>
                <a:cs typeface="Arial"/>
              </a:defRPr>
            </a:lvl3pPr>
            <a:lvl4pPr algn="l">
              <a:defRPr sz="1350" b="0">
                <a:solidFill>
                  <a:srgbClr val="00338D"/>
                </a:solidFill>
                <a:latin typeface="Arial"/>
                <a:ea typeface="Arial"/>
                <a:cs typeface="Arial"/>
              </a:defRPr>
            </a:lvl4pPr>
            <a:lvl5pPr algn="l">
              <a:defRPr sz="1350" b="0">
                <a:solidFill>
                  <a:srgbClr val="00338D"/>
                </a:solidFill>
                <a:latin typeface="Arial"/>
                <a:ea typeface="Arial"/>
                <a:cs typeface="Arial"/>
              </a:defRPr>
            </a:lvl5pPr>
            <a:lvl6pPr algn="l">
              <a:defRPr sz="1350" b="0">
                <a:solidFill>
                  <a:srgbClr val="00338D"/>
                </a:solidFill>
                <a:latin typeface="Arial"/>
                <a:ea typeface="Arial"/>
                <a:cs typeface="Arial"/>
              </a:defRPr>
            </a:lvl6pPr>
            <a:lvl7pPr algn="l">
              <a:defRPr sz="1350" b="0">
                <a:solidFill>
                  <a:srgbClr val="00338D"/>
                </a:solidFill>
                <a:latin typeface="Arial"/>
                <a:ea typeface="Arial"/>
                <a:cs typeface="Arial"/>
              </a:defRPr>
            </a:lvl7pPr>
            <a:lvl8pPr algn="l">
              <a:defRPr sz="1350" b="0">
                <a:solidFill>
                  <a:srgbClr val="00338D"/>
                </a:solidFill>
                <a:latin typeface="Arial"/>
                <a:ea typeface="Arial"/>
                <a:cs typeface="Arial"/>
              </a:defRPr>
            </a:lvl8pPr>
            <a:lvl9pPr algn="l">
              <a:defRPr sz="1350" b="0">
                <a:solidFill>
                  <a:srgbClr val="00338D"/>
                </a:solidFill>
                <a:latin typeface="Arial"/>
                <a:ea typeface="Arial"/>
                <a:cs typeface="Arial"/>
              </a:defRPr>
            </a:lvl9pPr>
          </a:lstStyle>
          <a:p xmlns:a="http://schemas.openxmlformats.org/drawingml/2006/main">
            <a:pPr algn="l">
              <a:defRPr sz="1350" b="0">
                <a:solidFill>
                  <a:srgbClr val="00338D"/>
                </a:solidFill>
                <a:latin typeface="Arial"/>
                <a:ea typeface="Arial"/>
                <a:cs typeface="Arial"/>
              </a:defRPr>
            </a:pPr>
            <a:r>
              <a:rPr sz="1350" b="0">
                <a:solidFill>
                  <a:srgbClr val="00338D"/>
                </a:solidFill>
                <a:latin typeface="Arial"/>
                <a:ea typeface="Arial"/>
                <a:cs typeface="Arial"/>
              </a:rPr>
              <a:t>January 2026</a:t>
            </a:r>
          </a:p>
          <a:p xmlns:a="http://schemas.openxmlformats.org/drawingml/2006/main">
            <a:pPr algn="l">
              <a:defRPr sz="1350" b="0">
                <a:solidFill>
                  <a:srgbClr val="00338D"/>
                </a:solidFill>
                <a:latin typeface="Arial"/>
                <a:ea typeface="Arial"/>
                <a:cs typeface="Arial"/>
              </a:defRPr>
            </a:pPr>
            <a:r>
              <a:rPr sz="1350" b="0">
                <a:solidFill>
                  <a:srgbClr val="00338D"/>
                </a:solidFill>
                <a:latin typeface="Arial"/>
                <a:ea typeface="Arial"/>
                <a:cs typeface="Arial"/>
              </a:rPr>
              <a:t>Draft for discussion</a:t>
            </a:r>
          </a:p>
          <a:p xmlns:a="http://schemas.openxmlformats.org/drawingml/2006/main">
            <a:pPr algn="l">
              <a:defRPr sz="1350" b="0">
                <a:solidFill>
                  <a:srgbClr val="00338D"/>
                </a:solidFill>
                <a:latin typeface="Arial"/>
                <a:ea typeface="Arial"/>
                <a:cs typeface="Arial"/>
              </a:defRPr>
            </a:pPr>
            <a:r>
              <a:rPr sz="1350" b="0">
                <a:solidFill>
                  <a:srgbClr val="00338D"/>
                </a:solidFill>
                <a:latin typeface="Arial"/>
                <a:ea typeface="Arial"/>
                <a:cs typeface="Arial"/>
              </a:rPr>
              <a:t>Standalone UK company</a:t>
            </a:r>
          </a:p>
        </p:txBody>
      </p:sp>
      <p:sp>
        <p:nvSpPr>
          <p:cNvPr id="8" name="cover-agenda-rule">
            <a:extLst xmlns:a="http://schemas.openxmlformats.org/drawingml/2006/main">
              <a:ext uri="{FF2B5EF4-FFF2-40B4-BE49-F238E27FC236}">
                <a16:creationId xmlns:a16="http://schemas.microsoft.com/office/drawing/2014/main" id="{758A3F64-0DBE-4028-9C1E-4C45597A32A0}"/>
              </a:ext>
            </a:extLst>
          </p:cNvPr>
          <p:cNvSpPr>
            <a:spLocks xmlns:a="http://schemas.openxmlformats.org/drawingml/2006/main" noGrp="1"/>
          </p:cNvSpPr>
          <p:nvPr/>
        </p:nvSpPr>
        <p:spPr>
          <a:xfrm xmlns:a="http://schemas.openxmlformats.org/drawingml/2006/main">
            <a:off x="533400" y="5219700"/>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9" name="cover-agenda">
            <a:extLst xmlns:a="http://schemas.openxmlformats.org/drawingml/2006/main">
              <a:ext uri="{FF2B5EF4-FFF2-40B4-BE49-F238E27FC236}">
                <a16:creationId xmlns:a16="http://schemas.microsoft.com/office/drawing/2014/main" id="{8A3256DD-CA5E-4C77-8B85-FDBCE45BDF08}"/>
              </a:ext>
            </a:extLst>
          </p:cNvPr>
          <p:cNvSpPr>
            <a:spLocks xmlns:a="http://schemas.openxmlformats.org/drawingml/2006/main" noGrp="1"/>
          </p:cNvSpPr>
          <p:nvPr/>
        </p:nvSpPr>
        <p:spPr>
          <a:xfrm xmlns:a="http://schemas.openxmlformats.org/drawingml/2006/main">
            <a:off x="533400" y="5438775"/>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95959"/>
                </a:solidFill>
                <a:latin typeface="Arial"/>
                <a:ea typeface="Arial"/>
                <a:cs typeface="Arial"/>
              </a:defRPr>
            </a:defPPr>
            <a:lvl1pPr algn="l">
              <a:defRPr sz="1200" b="0">
                <a:solidFill>
                  <a:srgbClr val="595959"/>
                </a:solidFill>
                <a:latin typeface="Arial"/>
                <a:ea typeface="Arial"/>
                <a:cs typeface="Arial"/>
              </a:defRPr>
            </a:lvl1pPr>
            <a:lvl2pPr algn="l">
              <a:defRPr sz="1200" b="0">
                <a:solidFill>
                  <a:srgbClr val="595959"/>
                </a:solidFill>
                <a:latin typeface="Arial"/>
                <a:ea typeface="Arial"/>
                <a:cs typeface="Arial"/>
              </a:defRPr>
            </a:lvl2pPr>
            <a:lvl3pPr algn="l">
              <a:defRPr sz="1200" b="0">
                <a:solidFill>
                  <a:srgbClr val="595959"/>
                </a:solidFill>
                <a:latin typeface="Arial"/>
                <a:ea typeface="Arial"/>
                <a:cs typeface="Arial"/>
              </a:defRPr>
            </a:lvl3pPr>
            <a:lvl4pPr algn="l">
              <a:defRPr sz="1200" b="0">
                <a:solidFill>
                  <a:srgbClr val="595959"/>
                </a:solidFill>
                <a:latin typeface="Arial"/>
                <a:ea typeface="Arial"/>
                <a:cs typeface="Arial"/>
              </a:defRPr>
            </a:lvl4pPr>
            <a:lvl5pPr algn="l">
              <a:defRPr sz="1200" b="0">
                <a:solidFill>
                  <a:srgbClr val="595959"/>
                </a:solidFill>
                <a:latin typeface="Arial"/>
                <a:ea typeface="Arial"/>
                <a:cs typeface="Arial"/>
              </a:defRPr>
            </a:lvl5pPr>
            <a:lvl6pPr algn="l">
              <a:defRPr sz="1200" b="0">
                <a:solidFill>
                  <a:srgbClr val="595959"/>
                </a:solidFill>
                <a:latin typeface="Arial"/>
                <a:ea typeface="Arial"/>
                <a:cs typeface="Arial"/>
              </a:defRPr>
            </a:lvl6pPr>
            <a:lvl7pPr algn="l">
              <a:defRPr sz="1200" b="0">
                <a:solidFill>
                  <a:srgbClr val="595959"/>
                </a:solidFill>
                <a:latin typeface="Arial"/>
                <a:ea typeface="Arial"/>
                <a:cs typeface="Arial"/>
              </a:defRPr>
            </a:lvl7pPr>
            <a:lvl8pPr algn="l">
              <a:defRPr sz="1200" b="0">
                <a:solidFill>
                  <a:srgbClr val="595959"/>
                </a:solidFill>
                <a:latin typeface="Arial"/>
                <a:ea typeface="Arial"/>
                <a:cs typeface="Arial"/>
              </a:defRPr>
            </a:lvl8pPr>
            <a:lvl9pPr algn="l">
              <a:defRPr sz="1200" b="0">
                <a:solidFill>
                  <a:srgbClr val="595959"/>
                </a:solidFill>
                <a:latin typeface="Arial"/>
                <a:ea typeface="Arial"/>
                <a:cs typeface="Arial"/>
              </a:defRPr>
            </a:lvl9pPr>
          </a:lstStyle>
          <a:p xmlns:a="http://schemas.openxmlformats.org/drawingml/2006/main">
            <a:pPr algn="l">
              <a:defRPr sz="1200" b="0">
                <a:solidFill>
                  <a:srgbClr val="595959"/>
                </a:solidFill>
                <a:latin typeface="Arial"/>
                <a:ea typeface="Arial"/>
                <a:cs typeface="Arial"/>
              </a:defRPr>
            </a:pPr>
            <a:r>
              <a:rPr sz="1200" b="0">
                <a:solidFill>
                  <a:srgbClr val="595959"/>
                </a:solidFill>
                <a:latin typeface="Arial"/>
                <a:ea typeface="Arial"/>
                <a:cs typeface="Arial"/>
              </a:rPr>
              <a:t>02 Overview      03 Investment case      04 Services      05 Customers</a:t>
            </a:r>
          </a:p>
          <a:p xmlns:a="http://schemas.openxmlformats.org/drawingml/2006/main">
            <a:pPr algn="l">
              <a:defRPr sz="1200" b="0">
                <a:solidFill>
                  <a:srgbClr val="595959"/>
                </a:solidFill>
                <a:latin typeface="Arial"/>
                <a:ea typeface="Arial"/>
                <a:cs typeface="Arial"/>
              </a:defRPr>
            </a:pPr>
            <a:r>
              <a:rPr sz="1200" b="0">
                <a:solidFill>
                  <a:srgbClr val="595959"/>
                </a:solidFill>
                <a:latin typeface="Arial"/>
                <a:ea typeface="Arial"/>
                <a:cs typeface="Arial"/>
              </a:rPr>
              <a:t>06 Operations      07 Financials      08 Forecast      09 Transaction      10 Diligence</a:t>
            </a:r>
          </a:p>
        </p:txBody>
      </p:sp>
      <p:sp>
        <p:nvSpPr>
          <p:cNvPr id="10" name="cover-fiction">
            <a:extLst xmlns:a="http://schemas.openxmlformats.org/drawingml/2006/main">
              <a:ext uri="{FF2B5EF4-FFF2-40B4-BE49-F238E27FC236}">
                <a16:creationId xmlns:a16="http://schemas.microsoft.com/office/drawing/2014/main" id="{69FA7C8B-96FC-443F-AD6D-23E2C8721833}"/>
              </a:ext>
            </a:extLst>
          </p:cNvPr>
          <p:cNvSpPr>
            <a:spLocks xmlns:a="http://schemas.openxmlformats.org/drawingml/2006/main" noGrp="1"/>
          </p:cNvSpPr>
          <p:nvPr/>
        </p:nvSpPr>
        <p:spPr>
          <a:xfrm xmlns:a="http://schemas.openxmlformats.org/drawingml/2006/main">
            <a:off x="533400" y="63436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95959"/>
                </a:solidFill>
                <a:latin typeface="Arial"/>
                <a:ea typeface="Arial"/>
                <a:cs typeface="Arial"/>
              </a:defRPr>
            </a:defPPr>
            <a:lvl1pPr algn="l">
              <a:defRPr sz="825" b="0">
                <a:solidFill>
                  <a:srgbClr val="595959"/>
                </a:solidFill>
                <a:latin typeface="Arial"/>
                <a:ea typeface="Arial"/>
                <a:cs typeface="Arial"/>
              </a:defRPr>
            </a:lvl1pPr>
            <a:lvl2pPr algn="l">
              <a:defRPr sz="825" b="0">
                <a:solidFill>
                  <a:srgbClr val="595959"/>
                </a:solidFill>
                <a:latin typeface="Arial"/>
                <a:ea typeface="Arial"/>
                <a:cs typeface="Arial"/>
              </a:defRPr>
            </a:lvl2pPr>
            <a:lvl3pPr algn="l">
              <a:defRPr sz="825" b="0">
                <a:solidFill>
                  <a:srgbClr val="595959"/>
                </a:solidFill>
                <a:latin typeface="Arial"/>
                <a:ea typeface="Arial"/>
                <a:cs typeface="Arial"/>
              </a:defRPr>
            </a:lvl3pPr>
            <a:lvl4pPr algn="l">
              <a:defRPr sz="825" b="0">
                <a:solidFill>
                  <a:srgbClr val="595959"/>
                </a:solidFill>
                <a:latin typeface="Arial"/>
                <a:ea typeface="Arial"/>
                <a:cs typeface="Arial"/>
              </a:defRPr>
            </a:lvl4pPr>
            <a:lvl5pPr algn="l">
              <a:defRPr sz="825" b="0">
                <a:solidFill>
                  <a:srgbClr val="595959"/>
                </a:solidFill>
                <a:latin typeface="Arial"/>
                <a:ea typeface="Arial"/>
                <a:cs typeface="Arial"/>
              </a:defRPr>
            </a:lvl5pPr>
            <a:lvl6pPr algn="l">
              <a:defRPr sz="825" b="0">
                <a:solidFill>
                  <a:srgbClr val="595959"/>
                </a:solidFill>
                <a:latin typeface="Arial"/>
                <a:ea typeface="Arial"/>
                <a:cs typeface="Arial"/>
              </a:defRPr>
            </a:lvl6pPr>
            <a:lvl7pPr algn="l">
              <a:defRPr sz="825" b="0">
                <a:solidFill>
                  <a:srgbClr val="595959"/>
                </a:solidFill>
                <a:latin typeface="Arial"/>
                <a:ea typeface="Arial"/>
                <a:cs typeface="Arial"/>
              </a:defRPr>
            </a:lvl7pPr>
            <a:lvl8pPr algn="l">
              <a:defRPr sz="825" b="0">
                <a:solidFill>
                  <a:srgbClr val="595959"/>
                </a:solidFill>
                <a:latin typeface="Arial"/>
                <a:ea typeface="Arial"/>
                <a:cs typeface="Arial"/>
              </a:defRPr>
            </a:lvl8pPr>
            <a:lvl9pPr algn="l">
              <a:defRPr sz="825" b="0">
                <a:solidFill>
                  <a:srgbClr val="595959"/>
                </a:solidFill>
                <a:latin typeface="Arial"/>
                <a:ea typeface="Arial"/>
                <a:cs typeface="Arial"/>
              </a:defRPr>
            </a:lvl9pPr>
          </a:lstStyle>
          <a:p xmlns:a="http://schemas.openxmlformats.org/drawingml/2006/main">
            <a:pPr algn="l">
              <a:defRPr sz="825" b="0">
                <a:solidFill>
                  <a:srgbClr val="595959"/>
                </a:solidFill>
                <a:latin typeface="Arial"/>
                <a:ea typeface="Arial"/>
                <a:cs typeface="Arial"/>
              </a:defRPr>
            </a:pPr>
            <a:r>
              <a:rPr sz="825" b="0">
                <a:solidFill>
                  <a:srgbClr val="595959"/>
                </a:solidFill>
                <a:latin typeface="Arial"/>
                <a:ea typeface="Arial"/>
                <a:cs typeface="Arial"/>
              </a:rPr>
              <a:t>All companies, people and figures are fictional. Management financial information is unaudited.</a:t>
            </a:r>
          </a:p>
          <a:p xmlns:a="http://schemas.openxmlformats.org/drawingml/2006/main">
            <a:pPr algn="l">
              <a:defRPr sz="825" b="0">
                <a:solidFill>
                  <a:srgbClr val="595959"/>
                </a:solidFill>
                <a:latin typeface="Arial"/>
                <a:ea typeface="Arial"/>
                <a:cs typeface="Arial"/>
              </a:defRPr>
            </a:pPr>
            <a:r>
              <a:rPr sz="825" b="0">
                <a:solidFill>
                  <a:srgbClr val="595959"/>
                </a:solidFill>
                <a:latin typeface="Arial"/>
                <a:ea typeface="Arial"/>
                <a:cs typeface="Arial"/>
              </a:rPr>
              <a:t>FY2025 revenue remains subject to reconciliation with the earlier company brief.</a:t>
            </a:r>
          </a:p>
        </p:txBody>
      </p:sp>
    </p:spTree>
    <p:extLst>
      <p:ext uri="{BB962C8B-B14F-4D97-AF65-F5344CB8AC3E}">
        <p14:creationId xmlns:p14="http://schemas.microsoft.com/office/powerpoint/2010/main" val="12939750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2-section">
            <a:extLst xmlns:a="http://schemas.openxmlformats.org/drawingml/2006/main">
              <a:ext uri="{FF2B5EF4-FFF2-40B4-BE49-F238E27FC236}">
                <a16:creationId xmlns:a16="http://schemas.microsoft.com/office/drawing/2014/main" id="{F1D295F2-7C7D-409A-AA90-4BC66EC663B5}"/>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EXECUTIVE SUMMARY</a:t>
            </a:r>
          </a:p>
        </p:txBody>
      </p:sp>
      <p:sp>
        <p:nvSpPr>
          <p:cNvPr id="2" name="s2-title">
            <a:extLst xmlns:a="http://schemas.openxmlformats.org/drawingml/2006/main">
              <a:ext uri="{FF2B5EF4-FFF2-40B4-BE49-F238E27FC236}">
                <a16:creationId xmlns:a16="http://schemas.microsoft.com/office/drawing/2014/main" id="{C407833C-9006-411C-BBE3-583002E712A1}"/>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Company overview and proposed transaction</a:t>
            </a:r>
          </a:p>
        </p:txBody>
      </p:sp>
      <p:sp>
        <p:nvSpPr>
          <p:cNvPr id="3" name="s2-header-rule">
            <a:extLst xmlns:a="http://schemas.openxmlformats.org/drawingml/2006/main">
              <a:ext uri="{FF2B5EF4-FFF2-40B4-BE49-F238E27FC236}">
                <a16:creationId xmlns:a16="http://schemas.microsoft.com/office/drawing/2014/main" id="{45DF644A-D3B4-46AB-824D-0FEB80485A05}"/>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2-source">
            <a:extLst xmlns:a="http://schemas.openxmlformats.org/drawingml/2006/main">
              <a:ext uri="{FF2B5EF4-FFF2-40B4-BE49-F238E27FC236}">
                <a16:creationId xmlns:a16="http://schemas.microsoft.com/office/drawing/2014/main" id="{43B4852E-E82A-4F0F-8E63-1F7F320329FF}"/>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01 company brief; 02 model, PnL / ServiceMix / CustomerSales; 05 commercial interview; 10 CFO follow-up; 13 transaction workshop.</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A = unaudited management actuals. FY2025 revenue is provisional. Detailed source locators are in notes.</a:t>
            </a:r>
          </a:p>
        </p:txBody>
      </p:sp>
      <p:sp>
        <p:nvSpPr>
          <p:cNvPr id="5" name="s2-footer-rule">
            <a:extLst xmlns:a="http://schemas.openxmlformats.org/drawingml/2006/main">
              <a:ext uri="{FF2B5EF4-FFF2-40B4-BE49-F238E27FC236}">
                <a16:creationId xmlns:a16="http://schemas.microsoft.com/office/drawing/2014/main" id="{DC088D59-14DF-48B5-8D83-397D1188F431}"/>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2-footer">
            <a:extLst xmlns:a="http://schemas.openxmlformats.org/drawingml/2006/main">
              <a:ext uri="{FF2B5EF4-FFF2-40B4-BE49-F238E27FC236}">
                <a16:creationId xmlns:a16="http://schemas.microsoft.com/office/drawing/2014/main" id="{9E8B87D3-19D0-47C2-A226-77DD90543DDD}"/>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2-number">
            <a:extLst xmlns:a="http://schemas.openxmlformats.org/drawingml/2006/main">
              <a:ext uri="{FF2B5EF4-FFF2-40B4-BE49-F238E27FC236}">
                <a16:creationId xmlns:a16="http://schemas.microsoft.com/office/drawing/2014/main" id="{0E74019D-114D-430D-9BB3-58183012E796}"/>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2</a:t>
            </a:r>
          </a:p>
        </p:txBody>
      </p:sp>
      <p:sp>
        <p:nvSpPr>
          <p:cNvPr id="8" name="s2-intro">
            <a:extLst xmlns:a="http://schemas.openxmlformats.org/drawingml/2006/main">
              <a:ext uri="{FF2B5EF4-FFF2-40B4-BE49-F238E27FC236}">
                <a16:creationId xmlns:a16="http://schemas.microsoft.com/office/drawing/2014/main" id="{FDB395BF-F826-4587-86E0-C2C2A5EF9755}"/>
              </a:ext>
            </a:extLst>
          </p:cNvPr>
          <p:cNvSpPr>
            <a:spLocks xmlns:a="http://schemas.openxmlformats.org/drawingml/2006/main" noGrp="1"/>
          </p:cNvSpPr>
          <p:nvPr/>
        </p:nvSpPr>
        <p:spPr>
          <a:xfrm xmlns:a="http://schemas.openxmlformats.org/drawingml/2006/main">
            <a:off x="533400" y="107632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Northbridge provides equipment maintenance and technical field support to UK logistics, manufacturing and facilities-management customers. The business combines planned visits under annual service arrangements with reactive repairs and separately scoped installation work.</a:t>
            </a:r>
          </a:p>
        </p:txBody>
      </p:sp>
      <p:graphicFrame>
        <p:nvGraphicFramePr>
          <p:cNvPr id="9" name="">
            <a:extLst xmlns:a="http://schemas.openxmlformats.org/drawingml/2006/main">
              <a:ext uri="{FF2B5EF4-FFF2-40B4-BE49-F238E27FC236}">
                <a16:creationId xmlns:a16="http://schemas.microsoft.com/office/drawing/2014/main" id="{CBF31FD2-C38F-46D3-876D-58102DFB8EF9}"/>
              </a:ext>
            </a:extLst>
          </p:cNvPr>
          <p:cNvGraphicFramePr/>
          <p:nvPr/>
        </p:nvGraphicFramePr>
        <p:xfrm>
          <a:off xmlns:a="http://schemas.openxmlformats.org/drawingml/2006/main" x="533400" y="1819275"/>
          <a:ext xmlns:a="http://schemas.openxmlformats.org/drawingml/2006/main" cx="6191250" cy="2514600"/>
        </p:xfrm>
        <a:graphic xmlns:a="http://schemas.openxmlformats.org/drawingml/2006/main">
          <a:graphicData uri="http://schemas.openxmlformats.org/drawingml/2006/table">
            <a:tbl>
              <a:tblPr/>
              <a:tblGrid>
                <a:gridCol w="2000250"/>
                <a:gridCol w="4191000"/>
              </a:tblGrid>
              <a:tr h="306106">
                <a:tc>
                  <a:txBody>
                    <a:bodyPr lIns="95250" tIns="47625" rIns="95250" bIns="47625">
                      <a:noAutofit/>
                    </a:bodyPr>
                    <a:lstStyle/>
                    <a:p>
                      <a:pPr algn="l"/>
                      <a:r>
                        <a:rPr sz="1200" b="1">
                          <a:solidFill>
                            <a:srgbClr val="FFFFFF"/>
                          </a:solidFill>
                          <a:latin typeface="Arial"/>
                          <a:ea typeface="Arial"/>
                          <a:cs typeface="Arial"/>
                        </a:rPr>
                        <a:t>Business profile</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FY2025 / current position</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06106">
                <a:tc>
                  <a:txBody>
                    <a:bodyPr lIns="95250" tIns="47625" rIns="95250" bIns="47625">
                      <a:noAutofit/>
                    </a:bodyPr>
                    <a:lstStyle/>
                    <a:p>
                      <a:pPr algn="l"/>
                      <a:r>
                        <a:rPr sz="1200" b="0">
                          <a:solidFill>
                            <a:srgbClr val="000000"/>
                          </a:solidFill>
                          <a:latin typeface="Arial"/>
                          <a:ea typeface="Arial"/>
                          <a:cs typeface="Arial"/>
                        </a:rPr>
                        <a:t>Founded / headquarters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2012 / Birmingham</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06106">
                <a:tc>
                  <a:txBody>
                    <a:bodyPr lIns="95250" tIns="47625" rIns="95250" bIns="47625">
                      <a:noAutofit/>
                    </a:bodyPr>
                    <a:lstStyle/>
                    <a:p>
                      <a:pPr algn="l"/>
                      <a:r>
                        <a:rPr sz="1200" b="0">
                          <a:solidFill>
                            <a:srgbClr val="000000"/>
                          </a:solidFill>
                          <a:latin typeface="Arial"/>
                          <a:ea typeface="Arial"/>
                          <a:cs typeface="Arial"/>
                        </a:rPr>
                        <a:t>Revenue / EBITDA</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£25.0m / £5.0m, before any proposed add-backs</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492034">
                <a:tc>
                  <a:txBody>
                    <a:bodyPr lIns="95250" tIns="47625" rIns="95250" bIns="47625">
                      <a:noAutofit/>
                    </a:bodyPr>
                    <a:lstStyle/>
                    <a:p>
                      <a:pPr algn="l"/>
                      <a:r>
                        <a:rPr sz="1200" b="0">
                          <a:solidFill>
                            <a:srgbClr val="000000"/>
                          </a:solidFill>
                          <a:latin typeface="Arial"/>
                          <a:ea typeface="Arial"/>
                          <a:cs typeface="Arial"/>
                        </a:rPr>
                        <a:t>Historical development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FY2023–25 revenue CAGR 17.9%; EBITDA margin 20.0%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06106">
                <a:tc>
                  <a:txBody>
                    <a:bodyPr lIns="95250" tIns="47625" rIns="95250" bIns="47625">
                      <a:noAutofit/>
                    </a:bodyPr>
                    <a:lstStyle/>
                    <a:p>
                      <a:pPr algn="l"/>
                      <a:r>
                        <a:rPr sz="1200" b="0">
                          <a:solidFill>
                            <a:srgbClr val="000000"/>
                          </a:solidFill>
                          <a:latin typeface="Arial"/>
                          <a:ea typeface="Arial"/>
                          <a:cs typeface="Arial"/>
                        </a:rPr>
                        <a:t>Service revenue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Maintenance £17.5m; repairs £5.0m; projects £2.5m</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492034">
                <a:tc>
                  <a:txBody>
                    <a:bodyPr lIns="95250" tIns="47625" rIns="95250" bIns="47625">
                      <a:noAutofit/>
                    </a:bodyPr>
                    <a:lstStyle/>
                    <a:p>
                      <a:pPr algn="l"/>
                      <a:r>
                        <a:rPr sz="1200" b="0">
                          <a:solidFill>
                            <a:srgbClr val="000000"/>
                          </a:solidFill>
                          <a:latin typeface="Arial"/>
                          <a:ea typeface="Arial"/>
                          <a:cs typeface="Arial"/>
                        </a:rPr>
                        <a:t>People and footprint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120 employees, including 85 field engineers; three UK hubs</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06106">
                <a:tc>
                  <a:txBody>
                    <a:bodyPr lIns="95250" tIns="47625" rIns="95250" bIns="47625">
                      <a:noAutofit/>
                    </a:bodyPr>
                    <a:lstStyle/>
                    <a:p>
                      <a:pPr algn="l"/>
                      <a:r>
                        <a:rPr sz="1200" b="0">
                          <a:solidFill>
                            <a:srgbClr val="000000"/>
                          </a:solidFill>
                          <a:latin typeface="Arial"/>
                          <a:ea typeface="Arial"/>
                          <a:cs typeface="Arial"/>
                        </a:rPr>
                        <a:t>Customer exposure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Largest customer 12%; top five 42% of revenue</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10" name="s2-business-head">
            <a:extLst xmlns:a="http://schemas.openxmlformats.org/drawingml/2006/main">
              <a:ext uri="{FF2B5EF4-FFF2-40B4-BE49-F238E27FC236}">
                <a16:creationId xmlns:a16="http://schemas.microsoft.com/office/drawing/2014/main" id="{DB1CB763-BD6B-4829-8A0B-1B2BD3E40AF2}"/>
              </a:ext>
            </a:extLst>
          </p:cNvPr>
          <p:cNvSpPr>
            <a:spLocks xmlns:a="http://schemas.openxmlformats.org/drawingml/2006/main" noGrp="1"/>
          </p:cNvSpPr>
          <p:nvPr/>
        </p:nvSpPr>
        <p:spPr>
          <a:xfrm xmlns:a="http://schemas.openxmlformats.org/drawingml/2006/main">
            <a:off x="7029450" y="1819275"/>
            <a:ext cx="462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Revenue characteristics</a:t>
            </a:r>
          </a:p>
        </p:txBody>
      </p:sp>
      <p:sp>
        <p:nvSpPr>
          <p:cNvPr id="11" name="s2-business">
            <a:extLst xmlns:a="http://schemas.openxmlformats.org/drawingml/2006/main">
              <a:ext uri="{FF2B5EF4-FFF2-40B4-BE49-F238E27FC236}">
                <a16:creationId xmlns:a16="http://schemas.microsoft.com/office/drawing/2014/main" id="{45F1FBEB-722D-4BEC-A411-AC3D406D3C89}"/>
              </a:ext>
            </a:extLst>
          </p:cNvPr>
          <p:cNvSpPr>
            <a:spLocks xmlns:a="http://schemas.openxmlformats.org/drawingml/2006/main" noGrp="1"/>
          </p:cNvSpPr>
          <p:nvPr/>
        </p:nvSpPr>
        <p:spPr>
          <a:xfrm xmlns:a="http://schemas.openxmlformats.org/drawingml/2006/main">
            <a:off x="7029450" y="2133600"/>
            <a:ext cx="4629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Maintenance accounts for 70% of revenue. Agreements generally last one to three years, with renewal by agreement and price reviews subject to terms and customer acceptance.</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In the FY2025 due-for-renewal cohort, 23 of 25 agreements renewed. Retained annual value was £3.72m on a £4.00m starting base, before price or scope changes.</a:t>
            </a:r>
          </a:p>
        </p:txBody>
      </p:sp>
      <p:sp>
        <p:nvSpPr>
          <p:cNvPr id="12" name="s2-sale-head">
            <a:extLst xmlns:a="http://schemas.openxmlformats.org/drawingml/2006/main">
              <a:ext uri="{FF2B5EF4-FFF2-40B4-BE49-F238E27FC236}">
                <a16:creationId xmlns:a16="http://schemas.microsoft.com/office/drawing/2014/main" id="{05A0695D-2A9D-4F0F-A4AD-B96A1EF5A905}"/>
              </a:ext>
            </a:extLst>
          </p:cNvPr>
          <p:cNvSpPr>
            <a:spLocks xmlns:a="http://schemas.openxmlformats.org/drawingml/2006/main" noGrp="1"/>
          </p:cNvSpPr>
          <p:nvPr/>
        </p:nvSpPr>
        <p:spPr>
          <a:xfrm xmlns:a="http://schemas.openxmlformats.org/drawingml/2006/main">
            <a:off x="7029450" y="3724275"/>
            <a:ext cx="462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Ownership and sale scope</a:t>
            </a:r>
          </a:p>
        </p:txBody>
      </p:sp>
      <p:sp>
        <p:nvSpPr>
          <p:cNvPr id="13" name="s2-sale">
            <a:extLst xmlns:a="http://schemas.openxmlformats.org/drawingml/2006/main">
              <a:ext uri="{FF2B5EF4-FFF2-40B4-BE49-F238E27FC236}">
                <a16:creationId xmlns:a16="http://schemas.microsoft.com/office/drawing/2014/main" id="{9AFAF1E3-5CE9-4926-97CA-9AE65AB760A4}"/>
              </a:ext>
            </a:extLst>
          </p:cNvPr>
          <p:cNvSpPr>
            <a:spLocks xmlns:a="http://schemas.openxmlformats.org/drawingml/2006/main" noGrp="1"/>
          </p:cNvSpPr>
          <p:nvPr/>
        </p:nvSpPr>
        <p:spPr>
          <a:xfrm xmlns:a="http://schemas.openxmlformats.org/drawingml/2006/main">
            <a:off x="7029450" y="4038600"/>
            <a:ext cx="46291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Founder ownership is 70%, management 20% and the seed investor 10%. The proposed sale is 70%–100% of the standalone UK company, including its hubs, operating assets and customer contracts.</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process is at preparation stage. No valuation, rollover, financing structure or timetable has been agreed. Contract consents and legal title require review.</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FY2027 forecast depends on contract wins and hiring. Pipeline remains unsigned.</a:t>
            </a:r>
          </a:p>
        </p:txBody>
      </p:sp>
      <p:sp>
        <p:nvSpPr>
          <p:cNvPr id="14" name="s2-reporting-head">
            <a:extLst xmlns:a="http://schemas.openxmlformats.org/drawingml/2006/main">
              <a:ext uri="{FF2B5EF4-FFF2-40B4-BE49-F238E27FC236}">
                <a16:creationId xmlns:a16="http://schemas.microsoft.com/office/drawing/2014/main" id="{1674BB77-805E-4B47-8941-4C43517B0F2A}"/>
              </a:ext>
            </a:extLst>
          </p:cNvPr>
          <p:cNvSpPr>
            <a:spLocks xmlns:a="http://schemas.openxmlformats.org/drawingml/2006/main" noGrp="1"/>
          </p:cNvSpPr>
          <p:nvPr/>
        </p:nvSpPr>
        <p:spPr>
          <a:xfrm xmlns:a="http://schemas.openxmlformats.org/drawingml/2006/main">
            <a:off x="533400" y="45529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Reporting basis and unresolved revenue difference</a:t>
            </a:r>
          </a:p>
        </p:txBody>
      </p:sp>
      <p:sp>
        <p:nvSpPr>
          <p:cNvPr id="15" name="s2-reporting">
            <a:extLst xmlns:a="http://schemas.openxmlformats.org/drawingml/2006/main">
              <a:ext uri="{FF2B5EF4-FFF2-40B4-BE49-F238E27FC236}">
                <a16:creationId xmlns:a16="http://schemas.microsoft.com/office/drawing/2014/main" id="{103D5FD4-5345-45E2-9002-49480B21BC45}"/>
              </a:ext>
            </a:extLst>
          </p:cNvPr>
          <p:cNvSpPr>
            <a:spLocks xmlns:a="http://schemas.openxmlformats.org/drawingml/2006/main" noGrp="1"/>
          </p:cNvSpPr>
          <p:nvPr/>
        </p:nvSpPr>
        <p:spPr>
          <a:xfrm xmlns:a="http://schemas.openxmlformats.org/drawingml/2006/main">
            <a:off x="533400" y="4867275"/>
            <a:ext cx="6191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CFO supports provisional use of the £25.0m management model. The earlier briefing reports £26.2m, a £1.2m difference. A possible £0.8m order-timing item has not been reconciled to invoices or the ledger.</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Quarterly figures agree to the annual model. Cash and bank debt drafts are available. No QoE or verified add-backs support normalised earnings.</a:t>
            </a:r>
          </a:p>
        </p:txBody>
      </p:sp>
    </p:spTree>
    <p:extLst>
      <p:ext uri="{BB962C8B-B14F-4D97-AF65-F5344CB8AC3E}">
        <p14:creationId xmlns:p14="http://schemas.microsoft.com/office/powerpoint/2010/main" val="15683373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3-section">
            <a:extLst xmlns:a="http://schemas.openxmlformats.org/drawingml/2006/main">
              <a:ext uri="{FF2B5EF4-FFF2-40B4-BE49-F238E27FC236}">
                <a16:creationId xmlns:a16="http://schemas.microsoft.com/office/drawing/2014/main" id="{490A91C5-5463-468C-AF71-37A8E2E825CE}"/>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INVESTMENT CASE</a:t>
            </a:r>
          </a:p>
        </p:txBody>
      </p:sp>
      <p:sp>
        <p:nvSpPr>
          <p:cNvPr id="2" name="s3-title">
            <a:extLst xmlns:a="http://schemas.openxmlformats.org/drawingml/2006/main">
              <a:ext uri="{FF2B5EF4-FFF2-40B4-BE49-F238E27FC236}">
                <a16:creationId xmlns:a16="http://schemas.microsoft.com/office/drawing/2014/main" id="{1658C492-586F-4351-806E-05528C759121}"/>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Investment considerations</a:t>
            </a:r>
          </a:p>
        </p:txBody>
      </p:sp>
      <p:sp>
        <p:nvSpPr>
          <p:cNvPr id="3" name="s3-header-rule">
            <a:extLst xmlns:a="http://schemas.openxmlformats.org/drawingml/2006/main">
              <a:ext uri="{FF2B5EF4-FFF2-40B4-BE49-F238E27FC236}">
                <a16:creationId xmlns:a16="http://schemas.microsoft.com/office/drawing/2014/main" id="{DFAFBF69-6725-4700-9932-3FC2F2AEAFCD}"/>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3-source">
            <a:extLst xmlns:a="http://schemas.openxmlformats.org/drawingml/2006/main">
              <a:ext uri="{FF2B5EF4-FFF2-40B4-BE49-F238E27FC236}">
                <a16:creationId xmlns:a16="http://schemas.microsoft.com/office/drawing/2014/main" id="{368DAED8-BD2A-47A4-9FB6-449C4461DC23}"/>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02 management model; 05 commercial interview; 06 hubs; 07 KPIs; 08 expiries; 10 CFO follow-up; 11 forecast bridge.</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Analysis uses provisional, unaudited management data. Agreement renewal is distinct from customer retention.</a:t>
            </a:r>
          </a:p>
        </p:txBody>
      </p:sp>
      <p:sp>
        <p:nvSpPr>
          <p:cNvPr id="5" name="s3-footer-rule">
            <a:extLst xmlns:a="http://schemas.openxmlformats.org/drawingml/2006/main">
              <a:ext uri="{FF2B5EF4-FFF2-40B4-BE49-F238E27FC236}">
                <a16:creationId xmlns:a16="http://schemas.microsoft.com/office/drawing/2014/main" id="{F6FBE6EA-7FB0-4947-B519-51EA5D4C8F36}"/>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3-footer">
            <a:extLst xmlns:a="http://schemas.openxmlformats.org/drawingml/2006/main">
              <a:ext uri="{FF2B5EF4-FFF2-40B4-BE49-F238E27FC236}">
                <a16:creationId xmlns:a16="http://schemas.microsoft.com/office/drawing/2014/main" id="{188DF108-FEF6-4102-B0FE-C197FFED82FC}"/>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3-number">
            <a:extLst xmlns:a="http://schemas.openxmlformats.org/drawingml/2006/main">
              <a:ext uri="{FF2B5EF4-FFF2-40B4-BE49-F238E27FC236}">
                <a16:creationId xmlns:a16="http://schemas.microsoft.com/office/drawing/2014/main" id="{AE5CF301-7D37-4D90-BC9B-4685CD082BA0}"/>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3</a:t>
            </a:r>
          </a:p>
        </p:txBody>
      </p:sp>
      <p:graphicFrame>
        <p:nvGraphicFramePr>
          <p:cNvPr id="8" name="">
            <a:extLst xmlns:a="http://schemas.openxmlformats.org/drawingml/2006/main">
              <a:ext uri="{FF2B5EF4-FFF2-40B4-BE49-F238E27FC236}">
                <a16:creationId xmlns:a16="http://schemas.microsoft.com/office/drawing/2014/main" id="{2EEE85B5-9DC4-4350-A86C-952E95B90BFF}"/>
              </a:ext>
            </a:extLst>
          </p:cNvPr>
          <p:cNvGraphicFramePr/>
          <p:nvPr/>
        </p:nvGraphicFramePr>
        <p:xfrm>
          <a:off xmlns:a="http://schemas.openxmlformats.org/drawingml/2006/main" x="533400" y="1095375"/>
          <a:ext xmlns:a="http://schemas.openxmlformats.org/drawingml/2006/main" cx="11125200" cy="3629025"/>
        </p:xfrm>
        <a:graphic xmlns:a="http://schemas.openxmlformats.org/drawingml/2006/main">
          <a:graphicData uri="http://schemas.openxmlformats.org/drawingml/2006/table">
            <a:tbl>
              <a:tblPr/>
              <a:tblGrid>
                <a:gridCol w="1889185"/>
                <a:gridCol w="4827917"/>
                <a:gridCol w="4408098"/>
              </a:tblGrid>
              <a:tr h="577063">
                <a:tc>
                  <a:txBody>
                    <a:bodyPr lIns="95250" tIns="47625" rIns="95250" bIns="47625">
                      <a:noAutofit/>
                    </a:bodyPr>
                    <a:lstStyle/>
                    <a:p>
                      <a:pPr algn="l"/>
                      <a:r>
                        <a:rPr sz="1200" b="1">
                          <a:solidFill>
                            <a:srgbClr val="FFFFFF"/>
                          </a:solidFill>
                          <a:latin typeface="Arial"/>
                          <a:ea typeface="Arial"/>
                          <a:cs typeface="Arial"/>
                        </a:rPr>
                        <a:t>Investment consideration</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Evidence and commercial interpretation</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Qualification</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762991">
                <a:tc>
                  <a:txBody>
                    <a:bodyPr lIns="95250" tIns="47625" rIns="95250" bIns="47625">
                      <a:noAutofit/>
                    </a:bodyPr>
                    <a:lstStyle/>
                    <a:p>
                      <a:pPr algn="l"/>
                      <a:r>
                        <a:rPr sz="1200" b="0">
                          <a:solidFill>
                            <a:srgbClr val="000000"/>
                          </a:solidFill>
                          <a:latin typeface="Arial"/>
                          <a:ea typeface="Arial"/>
                          <a:cs typeface="Arial"/>
                        </a:rPr>
                        <a:t>Maintenance-led service mix</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£17.5m of maintenance revenue (70% of sales) provides an established base of planned service activity. One-to-three-year agreements define visit scope and annual fees.</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£6.0m of FY2025 maintenance revenue relates to agreements expiring in 2026. Continued revenue depends on renewal and agreed scope.</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762991">
                <a:tc>
                  <a:txBody>
                    <a:bodyPr lIns="95250" tIns="47625" rIns="95250" bIns="47625">
                      <a:noAutofit/>
                    </a:bodyPr>
                    <a:lstStyle/>
                    <a:p>
                      <a:pPr algn="l"/>
                      <a:r>
                        <a:rPr sz="1200" b="0">
                          <a:solidFill>
                            <a:srgbClr val="000000"/>
                          </a:solidFill>
                          <a:latin typeface="Arial"/>
                          <a:ea typeface="Arial"/>
                          <a:cs typeface="Arial"/>
                        </a:rPr>
                        <a:t>Historical earnings growth</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Revenue rose from £18.0m to £25.0m in FY2023–25. Gross profit increased by £3.3m, while operating expenses increased by £1.0m. Management EBITDA rose by £2.3m.</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The P&amp;L shows arithmetic improvement in gross margin and expense ratios. It does not establish the underlying operational causes. FY2025 revenue remains provisional.</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762991">
                <a:tc>
                  <a:txBody>
                    <a:bodyPr lIns="95250" tIns="47625" rIns="95250" bIns="47625">
                      <a:noAutofit/>
                    </a:bodyPr>
                    <a:lstStyle/>
                    <a:p>
                      <a:pPr algn="l"/>
                      <a:r>
                        <a:rPr sz="1200" b="0">
                          <a:solidFill>
                            <a:srgbClr val="000000"/>
                          </a:solidFill>
                          <a:latin typeface="Arial"/>
                          <a:ea typeface="Arial"/>
                          <a:cs typeface="Arial"/>
                        </a:rPr>
                        <a:t>Regional delivery capacity</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85 field engineers across three hubs support customer service. Management reports 93.5% urgent-response compliance and 88.0% first-time fix rates, with defined job denominators.</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KPI records have not been independently tested. Founder-led major accounts and local engineer capacity need review alongside renewal exposure.</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762991">
                <a:tc>
                  <a:txBody>
                    <a:bodyPr lIns="95250" tIns="47625" rIns="95250" bIns="47625">
                      <a:noAutofit/>
                    </a:bodyPr>
                    <a:lstStyle/>
                    <a:p>
                      <a:pPr algn="l"/>
                      <a:r>
                        <a:rPr sz="1200" b="0">
                          <a:solidFill>
                            <a:srgbClr val="000000"/>
                          </a:solidFill>
                          <a:latin typeface="Arial"/>
                          <a:ea typeface="Arial"/>
                          <a:cs typeface="Arial"/>
                        </a:rPr>
                        <a:t>Identified expansion assumptions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FY2026 revenue growth of £4.0m comprises £1.0m pricing, £2.0m new contracts, £1.6m cross-sell and £0.6m attrition. Engineers increase to 95 at year end.</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The £4.8m opportunity pipeline is unsigned and unweighted. Customer-level forecast support, recruitment costs and engineer ramp-up timing remain outstanding.</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9" name="s3-renewal-head">
            <a:extLst xmlns:a="http://schemas.openxmlformats.org/drawingml/2006/main">
              <a:ext uri="{FF2B5EF4-FFF2-40B4-BE49-F238E27FC236}">
                <a16:creationId xmlns:a16="http://schemas.microsoft.com/office/drawing/2014/main" id="{FC72C6A0-A425-4C4B-B27C-CC855CCAE581}"/>
              </a:ext>
            </a:extLst>
          </p:cNvPr>
          <p:cNvSpPr>
            <a:spLocks xmlns:a="http://schemas.openxmlformats.org/drawingml/2006/main" noGrp="1"/>
          </p:cNvSpPr>
          <p:nvPr/>
        </p:nvSpPr>
        <p:spPr>
          <a:xfrm xmlns:a="http://schemas.openxmlformats.org/drawingml/2006/main">
            <a:off x="533400" y="4924425"/>
            <a:ext cx="541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Renewal evidence</a:t>
            </a:r>
          </a:p>
        </p:txBody>
      </p:sp>
      <p:sp>
        <p:nvSpPr>
          <p:cNvPr id="10" name="s3-renewal">
            <a:extLst xmlns:a="http://schemas.openxmlformats.org/drawingml/2006/main">
              <a:ext uri="{FF2B5EF4-FFF2-40B4-BE49-F238E27FC236}">
                <a16:creationId xmlns:a16="http://schemas.microsoft.com/office/drawing/2014/main" id="{0607956E-E326-44EF-A5FF-BB46B67782DA}"/>
              </a:ext>
            </a:extLst>
          </p:cNvPr>
          <p:cNvSpPr>
            <a:spLocks xmlns:a="http://schemas.openxmlformats.org/drawingml/2006/main" noGrp="1"/>
          </p:cNvSpPr>
          <p:nvPr/>
        </p:nvSpPr>
        <p:spPr>
          <a:xfrm xmlns:a="http://schemas.openxmlformats.org/drawingml/2006/main">
            <a:off x="533400" y="5238750"/>
            <a:ext cx="5410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23 of 25 agreements renewed (92%). The £0.28m reduction in annual value represents 7% of the starting cohort. This measure excludes price changes and new scope. The earlier 94% customer-retention estimate remains undefined.</a:t>
            </a:r>
          </a:p>
        </p:txBody>
      </p:sp>
      <p:sp>
        <p:nvSpPr>
          <p:cNvPr id="11" name="s3-concentration-head">
            <a:extLst xmlns:a="http://schemas.openxmlformats.org/drawingml/2006/main">
              <a:ext uri="{FF2B5EF4-FFF2-40B4-BE49-F238E27FC236}">
                <a16:creationId xmlns:a16="http://schemas.microsoft.com/office/drawing/2014/main" id="{17E4D047-F75F-4BB8-B931-E31F29AAF96C}"/>
              </a:ext>
            </a:extLst>
          </p:cNvPr>
          <p:cNvSpPr>
            <a:spLocks xmlns:a="http://schemas.openxmlformats.org/drawingml/2006/main" noGrp="1"/>
          </p:cNvSpPr>
          <p:nvPr/>
        </p:nvSpPr>
        <p:spPr>
          <a:xfrm xmlns:a="http://schemas.openxmlformats.org/drawingml/2006/main">
            <a:off x="6248400" y="4924425"/>
            <a:ext cx="541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Concentration and positioning</a:t>
            </a:r>
          </a:p>
        </p:txBody>
      </p:sp>
      <p:sp>
        <p:nvSpPr>
          <p:cNvPr id="12" name="s3-concentration">
            <a:extLst xmlns:a="http://schemas.openxmlformats.org/drawingml/2006/main">
              <a:ext uri="{FF2B5EF4-FFF2-40B4-BE49-F238E27FC236}">
                <a16:creationId xmlns:a16="http://schemas.microsoft.com/office/drawing/2014/main" id="{706F09A0-B828-459D-A59F-E2D8BB7C9D76}"/>
              </a:ext>
            </a:extLst>
          </p:cNvPr>
          <p:cNvSpPr>
            <a:spLocks xmlns:a="http://schemas.openxmlformats.org/drawingml/2006/main" noGrp="1"/>
          </p:cNvSpPr>
          <p:nvPr/>
        </p:nvSpPr>
        <p:spPr>
          <a:xfrm xmlns:a="http://schemas.openxmlformats.org/drawingml/2006/main">
            <a:off x="6248400" y="5238750"/>
            <a:ext cx="5410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top five customers account for 42% of revenue. Logistics and manufacturing account for £20.0m combined. The information supplied does not substantiate market share, a leadership position or the size of the addressable market.</a:t>
            </a:r>
          </a:p>
        </p:txBody>
      </p:sp>
    </p:spTree>
    <p:extLst>
      <p:ext uri="{BB962C8B-B14F-4D97-AF65-F5344CB8AC3E}">
        <p14:creationId xmlns:p14="http://schemas.microsoft.com/office/powerpoint/2010/main" val="2577749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4-section">
            <a:extLst xmlns:a="http://schemas.openxmlformats.org/drawingml/2006/main">
              <a:ext uri="{FF2B5EF4-FFF2-40B4-BE49-F238E27FC236}">
                <a16:creationId xmlns:a16="http://schemas.microsoft.com/office/drawing/2014/main" id="{0267136F-EEB9-4F63-B8D7-075EB57A07F2}"/>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BUSINESS OVERVIEW</a:t>
            </a:r>
          </a:p>
        </p:txBody>
      </p:sp>
      <p:sp>
        <p:nvSpPr>
          <p:cNvPr id="2" name="s4-title">
            <a:extLst xmlns:a="http://schemas.openxmlformats.org/drawingml/2006/main">
              <a:ext uri="{FF2B5EF4-FFF2-40B4-BE49-F238E27FC236}">
                <a16:creationId xmlns:a16="http://schemas.microsoft.com/office/drawing/2014/main" id="{7D485636-39D7-4DDF-B54A-B0C39C685326}"/>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Service portfolio and customer sectors</a:t>
            </a:r>
          </a:p>
        </p:txBody>
      </p:sp>
      <p:sp>
        <p:nvSpPr>
          <p:cNvPr id="3" name="s4-header-rule">
            <a:extLst xmlns:a="http://schemas.openxmlformats.org/drawingml/2006/main">
              <a:ext uri="{FF2B5EF4-FFF2-40B4-BE49-F238E27FC236}">
                <a16:creationId xmlns:a16="http://schemas.microsoft.com/office/drawing/2014/main" id="{1E120679-B908-42A7-8CC8-BB3DD9181494}"/>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4-source">
            <a:extLst xmlns:a="http://schemas.openxmlformats.org/drawingml/2006/main">
              <a:ext uri="{FF2B5EF4-FFF2-40B4-BE49-F238E27FC236}">
                <a16:creationId xmlns:a16="http://schemas.microsoft.com/office/drawing/2014/main" id="{30B6EE25-DFA3-49B7-B1E4-2F79C33E6582}"/>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02 model, ServiceMix!A5:C7; 05 commercial interview; 12 sector mix; 04 CFO units confirmation.</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FY2025 provisional management actuals. Service figures converted from GBP thousand to GBP million.</a:t>
            </a:r>
          </a:p>
        </p:txBody>
      </p:sp>
      <p:sp>
        <p:nvSpPr>
          <p:cNvPr id="5" name="s4-footer-rule">
            <a:extLst xmlns:a="http://schemas.openxmlformats.org/drawingml/2006/main">
              <a:ext uri="{FF2B5EF4-FFF2-40B4-BE49-F238E27FC236}">
                <a16:creationId xmlns:a16="http://schemas.microsoft.com/office/drawing/2014/main" id="{3AE658AE-C0EC-478B-9517-539847F7DBA2}"/>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4-footer">
            <a:extLst xmlns:a="http://schemas.openxmlformats.org/drawingml/2006/main">
              <a:ext uri="{FF2B5EF4-FFF2-40B4-BE49-F238E27FC236}">
                <a16:creationId xmlns:a16="http://schemas.microsoft.com/office/drawing/2014/main" id="{5FE82349-39FB-475D-9F37-F18325E53F67}"/>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4-number">
            <a:extLst xmlns:a="http://schemas.openxmlformats.org/drawingml/2006/main">
              <a:ext uri="{FF2B5EF4-FFF2-40B4-BE49-F238E27FC236}">
                <a16:creationId xmlns:a16="http://schemas.microsoft.com/office/drawing/2014/main" id="{8BA9B6F5-2DF8-4D8B-AFBD-A9EAE2EA1C49}"/>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4</a:t>
            </a:r>
          </a:p>
        </p:txBody>
      </p:sp>
      <p:graphicFrame>
        <p:nvGraphicFramePr>
          <p:cNvPr id="8" name="">
            <a:extLst xmlns:a="http://schemas.openxmlformats.org/drawingml/2006/main">
              <a:ext uri="{FF2B5EF4-FFF2-40B4-BE49-F238E27FC236}">
                <a16:creationId xmlns:a16="http://schemas.microsoft.com/office/drawing/2014/main" id="{F06D6518-C984-4396-86E9-13C23C41CE6B}"/>
              </a:ext>
            </a:extLst>
          </p:cNvPr>
          <p:cNvGraphicFramePr/>
          <p:nvPr/>
        </p:nvGraphicFramePr>
        <p:xfrm>
          <a:off xmlns:a="http://schemas.openxmlformats.org/drawingml/2006/main" x="533400" y="1095375"/>
          <a:ext xmlns:a="http://schemas.openxmlformats.org/drawingml/2006/main" cx="11125200" cy="2352675"/>
        </p:xfrm>
        <a:graphic xmlns:a="http://schemas.openxmlformats.org/drawingml/2006/main">
          <a:graphicData uri="http://schemas.openxmlformats.org/drawingml/2006/table">
            <a:tbl>
              <a:tblPr/>
              <a:tblGrid>
                <a:gridCol w="1979908"/>
                <a:gridCol w="659969"/>
                <a:gridCol w="659969"/>
                <a:gridCol w="3771254"/>
                <a:gridCol w="4054098"/>
              </a:tblGrid>
              <a:tr h="358978">
                <a:tc>
                  <a:txBody>
                    <a:bodyPr lIns="95250" tIns="47625" rIns="95250" bIns="47625">
                      <a:noAutofit/>
                    </a:bodyPr>
                    <a:lstStyle/>
                    <a:p>
                      <a:pPr algn="l"/>
                      <a:r>
                        <a:rPr sz="1200" b="1">
                          <a:solidFill>
                            <a:srgbClr val="FFFFFF"/>
                          </a:solidFill>
                          <a:latin typeface="Arial"/>
                          <a:ea typeface="Arial"/>
                          <a:cs typeface="Arial"/>
                        </a:rPr>
                        <a:t>Service</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£m</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Share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Scope and pricing</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Commercial characteristics</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544906">
                <a:tc>
                  <a:txBody>
                    <a:bodyPr lIns="95250" tIns="47625" rIns="95250" bIns="47625">
                      <a:noAutofit/>
                    </a:bodyPr>
                    <a:lstStyle/>
                    <a:p>
                      <a:pPr algn="l"/>
                      <a:r>
                        <a:rPr sz="1200" b="0">
                          <a:solidFill>
                            <a:srgbClr val="000000"/>
                          </a:solidFill>
                          <a:latin typeface="Arial"/>
                          <a:ea typeface="Arial"/>
                          <a:cs typeface="Arial"/>
                        </a:rPr>
                        <a:t>Scheduled maintenance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17.5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70%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Planned inspections and preventive servicing, with scheduled visits and an annual fee.</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One-to-three-year agreements. Renewal and price reviews depend on terms and customer acceptance.</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544906">
                <a:tc>
                  <a:txBody>
                    <a:bodyPr lIns="95250" tIns="47625" rIns="95250" bIns="47625">
                      <a:noAutofit/>
                    </a:bodyPr>
                    <a:lstStyle/>
                    <a:p>
                      <a:pPr algn="l"/>
                      <a:r>
                        <a:rPr sz="1200" b="0">
                          <a:solidFill>
                            <a:srgbClr val="000000"/>
                          </a:solidFill>
                          <a:latin typeface="Arial"/>
                          <a:ea typeface="Arial"/>
                          <a:cs typeface="Arial"/>
                        </a:rPr>
                        <a:t>Reactive repairs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5.0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Call-out, labour and materials charges for reactive equipment support.</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Management plans to convert repair customers to maintenance agreements. Conversion is assumed.</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544906">
                <a:tc>
                  <a:txBody>
                    <a:bodyPr lIns="95250" tIns="47625" rIns="95250" bIns="47625">
                      <a:noAutofit/>
                    </a:bodyPr>
                    <a:lstStyle/>
                    <a:p>
                      <a:pPr algn="l"/>
                      <a:r>
                        <a:rPr sz="1200" b="0">
                          <a:solidFill>
                            <a:srgbClr val="000000"/>
                          </a:solidFill>
                          <a:latin typeface="Arial"/>
                          <a:ea typeface="Arial"/>
                          <a:cs typeface="Arial"/>
                        </a:rPr>
                        <a:t>Installation projects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Separately agreed project scope and price.</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Project-specific timing and scope. No project backlog schedule supplied.</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58978">
                <a:tc>
                  <a:txBody>
                    <a:bodyPr lIns="95250" tIns="47625" rIns="95250" bIns="47625">
                      <a:noAutofit/>
                    </a:bodyPr>
                    <a:lstStyle/>
                    <a:p>
                      <a:pPr algn="l"/>
                      <a:r>
                        <a:rPr sz="1200" b="1">
                          <a:solidFill>
                            <a:srgbClr val="000000"/>
                          </a:solidFill>
                          <a:latin typeface="Arial"/>
                          <a:ea typeface="Arial"/>
                          <a:cs typeface="Arial"/>
                        </a:rPr>
                        <a:t>Total</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25.0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100%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1">
                          <a:solidFill>
                            <a:srgbClr val="000000"/>
                          </a:solidFill>
                          <a:latin typeface="Arial"/>
                          <a:ea typeface="Arial"/>
                          <a:cs typeface="Arial"/>
                        </a:rPr>
                        <a:t>Recognised revenue for the same UK company.</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1">
                          <a:solidFill>
                            <a:srgbClr val="000000"/>
                          </a:solidFill>
                          <a:latin typeface="Arial"/>
                          <a:ea typeface="Arial"/>
                          <a:cs typeface="Arial"/>
                        </a:rPr>
                        <a:t>Excludes VAT. Agrees to the provisional model.</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9" name="s4-sector-head">
            <a:extLst xmlns:a="http://schemas.openxmlformats.org/drawingml/2006/main">
              <a:ext uri="{FF2B5EF4-FFF2-40B4-BE49-F238E27FC236}">
                <a16:creationId xmlns:a16="http://schemas.microsoft.com/office/drawing/2014/main" id="{4A192E17-090B-41BF-957A-830362061AFF}"/>
              </a:ext>
            </a:extLst>
          </p:cNvPr>
          <p:cNvSpPr>
            <a:spLocks xmlns:a="http://schemas.openxmlformats.org/drawingml/2006/main" noGrp="1"/>
          </p:cNvSpPr>
          <p:nvPr/>
        </p:nvSpPr>
        <p:spPr>
          <a:xfrm xmlns:a="http://schemas.openxmlformats.org/drawingml/2006/main">
            <a:off x="533400" y="3629025"/>
            <a:ext cx="457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Industry revenue profile</a:t>
            </a:r>
          </a:p>
        </p:txBody>
      </p:sp>
      <p:graphicFrame>
        <p:nvGraphicFramePr>
          <p:cNvPr id="10" name="">
            <a:extLst xmlns:a="http://schemas.openxmlformats.org/drawingml/2006/main">
              <a:ext uri="{FF2B5EF4-FFF2-40B4-BE49-F238E27FC236}">
                <a16:creationId xmlns:a16="http://schemas.microsoft.com/office/drawing/2014/main" id="{56EF494B-B059-4658-BC14-C5FB501A6718}"/>
              </a:ext>
            </a:extLst>
          </p:cNvPr>
          <p:cNvGraphicFramePr/>
          <p:nvPr/>
        </p:nvGraphicFramePr>
        <p:xfrm>
          <a:off xmlns:a="http://schemas.openxmlformats.org/drawingml/2006/main" x="533400" y="3943350"/>
          <a:ext xmlns:a="http://schemas.openxmlformats.org/drawingml/2006/main" cx="4572000" cy="1438275"/>
        </p:xfrm>
        <a:graphic xmlns:a="http://schemas.openxmlformats.org/drawingml/2006/main">
          <a:graphicData uri="http://schemas.openxmlformats.org/drawingml/2006/table">
            <a:tbl>
              <a:tblPr/>
              <a:tblGrid>
                <a:gridCol w="2779059"/>
                <a:gridCol w="896471"/>
                <a:gridCol w="896471"/>
              </a:tblGrid>
              <a:tr h="359569">
                <a:tc>
                  <a:txBody>
                    <a:bodyPr lIns="95250" tIns="47625" rIns="95250" bIns="47625">
                      <a:noAutofit/>
                    </a:bodyPr>
                    <a:lstStyle/>
                    <a:p>
                      <a:pPr algn="l"/>
                      <a:r>
                        <a:rPr sz="1200" b="1">
                          <a:solidFill>
                            <a:srgbClr val="FFFFFF"/>
                          </a:solidFill>
                          <a:latin typeface="Arial"/>
                          <a:ea typeface="Arial"/>
                          <a:cs typeface="Arial"/>
                        </a:rPr>
                        <a:t>Customer sector</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£m</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Share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59569">
                <a:tc>
                  <a:txBody>
                    <a:bodyPr lIns="95250" tIns="47625" rIns="95250" bIns="47625">
                      <a:noAutofit/>
                    </a:bodyPr>
                    <a:lstStyle/>
                    <a:p>
                      <a:pPr algn="l"/>
                      <a:r>
                        <a:rPr sz="1200" b="0">
                          <a:solidFill>
                            <a:srgbClr val="000000"/>
                          </a:solidFill>
                          <a:latin typeface="Arial"/>
                          <a:ea typeface="Arial"/>
                          <a:cs typeface="Arial"/>
                        </a:rPr>
                        <a:t>Logistics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11.25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45%</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59569">
                <a:tc>
                  <a:txBody>
                    <a:bodyPr lIns="95250" tIns="47625" rIns="95250" bIns="47625">
                      <a:noAutofit/>
                    </a:bodyPr>
                    <a:lstStyle/>
                    <a:p>
                      <a:pPr algn="l"/>
                      <a:r>
                        <a:rPr sz="1200" b="0">
                          <a:solidFill>
                            <a:srgbClr val="000000"/>
                          </a:solidFill>
                          <a:latin typeface="Arial"/>
                          <a:ea typeface="Arial"/>
                          <a:cs typeface="Arial"/>
                        </a:rPr>
                        <a:t>Manufacturing</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8.75</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35%</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59569">
                <a:tc>
                  <a:txBody>
                    <a:bodyPr lIns="95250" tIns="47625" rIns="95250" bIns="47625">
                      <a:noAutofit/>
                    </a:bodyPr>
                    <a:lstStyle/>
                    <a:p>
                      <a:pPr algn="l"/>
                      <a:r>
                        <a:rPr sz="1200" b="0">
                          <a:solidFill>
                            <a:srgbClr val="000000"/>
                          </a:solidFill>
                          <a:latin typeface="Arial"/>
                          <a:ea typeface="Arial"/>
                          <a:cs typeface="Arial"/>
                        </a:rPr>
                        <a:t>Facilities management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5.00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11" name="s4-sector-comment">
            <a:extLst xmlns:a="http://schemas.openxmlformats.org/drawingml/2006/main">
              <a:ext uri="{FF2B5EF4-FFF2-40B4-BE49-F238E27FC236}">
                <a16:creationId xmlns:a16="http://schemas.microsoft.com/office/drawing/2014/main" id="{311F0777-A5AD-47EE-A0D3-8A1F911867D9}"/>
              </a:ext>
            </a:extLst>
          </p:cNvPr>
          <p:cNvSpPr>
            <a:spLocks xmlns:a="http://schemas.openxmlformats.org/drawingml/2006/main" noGrp="1"/>
          </p:cNvSpPr>
          <p:nvPr/>
        </p:nvSpPr>
        <p:spPr>
          <a:xfrm xmlns:a="http://schemas.openxmlformats.org/drawingml/2006/main">
            <a:off x="533400" y="5543550"/>
            <a:ext cx="4572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Industry totals describe the current customer base. They do not establish the size of the wider market or a market-share position.</a:t>
            </a:r>
          </a:p>
        </p:txBody>
      </p:sp>
      <p:sp>
        <p:nvSpPr>
          <p:cNvPr id="12" name="s4-commercial-head">
            <a:extLst xmlns:a="http://schemas.openxmlformats.org/drawingml/2006/main">
              <a:ext uri="{FF2B5EF4-FFF2-40B4-BE49-F238E27FC236}">
                <a16:creationId xmlns:a16="http://schemas.microsoft.com/office/drawing/2014/main" id="{C1B2C0D2-EF56-47BB-9ED0-16E3C7499AE7}"/>
              </a:ext>
            </a:extLst>
          </p:cNvPr>
          <p:cNvSpPr>
            <a:spLocks xmlns:a="http://schemas.openxmlformats.org/drawingml/2006/main" noGrp="1"/>
          </p:cNvSpPr>
          <p:nvPr/>
        </p:nvSpPr>
        <p:spPr>
          <a:xfrm xmlns:a="http://schemas.openxmlformats.org/drawingml/2006/main">
            <a:off x="5410200" y="3629025"/>
            <a:ext cx="6248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Revenue durability and cross-sell</a:t>
            </a:r>
          </a:p>
        </p:txBody>
      </p:sp>
      <p:sp>
        <p:nvSpPr>
          <p:cNvPr id="13" name="s4-commercial">
            <a:extLst xmlns:a="http://schemas.openxmlformats.org/drawingml/2006/main">
              <a:ext uri="{FF2B5EF4-FFF2-40B4-BE49-F238E27FC236}">
                <a16:creationId xmlns:a16="http://schemas.microsoft.com/office/drawing/2014/main" id="{96A3F084-4A39-4CC1-BDA3-6A73B8A6E344}"/>
              </a:ext>
            </a:extLst>
          </p:cNvPr>
          <p:cNvSpPr>
            <a:spLocks xmlns:a="http://schemas.openxmlformats.org/drawingml/2006/main" noGrp="1"/>
          </p:cNvSpPr>
          <p:nvPr/>
        </p:nvSpPr>
        <p:spPr>
          <a:xfrm xmlns:a="http://schemas.openxmlformats.org/drawingml/2006/main">
            <a:off x="5410200" y="3943350"/>
            <a:ext cx="62484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Maintenance revenue is the value of services recognised during FY2025. Neither its 70% share nor the current agreement term establishes guaranteed future revenue. Contract expiry, visit scope and renewal terms determine the relevant commercial exposure.</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Management’s FY2026 bridge includes £1.6m of cross-sell and £1.0m of pricing. The interview identifies repair customers as a route to additional maintenance agreements, but no customer-level conversion schedule links these assumptions to specific accounts.</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Sector and service schedules are separate views of the same £25.0m revenue. A combined service-by-sector matrix has not been supplied, so the data cannot show which industries generate each service line.</a:t>
            </a:r>
          </a:p>
        </p:txBody>
      </p:sp>
    </p:spTree>
    <p:extLst>
      <p:ext uri="{BB962C8B-B14F-4D97-AF65-F5344CB8AC3E}">
        <p14:creationId xmlns:p14="http://schemas.microsoft.com/office/powerpoint/2010/main" val="9236963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5-section">
            <a:extLst xmlns:a="http://schemas.openxmlformats.org/drawingml/2006/main">
              <a:ext uri="{FF2B5EF4-FFF2-40B4-BE49-F238E27FC236}">
                <a16:creationId xmlns:a16="http://schemas.microsoft.com/office/drawing/2014/main" id="{6ED8CE06-F3A8-4D4B-8D0A-70DAABB39AE7}"/>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CUSTOMER QUALITY</a:t>
            </a:r>
          </a:p>
        </p:txBody>
      </p:sp>
      <p:sp>
        <p:nvSpPr>
          <p:cNvPr id="2" name="s5-title">
            <a:extLst xmlns:a="http://schemas.openxmlformats.org/drawingml/2006/main">
              <a:ext uri="{FF2B5EF4-FFF2-40B4-BE49-F238E27FC236}">
                <a16:creationId xmlns:a16="http://schemas.microsoft.com/office/drawing/2014/main" id="{3D87DB51-B868-44FF-BB92-96E6EB3A6BF1}"/>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Customer exposure, expiry profile and renewals</a:t>
            </a:r>
          </a:p>
        </p:txBody>
      </p:sp>
      <p:sp>
        <p:nvSpPr>
          <p:cNvPr id="3" name="s5-header-rule">
            <a:extLst xmlns:a="http://schemas.openxmlformats.org/drawingml/2006/main">
              <a:ext uri="{FF2B5EF4-FFF2-40B4-BE49-F238E27FC236}">
                <a16:creationId xmlns:a16="http://schemas.microsoft.com/office/drawing/2014/main" id="{AE7887C8-0859-4184-BC50-7DB03D7DFA74}"/>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5-source">
            <a:extLst xmlns:a="http://schemas.openxmlformats.org/drawingml/2006/main">
              <a:ext uri="{FF2B5EF4-FFF2-40B4-BE49-F238E27FC236}">
                <a16:creationId xmlns:a16="http://schemas.microsoft.com/office/drawing/2014/main" id="{4653FD33-EC0B-4EF7-8C08-689625660BA7}"/>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02 model, CustomerSales!A5:C10; 05 commercial interview; 08 contract expiries.</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Expiry cohorts allocate FY2025 maintenance revenue, not future backlog. Renewal measures cover agreements due in FY2025.</a:t>
            </a:r>
          </a:p>
        </p:txBody>
      </p:sp>
      <p:sp>
        <p:nvSpPr>
          <p:cNvPr id="5" name="s5-footer-rule">
            <a:extLst xmlns:a="http://schemas.openxmlformats.org/drawingml/2006/main">
              <a:ext uri="{FF2B5EF4-FFF2-40B4-BE49-F238E27FC236}">
                <a16:creationId xmlns:a16="http://schemas.microsoft.com/office/drawing/2014/main" id="{9E7753CA-C0AA-4FAA-85F1-455718C0F2D6}"/>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5-footer">
            <a:extLst xmlns:a="http://schemas.openxmlformats.org/drawingml/2006/main">
              <a:ext uri="{FF2B5EF4-FFF2-40B4-BE49-F238E27FC236}">
                <a16:creationId xmlns:a16="http://schemas.microsoft.com/office/drawing/2014/main" id="{680668D4-9D8F-4CC7-8184-FDC6A141836A}"/>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5-number">
            <a:extLst xmlns:a="http://schemas.openxmlformats.org/drawingml/2006/main">
              <a:ext uri="{FF2B5EF4-FFF2-40B4-BE49-F238E27FC236}">
                <a16:creationId xmlns:a16="http://schemas.microsoft.com/office/drawing/2014/main" id="{6854C0B6-4F47-4936-A32B-7BBD67211DF7}"/>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5</a:t>
            </a:r>
          </a:p>
        </p:txBody>
      </p:sp>
      <p:sp>
        <p:nvSpPr>
          <p:cNvPr id="8" name="s5-chart-head">
            <a:extLst xmlns:a="http://schemas.openxmlformats.org/drawingml/2006/main">
              <a:ext uri="{FF2B5EF4-FFF2-40B4-BE49-F238E27FC236}">
                <a16:creationId xmlns:a16="http://schemas.microsoft.com/office/drawing/2014/main" id="{2D75B7CF-2AF7-42D3-BD64-F0887BBEA180}"/>
              </a:ext>
            </a:extLst>
          </p:cNvPr>
          <p:cNvSpPr>
            <a:spLocks xmlns:a="http://schemas.openxmlformats.org/drawingml/2006/main" noGrp="1"/>
          </p:cNvSpPr>
          <p:nvPr/>
        </p:nvSpPr>
        <p:spPr>
          <a:xfrm xmlns:a="http://schemas.openxmlformats.org/drawingml/2006/main">
            <a:off x="533400" y="1095375"/>
            <a:ext cx="521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Largest customers: FY2025 revenue share</a:t>
            </a:r>
          </a:p>
        </p:txBody>
      </p:sp>
      <p:graphicFrame>
        <p:nvGraphicFramePr>
          <p:cNvPr id="9" name="Chart">
            <a:extLst xmlns:a="http://schemas.openxmlformats.org/drawingml/2006/main">
              <a:ext uri="{FF2B5EF4-FFF2-40B4-BE49-F238E27FC236}">
                <a16:creationId xmlns:a16="http://schemas.microsoft.com/office/drawing/2014/main" id="{90D502FD-8791-47D3-B59B-7E0AFE7EFDFC}"/>
              </a:ext>
            </a:extLst>
          </p:cNvPr>
          <p:cNvGraphicFramePr/>
          <p:nvPr/>
        </p:nvGraphicFramePr>
        <p:xfrm>
          <a:off xmlns:a="http://schemas.openxmlformats.org/drawingml/2006/main" x="533400" y="1438275"/>
          <a:ext xmlns:a="http://schemas.openxmlformats.org/drawingml/2006/main" cx="5219700" cy="2019300"/>
        </p:xfrm>
        <a:graphic xmlns:a="http://schemas.openxmlformats.org/drawingml/2006/main">
          <a:graphicData uri="http://schemas.openxmlformats.org/drawingml/2006/chart">
            <c:chart xmlns:r="http://schemas.openxmlformats.org/officeDocument/2006/relationships" xmlns:c="http://schemas.openxmlformats.org/drawingml/2006/chart" r:id="R423909c747114344"/>
          </a:graphicData>
        </a:graphic>
      </p:graphicFrame>
      <p:sp>
        <p:nvSpPr>
          <p:cNvPr id="10" name="s5-exposure">
            <a:extLst xmlns:a="http://schemas.openxmlformats.org/drawingml/2006/main">
              <a:ext uri="{FF2B5EF4-FFF2-40B4-BE49-F238E27FC236}">
                <a16:creationId xmlns:a16="http://schemas.microsoft.com/office/drawing/2014/main" id="{68AE6555-64F5-424B-9D6B-6A53A48AB156}"/>
              </a:ext>
            </a:extLst>
          </p:cNvPr>
          <p:cNvSpPr>
            <a:spLocks xmlns:a="http://schemas.openxmlformats.org/drawingml/2006/main" noGrp="1"/>
          </p:cNvSpPr>
          <p:nvPr/>
        </p:nvSpPr>
        <p:spPr>
          <a:xfrm xmlns:a="http://schemas.openxmlformats.org/drawingml/2006/main">
            <a:off x="533400" y="3581400"/>
            <a:ext cx="5219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largest customer contributes £3.00m (12% of revenue). The five largest together contribute £10.50m (42%). The remaining £14.50m is an aggregate across other customers.</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Maya Reed remains the primary executive contact on major accounts. Deputy account ownership has not been documented.</a:t>
            </a:r>
          </a:p>
        </p:txBody>
      </p:sp>
      <p:sp>
        <p:nvSpPr>
          <p:cNvPr id="11" name="s5-renewal-head">
            <a:extLst xmlns:a="http://schemas.openxmlformats.org/drawingml/2006/main">
              <a:ext uri="{FF2B5EF4-FFF2-40B4-BE49-F238E27FC236}">
                <a16:creationId xmlns:a16="http://schemas.microsoft.com/office/drawing/2014/main" id="{CAD9AD75-F12D-4B68-A110-677C45AA0B10}"/>
              </a:ext>
            </a:extLst>
          </p:cNvPr>
          <p:cNvSpPr>
            <a:spLocks xmlns:a="http://schemas.openxmlformats.org/drawingml/2006/main" noGrp="1"/>
          </p:cNvSpPr>
          <p:nvPr/>
        </p:nvSpPr>
        <p:spPr>
          <a:xfrm xmlns:a="http://schemas.openxmlformats.org/drawingml/2006/main">
            <a:off x="533400" y="4781550"/>
            <a:ext cx="521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What the renewal cohort measures</a:t>
            </a:r>
          </a:p>
        </p:txBody>
      </p:sp>
      <p:sp>
        <p:nvSpPr>
          <p:cNvPr id="12" name="s5-renewal">
            <a:extLst xmlns:a="http://schemas.openxmlformats.org/drawingml/2006/main">
              <a:ext uri="{FF2B5EF4-FFF2-40B4-BE49-F238E27FC236}">
                <a16:creationId xmlns:a16="http://schemas.microsoft.com/office/drawing/2014/main" id="{D7037009-6BF1-4A80-8610-7274F0AF0DD9}"/>
              </a:ext>
            </a:extLst>
          </p:cNvPr>
          <p:cNvSpPr>
            <a:spLocks xmlns:a="http://schemas.openxmlformats.org/drawingml/2006/main" noGrp="1"/>
          </p:cNvSpPr>
          <p:nvPr/>
        </p:nvSpPr>
        <p:spPr>
          <a:xfrm xmlns:a="http://schemas.openxmlformats.org/drawingml/2006/main">
            <a:off x="533400" y="5095875"/>
            <a:ext cx="5219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23 of 25 agreements renewed (92%). Retained annual value was £3.72m / £4.00m (93%), excluding price and scope changes. The difference is £0.28m.</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An agreement cohort may contain multiple contracts per customer. It cannot validate the earlier undefined 94% customer-retention estimate.</a:t>
            </a:r>
          </a:p>
        </p:txBody>
      </p:sp>
      <p:sp>
        <p:nvSpPr>
          <p:cNvPr id="13" name="s5-expiry-head">
            <a:extLst xmlns:a="http://schemas.openxmlformats.org/drawingml/2006/main">
              <a:ext uri="{FF2B5EF4-FFF2-40B4-BE49-F238E27FC236}">
                <a16:creationId xmlns:a16="http://schemas.microsoft.com/office/drawing/2014/main" id="{13C9CA07-7EA7-467C-8618-FB4B63E3FF02}"/>
              </a:ext>
            </a:extLst>
          </p:cNvPr>
          <p:cNvSpPr>
            <a:spLocks xmlns:a="http://schemas.openxmlformats.org/drawingml/2006/main" noGrp="1"/>
          </p:cNvSpPr>
          <p:nvPr/>
        </p:nvSpPr>
        <p:spPr>
          <a:xfrm xmlns:a="http://schemas.openxmlformats.org/drawingml/2006/main">
            <a:off x="6057900" y="1095375"/>
            <a:ext cx="560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Maintenance agreements by expiry year</a:t>
            </a:r>
          </a:p>
        </p:txBody>
      </p:sp>
      <p:graphicFrame>
        <p:nvGraphicFramePr>
          <p:cNvPr id="14" name="">
            <a:extLst xmlns:a="http://schemas.openxmlformats.org/drawingml/2006/main">
              <a:ext uri="{FF2B5EF4-FFF2-40B4-BE49-F238E27FC236}">
                <a16:creationId xmlns:a16="http://schemas.microsoft.com/office/drawing/2014/main" id="{B2DA4821-F5A6-4CEF-9B40-DC8DB59B659D}"/>
              </a:ext>
            </a:extLst>
          </p:cNvPr>
          <p:cNvGraphicFramePr/>
          <p:nvPr/>
        </p:nvGraphicFramePr>
        <p:xfrm>
          <a:off xmlns:a="http://schemas.openxmlformats.org/drawingml/2006/main" x="6057900" y="1438275"/>
          <a:ext xmlns:a="http://schemas.openxmlformats.org/drawingml/2006/main" cx="5600700" cy="1514475"/>
        </p:xfrm>
        <a:graphic xmlns:a="http://schemas.openxmlformats.org/drawingml/2006/main">
          <a:graphicData uri="http://schemas.openxmlformats.org/drawingml/2006/table">
            <a:tbl>
              <a:tblPr/>
              <a:tblGrid>
                <a:gridCol w="1670384"/>
                <a:gridCol w="1277353"/>
                <a:gridCol w="2652963"/>
              </a:tblGrid>
              <a:tr h="378619">
                <a:tc>
                  <a:txBody>
                    <a:bodyPr lIns="95250" tIns="47625" rIns="95250" bIns="47625">
                      <a:noAutofit/>
                    </a:bodyPr>
                    <a:lstStyle/>
                    <a:p>
                      <a:pPr algn="l"/>
                      <a:r>
                        <a:rPr sz="1200" b="1">
                          <a:solidFill>
                            <a:srgbClr val="FFFFFF"/>
                          </a:solidFill>
                          <a:latin typeface="Arial"/>
                          <a:ea typeface="Arial"/>
                          <a:cs typeface="Arial"/>
                        </a:rPr>
                        <a:t>Expiry year</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FY2025 £m</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Maintenance share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78619">
                <a:tc>
                  <a:txBody>
                    <a:bodyPr lIns="95250" tIns="47625" rIns="95250" bIns="47625">
                      <a:noAutofit/>
                    </a:bodyPr>
                    <a:lstStyle/>
                    <a:p>
                      <a:pPr algn="l"/>
                      <a:r>
                        <a:rPr sz="1200" b="0">
                          <a:solidFill>
                            <a:srgbClr val="000000"/>
                          </a:solidFill>
                          <a:latin typeface="Arial"/>
                          <a:ea typeface="Arial"/>
                          <a:cs typeface="Arial"/>
                        </a:rPr>
                        <a:t>2026</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6.0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34.3%</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78619">
                <a:tc>
                  <a:txBody>
                    <a:bodyPr lIns="95250" tIns="47625" rIns="95250" bIns="47625">
                      <a:noAutofit/>
                    </a:bodyPr>
                    <a:lstStyle/>
                    <a:p>
                      <a:pPr algn="l"/>
                      <a:r>
                        <a:rPr sz="1200" b="0">
                          <a:solidFill>
                            <a:srgbClr val="000000"/>
                          </a:solidFill>
                          <a:latin typeface="Arial"/>
                          <a:ea typeface="Arial"/>
                          <a:cs typeface="Arial"/>
                        </a:rPr>
                        <a:t>2027</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7.5</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42.9%</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78619">
                <a:tc>
                  <a:txBody>
                    <a:bodyPr lIns="95250" tIns="47625" rIns="95250" bIns="47625">
                      <a:noAutofit/>
                    </a:bodyPr>
                    <a:lstStyle/>
                    <a:p>
                      <a:pPr algn="l"/>
                      <a:r>
                        <a:rPr sz="1200" b="0">
                          <a:solidFill>
                            <a:srgbClr val="000000"/>
                          </a:solidFill>
                          <a:latin typeface="Arial"/>
                          <a:ea typeface="Arial"/>
                          <a:cs typeface="Arial"/>
                        </a:rPr>
                        <a:t>2028</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22.9%</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15" name="s5-expiry-comment">
            <a:extLst xmlns:a="http://schemas.openxmlformats.org/drawingml/2006/main">
              <a:ext uri="{FF2B5EF4-FFF2-40B4-BE49-F238E27FC236}">
                <a16:creationId xmlns:a16="http://schemas.microsoft.com/office/drawing/2014/main" id="{24858718-E95D-4360-AFDC-3D49FC29991F}"/>
              </a:ext>
            </a:extLst>
          </p:cNvPr>
          <p:cNvSpPr>
            <a:spLocks xmlns:a="http://schemas.openxmlformats.org/drawingml/2006/main" noGrp="1"/>
          </p:cNvSpPr>
          <p:nvPr/>
        </p:nvSpPr>
        <p:spPr>
          <a:xfrm xmlns:a="http://schemas.openxmlformats.org/drawingml/2006/main">
            <a:off x="6057900" y="3114675"/>
            <a:ext cx="5600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Agreements expiring in 2026 account for £6.0m of FY2025 revenue, equivalent to 24% of total company revenue. This is the amount associated with the expiry cohort, rather than an estimate of revenue loss.</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schedule does not establish signed future revenue, renewal timing or the amount already renegotiated.</a:t>
            </a:r>
          </a:p>
        </p:txBody>
      </p:sp>
      <p:sp>
        <p:nvSpPr>
          <p:cNvPr id="16" name="s5-review-head">
            <a:extLst xmlns:a="http://schemas.openxmlformats.org/drawingml/2006/main">
              <a:ext uri="{FF2B5EF4-FFF2-40B4-BE49-F238E27FC236}">
                <a16:creationId xmlns:a16="http://schemas.microsoft.com/office/drawing/2014/main" id="{E4C59289-39CE-4452-8E75-1D7A9789516C}"/>
              </a:ext>
            </a:extLst>
          </p:cNvPr>
          <p:cNvSpPr>
            <a:spLocks xmlns:a="http://schemas.openxmlformats.org/drawingml/2006/main" noGrp="1"/>
          </p:cNvSpPr>
          <p:nvPr/>
        </p:nvSpPr>
        <p:spPr>
          <a:xfrm xmlns:a="http://schemas.openxmlformats.org/drawingml/2006/main">
            <a:off x="6057900" y="4324350"/>
            <a:ext cx="560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Contract review priorities</a:t>
            </a:r>
          </a:p>
        </p:txBody>
      </p:sp>
      <p:sp>
        <p:nvSpPr>
          <p:cNvPr id="17" name="s5-review">
            <a:extLst xmlns:a="http://schemas.openxmlformats.org/drawingml/2006/main">
              <a:ext uri="{FF2B5EF4-FFF2-40B4-BE49-F238E27FC236}">
                <a16:creationId xmlns:a16="http://schemas.microsoft.com/office/drawing/2014/main" id="{52DA8260-441F-4B0C-AE7A-28F0E1F74816}"/>
              </a:ext>
            </a:extLst>
          </p:cNvPr>
          <p:cNvSpPr>
            <a:spLocks xmlns:a="http://schemas.openxmlformats.org/drawingml/2006/main" noGrp="1"/>
          </p:cNvSpPr>
          <p:nvPr/>
        </p:nvSpPr>
        <p:spPr>
          <a:xfrm xmlns:a="http://schemas.openxmlformats.org/drawingml/2006/main">
            <a:off x="6057900" y="4638675"/>
            <a:ext cx="5600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Commercial review needs to link each expiry to its customer, service scope and renewal status, then test pricing clauses and termination rights against the signed agreement.</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Review of change-of-control provisions is also required for the proposed sale. No conclusion on transferability or consent requirements is available. The supplied concentration schedule and expiry schedule do not identify which major accounts sit in the 2026 expiry cohort.</a:t>
            </a:r>
          </a:p>
        </p:txBody>
      </p:sp>
    </p:spTree>
    <p:extLst>
      <p:ext uri="{BB962C8B-B14F-4D97-AF65-F5344CB8AC3E}">
        <p14:creationId xmlns:p14="http://schemas.microsoft.com/office/powerpoint/2010/main" val="19173984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6-section">
            <a:extLst xmlns:a="http://schemas.openxmlformats.org/drawingml/2006/main">
              <a:ext uri="{FF2B5EF4-FFF2-40B4-BE49-F238E27FC236}">
                <a16:creationId xmlns:a16="http://schemas.microsoft.com/office/drawing/2014/main" id="{1C1DC5D1-9418-44D8-A5A8-443C7ED7BDBF}"/>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OPERATIONS</a:t>
            </a:r>
          </a:p>
        </p:txBody>
      </p:sp>
      <p:sp>
        <p:nvSpPr>
          <p:cNvPr id="2" name="s6-title">
            <a:extLst xmlns:a="http://schemas.openxmlformats.org/drawingml/2006/main">
              <a:ext uri="{FF2B5EF4-FFF2-40B4-BE49-F238E27FC236}">
                <a16:creationId xmlns:a16="http://schemas.microsoft.com/office/drawing/2014/main" id="{9CE014DF-71CC-476D-879B-6661BC523F08}"/>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Operating footprint and delivery capacity</a:t>
            </a:r>
          </a:p>
        </p:txBody>
      </p:sp>
      <p:sp>
        <p:nvSpPr>
          <p:cNvPr id="3" name="s6-header-rule">
            <a:extLst xmlns:a="http://schemas.openxmlformats.org/drawingml/2006/main">
              <a:ext uri="{FF2B5EF4-FFF2-40B4-BE49-F238E27FC236}">
                <a16:creationId xmlns:a16="http://schemas.microsoft.com/office/drawing/2014/main" id="{368DFA45-1159-4839-AD96-98F49017523D}"/>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6-source">
            <a:extLst xmlns:a="http://schemas.openxmlformats.org/drawingml/2006/main">
              <a:ext uri="{FF2B5EF4-FFF2-40B4-BE49-F238E27FC236}">
                <a16:creationId xmlns:a16="http://schemas.microsoft.com/office/drawing/2014/main" id="{EFD83C9E-619C-4063-B017-8F0A3C4F731C}"/>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01 company brief; 06 hub schedule; 07 service KPIs; 11 forecast bridge; 13 transaction workshop.</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Headcount at 31 December 2025. KPIs are management-reported FY2025 measures with defined denominators.</a:t>
            </a:r>
          </a:p>
        </p:txBody>
      </p:sp>
      <p:sp>
        <p:nvSpPr>
          <p:cNvPr id="5" name="s6-footer-rule">
            <a:extLst xmlns:a="http://schemas.openxmlformats.org/drawingml/2006/main">
              <a:ext uri="{FF2B5EF4-FFF2-40B4-BE49-F238E27FC236}">
                <a16:creationId xmlns:a16="http://schemas.microsoft.com/office/drawing/2014/main" id="{A21688C9-157E-41D9-BA74-471559E634CF}"/>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6-footer">
            <a:extLst xmlns:a="http://schemas.openxmlformats.org/drawingml/2006/main">
              <a:ext uri="{FF2B5EF4-FFF2-40B4-BE49-F238E27FC236}">
                <a16:creationId xmlns:a16="http://schemas.microsoft.com/office/drawing/2014/main" id="{73171FC2-38F2-4981-A89C-F43DC8FF8204}"/>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6-number">
            <a:extLst xmlns:a="http://schemas.openxmlformats.org/drawingml/2006/main">
              <a:ext uri="{FF2B5EF4-FFF2-40B4-BE49-F238E27FC236}">
                <a16:creationId xmlns:a16="http://schemas.microsoft.com/office/drawing/2014/main" id="{AB811806-1E85-4561-B0D5-1BF51F3A24CD}"/>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6</a:t>
            </a:r>
          </a:p>
        </p:txBody>
      </p:sp>
      <p:graphicFrame>
        <p:nvGraphicFramePr>
          <p:cNvPr id="8" name="">
            <a:extLst xmlns:a="http://schemas.openxmlformats.org/drawingml/2006/main">
              <a:ext uri="{FF2B5EF4-FFF2-40B4-BE49-F238E27FC236}">
                <a16:creationId xmlns:a16="http://schemas.microsoft.com/office/drawing/2014/main" id="{FA50F68B-0515-4BF3-B88F-718A1717A770}"/>
              </a:ext>
            </a:extLst>
          </p:cNvPr>
          <p:cNvGraphicFramePr/>
          <p:nvPr/>
        </p:nvGraphicFramePr>
        <p:xfrm>
          <a:off xmlns:a="http://schemas.openxmlformats.org/drawingml/2006/main" x="533400" y="1095375"/>
          <a:ext xmlns:a="http://schemas.openxmlformats.org/drawingml/2006/main" cx="6324600" cy="1857375"/>
        </p:xfrm>
        <a:graphic xmlns:a="http://schemas.openxmlformats.org/drawingml/2006/main">
          <a:graphicData uri="http://schemas.openxmlformats.org/drawingml/2006/table">
            <a:tbl>
              <a:tblPr/>
              <a:tblGrid>
                <a:gridCol w="1769119"/>
                <a:gridCol w="1105699"/>
                <a:gridCol w="1326839"/>
                <a:gridCol w="1061471"/>
                <a:gridCol w="1061471"/>
              </a:tblGrid>
              <a:tr h="520217">
                <a:tc>
                  <a:txBody>
                    <a:bodyPr lIns="95250" tIns="47625" rIns="95250" bIns="47625">
                      <a:noAutofit/>
                    </a:bodyPr>
                    <a:lstStyle/>
                    <a:p>
                      <a:pPr algn="l"/>
                      <a:r>
                        <a:rPr sz="1200" b="1">
                          <a:solidFill>
                            <a:srgbClr val="FFFFFF"/>
                          </a:solidFill>
                          <a:latin typeface="Arial"/>
                          <a:ea typeface="Arial"/>
                          <a:cs typeface="Arial"/>
                        </a:rPr>
                        <a:t>Hub</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Revenue £m</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Revenue share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Employees</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Engineers</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34289">
                <a:tc>
                  <a:txBody>
                    <a:bodyPr lIns="95250" tIns="47625" rIns="95250" bIns="47625">
                      <a:noAutofit/>
                    </a:bodyPr>
                    <a:lstStyle/>
                    <a:p>
                      <a:pPr algn="l"/>
                      <a:r>
                        <a:rPr sz="1200" b="0">
                          <a:solidFill>
                            <a:srgbClr val="000000"/>
                          </a:solidFill>
                          <a:latin typeface="Arial"/>
                          <a:ea typeface="Arial"/>
                          <a:cs typeface="Arial"/>
                        </a:rPr>
                        <a:t>Birmingham</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11.5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46%</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55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34289">
                <a:tc>
                  <a:txBody>
                    <a:bodyPr lIns="95250" tIns="47625" rIns="95250" bIns="47625">
                      <a:noAutofit/>
                    </a:bodyPr>
                    <a:lstStyle/>
                    <a:p>
                      <a:pPr algn="l"/>
                      <a:r>
                        <a:rPr sz="1200" b="0">
                          <a:solidFill>
                            <a:srgbClr val="000000"/>
                          </a:solidFill>
                          <a:latin typeface="Arial"/>
                          <a:ea typeface="Arial"/>
                          <a:cs typeface="Arial"/>
                        </a:rPr>
                        <a:t>Manchester</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8.0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32%</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38</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27</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34289">
                <a:tc>
                  <a:txBody>
                    <a:bodyPr lIns="95250" tIns="47625" rIns="95250" bIns="47625">
                      <a:noAutofit/>
                    </a:bodyPr>
                    <a:lstStyle/>
                    <a:p>
                      <a:pPr algn="l"/>
                      <a:r>
                        <a:rPr sz="1200" b="0">
                          <a:solidFill>
                            <a:srgbClr val="000000"/>
                          </a:solidFill>
                          <a:latin typeface="Arial"/>
                          <a:ea typeface="Arial"/>
                          <a:cs typeface="Arial"/>
                        </a:rPr>
                        <a:t>Bristol</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5.5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22%</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27</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18</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34289">
                <a:tc>
                  <a:txBody>
                    <a:bodyPr lIns="95250" tIns="47625" rIns="95250" bIns="47625">
                      <a:noAutofit/>
                    </a:bodyPr>
                    <a:lstStyle/>
                    <a:p>
                      <a:pPr algn="l"/>
                      <a:r>
                        <a:rPr sz="1200" b="1">
                          <a:solidFill>
                            <a:srgbClr val="000000"/>
                          </a:solidFill>
                          <a:latin typeface="Arial"/>
                          <a:ea typeface="Arial"/>
                          <a:cs typeface="Arial"/>
                        </a:rPr>
                        <a:t>Total</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25.0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100%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120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85</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9" name="s6-kpi-head">
            <a:extLst xmlns:a="http://schemas.openxmlformats.org/drawingml/2006/main">
              <a:ext uri="{FF2B5EF4-FFF2-40B4-BE49-F238E27FC236}">
                <a16:creationId xmlns:a16="http://schemas.microsoft.com/office/drawing/2014/main" id="{B6F7B191-FE4B-4F9C-8375-682A70E99EE6}"/>
              </a:ext>
            </a:extLst>
          </p:cNvPr>
          <p:cNvSpPr>
            <a:spLocks xmlns:a="http://schemas.openxmlformats.org/drawingml/2006/main" noGrp="1"/>
          </p:cNvSpPr>
          <p:nvPr/>
        </p:nvSpPr>
        <p:spPr>
          <a:xfrm xmlns:a="http://schemas.openxmlformats.org/drawingml/2006/main">
            <a:off x="7162800" y="1095375"/>
            <a:ext cx="449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Service KPIs and definitions</a:t>
            </a:r>
          </a:p>
        </p:txBody>
      </p:sp>
      <p:sp>
        <p:nvSpPr>
          <p:cNvPr id="10" name="s6-kpi0">
            <a:extLst xmlns:a="http://schemas.openxmlformats.org/drawingml/2006/main">
              <a:ext uri="{FF2B5EF4-FFF2-40B4-BE49-F238E27FC236}">
                <a16:creationId xmlns:a16="http://schemas.microsoft.com/office/drawing/2014/main" id="{ED4219BA-B4C6-4EAC-A809-9DB8379F14D7}"/>
              </a:ext>
            </a:extLst>
          </p:cNvPr>
          <p:cNvSpPr>
            <a:spLocks xmlns:a="http://schemas.openxmlformats.org/drawingml/2006/main" noGrp="1"/>
          </p:cNvSpPr>
          <p:nvPr/>
        </p:nvSpPr>
        <p:spPr>
          <a:xfrm xmlns:a="http://schemas.openxmlformats.org/drawingml/2006/main">
            <a:off x="7162800" y="1438275"/>
            <a:ext cx="449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338D"/>
                </a:solidFill>
                <a:latin typeface="Arial"/>
                <a:ea typeface="Arial"/>
                <a:cs typeface="Arial"/>
              </a:defRPr>
            </a:defPPr>
            <a:lvl1pPr algn="l">
              <a:defRPr sz="1350" b="1">
                <a:solidFill>
                  <a:srgbClr val="00338D"/>
                </a:solidFill>
                <a:latin typeface="Arial"/>
                <a:ea typeface="Arial"/>
                <a:cs typeface="Arial"/>
              </a:defRPr>
            </a:lvl1pPr>
            <a:lvl2pPr algn="l">
              <a:defRPr sz="1350" b="1">
                <a:solidFill>
                  <a:srgbClr val="00338D"/>
                </a:solidFill>
                <a:latin typeface="Arial"/>
                <a:ea typeface="Arial"/>
                <a:cs typeface="Arial"/>
              </a:defRPr>
            </a:lvl2pPr>
            <a:lvl3pPr algn="l">
              <a:defRPr sz="1350" b="1">
                <a:solidFill>
                  <a:srgbClr val="00338D"/>
                </a:solidFill>
                <a:latin typeface="Arial"/>
                <a:ea typeface="Arial"/>
                <a:cs typeface="Arial"/>
              </a:defRPr>
            </a:lvl3pPr>
            <a:lvl4pPr algn="l">
              <a:defRPr sz="1350" b="1">
                <a:solidFill>
                  <a:srgbClr val="00338D"/>
                </a:solidFill>
                <a:latin typeface="Arial"/>
                <a:ea typeface="Arial"/>
                <a:cs typeface="Arial"/>
              </a:defRPr>
            </a:lvl4pPr>
            <a:lvl5pPr algn="l">
              <a:defRPr sz="1350" b="1">
                <a:solidFill>
                  <a:srgbClr val="00338D"/>
                </a:solidFill>
                <a:latin typeface="Arial"/>
                <a:ea typeface="Arial"/>
                <a:cs typeface="Arial"/>
              </a:defRPr>
            </a:lvl5pPr>
            <a:lvl6pPr algn="l">
              <a:defRPr sz="1350" b="1">
                <a:solidFill>
                  <a:srgbClr val="00338D"/>
                </a:solidFill>
                <a:latin typeface="Arial"/>
                <a:ea typeface="Arial"/>
                <a:cs typeface="Arial"/>
              </a:defRPr>
            </a:lvl6pPr>
            <a:lvl7pPr algn="l">
              <a:defRPr sz="1350" b="1">
                <a:solidFill>
                  <a:srgbClr val="00338D"/>
                </a:solidFill>
                <a:latin typeface="Arial"/>
                <a:ea typeface="Arial"/>
                <a:cs typeface="Arial"/>
              </a:defRPr>
            </a:lvl7pPr>
            <a:lvl8pPr algn="l">
              <a:defRPr sz="1350" b="1">
                <a:solidFill>
                  <a:srgbClr val="00338D"/>
                </a:solidFill>
                <a:latin typeface="Arial"/>
                <a:ea typeface="Arial"/>
                <a:cs typeface="Arial"/>
              </a:defRPr>
            </a:lvl8pPr>
            <a:lvl9pPr algn="l">
              <a:defRPr sz="1350" b="1">
                <a:solidFill>
                  <a:srgbClr val="00338D"/>
                </a:solidFill>
                <a:latin typeface="Arial"/>
                <a:ea typeface="Arial"/>
                <a:cs typeface="Arial"/>
              </a:defRPr>
            </a:lvl9pPr>
          </a:lstStyle>
          <a:p xmlns:a="http://schemas.openxmlformats.org/drawingml/2006/main">
            <a:pPr algn="l">
              <a:defRPr sz="1350" b="1">
                <a:solidFill>
                  <a:srgbClr val="00338D"/>
                </a:solidFill>
                <a:latin typeface="Arial"/>
                <a:ea typeface="Arial"/>
                <a:cs typeface="Arial"/>
              </a:defRPr>
            </a:pPr>
            <a:r>
              <a:rPr sz="1350" b="1">
                <a:solidFill>
                  <a:srgbClr val="00338D"/>
                </a:solidFill>
                <a:latin typeface="Arial"/>
                <a:ea typeface="Arial"/>
                <a:cs typeface="Arial"/>
              </a:rPr>
              <a:t>Urgent response SLA: 93.5%</a:t>
            </a:r>
          </a:p>
        </p:txBody>
      </p:sp>
      <p:sp>
        <p:nvSpPr>
          <p:cNvPr id="11" name="s6-definition0">
            <a:extLst xmlns:a="http://schemas.openxmlformats.org/drawingml/2006/main">
              <a:ext uri="{FF2B5EF4-FFF2-40B4-BE49-F238E27FC236}">
                <a16:creationId xmlns:a16="http://schemas.microsoft.com/office/drawing/2014/main" id="{58C5A800-1A2E-4ED1-A466-740CF36A7212}"/>
              </a:ext>
            </a:extLst>
          </p:cNvPr>
          <p:cNvSpPr>
            <a:spLocks xmlns:a="http://schemas.openxmlformats.org/drawingml/2006/main" noGrp="1"/>
          </p:cNvSpPr>
          <p:nvPr/>
        </p:nvSpPr>
        <p:spPr>
          <a:xfrm xmlns:a="http://schemas.openxmlformats.org/drawingml/2006/main">
            <a:off x="7162800" y="171450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561 of 600 eligible urgent jobs attended within four hours.</a:t>
            </a:r>
          </a:p>
        </p:txBody>
      </p:sp>
      <p:sp>
        <p:nvSpPr>
          <p:cNvPr id="12" name="s6-kpi1">
            <a:extLst xmlns:a="http://schemas.openxmlformats.org/drawingml/2006/main">
              <a:ext uri="{FF2B5EF4-FFF2-40B4-BE49-F238E27FC236}">
                <a16:creationId xmlns:a16="http://schemas.microsoft.com/office/drawing/2014/main" id="{C011CB48-E6D8-476F-AA10-DA897DAEB333}"/>
              </a:ext>
            </a:extLst>
          </p:cNvPr>
          <p:cNvSpPr>
            <a:spLocks xmlns:a="http://schemas.openxmlformats.org/drawingml/2006/main" noGrp="1"/>
          </p:cNvSpPr>
          <p:nvPr/>
        </p:nvSpPr>
        <p:spPr>
          <a:xfrm xmlns:a="http://schemas.openxmlformats.org/drawingml/2006/main">
            <a:off x="7162800" y="2257425"/>
            <a:ext cx="449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338D"/>
                </a:solidFill>
                <a:latin typeface="Arial"/>
                <a:ea typeface="Arial"/>
                <a:cs typeface="Arial"/>
              </a:defRPr>
            </a:defPPr>
            <a:lvl1pPr algn="l">
              <a:defRPr sz="1350" b="1">
                <a:solidFill>
                  <a:srgbClr val="00338D"/>
                </a:solidFill>
                <a:latin typeface="Arial"/>
                <a:ea typeface="Arial"/>
                <a:cs typeface="Arial"/>
              </a:defRPr>
            </a:lvl1pPr>
            <a:lvl2pPr algn="l">
              <a:defRPr sz="1350" b="1">
                <a:solidFill>
                  <a:srgbClr val="00338D"/>
                </a:solidFill>
                <a:latin typeface="Arial"/>
                <a:ea typeface="Arial"/>
                <a:cs typeface="Arial"/>
              </a:defRPr>
            </a:lvl2pPr>
            <a:lvl3pPr algn="l">
              <a:defRPr sz="1350" b="1">
                <a:solidFill>
                  <a:srgbClr val="00338D"/>
                </a:solidFill>
                <a:latin typeface="Arial"/>
                <a:ea typeface="Arial"/>
                <a:cs typeface="Arial"/>
              </a:defRPr>
            </a:lvl3pPr>
            <a:lvl4pPr algn="l">
              <a:defRPr sz="1350" b="1">
                <a:solidFill>
                  <a:srgbClr val="00338D"/>
                </a:solidFill>
                <a:latin typeface="Arial"/>
                <a:ea typeface="Arial"/>
                <a:cs typeface="Arial"/>
              </a:defRPr>
            </a:lvl4pPr>
            <a:lvl5pPr algn="l">
              <a:defRPr sz="1350" b="1">
                <a:solidFill>
                  <a:srgbClr val="00338D"/>
                </a:solidFill>
                <a:latin typeface="Arial"/>
                <a:ea typeface="Arial"/>
                <a:cs typeface="Arial"/>
              </a:defRPr>
            </a:lvl5pPr>
            <a:lvl6pPr algn="l">
              <a:defRPr sz="1350" b="1">
                <a:solidFill>
                  <a:srgbClr val="00338D"/>
                </a:solidFill>
                <a:latin typeface="Arial"/>
                <a:ea typeface="Arial"/>
                <a:cs typeface="Arial"/>
              </a:defRPr>
            </a:lvl6pPr>
            <a:lvl7pPr algn="l">
              <a:defRPr sz="1350" b="1">
                <a:solidFill>
                  <a:srgbClr val="00338D"/>
                </a:solidFill>
                <a:latin typeface="Arial"/>
                <a:ea typeface="Arial"/>
                <a:cs typeface="Arial"/>
              </a:defRPr>
            </a:lvl7pPr>
            <a:lvl8pPr algn="l">
              <a:defRPr sz="1350" b="1">
                <a:solidFill>
                  <a:srgbClr val="00338D"/>
                </a:solidFill>
                <a:latin typeface="Arial"/>
                <a:ea typeface="Arial"/>
                <a:cs typeface="Arial"/>
              </a:defRPr>
            </a:lvl8pPr>
            <a:lvl9pPr algn="l">
              <a:defRPr sz="1350" b="1">
                <a:solidFill>
                  <a:srgbClr val="00338D"/>
                </a:solidFill>
                <a:latin typeface="Arial"/>
                <a:ea typeface="Arial"/>
                <a:cs typeface="Arial"/>
              </a:defRPr>
            </a:lvl9pPr>
          </a:lstStyle>
          <a:p xmlns:a="http://schemas.openxmlformats.org/drawingml/2006/main">
            <a:pPr algn="l">
              <a:defRPr sz="1350" b="1">
                <a:solidFill>
                  <a:srgbClr val="00338D"/>
                </a:solidFill>
                <a:latin typeface="Arial"/>
                <a:ea typeface="Arial"/>
                <a:cs typeface="Arial"/>
              </a:defRPr>
            </a:pPr>
            <a:r>
              <a:rPr sz="1350" b="1">
                <a:solidFill>
                  <a:srgbClr val="00338D"/>
                </a:solidFill>
                <a:latin typeface="Arial"/>
                <a:ea typeface="Arial"/>
                <a:cs typeface="Arial"/>
              </a:rPr>
              <a:t>First-time fix: 88.0%</a:t>
            </a:r>
          </a:p>
        </p:txBody>
      </p:sp>
      <p:sp>
        <p:nvSpPr>
          <p:cNvPr id="13" name="s6-definition1">
            <a:extLst xmlns:a="http://schemas.openxmlformats.org/drawingml/2006/main">
              <a:ext uri="{FF2B5EF4-FFF2-40B4-BE49-F238E27FC236}">
                <a16:creationId xmlns:a16="http://schemas.microsoft.com/office/drawing/2014/main" id="{CE263416-FA22-43F2-A245-1850D1C63048}"/>
              </a:ext>
            </a:extLst>
          </p:cNvPr>
          <p:cNvSpPr>
            <a:spLocks xmlns:a="http://schemas.openxmlformats.org/drawingml/2006/main" noGrp="1"/>
          </p:cNvSpPr>
          <p:nvPr/>
        </p:nvSpPr>
        <p:spPr>
          <a:xfrm xmlns:a="http://schemas.openxmlformats.org/drawingml/2006/main">
            <a:off x="7162800" y="253365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2,200 of 2,500 closed reactive jobs resolved on the first visit.</a:t>
            </a:r>
          </a:p>
        </p:txBody>
      </p:sp>
      <p:sp>
        <p:nvSpPr>
          <p:cNvPr id="14" name="s6-kpi2">
            <a:extLst xmlns:a="http://schemas.openxmlformats.org/drawingml/2006/main">
              <a:ext uri="{FF2B5EF4-FFF2-40B4-BE49-F238E27FC236}">
                <a16:creationId xmlns:a16="http://schemas.microsoft.com/office/drawing/2014/main" id="{2B2C9427-C1ED-437C-9362-921E558E8199}"/>
              </a:ext>
            </a:extLst>
          </p:cNvPr>
          <p:cNvSpPr>
            <a:spLocks xmlns:a="http://schemas.openxmlformats.org/drawingml/2006/main" noGrp="1"/>
          </p:cNvSpPr>
          <p:nvPr/>
        </p:nvSpPr>
        <p:spPr>
          <a:xfrm xmlns:a="http://schemas.openxmlformats.org/drawingml/2006/main">
            <a:off x="7162800" y="3076575"/>
            <a:ext cx="449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338D"/>
                </a:solidFill>
                <a:latin typeface="Arial"/>
                <a:ea typeface="Arial"/>
                <a:cs typeface="Arial"/>
              </a:defRPr>
            </a:defPPr>
            <a:lvl1pPr algn="l">
              <a:defRPr sz="1350" b="1">
                <a:solidFill>
                  <a:srgbClr val="00338D"/>
                </a:solidFill>
                <a:latin typeface="Arial"/>
                <a:ea typeface="Arial"/>
                <a:cs typeface="Arial"/>
              </a:defRPr>
            </a:lvl1pPr>
            <a:lvl2pPr algn="l">
              <a:defRPr sz="1350" b="1">
                <a:solidFill>
                  <a:srgbClr val="00338D"/>
                </a:solidFill>
                <a:latin typeface="Arial"/>
                <a:ea typeface="Arial"/>
                <a:cs typeface="Arial"/>
              </a:defRPr>
            </a:lvl2pPr>
            <a:lvl3pPr algn="l">
              <a:defRPr sz="1350" b="1">
                <a:solidFill>
                  <a:srgbClr val="00338D"/>
                </a:solidFill>
                <a:latin typeface="Arial"/>
                <a:ea typeface="Arial"/>
                <a:cs typeface="Arial"/>
              </a:defRPr>
            </a:lvl3pPr>
            <a:lvl4pPr algn="l">
              <a:defRPr sz="1350" b="1">
                <a:solidFill>
                  <a:srgbClr val="00338D"/>
                </a:solidFill>
                <a:latin typeface="Arial"/>
                <a:ea typeface="Arial"/>
                <a:cs typeface="Arial"/>
              </a:defRPr>
            </a:lvl4pPr>
            <a:lvl5pPr algn="l">
              <a:defRPr sz="1350" b="1">
                <a:solidFill>
                  <a:srgbClr val="00338D"/>
                </a:solidFill>
                <a:latin typeface="Arial"/>
                <a:ea typeface="Arial"/>
                <a:cs typeface="Arial"/>
              </a:defRPr>
            </a:lvl5pPr>
            <a:lvl6pPr algn="l">
              <a:defRPr sz="1350" b="1">
                <a:solidFill>
                  <a:srgbClr val="00338D"/>
                </a:solidFill>
                <a:latin typeface="Arial"/>
                <a:ea typeface="Arial"/>
                <a:cs typeface="Arial"/>
              </a:defRPr>
            </a:lvl6pPr>
            <a:lvl7pPr algn="l">
              <a:defRPr sz="1350" b="1">
                <a:solidFill>
                  <a:srgbClr val="00338D"/>
                </a:solidFill>
                <a:latin typeface="Arial"/>
                <a:ea typeface="Arial"/>
                <a:cs typeface="Arial"/>
              </a:defRPr>
            </a:lvl7pPr>
            <a:lvl8pPr algn="l">
              <a:defRPr sz="1350" b="1">
                <a:solidFill>
                  <a:srgbClr val="00338D"/>
                </a:solidFill>
                <a:latin typeface="Arial"/>
                <a:ea typeface="Arial"/>
                <a:cs typeface="Arial"/>
              </a:defRPr>
            </a:lvl8pPr>
            <a:lvl9pPr algn="l">
              <a:defRPr sz="1350" b="1">
                <a:solidFill>
                  <a:srgbClr val="00338D"/>
                </a:solidFill>
                <a:latin typeface="Arial"/>
                <a:ea typeface="Arial"/>
                <a:cs typeface="Arial"/>
              </a:defRPr>
            </a:lvl9pPr>
          </a:lstStyle>
          <a:p xmlns:a="http://schemas.openxmlformats.org/drawingml/2006/main">
            <a:pPr algn="l">
              <a:defRPr sz="1350" b="1">
                <a:solidFill>
                  <a:srgbClr val="00338D"/>
                </a:solidFill>
                <a:latin typeface="Arial"/>
                <a:ea typeface="Arial"/>
                <a:cs typeface="Arial"/>
              </a:defRPr>
            </a:pPr>
            <a:r>
              <a:rPr sz="1350" b="1">
                <a:solidFill>
                  <a:srgbClr val="00338D"/>
                </a:solidFill>
                <a:latin typeface="Arial"/>
                <a:ea typeface="Arial"/>
                <a:cs typeface="Arial"/>
              </a:rPr>
              <a:t>Productive hours: 74.4%</a:t>
            </a:r>
          </a:p>
        </p:txBody>
      </p:sp>
      <p:sp>
        <p:nvSpPr>
          <p:cNvPr id="15" name="s6-definition2">
            <a:extLst xmlns:a="http://schemas.openxmlformats.org/drawingml/2006/main">
              <a:ext uri="{FF2B5EF4-FFF2-40B4-BE49-F238E27FC236}">
                <a16:creationId xmlns:a16="http://schemas.microsoft.com/office/drawing/2014/main" id="{A5672620-3259-4893-B7FA-9C08DE5AD21B}"/>
              </a:ext>
            </a:extLst>
          </p:cNvPr>
          <p:cNvSpPr>
            <a:spLocks xmlns:a="http://schemas.openxmlformats.org/drawingml/2006/main" noGrp="1"/>
          </p:cNvSpPr>
          <p:nvPr/>
        </p:nvSpPr>
        <p:spPr>
          <a:xfrm xmlns:a="http://schemas.openxmlformats.org/drawingml/2006/main">
            <a:off x="7162800" y="335280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126,480 productive / 170,000 available engineer hours. Recorded hours are not billing utilisation.</a:t>
            </a:r>
          </a:p>
        </p:txBody>
      </p:sp>
      <p:sp>
        <p:nvSpPr>
          <p:cNvPr id="16" name="s6-footprint-head">
            <a:extLst xmlns:a="http://schemas.openxmlformats.org/drawingml/2006/main">
              <a:ext uri="{FF2B5EF4-FFF2-40B4-BE49-F238E27FC236}">
                <a16:creationId xmlns:a16="http://schemas.microsoft.com/office/drawing/2014/main" id="{AFDA0A82-6151-46A3-A3BA-79D98EF6E4D2}"/>
              </a:ext>
            </a:extLst>
          </p:cNvPr>
          <p:cNvSpPr>
            <a:spLocks xmlns:a="http://schemas.openxmlformats.org/drawingml/2006/main" noGrp="1"/>
          </p:cNvSpPr>
          <p:nvPr/>
        </p:nvSpPr>
        <p:spPr>
          <a:xfrm xmlns:a="http://schemas.openxmlformats.org/drawingml/2006/main">
            <a:off x="533400" y="3143250"/>
            <a:ext cx="632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Staffing and regional mix</a:t>
            </a:r>
          </a:p>
        </p:txBody>
      </p:sp>
      <p:sp>
        <p:nvSpPr>
          <p:cNvPr id="17" name="s6-footprint">
            <a:extLst xmlns:a="http://schemas.openxmlformats.org/drawingml/2006/main">
              <a:ext uri="{FF2B5EF4-FFF2-40B4-BE49-F238E27FC236}">
                <a16:creationId xmlns:a16="http://schemas.microsoft.com/office/drawing/2014/main" id="{8CE48394-312B-462A-9E3E-97264FCD3742}"/>
              </a:ext>
            </a:extLst>
          </p:cNvPr>
          <p:cNvSpPr>
            <a:spLocks xmlns:a="http://schemas.openxmlformats.org/drawingml/2006/main" noGrp="1"/>
          </p:cNvSpPr>
          <p:nvPr/>
        </p:nvSpPr>
        <p:spPr>
          <a:xfrm xmlns:a="http://schemas.openxmlformats.org/drawingml/2006/main">
            <a:off x="533400" y="3457575"/>
            <a:ext cx="632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Birmingham is the largest hub by revenue and engineers. Engineers account for 70.8% of employees. The remaining 35 roles lack a functional breakdown.</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Year-end headcount does not establish average deployed capacity or utilisation by hub.</a:t>
            </a:r>
          </a:p>
        </p:txBody>
      </p:sp>
      <p:sp>
        <p:nvSpPr>
          <p:cNvPr id="18" name="s6-management-head">
            <a:extLst xmlns:a="http://schemas.openxmlformats.org/drawingml/2006/main">
              <a:ext uri="{FF2B5EF4-FFF2-40B4-BE49-F238E27FC236}">
                <a16:creationId xmlns:a16="http://schemas.microsoft.com/office/drawing/2014/main" id="{FB90D58F-E221-4ED6-816D-2C238BBC926B}"/>
              </a:ext>
            </a:extLst>
          </p:cNvPr>
          <p:cNvSpPr>
            <a:spLocks xmlns:a="http://schemas.openxmlformats.org/drawingml/2006/main" noGrp="1"/>
          </p:cNvSpPr>
          <p:nvPr/>
        </p:nvSpPr>
        <p:spPr>
          <a:xfrm xmlns:a="http://schemas.openxmlformats.org/drawingml/2006/main">
            <a:off x="533400" y="4476750"/>
            <a:ext cx="632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Management responsibilities</a:t>
            </a:r>
          </a:p>
        </p:txBody>
      </p:sp>
      <p:graphicFrame>
        <p:nvGraphicFramePr>
          <p:cNvPr id="19" name="">
            <a:extLst xmlns:a="http://schemas.openxmlformats.org/drawingml/2006/main">
              <a:ext uri="{FF2B5EF4-FFF2-40B4-BE49-F238E27FC236}">
                <a16:creationId xmlns:a16="http://schemas.microsoft.com/office/drawing/2014/main" id="{617CCE08-1E74-4233-9DA7-5020E5088E46}"/>
              </a:ext>
            </a:extLst>
          </p:cNvPr>
          <p:cNvGraphicFramePr/>
          <p:nvPr/>
        </p:nvGraphicFramePr>
        <p:xfrm>
          <a:off xmlns:a="http://schemas.openxmlformats.org/drawingml/2006/main" x="533400" y="4791075"/>
          <a:ext xmlns:a="http://schemas.openxmlformats.org/drawingml/2006/main" cx="6324600" cy="1314450"/>
        </p:xfrm>
        <a:graphic xmlns:a="http://schemas.openxmlformats.org/drawingml/2006/main">
          <a:graphicData uri="http://schemas.openxmlformats.org/drawingml/2006/table">
            <a:tbl>
              <a:tblPr/>
              <a:tblGrid>
                <a:gridCol w="2204027"/>
                <a:gridCol w="4120573"/>
              </a:tblGrid>
              <a:tr h="328613">
                <a:tc>
                  <a:txBody>
                    <a:bodyPr lIns="95250" tIns="47625" rIns="95250" bIns="47625">
                      <a:noAutofit/>
                    </a:bodyPr>
                    <a:lstStyle/>
                    <a:p>
                      <a:pPr algn="l"/>
                      <a:r>
                        <a:rPr sz="1200" b="1">
                          <a:solidFill>
                            <a:srgbClr val="FFFFFF"/>
                          </a:solidFill>
                          <a:latin typeface="Arial"/>
                          <a:ea typeface="Arial"/>
                          <a:cs typeface="Arial"/>
                        </a:rPr>
                        <a:t>Executive</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Current responsibility</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28613">
                <a:tc>
                  <a:txBody>
                    <a:bodyPr lIns="95250" tIns="47625" rIns="95250" bIns="47625">
                      <a:noAutofit/>
                    </a:bodyPr>
                    <a:lstStyle/>
                    <a:p>
                      <a:pPr algn="l"/>
                      <a:r>
                        <a:rPr sz="1200" b="0">
                          <a:solidFill>
                            <a:srgbClr val="000000"/>
                          </a:solidFill>
                          <a:latin typeface="Arial"/>
                          <a:ea typeface="Arial"/>
                          <a:cs typeface="Arial"/>
                        </a:rPr>
                        <a:t>Maya Reed, CEO</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Key accounts and pipeline evidence</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8613">
                <a:tc>
                  <a:txBody>
                    <a:bodyPr lIns="95250" tIns="47625" rIns="95250" bIns="47625">
                      <a:noAutofit/>
                    </a:bodyPr>
                    <a:lstStyle/>
                    <a:p>
                      <a:pPr algn="l"/>
                      <a:r>
                        <a:rPr sz="1200" b="0">
                          <a:solidFill>
                            <a:srgbClr val="000000"/>
                          </a:solidFill>
                          <a:latin typeface="Arial"/>
                          <a:ea typeface="Arial"/>
                          <a:cs typeface="Arial"/>
                        </a:rPr>
                        <a:t>Daniel Cole, CFO</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Financial reporting and QoE preparation</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8613">
                <a:tc>
                  <a:txBody>
                    <a:bodyPr lIns="95250" tIns="47625" rIns="95250" bIns="47625">
                      <a:noAutofit/>
                    </a:bodyPr>
                    <a:lstStyle/>
                    <a:p>
                      <a:pPr algn="l"/>
                      <a:r>
                        <a:rPr sz="1200" b="0">
                          <a:solidFill>
                            <a:srgbClr val="000000"/>
                          </a:solidFill>
                          <a:latin typeface="Arial"/>
                          <a:ea typeface="Arial"/>
                          <a:cs typeface="Arial"/>
                        </a:rPr>
                        <a:t>Aisha Patel, COO</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Service delivery and engineer recruitment</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20" name="s6-plan-head">
            <a:extLst xmlns:a="http://schemas.openxmlformats.org/drawingml/2006/main">
              <a:ext uri="{FF2B5EF4-FFF2-40B4-BE49-F238E27FC236}">
                <a16:creationId xmlns:a16="http://schemas.microsoft.com/office/drawing/2014/main" id="{28F202F2-7CD2-4A9E-BE68-E9DD8DAAF268}"/>
              </a:ext>
            </a:extLst>
          </p:cNvPr>
          <p:cNvSpPr>
            <a:spLocks xmlns:a="http://schemas.openxmlformats.org/drawingml/2006/main" noGrp="1"/>
          </p:cNvSpPr>
          <p:nvPr/>
        </p:nvSpPr>
        <p:spPr>
          <a:xfrm xmlns:a="http://schemas.openxmlformats.org/drawingml/2006/main">
            <a:off x="7162800" y="4019550"/>
            <a:ext cx="449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Engineer plan and execution requirements</a:t>
            </a:r>
          </a:p>
        </p:txBody>
      </p:sp>
      <p:sp>
        <p:nvSpPr>
          <p:cNvPr id="21" name="s6-plan">
            <a:extLst xmlns:a="http://schemas.openxmlformats.org/drawingml/2006/main">
              <a:ext uri="{FF2B5EF4-FFF2-40B4-BE49-F238E27FC236}">
                <a16:creationId xmlns:a16="http://schemas.microsoft.com/office/drawing/2014/main" id="{3DF24968-B2D9-4171-84D2-A4E76C36331B}"/>
              </a:ext>
            </a:extLst>
          </p:cNvPr>
          <p:cNvSpPr>
            <a:spLocks xmlns:a="http://schemas.openxmlformats.org/drawingml/2006/main" noGrp="1"/>
          </p:cNvSpPr>
          <p:nvPr/>
        </p:nvSpPr>
        <p:spPr>
          <a:xfrm xmlns:a="http://schemas.openxmlformats.org/drawingml/2006/main">
            <a:off x="7162800" y="4333875"/>
            <a:ext cx="44958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forecast increases year-end engineers from 85 to 95 in 2026F and 105 in 2027F. The first-year increase is 11.8%, compared with revenue growth of 16.0%.</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A hiring schedule is needed to explain start dates, replacement hires and time to productive deployment. KPI source records also require testing for job eligibility and incomplete records. Current data does not support a quantified productivity uplift.</a:t>
            </a:r>
          </a:p>
        </p:txBody>
      </p:sp>
    </p:spTree>
    <p:extLst>
      <p:ext uri="{BB962C8B-B14F-4D97-AF65-F5344CB8AC3E}">
        <p14:creationId xmlns:p14="http://schemas.microsoft.com/office/powerpoint/2010/main" val="12624514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7-section">
            <a:extLst xmlns:a="http://schemas.openxmlformats.org/drawingml/2006/main">
              <a:ext uri="{FF2B5EF4-FFF2-40B4-BE49-F238E27FC236}">
                <a16:creationId xmlns:a16="http://schemas.microsoft.com/office/drawing/2014/main" id="{F03C61D2-4882-4C6B-B1EF-65F5CD286A69}"/>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FINANCIAL ANALYSIS</a:t>
            </a:r>
          </a:p>
        </p:txBody>
      </p:sp>
      <p:sp>
        <p:nvSpPr>
          <p:cNvPr id="2" name="s7-title">
            <a:extLst xmlns:a="http://schemas.openxmlformats.org/drawingml/2006/main">
              <a:ext uri="{FF2B5EF4-FFF2-40B4-BE49-F238E27FC236}">
                <a16:creationId xmlns:a16="http://schemas.microsoft.com/office/drawing/2014/main" id="{2E847498-E922-4FFE-8087-B03C6635752E}"/>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Historical earnings and quarterly trading</a:t>
            </a:r>
          </a:p>
        </p:txBody>
      </p:sp>
      <p:sp>
        <p:nvSpPr>
          <p:cNvPr id="3" name="s7-header-rule">
            <a:extLst xmlns:a="http://schemas.openxmlformats.org/drawingml/2006/main">
              <a:ext uri="{FF2B5EF4-FFF2-40B4-BE49-F238E27FC236}">
                <a16:creationId xmlns:a16="http://schemas.microsoft.com/office/drawing/2014/main" id="{E8D842A6-335F-46FD-AD9C-27AE87E61AA3}"/>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7-source">
            <a:extLst xmlns:a="http://schemas.openxmlformats.org/drawingml/2006/main">
              <a:ext uri="{FF2B5EF4-FFF2-40B4-BE49-F238E27FC236}">
                <a16:creationId xmlns:a16="http://schemas.microsoft.com/office/drawing/2014/main" id="{4A90CC6E-DD06-4E9A-BEE7-A2C964394C44}"/>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02 model, PnL!B5:D11; 09 quarterly accounts; 10 CFO follow-up; 01 company brief.</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GBP million unless stated. Year ending 31 December. A = unaudited management actuals. FY2025 revenue is provisional.</a:t>
            </a:r>
          </a:p>
        </p:txBody>
      </p:sp>
      <p:sp>
        <p:nvSpPr>
          <p:cNvPr id="5" name="s7-footer-rule">
            <a:extLst xmlns:a="http://schemas.openxmlformats.org/drawingml/2006/main">
              <a:ext uri="{FF2B5EF4-FFF2-40B4-BE49-F238E27FC236}">
                <a16:creationId xmlns:a16="http://schemas.microsoft.com/office/drawing/2014/main" id="{F0CBA8E4-6167-4A46-874C-3C7209089817}"/>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7-footer">
            <a:extLst xmlns:a="http://schemas.openxmlformats.org/drawingml/2006/main">
              <a:ext uri="{FF2B5EF4-FFF2-40B4-BE49-F238E27FC236}">
                <a16:creationId xmlns:a16="http://schemas.microsoft.com/office/drawing/2014/main" id="{619FD267-6317-4437-86A9-D6757C794202}"/>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7-number">
            <a:extLst xmlns:a="http://schemas.openxmlformats.org/drawingml/2006/main">
              <a:ext uri="{FF2B5EF4-FFF2-40B4-BE49-F238E27FC236}">
                <a16:creationId xmlns:a16="http://schemas.microsoft.com/office/drawing/2014/main" id="{F4AB2B64-3FCC-4BA1-9449-C404E7580DDC}"/>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7</a:t>
            </a:r>
          </a:p>
        </p:txBody>
      </p:sp>
      <p:graphicFrame>
        <p:nvGraphicFramePr>
          <p:cNvPr id="8" name="">
            <a:extLst xmlns:a="http://schemas.openxmlformats.org/drawingml/2006/main">
              <a:ext uri="{FF2B5EF4-FFF2-40B4-BE49-F238E27FC236}">
                <a16:creationId xmlns:a16="http://schemas.microsoft.com/office/drawing/2014/main" id="{79272EAA-BBFE-4268-9D1C-6DC762A43362}"/>
              </a:ext>
            </a:extLst>
          </p:cNvPr>
          <p:cNvGraphicFramePr/>
          <p:nvPr/>
        </p:nvGraphicFramePr>
        <p:xfrm>
          <a:off xmlns:a="http://schemas.openxmlformats.org/drawingml/2006/main" x="533400" y="1095375"/>
          <a:ext xmlns:a="http://schemas.openxmlformats.org/drawingml/2006/main" cx="6515100" cy="2905125"/>
        </p:xfrm>
        <a:graphic xmlns:a="http://schemas.openxmlformats.org/drawingml/2006/main">
          <a:graphicData uri="http://schemas.openxmlformats.org/drawingml/2006/table">
            <a:tbl>
              <a:tblPr/>
              <a:tblGrid>
                <a:gridCol w="2948439"/>
                <a:gridCol w="1188887"/>
                <a:gridCol w="1188887"/>
                <a:gridCol w="1188887"/>
              </a:tblGrid>
              <a:tr h="322792">
                <a:tc>
                  <a:txBody>
                    <a:bodyPr lIns="95250" tIns="47625" rIns="95250" bIns="47625">
                      <a:noAutofit/>
                    </a:bodyPr>
                    <a:lstStyle/>
                    <a:p>
                      <a:r>
                        <a:rPr sz="1200" b="1">
                          <a:solidFill>
                            <a:srgbClr val="FFFFFF"/>
                          </a:solidFill>
                          <a:latin typeface="Arial"/>
                          <a:ea typeface="Arial"/>
                          <a:cs typeface="Arial"/>
                        </a:rPr>
                        <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FY2023A</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FY2024A</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FY2025A</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22792">
                <a:tc>
                  <a:txBody>
                    <a:bodyPr lIns="95250" tIns="47625" rIns="95250" bIns="47625">
                      <a:noAutofit/>
                    </a:bodyPr>
                    <a:lstStyle/>
                    <a:p>
                      <a:pPr algn="l"/>
                      <a:r>
                        <a:rPr sz="1200" b="1">
                          <a:solidFill>
                            <a:srgbClr val="000000"/>
                          </a:solidFill>
                          <a:latin typeface="Arial"/>
                          <a:ea typeface="Arial"/>
                          <a:cs typeface="Arial"/>
                        </a:rPr>
                        <a:t>Revenue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18.0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21.5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25.0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2792">
                <a:tc>
                  <a:txBody>
                    <a:bodyPr lIns="95250" tIns="47625" rIns="95250" bIns="47625">
                      <a:noAutofit/>
                    </a:bodyPr>
                    <a:lstStyle/>
                    <a:p>
                      <a:pPr algn="l"/>
                      <a:r>
                        <a:rPr sz="1200" b="0">
                          <a:solidFill>
                            <a:srgbClr val="000000"/>
                          </a:solidFill>
                          <a:latin typeface="Arial"/>
                          <a:ea typeface="Arial"/>
                          <a:cs typeface="Arial"/>
                        </a:rPr>
                        <a:t>Cost of services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(10.8)</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(12.7)</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(14.5)</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2792">
                <a:tc>
                  <a:txBody>
                    <a:bodyPr lIns="95250" tIns="47625" rIns="95250" bIns="47625">
                      <a:noAutofit/>
                    </a:bodyPr>
                    <a:lstStyle/>
                    <a:p>
                      <a:pPr algn="l"/>
                      <a:r>
                        <a:rPr sz="1200" b="1">
                          <a:solidFill>
                            <a:srgbClr val="000000"/>
                          </a:solidFill>
                          <a:latin typeface="Arial"/>
                          <a:ea typeface="Arial"/>
                          <a:cs typeface="Arial"/>
                        </a:rPr>
                        <a:t>Gross profit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7.2</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8.8</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10.5</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2792">
                <a:tc>
                  <a:txBody>
                    <a:bodyPr lIns="95250" tIns="47625" rIns="95250" bIns="47625">
                      <a:noAutofit/>
                    </a:bodyPr>
                    <a:lstStyle/>
                    <a:p>
                      <a:pPr algn="l"/>
                      <a:r>
                        <a:rPr sz="1200" b="0">
                          <a:solidFill>
                            <a:srgbClr val="000000"/>
                          </a:solidFill>
                          <a:latin typeface="Arial"/>
                          <a:ea typeface="Arial"/>
                          <a:cs typeface="Arial"/>
                        </a:rPr>
                        <a:t>Operating expenses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(4.5)</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(4.9)</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(5.5)</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2792">
                <a:tc>
                  <a:txBody>
                    <a:bodyPr lIns="95250" tIns="47625" rIns="95250" bIns="47625">
                      <a:noAutofit/>
                    </a:bodyPr>
                    <a:lstStyle/>
                    <a:p>
                      <a:pPr algn="l"/>
                      <a:r>
                        <a:rPr sz="1200" b="1">
                          <a:solidFill>
                            <a:srgbClr val="000000"/>
                          </a:solidFill>
                          <a:latin typeface="Arial"/>
                          <a:ea typeface="Arial"/>
                          <a:cs typeface="Arial"/>
                        </a:rPr>
                        <a:t>EBITDA</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2.7</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3.9</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5.0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2792">
                <a:tc>
                  <a:txBody>
                    <a:bodyPr lIns="95250" tIns="47625" rIns="95250" bIns="47625">
                      <a:noAutofit/>
                    </a:bodyPr>
                    <a:lstStyle/>
                    <a:p>
                      <a:pPr algn="l"/>
                      <a:r>
                        <a:rPr sz="1200" b="0">
                          <a:solidFill>
                            <a:srgbClr val="000000"/>
                          </a:solidFill>
                          <a:latin typeface="Arial"/>
                          <a:ea typeface="Arial"/>
                          <a:cs typeface="Arial"/>
                        </a:rPr>
                        <a:t>EBITDA margin</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15.0%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18.1%</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20.0%</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2792">
                <a:tc>
                  <a:txBody>
                    <a:bodyPr lIns="95250" tIns="47625" rIns="95250" bIns="47625">
                      <a:noAutofit/>
                    </a:bodyPr>
                    <a:lstStyle/>
                    <a:p>
                      <a:pPr algn="l"/>
                      <a:r>
                        <a:rPr sz="1200" b="0">
                          <a:solidFill>
                            <a:srgbClr val="000000"/>
                          </a:solidFill>
                          <a:latin typeface="Arial"/>
                          <a:ea typeface="Arial"/>
                          <a:cs typeface="Arial"/>
                        </a:rPr>
                        <a:t>Gross margin</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40.9%</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42.0%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2792">
                <a:tc>
                  <a:txBody>
                    <a:bodyPr lIns="95250" tIns="47625" rIns="95250" bIns="47625">
                      <a:noAutofit/>
                    </a:bodyPr>
                    <a:lstStyle/>
                    <a:p>
                      <a:pPr algn="l"/>
                      <a:r>
                        <a:rPr sz="1200" b="0">
                          <a:solidFill>
                            <a:srgbClr val="000000"/>
                          </a:solidFill>
                          <a:latin typeface="Arial"/>
                          <a:ea typeface="Arial"/>
                          <a:cs typeface="Arial"/>
                        </a:rPr>
                        <a:t>Operating expenses / revenue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25.0%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22.8%</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22.0%</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9" name="s7-quarter-head">
            <a:extLst xmlns:a="http://schemas.openxmlformats.org/drawingml/2006/main">
              <a:ext uri="{FF2B5EF4-FFF2-40B4-BE49-F238E27FC236}">
                <a16:creationId xmlns:a16="http://schemas.microsoft.com/office/drawing/2014/main" id="{2298D3BC-B40C-4805-AE3D-351A19A17A30}"/>
              </a:ext>
            </a:extLst>
          </p:cNvPr>
          <p:cNvSpPr>
            <a:spLocks xmlns:a="http://schemas.openxmlformats.org/drawingml/2006/main" noGrp="1"/>
          </p:cNvSpPr>
          <p:nvPr/>
        </p:nvSpPr>
        <p:spPr>
          <a:xfrm xmlns:a="http://schemas.openxmlformats.org/drawingml/2006/main">
            <a:off x="7353300" y="1095375"/>
            <a:ext cx="430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FY2025 quarterly detail</a:t>
            </a:r>
          </a:p>
        </p:txBody>
      </p:sp>
      <p:graphicFrame>
        <p:nvGraphicFramePr>
          <p:cNvPr id="10" name="">
            <a:extLst xmlns:a="http://schemas.openxmlformats.org/drawingml/2006/main">
              <a:ext uri="{FF2B5EF4-FFF2-40B4-BE49-F238E27FC236}">
                <a16:creationId xmlns:a16="http://schemas.microsoft.com/office/drawing/2014/main" id="{2D74D935-8BA0-4577-A885-441C36905288}"/>
              </a:ext>
            </a:extLst>
          </p:cNvPr>
          <p:cNvGraphicFramePr/>
          <p:nvPr/>
        </p:nvGraphicFramePr>
        <p:xfrm>
          <a:off xmlns:a="http://schemas.openxmlformats.org/drawingml/2006/main" x="7353300" y="1438275"/>
          <a:ext xmlns:a="http://schemas.openxmlformats.org/drawingml/2006/main" cx="4305300" cy="1971675"/>
        </p:xfrm>
        <a:graphic xmlns:a="http://schemas.openxmlformats.org/drawingml/2006/main">
          <a:graphicData uri="http://schemas.openxmlformats.org/drawingml/2006/table">
            <a:tbl>
              <a:tblPr/>
              <a:tblGrid>
                <a:gridCol w="1076325"/>
                <a:gridCol w="1076325"/>
                <a:gridCol w="1076325"/>
                <a:gridCol w="1076325"/>
              </a:tblGrid>
              <a:tr h="328613">
                <a:tc>
                  <a:txBody>
                    <a:bodyPr lIns="95250" tIns="47625" rIns="95250" bIns="47625">
                      <a:noAutofit/>
                    </a:bodyPr>
                    <a:lstStyle/>
                    <a:p>
                      <a:pPr algn="l"/>
                      <a:r>
                        <a:rPr sz="1200" b="1">
                          <a:solidFill>
                            <a:srgbClr val="FFFFFF"/>
                          </a:solidFill>
                          <a:latin typeface="Arial"/>
                          <a:ea typeface="Arial"/>
                          <a:cs typeface="Arial"/>
                        </a:rPr>
                        <a:t>£m</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Revenue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EBITDA</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Margin</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28613">
                <a:tc>
                  <a:txBody>
                    <a:bodyPr lIns="95250" tIns="47625" rIns="95250" bIns="47625">
                      <a:noAutofit/>
                    </a:bodyPr>
                    <a:lstStyle/>
                    <a:p>
                      <a:pPr algn="l"/>
                      <a:r>
                        <a:rPr sz="1200" b="0">
                          <a:solidFill>
                            <a:srgbClr val="000000"/>
                          </a:solidFill>
                          <a:latin typeface="Arial"/>
                          <a:ea typeface="Arial"/>
                          <a:cs typeface="Arial"/>
                        </a:rPr>
                        <a:t>Q1</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5.70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0.90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15.8%</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8613">
                <a:tc>
                  <a:txBody>
                    <a:bodyPr lIns="95250" tIns="47625" rIns="95250" bIns="47625">
                      <a:noAutofit/>
                    </a:bodyPr>
                    <a:lstStyle/>
                    <a:p>
                      <a:pPr algn="l"/>
                      <a:r>
                        <a:rPr sz="1200" b="0">
                          <a:solidFill>
                            <a:srgbClr val="000000"/>
                          </a:solidFill>
                          <a:latin typeface="Arial"/>
                          <a:ea typeface="Arial"/>
                          <a:cs typeface="Arial"/>
                        </a:rPr>
                        <a:t>Q2</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6.10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1.15</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18.9%</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8613">
                <a:tc>
                  <a:txBody>
                    <a:bodyPr lIns="95250" tIns="47625" rIns="95250" bIns="47625">
                      <a:noAutofit/>
                    </a:bodyPr>
                    <a:lstStyle/>
                    <a:p>
                      <a:pPr algn="l"/>
                      <a:r>
                        <a:rPr sz="1200" b="0">
                          <a:solidFill>
                            <a:srgbClr val="000000"/>
                          </a:solidFill>
                          <a:latin typeface="Arial"/>
                          <a:ea typeface="Arial"/>
                          <a:cs typeface="Arial"/>
                        </a:rPr>
                        <a:t>Q3</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6.40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1.30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20.3%</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8613">
                <a:tc>
                  <a:txBody>
                    <a:bodyPr lIns="95250" tIns="47625" rIns="95250" bIns="47625">
                      <a:noAutofit/>
                    </a:bodyPr>
                    <a:lstStyle/>
                    <a:p>
                      <a:pPr algn="l"/>
                      <a:r>
                        <a:rPr sz="1200" b="0">
                          <a:solidFill>
                            <a:srgbClr val="000000"/>
                          </a:solidFill>
                          <a:latin typeface="Arial"/>
                          <a:ea typeface="Arial"/>
                          <a:cs typeface="Arial"/>
                        </a:rPr>
                        <a:t>Q4</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6.80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1.65</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24.3%</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8613">
                <a:tc>
                  <a:txBody>
                    <a:bodyPr lIns="95250" tIns="47625" rIns="95250" bIns="47625">
                      <a:noAutofit/>
                    </a:bodyPr>
                    <a:lstStyle/>
                    <a:p>
                      <a:pPr algn="l"/>
                      <a:r>
                        <a:rPr sz="1200" b="1">
                          <a:solidFill>
                            <a:srgbClr val="000000"/>
                          </a:solidFill>
                          <a:latin typeface="Arial"/>
                          <a:ea typeface="Arial"/>
                          <a:cs typeface="Arial"/>
                        </a:rPr>
                        <a:t>FY2025</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25.00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5.00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11" name="s7-quarter-comment">
            <a:extLst xmlns:a="http://schemas.openxmlformats.org/drawingml/2006/main">
              <a:ext uri="{FF2B5EF4-FFF2-40B4-BE49-F238E27FC236}">
                <a16:creationId xmlns:a16="http://schemas.microsoft.com/office/drawing/2014/main" id="{258C509F-C172-4FBC-B959-1C4854BF873D}"/>
              </a:ext>
            </a:extLst>
          </p:cNvPr>
          <p:cNvSpPr>
            <a:spLocks xmlns:a="http://schemas.openxmlformats.org/drawingml/2006/main" noGrp="1"/>
          </p:cNvSpPr>
          <p:nvPr/>
        </p:nvSpPr>
        <p:spPr>
          <a:xfrm xmlns:a="http://schemas.openxmlformats.org/drawingml/2006/main">
            <a:off x="7353300" y="3571875"/>
            <a:ext cx="4305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Q4 accounts for 27.2% of annual revenue and 33.0% of EBITDA. Its 24.3% margin exceeds the 20.0% full-year result.</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One year of quarterly data does not establish a recurring seasonal pattern.</a:t>
            </a:r>
          </a:p>
        </p:txBody>
      </p:sp>
      <p:sp>
        <p:nvSpPr>
          <p:cNvPr id="12" name="s7-bridge-head">
            <a:extLst xmlns:a="http://schemas.openxmlformats.org/drawingml/2006/main">
              <a:ext uri="{FF2B5EF4-FFF2-40B4-BE49-F238E27FC236}">
                <a16:creationId xmlns:a16="http://schemas.microsoft.com/office/drawing/2014/main" id="{8E31E6FD-4147-4662-92A0-87EC25CE8ACA}"/>
              </a:ext>
            </a:extLst>
          </p:cNvPr>
          <p:cNvSpPr>
            <a:spLocks xmlns:a="http://schemas.openxmlformats.org/drawingml/2006/main" noGrp="1"/>
          </p:cNvSpPr>
          <p:nvPr/>
        </p:nvSpPr>
        <p:spPr>
          <a:xfrm xmlns:a="http://schemas.openxmlformats.org/drawingml/2006/main">
            <a:off x="533400" y="4191000"/>
            <a:ext cx="6515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Arithmetic explanation of EBITDA growth</a:t>
            </a:r>
          </a:p>
        </p:txBody>
      </p:sp>
      <p:sp>
        <p:nvSpPr>
          <p:cNvPr id="13" name="s7-bridge">
            <a:extLst xmlns:a="http://schemas.openxmlformats.org/drawingml/2006/main">
              <a:ext uri="{FF2B5EF4-FFF2-40B4-BE49-F238E27FC236}">
                <a16:creationId xmlns:a16="http://schemas.microsoft.com/office/drawing/2014/main" id="{F283172C-1D5C-4CA8-B29C-29631E9F4086}"/>
              </a:ext>
            </a:extLst>
          </p:cNvPr>
          <p:cNvSpPr>
            <a:spLocks xmlns:a="http://schemas.openxmlformats.org/drawingml/2006/main" noGrp="1"/>
          </p:cNvSpPr>
          <p:nvPr/>
        </p:nvSpPr>
        <p:spPr>
          <a:xfrm xmlns:a="http://schemas.openxmlformats.org/drawingml/2006/main">
            <a:off x="533400" y="4505325"/>
            <a:ext cx="65151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FY2023–25 revenue increased by £7.0m (17.9% CAGR). Gross profit increased by £3.3m, against £1.0m of additional operating expenses, resulting in £2.3m of EBITDA growth.</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Gross margin increased from 40.0% to 42.0%. Operating expenses fell from 25.0% to 22.0% of revenue. These ratios explain the P&amp;L movement but do not identify the effects of pricing, labour rates or service mix.</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£26.2m earlier revenue estimate remains unreconciled to the £25.0m model.</a:t>
            </a:r>
          </a:p>
        </p:txBody>
      </p:sp>
      <p:sp>
        <p:nvSpPr>
          <p:cNvPr id="14" name="s7-earnings-head">
            <a:extLst xmlns:a="http://schemas.openxmlformats.org/drawingml/2006/main">
              <a:ext uri="{FF2B5EF4-FFF2-40B4-BE49-F238E27FC236}">
                <a16:creationId xmlns:a16="http://schemas.microsoft.com/office/drawing/2014/main" id="{8B5B55C4-7517-4589-98C1-666A3CB2F7FA}"/>
              </a:ext>
            </a:extLst>
          </p:cNvPr>
          <p:cNvSpPr>
            <a:spLocks xmlns:a="http://schemas.openxmlformats.org/drawingml/2006/main" noGrp="1"/>
          </p:cNvSpPr>
          <p:nvPr/>
        </p:nvSpPr>
        <p:spPr>
          <a:xfrm xmlns:a="http://schemas.openxmlformats.org/drawingml/2006/main">
            <a:off x="7353300" y="4857750"/>
            <a:ext cx="430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Reported earnings basis</a:t>
            </a:r>
          </a:p>
        </p:txBody>
      </p:sp>
      <p:sp>
        <p:nvSpPr>
          <p:cNvPr id="15" name="s7-earnings">
            <a:extLst xmlns:a="http://schemas.openxmlformats.org/drawingml/2006/main">
              <a:ext uri="{FF2B5EF4-FFF2-40B4-BE49-F238E27FC236}">
                <a16:creationId xmlns:a16="http://schemas.microsoft.com/office/drawing/2014/main" id="{98865AE8-4752-4C1F-9291-12BF2A085CEA}"/>
              </a:ext>
            </a:extLst>
          </p:cNvPr>
          <p:cNvSpPr>
            <a:spLocks xmlns:a="http://schemas.openxmlformats.org/drawingml/2006/main" noGrp="1"/>
          </p:cNvSpPr>
          <p:nvPr/>
        </p:nvSpPr>
        <p:spPr>
          <a:xfrm xmlns:a="http://schemas.openxmlformats.org/drawingml/2006/main">
            <a:off x="7353300" y="5172075"/>
            <a:ext cx="43053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Management proposed £0.18m of founder-remuneration and £0.12m of systems adjustments. Neither is substantiated. The £5.0m EBITDA shown includes no add-backs. QoE and revenue cut-off work remain outstanding.</a:t>
            </a:r>
          </a:p>
        </p:txBody>
      </p:sp>
    </p:spTree>
    <p:extLst>
      <p:ext uri="{BB962C8B-B14F-4D97-AF65-F5344CB8AC3E}">
        <p14:creationId xmlns:p14="http://schemas.microsoft.com/office/powerpoint/2010/main" val="16308955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8-section">
            <a:extLst xmlns:a="http://schemas.openxmlformats.org/drawingml/2006/main">
              <a:ext uri="{FF2B5EF4-FFF2-40B4-BE49-F238E27FC236}">
                <a16:creationId xmlns:a16="http://schemas.microsoft.com/office/drawing/2014/main" id="{892A241C-E467-4425-887F-BBF227772F4E}"/>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MANAGEMENT OUTLOOK</a:t>
            </a:r>
          </a:p>
        </p:txBody>
      </p:sp>
      <p:sp>
        <p:nvSpPr>
          <p:cNvPr id="2" name="s8-title">
            <a:extLst xmlns:a="http://schemas.openxmlformats.org/drawingml/2006/main">
              <a:ext uri="{FF2B5EF4-FFF2-40B4-BE49-F238E27FC236}">
                <a16:creationId xmlns:a16="http://schemas.microsoft.com/office/drawing/2014/main" id="{9E6925F2-5714-4E3C-A110-71EBD256A74D}"/>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Management forecast and revenue bridge</a:t>
            </a:r>
          </a:p>
        </p:txBody>
      </p:sp>
      <p:sp>
        <p:nvSpPr>
          <p:cNvPr id="3" name="s8-header-rule">
            <a:extLst xmlns:a="http://schemas.openxmlformats.org/drawingml/2006/main">
              <a:ext uri="{FF2B5EF4-FFF2-40B4-BE49-F238E27FC236}">
                <a16:creationId xmlns:a16="http://schemas.microsoft.com/office/drawing/2014/main" id="{3E1C2381-029A-4D7B-812E-3D66C584E84F}"/>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8-source">
            <a:extLst xmlns:a="http://schemas.openxmlformats.org/drawingml/2006/main">
              <a:ext uri="{FF2B5EF4-FFF2-40B4-BE49-F238E27FC236}">
                <a16:creationId xmlns:a16="http://schemas.microsoft.com/office/drawing/2014/main" id="{47736A37-AB63-4506-BD23-5526D034692C}"/>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02 model, PnL!D6:F11; 05 commercial interview; 10 CFO follow-up; 11 forecast bridge.</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A = provisional management actuals. F = management forecast. Pipeline amounts are unsigned, unweighted annual revenue opportunities.</a:t>
            </a:r>
          </a:p>
        </p:txBody>
      </p:sp>
      <p:sp>
        <p:nvSpPr>
          <p:cNvPr id="5" name="s8-footer-rule">
            <a:extLst xmlns:a="http://schemas.openxmlformats.org/drawingml/2006/main">
              <a:ext uri="{FF2B5EF4-FFF2-40B4-BE49-F238E27FC236}">
                <a16:creationId xmlns:a16="http://schemas.microsoft.com/office/drawing/2014/main" id="{38832D6D-8558-43C8-8787-3489EC428061}"/>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8-footer">
            <a:extLst xmlns:a="http://schemas.openxmlformats.org/drawingml/2006/main">
              <a:ext uri="{FF2B5EF4-FFF2-40B4-BE49-F238E27FC236}">
                <a16:creationId xmlns:a16="http://schemas.microsoft.com/office/drawing/2014/main" id="{C7719B0D-E245-464E-993E-9AC24A949A43}"/>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8-number">
            <a:extLst xmlns:a="http://schemas.openxmlformats.org/drawingml/2006/main">
              <a:ext uri="{FF2B5EF4-FFF2-40B4-BE49-F238E27FC236}">
                <a16:creationId xmlns:a16="http://schemas.microsoft.com/office/drawing/2014/main" id="{6364044B-7598-4398-9F86-15BB6ED12A44}"/>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8</a:t>
            </a:r>
          </a:p>
        </p:txBody>
      </p:sp>
      <p:sp>
        <p:nvSpPr>
          <p:cNvPr id="8" name="s8-chart-head">
            <a:extLst xmlns:a="http://schemas.openxmlformats.org/drawingml/2006/main">
              <a:ext uri="{FF2B5EF4-FFF2-40B4-BE49-F238E27FC236}">
                <a16:creationId xmlns:a16="http://schemas.microsoft.com/office/drawing/2014/main" id="{6C0B4C54-8FD1-4216-B52A-99FC6BBA0C41}"/>
              </a:ext>
            </a:extLst>
          </p:cNvPr>
          <p:cNvSpPr>
            <a:spLocks xmlns:a="http://schemas.openxmlformats.org/drawingml/2006/main" noGrp="1"/>
          </p:cNvSpPr>
          <p:nvPr/>
        </p:nvSpPr>
        <p:spPr>
          <a:xfrm xmlns:a="http://schemas.openxmlformats.org/drawingml/2006/main">
            <a:off x="533400" y="1095375"/>
            <a:ext cx="4114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Revenue trajectory (£m)</a:t>
            </a:r>
          </a:p>
        </p:txBody>
      </p:sp>
      <p:graphicFrame>
        <p:nvGraphicFramePr>
          <p:cNvPr id="9" name="Chart">
            <a:extLst xmlns:a="http://schemas.openxmlformats.org/drawingml/2006/main">
              <a:ext uri="{FF2B5EF4-FFF2-40B4-BE49-F238E27FC236}">
                <a16:creationId xmlns:a16="http://schemas.microsoft.com/office/drawing/2014/main" id="{3AC204ED-62F5-46E9-B311-F61D7C0302A9}"/>
              </a:ext>
            </a:extLst>
          </p:cNvPr>
          <p:cNvGraphicFramePr/>
          <p:nvPr/>
        </p:nvGraphicFramePr>
        <p:xfrm>
          <a:off xmlns:a="http://schemas.openxmlformats.org/drawingml/2006/main" x="533400" y="1438275"/>
          <a:ext xmlns:a="http://schemas.openxmlformats.org/drawingml/2006/main" cx="4114800" cy="1933575"/>
        </p:xfrm>
        <a:graphic xmlns:a="http://schemas.openxmlformats.org/drawingml/2006/main">
          <a:graphicData uri="http://schemas.openxmlformats.org/drawingml/2006/chart">
            <c:chart xmlns:r="http://schemas.openxmlformats.org/officeDocument/2006/relationships" xmlns:c="http://schemas.openxmlformats.org/drawingml/2006/chart" r:id="R9d9436ba92ef4dc6"/>
          </a:graphicData>
        </a:graphic>
      </p:graphicFrame>
      <p:graphicFrame>
        <p:nvGraphicFramePr>
          <p:cNvPr id="10" name="">
            <a:extLst xmlns:a="http://schemas.openxmlformats.org/drawingml/2006/main">
              <a:ext uri="{FF2B5EF4-FFF2-40B4-BE49-F238E27FC236}">
                <a16:creationId xmlns:a16="http://schemas.microsoft.com/office/drawing/2014/main" id="{6900C098-28E7-4B6F-BEA0-0A67527B7A17}"/>
              </a:ext>
            </a:extLst>
          </p:cNvPr>
          <p:cNvGraphicFramePr/>
          <p:nvPr/>
        </p:nvGraphicFramePr>
        <p:xfrm>
          <a:off xmlns:a="http://schemas.openxmlformats.org/drawingml/2006/main" x="533400" y="3533775"/>
          <a:ext xmlns:a="http://schemas.openxmlformats.org/drawingml/2006/main" cx="4114800" cy="1381125"/>
        </p:xfrm>
        <a:graphic xmlns:a="http://schemas.openxmlformats.org/drawingml/2006/main">
          <a:graphicData uri="http://schemas.openxmlformats.org/drawingml/2006/table">
            <a:tbl>
              <a:tblPr/>
              <a:tblGrid>
                <a:gridCol w="1595535"/>
                <a:gridCol w="839755"/>
                <a:gridCol w="839755"/>
                <a:gridCol w="839755"/>
              </a:tblGrid>
              <a:tr h="345281">
                <a:tc>
                  <a:txBody>
                    <a:bodyPr lIns="95250" tIns="47625" rIns="95250" bIns="47625">
                      <a:noAutofit/>
                    </a:bodyPr>
                    <a:lstStyle/>
                    <a:p>
                      <a:r>
                        <a:rPr sz="1200" b="1">
                          <a:solidFill>
                            <a:srgbClr val="FFFFFF"/>
                          </a:solidFill>
                          <a:latin typeface="Arial"/>
                          <a:ea typeface="Arial"/>
                          <a:cs typeface="Arial"/>
                        </a:rPr>
                        <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2025A</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2026F</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2027F</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45281">
                <a:tc>
                  <a:txBody>
                    <a:bodyPr lIns="95250" tIns="47625" rIns="95250" bIns="47625">
                      <a:noAutofit/>
                    </a:bodyPr>
                    <a:lstStyle/>
                    <a:p>
                      <a:pPr algn="l"/>
                      <a:r>
                        <a:rPr sz="1200" b="0">
                          <a:solidFill>
                            <a:srgbClr val="000000"/>
                          </a:solidFill>
                          <a:latin typeface="Arial"/>
                          <a:ea typeface="Arial"/>
                          <a:cs typeface="Arial"/>
                        </a:rPr>
                        <a:t>EBITDA £m</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5.0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6.1</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7.4</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45281">
                <a:tc>
                  <a:txBody>
                    <a:bodyPr lIns="95250" tIns="47625" rIns="95250" bIns="47625">
                      <a:noAutofit/>
                    </a:bodyPr>
                    <a:lstStyle/>
                    <a:p>
                      <a:pPr algn="l"/>
                      <a:r>
                        <a:rPr sz="1200" b="0">
                          <a:solidFill>
                            <a:srgbClr val="000000"/>
                          </a:solidFill>
                          <a:latin typeface="Arial"/>
                          <a:ea typeface="Arial"/>
                          <a:cs typeface="Arial"/>
                        </a:rPr>
                        <a:t>EBITDA margin</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20.0%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21.0%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22.0%</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45281">
                <a:tc>
                  <a:txBody>
                    <a:bodyPr lIns="95250" tIns="47625" rIns="95250" bIns="47625">
                      <a:noAutofit/>
                    </a:bodyPr>
                    <a:lstStyle/>
                    <a:p>
                      <a:pPr algn="l"/>
                      <a:r>
                        <a:rPr sz="1200" b="0">
                          <a:solidFill>
                            <a:srgbClr val="000000"/>
                          </a:solidFill>
                          <a:latin typeface="Arial"/>
                          <a:ea typeface="Arial"/>
                          <a:cs typeface="Arial"/>
                        </a:rPr>
                        <a:t>YE engineers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85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95</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105</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11" name="s8-capacity">
            <a:extLst xmlns:a="http://schemas.openxmlformats.org/drawingml/2006/main">
              <a:ext uri="{FF2B5EF4-FFF2-40B4-BE49-F238E27FC236}">
                <a16:creationId xmlns:a16="http://schemas.microsoft.com/office/drawing/2014/main" id="{48541A37-D8A2-49BC-95F2-2FD6179B7B9C}"/>
              </a:ext>
            </a:extLst>
          </p:cNvPr>
          <p:cNvSpPr>
            <a:spLocks xmlns:a="http://schemas.openxmlformats.org/drawingml/2006/main" noGrp="1"/>
          </p:cNvSpPr>
          <p:nvPr/>
        </p:nvSpPr>
        <p:spPr>
          <a:xfrm xmlns:a="http://schemas.openxmlformats.org/drawingml/2006/main">
            <a:off x="533400" y="5095875"/>
            <a:ext cx="4114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Revenue increases by 16.0% in 2026F and 15.9% in 2027F. EBITDA margins reach 22.0% by 2027F. Hiring costs, staff start dates and productivity ramp-up have not been supplied to support delivery of these outcomes.</a:t>
            </a:r>
          </a:p>
        </p:txBody>
      </p:sp>
      <p:graphicFrame>
        <p:nvGraphicFramePr>
          <p:cNvPr id="12" name="">
            <a:extLst xmlns:a="http://schemas.openxmlformats.org/drawingml/2006/main">
              <a:ext uri="{FF2B5EF4-FFF2-40B4-BE49-F238E27FC236}">
                <a16:creationId xmlns:a16="http://schemas.microsoft.com/office/drawing/2014/main" id="{20A9A7F0-9EF7-458B-8CAB-47CFF920A01B}"/>
              </a:ext>
            </a:extLst>
          </p:cNvPr>
          <p:cNvGraphicFramePr/>
          <p:nvPr/>
        </p:nvGraphicFramePr>
        <p:xfrm>
          <a:off xmlns:a="http://schemas.openxmlformats.org/drawingml/2006/main" x="4953000" y="1095375"/>
          <a:ext xmlns:a="http://schemas.openxmlformats.org/drawingml/2006/main" cx="6705600" cy="2466975"/>
        </p:xfrm>
        <a:graphic xmlns:a="http://schemas.openxmlformats.org/drawingml/2006/main">
          <a:graphicData uri="http://schemas.openxmlformats.org/drawingml/2006/table">
            <a:tbl>
              <a:tblPr/>
              <a:tblGrid>
                <a:gridCol w="4023360"/>
                <a:gridCol w="1341120"/>
                <a:gridCol w="1341120"/>
              </a:tblGrid>
              <a:tr h="352425">
                <a:tc>
                  <a:txBody>
                    <a:bodyPr lIns="95250" tIns="47625" rIns="95250" bIns="47625">
                      <a:noAutofit/>
                    </a:bodyPr>
                    <a:lstStyle/>
                    <a:p>
                      <a:pPr algn="l"/>
                      <a:r>
                        <a:rPr sz="1200" b="1">
                          <a:solidFill>
                            <a:srgbClr val="FFFFFF"/>
                          </a:solidFill>
                          <a:latin typeface="Arial"/>
                          <a:ea typeface="Arial"/>
                          <a:cs typeface="Arial"/>
                        </a:rPr>
                        <a:t>Revenue bridge (£m)</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2026F</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2027F</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52425">
                <a:tc>
                  <a:txBody>
                    <a:bodyPr lIns="95250" tIns="47625" rIns="95250" bIns="47625">
                      <a:noAutofit/>
                    </a:bodyPr>
                    <a:lstStyle/>
                    <a:p>
                      <a:pPr algn="l"/>
                      <a:r>
                        <a:rPr sz="1200" b="1">
                          <a:solidFill>
                            <a:srgbClr val="000000"/>
                          </a:solidFill>
                          <a:latin typeface="Arial"/>
                          <a:ea typeface="Arial"/>
                          <a:cs typeface="Arial"/>
                        </a:rPr>
                        <a:t>Opening revenue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25.00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29.00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52425">
                <a:tc>
                  <a:txBody>
                    <a:bodyPr lIns="95250" tIns="47625" rIns="95250" bIns="47625">
                      <a:noAutofit/>
                    </a:bodyPr>
                    <a:lstStyle/>
                    <a:p>
                      <a:pPr algn="l"/>
                      <a:r>
                        <a:rPr sz="1200" b="0">
                          <a:solidFill>
                            <a:srgbClr val="000000"/>
                          </a:solidFill>
                          <a:latin typeface="Arial"/>
                          <a:ea typeface="Arial"/>
                          <a:cs typeface="Arial"/>
                        </a:rPr>
                        <a:t>Price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1.00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1.16</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52425">
                <a:tc>
                  <a:txBody>
                    <a:bodyPr lIns="95250" tIns="47625" rIns="95250" bIns="47625">
                      <a:noAutofit/>
                    </a:bodyPr>
                    <a:lstStyle/>
                    <a:p>
                      <a:pPr algn="l"/>
                      <a:r>
                        <a:rPr sz="1200" b="0">
                          <a:solidFill>
                            <a:srgbClr val="000000"/>
                          </a:solidFill>
                          <a:latin typeface="Arial"/>
                          <a:ea typeface="Arial"/>
                          <a:cs typeface="Arial"/>
                        </a:rPr>
                        <a:t>New contracts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2.00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2.40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52425">
                <a:tc>
                  <a:txBody>
                    <a:bodyPr lIns="95250" tIns="47625" rIns="95250" bIns="47625">
                      <a:noAutofit/>
                    </a:bodyPr>
                    <a:lstStyle/>
                    <a:p>
                      <a:pPr algn="l"/>
                      <a:r>
                        <a:rPr sz="1200" b="0">
                          <a:solidFill>
                            <a:srgbClr val="000000"/>
                          </a:solidFill>
                          <a:latin typeface="Arial"/>
                          <a:ea typeface="Arial"/>
                          <a:cs typeface="Arial"/>
                        </a:rPr>
                        <a:t>Cross-sell</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1.60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1.74</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52425">
                <a:tc>
                  <a:txBody>
                    <a:bodyPr lIns="95250" tIns="47625" rIns="95250" bIns="47625">
                      <a:noAutofit/>
                    </a:bodyPr>
                    <a:lstStyle/>
                    <a:p>
                      <a:pPr algn="l"/>
                      <a:r>
                        <a:rPr sz="1200" b="0">
                          <a:solidFill>
                            <a:srgbClr val="000000"/>
                          </a:solidFill>
                          <a:latin typeface="Arial"/>
                          <a:ea typeface="Arial"/>
                          <a:cs typeface="Arial"/>
                        </a:rPr>
                        <a:t>Attrition</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(0.60)</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(0.70)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52425">
                <a:tc>
                  <a:txBody>
                    <a:bodyPr lIns="95250" tIns="47625" rIns="95250" bIns="47625">
                      <a:noAutofit/>
                    </a:bodyPr>
                    <a:lstStyle/>
                    <a:p>
                      <a:pPr algn="l"/>
                      <a:r>
                        <a:rPr sz="1200" b="1">
                          <a:solidFill>
                            <a:srgbClr val="000000"/>
                          </a:solidFill>
                          <a:latin typeface="Arial"/>
                          <a:ea typeface="Arial"/>
                          <a:cs typeface="Arial"/>
                        </a:rPr>
                        <a:t>Closing revenue</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29.00</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1">
                          <a:solidFill>
                            <a:srgbClr val="000000"/>
                          </a:solidFill>
                          <a:latin typeface="Arial"/>
                          <a:ea typeface="Arial"/>
                          <a:cs typeface="Arial"/>
                        </a:rPr>
                        <a:t>33.60</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13" name="s8-assumptions-head">
            <a:extLst xmlns:a="http://schemas.openxmlformats.org/drawingml/2006/main">
              <a:ext uri="{FF2B5EF4-FFF2-40B4-BE49-F238E27FC236}">
                <a16:creationId xmlns:a16="http://schemas.microsoft.com/office/drawing/2014/main" id="{25ACB8C4-22B2-4922-978D-B84C75B6D402}"/>
              </a:ext>
            </a:extLst>
          </p:cNvPr>
          <p:cNvSpPr>
            <a:spLocks xmlns:a="http://schemas.openxmlformats.org/drawingml/2006/main" noGrp="1"/>
          </p:cNvSpPr>
          <p:nvPr/>
        </p:nvSpPr>
        <p:spPr>
          <a:xfrm xmlns:a="http://schemas.openxmlformats.org/drawingml/2006/main">
            <a:off x="4953000" y="3762375"/>
            <a:ext cx="670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Growth composition and commercial support</a:t>
            </a:r>
          </a:p>
        </p:txBody>
      </p:sp>
      <p:sp>
        <p:nvSpPr>
          <p:cNvPr id="14" name="s8-assumptions">
            <a:extLst xmlns:a="http://schemas.openxmlformats.org/drawingml/2006/main">
              <a:ext uri="{FF2B5EF4-FFF2-40B4-BE49-F238E27FC236}">
                <a16:creationId xmlns:a16="http://schemas.microsoft.com/office/drawing/2014/main" id="{B7CCA5FD-9C2F-42E7-A348-B32F56D0A48D}"/>
              </a:ext>
            </a:extLst>
          </p:cNvPr>
          <p:cNvSpPr>
            <a:spLocks xmlns:a="http://schemas.openxmlformats.org/drawingml/2006/main" noGrp="1"/>
          </p:cNvSpPr>
          <p:nvPr/>
        </p:nvSpPr>
        <p:spPr>
          <a:xfrm xmlns:a="http://schemas.openxmlformats.org/drawingml/2006/main">
            <a:off x="4953000" y="4076700"/>
            <a:ext cx="67056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FY2026 growth of £4.0m comprises £1.0m pricing, £2.0m new contracts and £1.6m cross-sell, less £0.6m attrition. New contracts provide 50% of the net increase.</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£4.8m pipeline comprises proposals (£2.4m), negotiations (£1.5m) and preferred-supplier positions (£0.9m). All opportunities are unsigned. Stage labels do not establish award probability, delivery timing or recognised revenue.</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Pricing requires customer acceptance. Cross-sell depends on converting repair customers to maintenance agreements. The bridge reconciles at group level, but no customer-level schedule links the forecast to renewal exposure, opportunity timing or engineer capacity.</a:t>
            </a:r>
          </a:p>
        </p:txBody>
      </p:sp>
    </p:spTree>
    <p:extLst>
      <p:ext uri="{BB962C8B-B14F-4D97-AF65-F5344CB8AC3E}">
        <p14:creationId xmlns:p14="http://schemas.microsoft.com/office/powerpoint/2010/main" val="9698219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9-section">
            <a:extLst xmlns:a="http://schemas.openxmlformats.org/drawingml/2006/main">
              <a:ext uri="{FF2B5EF4-FFF2-40B4-BE49-F238E27FC236}">
                <a16:creationId xmlns:a16="http://schemas.microsoft.com/office/drawing/2014/main" id="{73C046F1-606C-4925-8939-CC5F828CC845}"/>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TRANSACTION OVERVIEW</a:t>
            </a:r>
          </a:p>
        </p:txBody>
      </p:sp>
      <p:sp>
        <p:nvSpPr>
          <p:cNvPr id="2" name="s9-title">
            <a:extLst xmlns:a="http://schemas.openxmlformats.org/drawingml/2006/main">
              <a:ext uri="{FF2B5EF4-FFF2-40B4-BE49-F238E27FC236}">
                <a16:creationId xmlns:a16="http://schemas.microsoft.com/office/drawing/2014/main" id="{8221B480-3D60-4A32-81B6-7403CE232927}"/>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Transaction perimeter and draft financial position</a:t>
            </a:r>
          </a:p>
        </p:txBody>
      </p:sp>
      <p:sp>
        <p:nvSpPr>
          <p:cNvPr id="3" name="s9-header-rule">
            <a:extLst xmlns:a="http://schemas.openxmlformats.org/drawingml/2006/main">
              <a:ext uri="{FF2B5EF4-FFF2-40B4-BE49-F238E27FC236}">
                <a16:creationId xmlns:a16="http://schemas.microsoft.com/office/drawing/2014/main" id="{B062E0CD-E237-456A-A3B5-C2B7F73BBFF0}"/>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9-source">
            <a:extLst xmlns:a="http://schemas.openxmlformats.org/drawingml/2006/main">
              <a:ext uri="{FF2B5EF4-FFF2-40B4-BE49-F238E27FC236}">
                <a16:creationId xmlns:a16="http://schemas.microsoft.com/office/drawing/2014/main" id="{34DD5E4E-6ABB-40E8-A656-E3CFE6113D30}"/>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01 company brief; 10 CFO follow-up; 13 transaction workshop.</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GBP million. Draft balances at 31 December 2025. Sale scope and transaction terms remain proposals.</a:t>
            </a:r>
          </a:p>
        </p:txBody>
      </p:sp>
      <p:sp>
        <p:nvSpPr>
          <p:cNvPr id="5" name="s9-footer-rule">
            <a:extLst xmlns:a="http://schemas.openxmlformats.org/drawingml/2006/main">
              <a:ext uri="{FF2B5EF4-FFF2-40B4-BE49-F238E27FC236}">
                <a16:creationId xmlns:a16="http://schemas.microsoft.com/office/drawing/2014/main" id="{5C3647B5-8F62-4415-ADEB-8D47D32BFD94}"/>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9-footer">
            <a:extLst xmlns:a="http://schemas.openxmlformats.org/drawingml/2006/main">
              <a:ext uri="{FF2B5EF4-FFF2-40B4-BE49-F238E27FC236}">
                <a16:creationId xmlns:a16="http://schemas.microsoft.com/office/drawing/2014/main" id="{F9F501D1-BFEE-4540-8FED-A242F62EAC16}"/>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9-number">
            <a:extLst xmlns:a="http://schemas.openxmlformats.org/drawingml/2006/main">
              <a:ext uri="{FF2B5EF4-FFF2-40B4-BE49-F238E27FC236}">
                <a16:creationId xmlns:a16="http://schemas.microsoft.com/office/drawing/2014/main" id="{7451532D-49DB-4853-A553-CFB79889963B}"/>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9</a:t>
            </a:r>
          </a:p>
        </p:txBody>
      </p:sp>
      <p:graphicFrame>
        <p:nvGraphicFramePr>
          <p:cNvPr id="8" name="">
            <a:extLst xmlns:a="http://schemas.openxmlformats.org/drawingml/2006/main">
              <a:ext uri="{FF2B5EF4-FFF2-40B4-BE49-F238E27FC236}">
                <a16:creationId xmlns:a16="http://schemas.microsoft.com/office/drawing/2014/main" id="{148364BD-516F-46F6-9C5C-57248EDDD6E2}"/>
              </a:ext>
            </a:extLst>
          </p:cNvPr>
          <p:cNvGraphicFramePr/>
          <p:nvPr/>
        </p:nvGraphicFramePr>
        <p:xfrm>
          <a:off xmlns:a="http://schemas.openxmlformats.org/drawingml/2006/main" x="533400" y="1095375"/>
          <a:ext xmlns:a="http://schemas.openxmlformats.org/drawingml/2006/main" cx="4038600" cy="1438275"/>
        </p:xfrm>
        <a:graphic xmlns:a="http://schemas.openxmlformats.org/drawingml/2006/main">
          <a:graphicData uri="http://schemas.openxmlformats.org/drawingml/2006/table">
            <a:tbl>
              <a:tblPr/>
              <a:tblGrid>
                <a:gridCol w="2692400"/>
                <a:gridCol w="1346200"/>
              </a:tblGrid>
              <a:tr h="359569">
                <a:tc>
                  <a:txBody>
                    <a:bodyPr lIns="95250" tIns="47625" rIns="95250" bIns="47625">
                      <a:noAutofit/>
                    </a:bodyPr>
                    <a:lstStyle/>
                    <a:p>
                      <a:pPr algn="l"/>
                      <a:r>
                        <a:rPr sz="1200" b="1">
                          <a:solidFill>
                            <a:srgbClr val="FFFFFF"/>
                          </a:solidFill>
                          <a:latin typeface="Arial"/>
                          <a:ea typeface="Arial"/>
                          <a:cs typeface="Arial"/>
                        </a:rPr>
                        <a:t>Shareholder</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Ownership</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59569">
                <a:tc>
                  <a:txBody>
                    <a:bodyPr lIns="95250" tIns="47625" rIns="95250" bIns="47625">
                      <a:noAutofit/>
                    </a:bodyPr>
                    <a:lstStyle/>
                    <a:p>
                      <a:pPr algn="l"/>
                      <a:r>
                        <a:rPr sz="1200" b="0">
                          <a:solidFill>
                            <a:srgbClr val="000000"/>
                          </a:solidFill>
                          <a:latin typeface="Arial"/>
                          <a:ea typeface="Arial"/>
                          <a:cs typeface="Arial"/>
                        </a:rPr>
                        <a:t>Founder</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70%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59569">
                <a:tc>
                  <a:txBody>
                    <a:bodyPr lIns="95250" tIns="47625" rIns="95250" bIns="47625">
                      <a:noAutofit/>
                    </a:bodyPr>
                    <a:lstStyle/>
                    <a:p>
                      <a:pPr algn="l"/>
                      <a:r>
                        <a:rPr sz="1200" b="0">
                          <a:solidFill>
                            <a:srgbClr val="000000"/>
                          </a:solidFill>
                          <a:latin typeface="Arial"/>
                          <a:ea typeface="Arial"/>
                          <a:cs typeface="Arial"/>
                        </a:rPr>
                        <a:t>Management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20%</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59569">
                <a:tc>
                  <a:txBody>
                    <a:bodyPr lIns="95250" tIns="47625" rIns="95250" bIns="47625">
                      <a:noAutofit/>
                    </a:bodyPr>
                    <a:lstStyle/>
                    <a:p>
                      <a:pPr algn="l"/>
                      <a:r>
                        <a:rPr sz="1200" b="0">
                          <a:solidFill>
                            <a:srgbClr val="000000"/>
                          </a:solidFill>
                          <a:latin typeface="Arial"/>
                          <a:ea typeface="Arial"/>
                          <a:cs typeface="Arial"/>
                        </a:rPr>
                        <a:t>Seed investor</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10%</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9" name="s9-perimeter-head">
            <a:extLst xmlns:a="http://schemas.openxmlformats.org/drawingml/2006/main">
              <a:ext uri="{FF2B5EF4-FFF2-40B4-BE49-F238E27FC236}">
                <a16:creationId xmlns:a16="http://schemas.microsoft.com/office/drawing/2014/main" id="{6449EB01-A2FC-4A46-B822-E506A9F8DF64}"/>
              </a:ext>
            </a:extLst>
          </p:cNvPr>
          <p:cNvSpPr>
            <a:spLocks xmlns:a="http://schemas.openxmlformats.org/drawingml/2006/main" noGrp="1"/>
          </p:cNvSpPr>
          <p:nvPr/>
        </p:nvSpPr>
        <p:spPr>
          <a:xfrm xmlns:a="http://schemas.openxmlformats.org/drawingml/2006/main">
            <a:off x="533400" y="2714625"/>
            <a:ext cx="4038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Proposed equity sale</a:t>
            </a:r>
          </a:p>
        </p:txBody>
      </p:sp>
      <p:sp>
        <p:nvSpPr>
          <p:cNvPr id="10" name="s9-perimeter">
            <a:extLst xmlns:a="http://schemas.openxmlformats.org/drawingml/2006/main">
              <a:ext uri="{FF2B5EF4-FFF2-40B4-BE49-F238E27FC236}">
                <a16:creationId xmlns:a16="http://schemas.microsoft.com/office/drawing/2014/main" id="{6F49B4B2-B27A-4795-8D35-8DF7A2B852F7}"/>
              </a:ext>
            </a:extLst>
          </p:cNvPr>
          <p:cNvSpPr>
            <a:spLocks xmlns:a="http://schemas.openxmlformats.org/drawingml/2006/main" noGrp="1"/>
          </p:cNvSpPr>
          <p:nvPr/>
        </p:nvSpPr>
        <p:spPr>
          <a:xfrm xmlns:a="http://schemas.openxmlformats.org/drawingml/2006/main">
            <a:off x="533400" y="3028950"/>
            <a:ext cx="40386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Shareholders are considering a 70%–100% sale of the standalone UK company. The proposed perimeter includes all three hubs, operating assets and customer contracts. No excluded business has been identified.</a:t>
            </a:r>
          </a:p>
          <a:p xmlns:a="http://schemas.openxmlformats.org/drawingml/2006/main">
            <a:r>
              <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Legal entity scope, asset ownership and contract transferability require confirmation. No offers or signed sale terms exist in this fictional case.</a:t>
            </a:r>
          </a:p>
        </p:txBody>
      </p:sp>
      <p:sp>
        <p:nvSpPr>
          <p:cNvPr id="11" name="s9-process-head">
            <a:extLst xmlns:a="http://schemas.openxmlformats.org/drawingml/2006/main">
              <a:ext uri="{FF2B5EF4-FFF2-40B4-BE49-F238E27FC236}">
                <a16:creationId xmlns:a16="http://schemas.microsoft.com/office/drawing/2014/main" id="{F5E12E49-8DB5-45EF-A275-AD4FECCB57F6}"/>
              </a:ext>
            </a:extLst>
          </p:cNvPr>
          <p:cNvSpPr>
            <a:spLocks xmlns:a="http://schemas.openxmlformats.org/drawingml/2006/main" noGrp="1"/>
          </p:cNvSpPr>
          <p:nvPr/>
        </p:nvSpPr>
        <p:spPr>
          <a:xfrm xmlns:a="http://schemas.openxmlformats.org/drawingml/2006/main">
            <a:off x="533400" y="4905375"/>
            <a:ext cx="4038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Preparation status</a:t>
            </a:r>
          </a:p>
        </p:txBody>
      </p:sp>
      <p:sp>
        <p:nvSpPr>
          <p:cNvPr id="12" name="s9-process">
            <a:extLst xmlns:a="http://schemas.openxmlformats.org/drawingml/2006/main">
              <a:ext uri="{FF2B5EF4-FFF2-40B4-BE49-F238E27FC236}">
                <a16:creationId xmlns:a16="http://schemas.microsoft.com/office/drawing/2014/main" id="{9C2FAFE1-A255-4282-AB39-22241D44A3DF}"/>
              </a:ext>
            </a:extLst>
          </p:cNvPr>
          <p:cNvSpPr>
            <a:spLocks xmlns:a="http://schemas.openxmlformats.org/drawingml/2006/main" noGrp="1"/>
          </p:cNvSpPr>
          <p:nvPr/>
        </p:nvSpPr>
        <p:spPr>
          <a:xfrm xmlns:a="http://schemas.openxmlformats.org/drawingml/2006/main">
            <a:off x="533400" y="5219700"/>
            <a:ext cx="4038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Valuation, rollover, financing and timing remain unagreed. The CFO owns financial preparation, the COO owns capacity evidence and the CEO owns key-account continuity. Legal counsel has not been appointed.</a:t>
            </a:r>
          </a:p>
        </p:txBody>
      </p:sp>
      <p:graphicFrame>
        <p:nvGraphicFramePr>
          <p:cNvPr id="13" name="">
            <a:extLst xmlns:a="http://schemas.openxmlformats.org/drawingml/2006/main">
              <a:ext uri="{FF2B5EF4-FFF2-40B4-BE49-F238E27FC236}">
                <a16:creationId xmlns:a16="http://schemas.microsoft.com/office/drawing/2014/main" id="{21DE67FC-230E-47C8-A81C-9C5747DED757}"/>
              </a:ext>
            </a:extLst>
          </p:cNvPr>
          <p:cNvGraphicFramePr/>
          <p:nvPr/>
        </p:nvGraphicFramePr>
        <p:xfrm>
          <a:off xmlns:a="http://schemas.openxmlformats.org/drawingml/2006/main" x="4876800" y="1095375"/>
          <a:ext xmlns:a="http://schemas.openxmlformats.org/drawingml/2006/main" cx="6781800" cy="2571750"/>
        </p:xfrm>
        <a:graphic xmlns:a="http://schemas.openxmlformats.org/drawingml/2006/main">
          <a:graphicData uri="http://schemas.openxmlformats.org/drawingml/2006/table">
            <a:tbl>
              <a:tblPr/>
              <a:tblGrid>
                <a:gridCol w="2511778"/>
                <a:gridCol w="586081"/>
                <a:gridCol w="3683941"/>
              </a:tblGrid>
              <a:tr h="321469">
                <a:tc>
                  <a:txBody>
                    <a:bodyPr lIns="95250" tIns="47625" rIns="95250" bIns="47625">
                      <a:noAutofit/>
                    </a:bodyPr>
                    <a:lstStyle/>
                    <a:p>
                      <a:pPr algn="l"/>
                      <a:r>
                        <a:rPr sz="1200" b="1">
                          <a:solidFill>
                            <a:srgbClr val="FFFFFF"/>
                          </a:solidFill>
                          <a:latin typeface="Arial"/>
                          <a:ea typeface="Arial"/>
                          <a:cs typeface="Arial"/>
                        </a:rPr>
                        <a:t>Draft balance / subtotal</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r"/>
                      <a:r>
                        <a:rPr sz="1200" b="1">
                          <a:solidFill>
                            <a:srgbClr val="FFFFFF"/>
                          </a:solidFill>
                          <a:latin typeface="Arial"/>
                          <a:ea typeface="Arial"/>
                          <a:cs typeface="Arial"/>
                        </a:rPr>
                        <a:t>£m</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Interpretation</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321469">
                <a:tc>
                  <a:txBody>
                    <a:bodyPr lIns="95250" tIns="47625" rIns="95250" bIns="47625">
                      <a:noAutofit/>
                    </a:bodyPr>
                    <a:lstStyle/>
                    <a:p>
                      <a:pPr algn="l"/>
                      <a:r>
                        <a:rPr sz="1200" b="0">
                          <a:solidFill>
                            <a:srgbClr val="000000"/>
                          </a:solidFill>
                          <a:latin typeface="Arial"/>
                          <a:ea typeface="Arial"/>
                          <a:cs typeface="Arial"/>
                        </a:rPr>
                        <a:t>Cash</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2.4</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Restricted cash has not been assessed</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1469">
                <a:tc>
                  <a:txBody>
                    <a:bodyPr lIns="95250" tIns="47625" rIns="95250" bIns="47625">
                      <a:noAutofit/>
                    </a:bodyPr>
                    <a:lstStyle/>
                    <a:p>
                      <a:pPr algn="l"/>
                      <a:r>
                        <a:rPr sz="1200" b="0">
                          <a:solidFill>
                            <a:srgbClr val="000000"/>
                          </a:solidFill>
                          <a:latin typeface="Arial"/>
                          <a:ea typeface="Arial"/>
                          <a:cs typeface="Arial"/>
                        </a:rPr>
                        <a:t>Bank term debt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4.8</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Other debt-like items have not been assessed</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1469">
                <a:tc>
                  <a:txBody>
                    <a:bodyPr lIns="95250" tIns="47625" rIns="95250" bIns="47625">
                      <a:noAutofit/>
                    </a:bodyPr>
                    <a:lstStyle/>
                    <a:p>
                      <a:pPr algn="l"/>
                      <a:r>
                        <a:rPr sz="1200" b="1">
                          <a:solidFill>
                            <a:srgbClr val="000000"/>
                          </a:solidFill>
                          <a:latin typeface="Arial"/>
                          <a:ea typeface="Arial"/>
                          <a:cs typeface="Arial"/>
                        </a:rPr>
                        <a:t>Bank debt less cash</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2.4</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1">
                          <a:solidFill>
                            <a:srgbClr val="000000"/>
                          </a:solidFill>
                          <a:latin typeface="Arial"/>
                          <a:ea typeface="Arial"/>
                          <a:cs typeface="Arial"/>
                        </a:rPr>
                        <a:t>Limited arithmetic subtotal only</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1469">
                <a:tc>
                  <a:txBody>
                    <a:bodyPr lIns="95250" tIns="47625" rIns="95250" bIns="47625">
                      <a:noAutofit/>
                    </a:bodyPr>
                    <a:lstStyle/>
                    <a:p>
                      <a:pPr algn="l"/>
                      <a:r>
                        <a:rPr sz="1200" b="0">
                          <a:solidFill>
                            <a:srgbClr val="000000"/>
                          </a:solidFill>
                          <a:latin typeface="Arial"/>
                          <a:ea typeface="Arial"/>
                          <a:cs typeface="Arial"/>
                        </a:rPr>
                        <a:t>Trade receivables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4.2</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No ageing or collectability schedule supplied</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1469">
                <a:tc>
                  <a:txBody>
                    <a:bodyPr lIns="95250" tIns="47625" rIns="95250" bIns="47625">
                      <a:noAutofit/>
                    </a:bodyPr>
                    <a:lstStyle/>
                    <a:p>
                      <a:pPr algn="l"/>
                      <a:r>
                        <a:rPr sz="1200" b="0">
                          <a:solidFill>
                            <a:srgbClr val="000000"/>
                          </a:solidFill>
                          <a:latin typeface="Arial"/>
                          <a:ea typeface="Arial"/>
                          <a:cs typeface="Arial"/>
                        </a:rPr>
                        <a:t>Inventory</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0">
                          <a:solidFill>
                            <a:srgbClr val="000000"/>
                          </a:solidFill>
                          <a:latin typeface="Arial"/>
                          <a:ea typeface="Arial"/>
                          <a:cs typeface="Arial"/>
                        </a:rPr>
                        <a:t>0.6</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No inventory quality review supplied</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321469">
                <a:tc>
                  <a:txBody>
                    <a:bodyPr lIns="95250" tIns="47625" rIns="95250" bIns="47625">
                      <a:noAutofit/>
                    </a:bodyPr>
                    <a:lstStyle/>
                    <a:p>
                      <a:pPr algn="l"/>
                      <a:r>
                        <a:rPr sz="1200" b="0">
                          <a:solidFill>
                            <a:srgbClr val="000000"/>
                          </a:solidFill>
                          <a:latin typeface="Arial"/>
                          <a:ea typeface="Arial"/>
                          <a:cs typeface="Arial"/>
                        </a:rPr>
                        <a:t>Trade payables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r"/>
                      <a:r>
                        <a:rPr sz="1200" b="0">
                          <a:solidFill>
                            <a:srgbClr val="000000"/>
                          </a:solidFill>
                          <a:latin typeface="Arial"/>
                          <a:ea typeface="Arial"/>
                          <a:cs typeface="Arial"/>
                        </a:rPr>
                        <a:t>2.1</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Other working-capital balances are missing</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321469">
                <a:tc>
                  <a:txBody>
                    <a:bodyPr lIns="95250" tIns="47625" rIns="95250" bIns="47625">
                      <a:noAutofit/>
                    </a:bodyPr>
                    <a:lstStyle/>
                    <a:p>
                      <a:pPr algn="l"/>
                      <a:r>
                        <a:rPr sz="1200" b="1">
                          <a:solidFill>
                            <a:srgbClr val="000000"/>
                          </a:solidFill>
                          <a:latin typeface="Arial"/>
                          <a:ea typeface="Arial"/>
                          <a:cs typeface="Arial"/>
                        </a:rPr>
                        <a:t>Trade working capital</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r"/>
                      <a:r>
                        <a:rPr sz="1200" b="1">
                          <a:solidFill>
                            <a:srgbClr val="000000"/>
                          </a:solidFill>
                          <a:latin typeface="Arial"/>
                          <a:ea typeface="Arial"/>
                          <a:cs typeface="Arial"/>
                        </a:rPr>
                        <a:t>2.7</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1">
                          <a:solidFill>
                            <a:srgbClr val="000000"/>
                          </a:solidFill>
                          <a:latin typeface="Arial"/>
                          <a:ea typeface="Arial"/>
                          <a:cs typeface="Arial"/>
                        </a:rPr>
                        <a:t>Receivables + inventory − trade payables</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bl>
          </a:graphicData>
        </a:graphic>
      </p:graphicFrame>
      <p:sp>
        <p:nvSpPr>
          <p:cNvPr id="14" name="s9-bridge-head">
            <a:extLst xmlns:a="http://schemas.openxmlformats.org/drawingml/2006/main">
              <a:ext uri="{FF2B5EF4-FFF2-40B4-BE49-F238E27FC236}">
                <a16:creationId xmlns:a16="http://schemas.microsoft.com/office/drawing/2014/main" id="{BBA360CF-C103-493F-9352-323FB1C37221}"/>
              </a:ext>
            </a:extLst>
          </p:cNvPr>
          <p:cNvSpPr>
            <a:spLocks xmlns:a="http://schemas.openxmlformats.org/drawingml/2006/main" noGrp="1"/>
          </p:cNvSpPr>
          <p:nvPr/>
        </p:nvSpPr>
        <p:spPr>
          <a:xfrm xmlns:a="http://schemas.openxmlformats.org/drawingml/2006/main">
            <a:off x="4876800" y="3876675"/>
            <a:ext cx="6781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Requirements for an enterprise-to-equity bridge</a:t>
            </a:r>
          </a:p>
        </p:txBody>
      </p:sp>
      <p:sp>
        <p:nvSpPr>
          <p:cNvPr id="15" name="s9-bridge">
            <a:extLst xmlns:a="http://schemas.openxmlformats.org/drawingml/2006/main">
              <a:ext uri="{FF2B5EF4-FFF2-40B4-BE49-F238E27FC236}">
                <a16:creationId xmlns:a16="http://schemas.microsoft.com/office/drawing/2014/main" id="{6666DCE4-6C9F-4DAC-8619-7913DA2729F9}"/>
              </a:ext>
            </a:extLst>
          </p:cNvPr>
          <p:cNvSpPr>
            <a:spLocks xmlns:a="http://schemas.openxmlformats.org/drawingml/2006/main" noGrp="1"/>
          </p:cNvSpPr>
          <p:nvPr/>
        </p:nvSpPr>
        <p:spPr>
          <a:xfrm xmlns:a="http://schemas.openxmlformats.org/drawingml/2006/main">
            <a:off x="4876800" y="4191000"/>
            <a:ext cx="67818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Bank term debt less reported cash is £2.4m. This is not a concluded transaction net-debt figure: leases, tax balances, debt-like items and restricted cash have not been assessed. No enterprise value has been agreed.</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£2.7m trade working-capital snapshot excludes other balances and does not describe monthly seasonality. A normalised working-capital target cannot be established from a single year-end balance.</a:t>
            </a:r>
          </a:p>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deal team needs complete balance schedules and agreed transaction definitions before preparing an enterprise-to-equity bridge. Management’s draft figures are inputs to that work, rather than an equity-value conclusion.</a:t>
            </a:r>
          </a:p>
        </p:txBody>
      </p:sp>
    </p:spTree>
    <p:extLst>
      <p:ext uri="{BB962C8B-B14F-4D97-AF65-F5344CB8AC3E}">
        <p14:creationId xmlns:p14="http://schemas.microsoft.com/office/powerpoint/2010/main" val="11611026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10-section">
            <a:extLst xmlns:a="http://schemas.openxmlformats.org/drawingml/2006/main">
              <a:ext uri="{FF2B5EF4-FFF2-40B4-BE49-F238E27FC236}">
                <a16:creationId xmlns:a16="http://schemas.microsoft.com/office/drawing/2014/main" id="{9E40786B-DD7D-459C-9ABB-1ECFF960E605}"/>
              </a:ext>
            </a:extLst>
          </p:cNvPr>
          <p:cNvSpPr>
            <a:spLocks xmlns:a="http://schemas.openxmlformats.org/drawingml/2006/main" noGrp="1"/>
          </p:cNvSpPr>
          <p:nvPr/>
        </p:nvSpPr>
        <p:spPr>
          <a:xfrm xmlns:a="http://schemas.openxmlformats.org/drawingml/2006/main">
            <a:off x="533400" y="190500"/>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338D"/>
                </a:solidFill>
                <a:latin typeface="Arial"/>
                <a:ea typeface="Arial"/>
                <a:cs typeface="Arial"/>
              </a:defRPr>
            </a:defPPr>
            <a:lvl1pPr algn="l">
              <a:defRPr sz="975" b="1">
                <a:solidFill>
                  <a:srgbClr val="00338D"/>
                </a:solidFill>
                <a:latin typeface="Arial"/>
                <a:ea typeface="Arial"/>
                <a:cs typeface="Arial"/>
              </a:defRPr>
            </a:lvl1pPr>
            <a:lvl2pPr algn="l">
              <a:defRPr sz="975" b="1">
                <a:solidFill>
                  <a:srgbClr val="00338D"/>
                </a:solidFill>
                <a:latin typeface="Arial"/>
                <a:ea typeface="Arial"/>
                <a:cs typeface="Arial"/>
              </a:defRPr>
            </a:lvl2pPr>
            <a:lvl3pPr algn="l">
              <a:defRPr sz="975" b="1">
                <a:solidFill>
                  <a:srgbClr val="00338D"/>
                </a:solidFill>
                <a:latin typeface="Arial"/>
                <a:ea typeface="Arial"/>
                <a:cs typeface="Arial"/>
              </a:defRPr>
            </a:lvl3pPr>
            <a:lvl4pPr algn="l">
              <a:defRPr sz="975" b="1">
                <a:solidFill>
                  <a:srgbClr val="00338D"/>
                </a:solidFill>
                <a:latin typeface="Arial"/>
                <a:ea typeface="Arial"/>
                <a:cs typeface="Arial"/>
              </a:defRPr>
            </a:lvl4pPr>
            <a:lvl5pPr algn="l">
              <a:defRPr sz="975" b="1">
                <a:solidFill>
                  <a:srgbClr val="00338D"/>
                </a:solidFill>
                <a:latin typeface="Arial"/>
                <a:ea typeface="Arial"/>
                <a:cs typeface="Arial"/>
              </a:defRPr>
            </a:lvl5pPr>
            <a:lvl6pPr algn="l">
              <a:defRPr sz="975" b="1">
                <a:solidFill>
                  <a:srgbClr val="00338D"/>
                </a:solidFill>
                <a:latin typeface="Arial"/>
                <a:ea typeface="Arial"/>
                <a:cs typeface="Arial"/>
              </a:defRPr>
            </a:lvl6pPr>
            <a:lvl7pPr algn="l">
              <a:defRPr sz="975" b="1">
                <a:solidFill>
                  <a:srgbClr val="00338D"/>
                </a:solidFill>
                <a:latin typeface="Arial"/>
                <a:ea typeface="Arial"/>
                <a:cs typeface="Arial"/>
              </a:defRPr>
            </a:lvl7pPr>
            <a:lvl8pPr algn="l">
              <a:defRPr sz="975" b="1">
                <a:solidFill>
                  <a:srgbClr val="00338D"/>
                </a:solidFill>
                <a:latin typeface="Arial"/>
                <a:ea typeface="Arial"/>
                <a:cs typeface="Arial"/>
              </a:defRPr>
            </a:lvl8pPr>
            <a:lvl9pPr algn="l">
              <a:defRPr sz="975" b="1">
                <a:solidFill>
                  <a:srgbClr val="00338D"/>
                </a:solidFill>
                <a:latin typeface="Arial"/>
                <a:ea typeface="Arial"/>
                <a:cs typeface="Arial"/>
              </a:defRPr>
            </a:lvl9pPr>
          </a:lstStyle>
          <a:p xmlns:a="http://schemas.openxmlformats.org/drawingml/2006/main">
            <a:pPr algn="l">
              <a:defRPr sz="975" b="1">
                <a:solidFill>
                  <a:srgbClr val="00338D"/>
                </a:solidFill>
                <a:latin typeface="Arial"/>
                <a:ea typeface="Arial"/>
                <a:cs typeface="Arial"/>
              </a:defRPr>
            </a:pPr>
            <a:r>
              <a:rPr sz="975" b="1">
                <a:solidFill>
                  <a:srgbClr val="00338D"/>
                </a:solidFill>
                <a:latin typeface="Arial"/>
                <a:ea typeface="Arial"/>
                <a:cs typeface="Arial"/>
              </a:rPr>
              <a:t>PREPARATION PRIORITIES</a:t>
            </a:r>
          </a:p>
        </p:txBody>
      </p:sp>
      <p:sp>
        <p:nvSpPr>
          <p:cNvPr id="2" name="s10-title">
            <a:extLst xmlns:a="http://schemas.openxmlformats.org/drawingml/2006/main">
              <a:ext uri="{FF2B5EF4-FFF2-40B4-BE49-F238E27FC236}">
                <a16:creationId xmlns:a16="http://schemas.microsoft.com/office/drawing/2014/main" id="{0EA2E0E9-7C0F-49B7-9C2D-F5A187F8B864}"/>
              </a:ext>
            </a:extLst>
          </p:cNvPr>
          <p:cNvSpPr>
            <a:spLocks xmlns:a="http://schemas.openxmlformats.org/drawingml/2006/main" noGrp="1"/>
          </p:cNvSpPr>
          <p:nvPr/>
        </p:nvSpPr>
        <p:spPr>
          <a:xfrm xmlns:a="http://schemas.openxmlformats.org/drawingml/2006/main">
            <a:off x="533400" y="447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338D"/>
                </a:solidFill>
                <a:latin typeface="Arial"/>
                <a:ea typeface="Arial"/>
                <a:cs typeface="Arial"/>
              </a:defRPr>
            </a:defPPr>
            <a:lvl1pPr algn="l">
              <a:defRPr sz="2100" b="1">
                <a:solidFill>
                  <a:srgbClr val="00338D"/>
                </a:solidFill>
                <a:latin typeface="Arial"/>
                <a:ea typeface="Arial"/>
                <a:cs typeface="Arial"/>
              </a:defRPr>
            </a:lvl1pPr>
            <a:lvl2pPr algn="l">
              <a:defRPr sz="2100" b="1">
                <a:solidFill>
                  <a:srgbClr val="00338D"/>
                </a:solidFill>
                <a:latin typeface="Arial"/>
                <a:ea typeface="Arial"/>
                <a:cs typeface="Arial"/>
              </a:defRPr>
            </a:lvl2pPr>
            <a:lvl3pPr algn="l">
              <a:defRPr sz="2100" b="1">
                <a:solidFill>
                  <a:srgbClr val="00338D"/>
                </a:solidFill>
                <a:latin typeface="Arial"/>
                <a:ea typeface="Arial"/>
                <a:cs typeface="Arial"/>
              </a:defRPr>
            </a:lvl3pPr>
            <a:lvl4pPr algn="l">
              <a:defRPr sz="2100" b="1">
                <a:solidFill>
                  <a:srgbClr val="00338D"/>
                </a:solidFill>
                <a:latin typeface="Arial"/>
                <a:ea typeface="Arial"/>
                <a:cs typeface="Arial"/>
              </a:defRPr>
            </a:lvl4pPr>
            <a:lvl5pPr algn="l">
              <a:defRPr sz="2100" b="1">
                <a:solidFill>
                  <a:srgbClr val="00338D"/>
                </a:solidFill>
                <a:latin typeface="Arial"/>
                <a:ea typeface="Arial"/>
                <a:cs typeface="Arial"/>
              </a:defRPr>
            </a:lvl5pPr>
            <a:lvl6pPr algn="l">
              <a:defRPr sz="2100" b="1">
                <a:solidFill>
                  <a:srgbClr val="00338D"/>
                </a:solidFill>
                <a:latin typeface="Arial"/>
                <a:ea typeface="Arial"/>
                <a:cs typeface="Arial"/>
              </a:defRPr>
            </a:lvl6pPr>
            <a:lvl7pPr algn="l">
              <a:defRPr sz="2100" b="1">
                <a:solidFill>
                  <a:srgbClr val="00338D"/>
                </a:solidFill>
                <a:latin typeface="Arial"/>
                <a:ea typeface="Arial"/>
                <a:cs typeface="Arial"/>
              </a:defRPr>
            </a:lvl7pPr>
            <a:lvl8pPr algn="l">
              <a:defRPr sz="2100" b="1">
                <a:solidFill>
                  <a:srgbClr val="00338D"/>
                </a:solidFill>
                <a:latin typeface="Arial"/>
                <a:ea typeface="Arial"/>
                <a:cs typeface="Arial"/>
              </a:defRPr>
            </a:lvl8pPr>
            <a:lvl9pPr algn="l">
              <a:defRPr sz="2100" b="1">
                <a:solidFill>
                  <a:srgbClr val="00338D"/>
                </a:solidFill>
                <a:latin typeface="Arial"/>
                <a:ea typeface="Arial"/>
                <a:cs typeface="Arial"/>
              </a:defRPr>
            </a:lvl9pPr>
          </a:lstStyle>
          <a:p xmlns:a="http://schemas.openxmlformats.org/drawingml/2006/main">
            <a:pPr algn="l">
              <a:defRPr sz="2100" b="1">
                <a:solidFill>
                  <a:srgbClr val="00338D"/>
                </a:solidFill>
                <a:latin typeface="Arial"/>
                <a:ea typeface="Arial"/>
                <a:cs typeface="Arial"/>
              </a:defRPr>
            </a:pPr>
            <a:r>
              <a:rPr sz="2100" b="1">
                <a:solidFill>
                  <a:srgbClr val="00338D"/>
                </a:solidFill>
                <a:latin typeface="Arial"/>
                <a:ea typeface="Arial"/>
                <a:cs typeface="Arial"/>
              </a:rPr>
              <a:t>Diligence workplan and evidence gaps</a:t>
            </a:r>
          </a:p>
        </p:txBody>
      </p:sp>
      <p:sp>
        <p:nvSpPr>
          <p:cNvPr id="3" name="s10-header-rule">
            <a:extLst xmlns:a="http://schemas.openxmlformats.org/drawingml/2006/main">
              <a:ext uri="{FF2B5EF4-FFF2-40B4-BE49-F238E27FC236}">
                <a16:creationId xmlns:a16="http://schemas.microsoft.com/office/drawing/2014/main" id="{0029571B-281E-493C-8B33-09B4C38C6355}"/>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4" name="s10-source">
            <a:extLst xmlns:a="http://schemas.openxmlformats.org/drawingml/2006/main">
              <a:ext uri="{FF2B5EF4-FFF2-40B4-BE49-F238E27FC236}">
                <a16:creationId xmlns:a16="http://schemas.microsoft.com/office/drawing/2014/main" id="{54B4D63E-E76C-438B-8259-65FB04CB9F01}"/>
              </a:ext>
            </a:extLst>
          </p:cNvPr>
          <p:cNvSpPr>
            <a:spLocks xmlns:a="http://schemas.openxmlformats.org/drawingml/2006/main" noGrp="1"/>
          </p:cNvSpPr>
          <p:nvPr/>
        </p:nvSpPr>
        <p:spPr>
          <a:xfrm xmlns:a="http://schemas.openxmlformats.org/drawingml/2006/main">
            <a:off x="533400" y="62484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0">
                <a:solidFill>
                  <a:srgbClr val="00338D"/>
                </a:solidFill>
                <a:latin typeface="Arial"/>
                <a:ea typeface="Arial"/>
                <a:cs typeface="Arial"/>
              </a:defRPr>
            </a:defPPr>
            <a:lvl1pPr algn="l">
              <a:defRPr sz="788" b="0">
                <a:solidFill>
                  <a:srgbClr val="00338D"/>
                </a:solidFill>
                <a:latin typeface="Arial"/>
                <a:ea typeface="Arial"/>
                <a:cs typeface="Arial"/>
              </a:defRPr>
            </a:lvl1pPr>
            <a:lvl2pPr algn="l">
              <a:defRPr sz="788" b="0">
                <a:solidFill>
                  <a:srgbClr val="00338D"/>
                </a:solidFill>
                <a:latin typeface="Arial"/>
                <a:ea typeface="Arial"/>
                <a:cs typeface="Arial"/>
              </a:defRPr>
            </a:lvl2pPr>
            <a:lvl3pPr algn="l">
              <a:defRPr sz="788" b="0">
                <a:solidFill>
                  <a:srgbClr val="00338D"/>
                </a:solidFill>
                <a:latin typeface="Arial"/>
                <a:ea typeface="Arial"/>
                <a:cs typeface="Arial"/>
              </a:defRPr>
            </a:lvl3pPr>
            <a:lvl4pPr algn="l">
              <a:defRPr sz="788" b="0">
                <a:solidFill>
                  <a:srgbClr val="00338D"/>
                </a:solidFill>
                <a:latin typeface="Arial"/>
                <a:ea typeface="Arial"/>
                <a:cs typeface="Arial"/>
              </a:defRPr>
            </a:lvl4pPr>
            <a:lvl5pPr algn="l">
              <a:defRPr sz="788" b="0">
                <a:solidFill>
                  <a:srgbClr val="00338D"/>
                </a:solidFill>
                <a:latin typeface="Arial"/>
                <a:ea typeface="Arial"/>
                <a:cs typeface="Arial"/>
              </a:defRPr>
            </a:lvl5pPr>
            <a:lvl6pPr algn="l">
              <a:defRPr sz="788" b="0">
                <a:solidFill>
                  <a:srgbClr val="00338D"/>
                </a:solidFill>
                <a:latin typeface="Arial"/>
                <a:ea typeface="Arial"/>
                <a:cs typeface="Arial"/>
              </a:defRPr>
            </a:lvl6pPr>
            <a:lvl7pPr algn="l">
              <a:defRPr sz="788" b="0">
                <a:solidFill>
                  <a:srgbClr val="00338D"/>
                </a:solidFill>
                <a:latin typeface="Arial"/>
                <a:ea typeface="Arial"/>
                <a:cs typeface="Arial"/>
              </a:defRPr>
            </a:lvl7pPr>
            <a:lvl8pPr algn="l">
              <a:defRPr sz="788" b="0">
                <a:solidFill>
                  <a:srgbClr val="00338D"/>
                </a:solidFill>
                <a:latin typeface="Arial"/>
                <a:ea typeface="Arial"/>
                <a:cs typeface="Arial"/>
              </a:defRPr>
            </a:lvl8pPr>
            <a:lvl9pPr algn="l">
              <a:defRPr sz="788" b="0">
                <a:solidFill>
                  <a:srgbClr val="00338D"/>
                </a:solidFill>
                <a:latin typeface="Arial"/>
                <a:ea typeface="Arial"/>
                <a:cs typeface="Arial"/>
              </a:defRPr>
            </a:lvl9pPr>
          </a:lstStyle>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Sources: 05 commercial interview; 07 service KPIs; 10 CFO follow-up; 11 forecast bridge; 13 transaction workshop.</a:t>
            </a:r>
          </a:p>
          <a:p xmlns:a="http://schemas.openxmlformats.org/drawingml/2006/main">
            <a:pPr algn="l">
              <a:defRPr sz="788" b="0">
                <a:solidFill>
                  <a:srgbClr val="00338D"/>
                </a:solidFill>
                <a:latin typeface="Arial"/>
                <a:ea typeface="Arial"/>
                <a:cs typeface="Arial"/>
              </a:defRPr>
            </a:pPr>
            <a:r>
              <a:rPr sz="788" b="0">
                <a:solidFill>
                  <a:srgbClr val="00338D"/>
                </a:solidFill>
                <a:latin typeface="Arial"/>
                <a:ea typeface="Arial"/>
                <a:cs typeface="Arial"/>
              </a:rPr>
              <a:t>Workplan interpretation is based on identified evidence gaps. Named owners reflect management preparation responsibilities.</a:t>
            </a:r>
          </a:p>
        </p:txBody>
      </p:sp>
      <p:sp>
        <p:nvSpPr>
          <p:cNvPr id="5" name="s10-footer-rule">
            <a:extLst xmlns:a="http://schemas.openxmlformats.org/drawingml/2006/main">
              <a:ext uri="{FF2B5EF4-FFF2-40B4-BE49-F238E27FC236}">
                <a16:creationId xmlns:a16="http://schemas.microsoft.com/office/drawing/2014/main" id="{92F25D58-CEFF-42D2-9FB1-13FC553CCCF3}"/>
              </a:ext>
            </a:extLst>
          </p:cNvPr>
          <p:cNvSpPr>
            <a:spLocks xmlns:a="http://schemas.openxmlformats.org/drawingml/2006/main" noGrp="1"/>
          </p:cNvSpPr>
          <p:nvPr/>
        </p:nvSpPr>
        <p:spPr>
          <a:xfrm xmlns:a="http://schemas.openxmlformats.org/drawingml/2006/main">
            <a:off x="533400" y="6581775"/>
            <a:ext cx="111252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6" name="s10-footer">
            <a:extLst xmlns:a="http://schemas.openxmlformats.org/drawingml/2006/main">
              <a:ext uri="{FF2B5EF4-FFF2-40B4-BE49-F238E27FC236}">
                <a16:creationId xmlns:a16="http://schemas.microsoft.com/office/drawing/2014/main" id="{5C0946C2-FC1A-4EF7-BDE3-1049AF61AFC0}"/>
              </a:ext>
            </a:extLst>
          </p:cNvPr>
          <p:cNvSpPr>
            <a:spLocks xmlns:a="http://schemas.openxmlformats.org/drawingml/2006/main" noGrp="1"/>
          </p:cNvSpPr>
          <p:nvPr/>
        </p:nvSpPr>
        <p:spPr>
          <a:xfrm xmlns:a="http://schemas.openxmlformats.org/drawingml/2006/main">
            <a:off x="533400" y="6638925"/>
            <a:ext cx="10287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595959"/>
                </a:solidFill>
                <a:latin typeface="Arial"/>
                <a:ea typeface="Arial"/>
                <a:cs typeface="Arial"/>
              </a:defRPr>
            </a:defPPr>
            <a:lvl1pPr algn="l">
              <a:defRPr sz="750" b="0">
                <a:solidFill>
                  <a:srgbClr val="595959"/>
                </a:solidFill>
                <a:latin typeface="Arial"/>
                <a:ea typeface="Arial"/>
                <a:cs typeface="Arial"/>
              </a:defRPr>
            </a:lvl1pPr>
            <a:lvl2pPr algn="l">
              <a:defRPr sz="750" b="0">
                <a:solidFill>
                  <a:srgbClr val="595959"/>
                </a:solidFill>
                <a:latin typeface="Arial"/>
                <a:ea typeface="Arial"/>
                <a:cs typeface="Arial"/>
              </a:defRPr>
            </a:lvl2pPr>
            <a:lvl3pPr algn="l">
              <a:defRPr sz="750" b="0">
                <a:solidFill>
                  <a:srgbClr val="595959"/>
                </a:solidFill>
                <a:latin typeface="Arial"/>
                <a:ea typeface="Arial"/>
                <a:cs typeface="Arial"/>
              </a:defRPr>
            </a:lvl3pPr>
            <a:lvl4pPr algn="l">
              <a:defRPr sz="750" b="0">
                <a:solidFill>
                  <a:srgbClr val="595959"/>
                </a:solidFill>
                <a:latin typeface="Arial"/>
                <a:ea typeface="Arial"/>
                <a:cs typeface="Arial"/>
              </a:defRPr>
            </a:lvl4pPr>
            <a:lvl5pPr algn="l">
              <a:defRPr sz="750" b="0">
                <a:solidFill>
                  <a:srgbClr val="595959"/>
                </a:solidFill>
                <a:latin typeface="Arial"/>
                <a:ea typeface="Arial"/>
                <a:cs typeface="Arial"/>
              </a:defRPr>
            </a:lvl5pPr>
            <a:lvl6pPr algn="l">
              <a:defRPr sz="750" b="0">
                <a:solidFill>
                  <a:srgbClr val="595959"/>
                </a:solidFill>
                <a:latin typeface="Arial"/>
                <a:ea typeface="Arial"/>
                <a:cs typeface="Arial"/>
              </a:defRPr>
            </a:lvl6pPr>
            <a:lvl7pPr algn="l">
              <a:defRPr sz="750" b="0">
                <a:solidFill>
                  <a:srgbClr val="595959"/>
                </a:solidFill>
                <a:latin typeface="Arial"/>
                <a:ea typeface="Arial"/>
                <a:cs typeface="Arial"/>
              </a:defRPr>
            </a:lvl7pPr>
            <a:lvl8pPr algn="l">
              <a:defRPr sz="750" b="0">
                <a:solidFill>
                  <a:srgbClr val="595959"/>
                </a:solidFill>
                <a:latin typeface="Arial"/>
                <a:ea typeface="Arial"/>
                <a:cs typeface="Arial"/>
              </a:defRPr>
            </a:lvl8pPr>
            <a:lvl9pPr algn="l">
              <a:defRPr sz="750" b="0">
                <a:solidFill>
                  <a:srgbClr val="595959"/>
                </a:solidFill>
                <a:latin typeface="Arial"/>
                <a:ea typeface="Arial"/>
                <a:cs typeface="Arial"/>
              </a:defRPr>
            </a:lvl9pPr>
          </a:lstStyle>
          <a:p xmlns:a="http://schemas.openxmlformats.org/drawingml/2006/main">
            <a:pPr algn="l">
              <a:defRPr sz="750" b="0">
                <a:solidFill>
                  <a:srgbClr val="595959"/>
                </a:solidFill>
                <a:latin typeface="Arial"/>
                <a:ea typeface="Arial"/>
                <a:cs typeface="Arial"/>
              </a:defRPr>
            </a:pPr>
            <a:r>
              <a:rPr sz="750" b="0">
                <a:solidFill>
                  <a:srgbClr val="595959"/>
                </a:solidFill>
                <a:latin typeface="Arial"/>
                <a:ea typeface="Arial"/>
                <a:cs typeface="Arial"/>
              </a:rPr>
              <a:t>NORTHBRIDGE     FICTIONAL TRAINING CASE     January 2026</a:t>
            </a:r>
          </a:p>
        </p:txBody>
      </p:sp>
      <p:sp>
        <p:nvSpPr>
          <p:cNvPr id="7" name="s10-number">
            <a:extLst xmlns:a="http://schemas.openxmlformats.org/drawingml/2006/main">
              <a:ext uri="{FF2B5EF4-FFF2-40B4-BE49-F238E27FC236}">
                <a16:creationId xmlns:a16="http://schemas.microsoft.com/office/drawing/2014/main" id="{C8F20910-BA60-4E94-9779-5DAC52418C37}"/>
              </a:ext>
            </a:extLst>
          </p:cNvPr>
          <p:cNvSpPr>
            <a:spLocks xmlns:a="http://schemas.openxmlformats.org/drawingml/2006/main" noGrp="1"/>
          </p:cNvSpPr>
          <p:nvPr/>
        </p:nvSpPr>
        <p:spPr>
          <a:xfrm xmlns:a="http://schemas.openxmlformats.org/drawingml/2006/main">
            <a:off x="11277600" y="6638925"/>
            <a:ext cx="38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50" b="0">
                <a:solidFill>
                  <a:srgbClr val="00338D"/>
                </a:solidFill>
                <a:latin typeface="Arial"/>
                <a:ea typeface="Arial"/>
                <a:cs typeface="Arial"/>
              </a:defRPr>
            </a:defPPr>
            <a:lvl1pPr algn="r">
              <a:defRPr sz="750" b="0">
                <a:solidFill>
                  <a:srgbClr val="00338D"/>
                </a:solidFill>
                <a:latin typeface="Arial"/>
                <a:ea typeface="Arial"/>
                <a:cs typeface="Arial"/>
              </a:defRPr>
            </a:lvl1pPr>
            <a:lvl2pPr algn="r">
              <a:defRPr sz="750" b="0">
                <a:solidFill>
                  <a:srgbClr val="00338D"/>
                </a:solidFill>
                <a:latin typeface="Arial"/>
                <a:ea typeface="Arial"/>
                <a:cs typeface="Arial"/>
              </a:defRPr>
            </a:lvl2pPr>
            <a:lvl3pPr algn="r">
              <a:defRPr sz="750" b="0">
                <a:solidFill>
                  <a:srgbClr val="00338D"/>
                </a:solidFill>
                <a:latin typeface="Arial"/>
                <a:ea typeface="Arial"/>
                <a:cs typeface="Arial"/>
              </a:defRPr>
            </a:lvl3pPr>
            <a:lvl4pPr algn="r">
              <a:defRPr sz="750" b="0">
                <a:solidFill>
                  <a:srgbClr val="00338D"/>
                </a:solidFill>
                <a:latin typeface="Arial"/>
                <a:ea typeface="Arial"/>
                <a:cs typeface="Arial"/>
              </a:defRPr>
            </a:lvl4pPr>
            <a:lvl5pPr algn="r">
              <a:defRPr sz="750" b="0">
                <a:solidFill>
                  <a:srgbClr val="00338D"/>
                </a:solidFill>
                <a:latin typeface="Arial"/>
                <a:ea typeface="Arial"/>
                <a:cs typeface="Arial"/>
              </a:defRPr>
            </a:lvl5pPr>
            <a:lvl6pPr algn="r">
              <a:defRPr sz="750" b="0">
                <a:solidFill>
                  <a:srgbClr val="00338D"/>
                </a:solidFill>
                <a:latin typeface="Arial"/>
                <a:ea typeface="Arial"/>
                <a:cs typeface="Arial"/>
              </a:defRPr>
            </a:lvl6pPr>
            <a:lvl7pPr algn="r">
              <a:defRPr sz="750" b="0">
                <a:solidFill>
                  <a:srgbClr val="00338D"/>
                </a:solidFill>
                <a:latin typeface="Arial"/>
                <a:ea typeface="Arial"/>
                <a:cs typeface="Arial"/>
              </a:defRPr>
            </a:lvl7pPr>
            <a:lvl8pPr algn="r">
              <a:defRPr sz="750" b="0">
                <a:solidFill>
                  <a:srgbClr val="00338D"/>
                </a:solidFill>
                <a:latin typeface="Arial"/>
                <a:ea typeface="Arial"/>
                <a:cs typeface="Arial"/>
              </a:defRPr>
            </a:lvl8pPr>
            <a:lvl9pPr algn="r">
              <a:defRPr sz="750" b="0">
                <a:solidFill>
                  <a:srgbClr val="00338D"/>
                </a:solidFill>
                <a:latin typeface="Arial"/>
                <a:ea typeface="Arial"/>
                <a:cs typeface="Arial"/>
              </a:defRPr>
            </a:lvl9pPr>
          </a:lstStyle>
          <a:p xmlns:a="http://schemas.openxmlformats.org/drawingml/2006/main">
            <a:pPr algn="r">
              <a:defRPr sz="750" b="0">
                <a:solidFill>
                  <a:srgbClr val="00338D"/>
                </a:solidFill>
                <a:latin typeface="Arial"/>
                <a:ea typeface="Arial"/>
                <a:cs typeface="Arial"/>
              </a:defRPr>
            </a:pPr>
            <a:r>
              <a:rPr sz="750" b="0">
                <a:solidFill>
                  <a:srgbClr val="00338D"/>
                </a:solidFill>
                <a:latin typeface="Arial"/>
                <a:ea typeface="Arial"/>
                <a:cs typeface="Arial"/>
              </a:rPr>
              <a:t>10</a:t>
            </a:r>
          </a:p>
        </p:txBody>
      </p:sp>
      <p:graphicFrame>
        <p:nvGraphicFramePr>
          <p:cNvPr id="8" name="">
            <a:extLst xmlns:a="http://schemas.openxmlformats.org/drawingml/2006/main">
              <a:ext uri="{FF2B5EF4-FFF2-40B4-BE49-F238E27FC236}">
                <a16:creationId xmlns:a16="http://schemas.microsoft.com/office/drawing/2014/main" id="{E2B9C371-FD42-41D4-8A9B-BBB480D8D0C7}"/>
              </a:ext>
            </a:extLst>
          </p:cNvPr>
          <p:cNvGraphicFramePr/>
          <p:nvPr/>
        </p:nvGraphicFramePr>
        <p:xfrm>
          <a:off xmlns:a="http://schemas.openxmlformats.org/drawingml/2006/main" x="533400" y="1095375"/>
          <a:ext xmlns:a="http://schemas.openxmlformats.org/drawingml/2006/main" cx="11125200" cy="4286250"/>
        </p:xfrm>
        <a:graphic xmlns:a="http://schemas.openxmlformats.org/drawingml/2006/main">
          <a:graphicData uri="http://schemas.openxmlformats.org/drawingml/2006/table">
            <a:tbl>
              <a:tblPr/>
              <a:tblGrid>
                <a:gridCol w="1589314"/>
                <a:gridCol w="3896383"/>
                <a:gridCol w="4614138"/>
                <a:gridCol w="1025364"/>
              </a:tblGrid>
              <a:tr h="293588">
                <a:tc>
                  <a:txBody>
                    <a:bodyPr lIns="95250" tIns="47625" rIns="95250" bIns="47625">
                      <a:noAutofit/>
                    </a:bodyPr>
                    <a:lstStyle/>
                    <a:p>
                      <a:pPr algn="l"/>
                      <a:r>
                        <a:rPr sz="1200" b="1">
                          <a:solidFill>
                            <a:srgbClr val="FFFFFF"/>
                          </a:solidFill>
                          <a:latin typeface="Arial"/>
                          <a:ea typeface="Arial"/>
                          <a:cs typeface="Arial"/>
                        </a:rPr>
                        <a:t>Workstream</a:t>
                      </a:r>
                    </a:p>
                  </a:txBody>
                  <a:tcPr marL="91440" marR="91440" marT="45720" marB="45720" anchor="ctr">
                    <a:lnL w="5715">
                      <a:solidFill>
                        <a:srgbClr val="B8C7DF"/>
                      </a:solidFill>
                      <a:prstDash val="solid"/>
                    </a:lnL>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Current evidence / issue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Next deliverable and purpose</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c>
                  <a:txBody>
                    <a:bodyPr lIns="95250" tIns="47625" rIns="95250" bIns="47625">
                      <a:noAutofit/>
                    </a:bodyPr>
                    <a:lstStyle/>
                    <a:p>
                      <a:pPr algn="l"/>
                      <a:r>
                        <a:rPr sz="1200" b="1">
                          <a:solidFill>
                            <a:srgbClr val="FFFFFF"/>
                          </a:solidFill>
                          <a:latin typeface="Arial"/>
                          <a:ea typeface="Arial"/>
                          <a:cs typeface="Arial"/>
                        </a:rPr>
                        <a:t>Owner</a:t>
                      </a:r>
                    </a:p>
                  </a:txBody>
                  <a:tcPr marL="91440" marR="91440" marT="45720" marB="45720" anchor="ctr">
                    <a:lnR w="5715">
                      <a:solidFill>
                        <a:srgbClr val="B8C7DF"/>
                      </a:solidFill>
                      <a:prstDash val="solid"/>
                    </a:lnR>
                    <a:lnT w="5715">
                      <a:solidFill>
                        <a:srgbClr val="B8C7DF"/>
                      </a:solidFill>
                      <a:prstDash val="solid"/>
                    </a:lnT>
                    <a:lnB w="5715">
                      <a:solidFill>
                        <a:srgbClr val="B8C7DF"/>
                      </a:solidFill>
                      <a:prstDash val="solid"/>
                    </a:lnB>
                    <a:solidFill>
                      <a:srgbClr val="00338D"/>
                    </a:solidFill>
                  </a:tcPr>
                </a:tc>
              </a:tr>
              <a:tr h="665444">
                <a:tc>
                  <a:txBody>
                    <a:bodyPr lIns="95250" tIns="47625" rIns="95250" bIns="47625">
                      <a:noAutofit/>
                    </a:bodyPr>
                    <a:lstStyle/>
                    <a:p>
                      <a:pPr algn="l"/>
                      <a:r>
                        <a:rPr sz="1200" b="0">
                          <a:solidFill>
                            <a:srgbClr val="000000"/>
                          </a:solidFill>
                          <a:latin typeface="Arial"/>
                          <a:ea typeface="Arial"/>
                          <a:cs typeface="Arial"/>
                        </a:rPr>
                        <a:t>Revenue and earnings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Annual and quarterly schedules agree to £25.0m. The £26.2m briefing remains unreconciled. Proposed EBITDA add-backs are unsupported.</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Revenue ledger-to-invoice reconciliation with cut-off testing. QoE review and item-level adjustment support to establish the earnings basis.</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CFO</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665444">
                <a:tc>
                  <a:txBody>
                    <a:bodyPr lIns="95250" tIns="47625" rIns="95250" bIns="47625">
                      <a:noAutofit/>
                    </a:bodyPr>
                    <a:lstStyle/>
                    <a:p>
                      <a:pPr algn="l"/>
                      <a:r>
                        <a:rPr sz="1200" b="0">
                          <a:solidFill>
                            <a:srgbClr val="000000"/>
                          </a:solidFill>
                          <a:latin typeface="Arial"/>
                          <a:ea typeface="Arial"/>
                          <a:cs typeface="Arial"/>
                        </a:rPr>
                        <a:t>Net debt and working capital</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Cash, bank debt and trade balances are preliminary. Leases, debt-like items and monthly seasonality are missing.</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Full balance schedules, restricted-cash assessment and monthly working-capital history to define transaction adjustments.</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CFO</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665444">
                <a:tc>
                  <a:txBody>
                    <a:bodyPr lIns="95250" tIns="47625" rIns="95250" bIns="47625">
                      <a:noAutofit/>
                    </a:bodyPr>
                    <a:lstStyle/>
                    <a:p>
                      <a:pPr algn="l"/>
                      <a:r>
                        <a:rPr sz="1200" b="0">
                          <a:solidFill>
                            <a:srgbClr val="000000"/>
                          </a:solidFill>
                          <a:latin typeface="Arial"/>
                          <a:ea typeface="Arial"/>
                          <a:cs typeface="Arial"/>
                        </a:rPr>
                        <a:t>Customers and renewals</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A defined 25-agreement cohort and expiry allocation are available. The earlier customer-retention estimate remains undefined.</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Matched agreement-level renewal records, expiry status and account coverage. Review pricing and termination terms to assess revenue exposure.</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CEO</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665444">
                <a:tc>
                  <a:txBody>
                    <a:bodyPr lIns="95250" tIns="47625" rIns="95250" bIns="47625">
                      <a:noAutofit/>
                    </a:bodyPr>
                    <a:lstStyle/>
                    <a:p>
                      <a:pPr algn="l"/>
                      <a:r>
                        <a:rPr sz="1200" b="0">
                          <a:solidFill>
                            <a:srgbClr val="000000"/>
                          </a:solidFill>
                          <a:latin typeface="Arial"/>
                          <a:ea typeface="Arial"/>
                          <a:cs typeface="Arial"/>
                        </a:rPr>
                        <a:t>Service delivery and capacity</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Hub headcount and three KPIs have stated denominators. No job-level validation or detailed hiring/ramp-up plan is available.</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Job record extracts and eligibility rules. Engineer recruitment dates, replacement needs and cost assumptions to test delivery capacity.</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COO</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r h="665444">
                <a:tc>
                  <a:txBody>
                    <a:bodyPr lIns="95250" tIns="47625" rIns="95250" bIns="47625">
                      <a:noAutofit/>
                    </a:bodyPr>
                    <a:lstStyle/>
                    <a:p>
                      <a:pPr algn="l"/>
                      <a:r>
                        <a:rPr sz="1200" b="0">
                          <a:solidFill>
                            <a:srgbClr val="000000"/>
                          </a:solidFill>
                          <a:latin typeface="Arial"/>
                          <a:ea typeface="Arial"/>
                          <a:cs typeface="Arial"/>
                        </a:rPr>
                        <a:t>Forecast conversion</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Group revenue bridge reconciles. All pipeline stages remain unsigned and customer-level support is absent.</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Customer-by-customer revenue bridge, opportunity timing and signed awards. Link growth to renewals, cross-sell and engineer availability.</a:t>
                      </a:r>
                    </a:p>
                  </a:txBody>
                  <a:tcPr marL="91440" marR="91440" marT="45720" marB="45720" anchor="ctr">
                    <a:lnR w="5715">
                      <a:solidFill>
                        <a:srgbClr val="B8C7DF"/>
                      </a:solidFill>
                      <a:prstDash val="solid"/>
                    </a:lnR>
                    <a:lnB w="5715">
                      <a:solidFill>
                        <a:srgbClr val="B8C7DF"/>
                      </a:solidFill>
                      <a:prstDash val="solid"/>
                    </a:lnB>
                    <a:solidFill>
                      <a:srgbClr val="FFFFFF"/>
                    </a:solidFill>
                  </a:tcPr>
                </a:tc>
                <a:tc>
                  <a:txBody>
                    <a:bodyPr lIns="95250" tIns="47625" rIns="95250" bIns="47625">
                      <a:noAutofit/>
                    </a:bodyPr>
                    <a:lstStyle/>
                    <a:p>
                      <a:pPr algn="l"/>
                      <a:r>
                        <a:rPr sz="1200" b="0">
                          <a:solidFill>
                            <a:srgbClr val="000000"/>
                          </a:solidFill>
                          <a:latin typeface="Arial"/>
                          <a:ea typeface="Arial"/>
                          <a:cs typeface="Arial"/>
                        </a:rPr>
                        <a:t>CFO / CEO</a:t>
                      </a:r>
                    </a:p>
                  </a:txBody>
                  <a:tcPr marL="91440" marR="91440" marT="45720" marB="45720" anchor="ctr">
                    <a:lnR w="5715">
                      <a:solidFill>
                        <a:srgbClr val="B8C7DF"/>
                      </a:solidFill>
                      <a:prstDash val="solid"/>
                    </a:lnR>
                    <a:lnB w="5715">
                      <a:solidFill>
                        <a:srgbClr val="B8C7DF"/>
                      </a:solidFill>
                      <a:prstDash val="solid"/>
                    </a:lnB>
                    <a:solidFill>
                      <a:srgbClr val="FFFFFF"/>
                    </a:solidFill>
                  </a:tcPr>
                </a:tc>
              </a:tr>
              <a:tr h="665444">
                <a:tc>
                  <a:txBody>
                    <a:bodyPr lIns="95250" tIns="47625" rIns="95250" bIns="47625">
                      <a:noAutofit/>
                    </a:bodyPr>
                    <a:lstStyle/>
                    <a:p>
                      <a:pPr algn="l"/>
                      <a:r>
                        <a:rPr sz="1200" b="0">
                          <a:solidFill>
                            <a:srgbClr val="000000"/>
                          </a:solidFill>
                          <a:latin typeface="Arial"/>
                          <a:ea typeface="Arial"/>
                          <a:cs typeface="Arial"/>
                        </a:rPr>
                        <a:t>Legal perimeter and market</a:t>
                      </a:r>
                    </a:p>
                  </a:txBody>
                  <a:tcPr marL="91440" marR="91440" marT="45720" marB="45720" anchor="ctr">
                    <a:lnL w="5715">
                      <a:solidFill>
                        <a:srgbClr val="B8C7DF"/>
                      </a:solidFill>
                      <a:prstDash val="solid"/>
                    </a:lnL>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The proposal includes operating assets and contracts. Consents and title are unreviewed. Independent market evidence is absent.</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Legal perimeter and consent schedule. Separate independent market work before using market-size, share or leadership claims.</a:t>
                      </a:r>
                    </a:p>
                  </a:txBody>
                  <a:tcPr marL="91440" marR="91440" marT="45720" marB="45720" anchor="ctr">
                    <a:lnR w="5715">
                      <a:solidFill>
                        <a:srgbClr val="B8C7DF"/>
                      </a:solidFill>
                      <a:prstDash val="solid"/>
                    </a:lnR>
                    <a:lnB w="5715">
                      <a:solidFill>
                        <a:srgbClr val="B8C7DF"/>
                      </a:solidFill>
                      <a:prstDash val="solid"/>
                    </a:lnB>
                    <a:solidFill>
                      <a:srgbClr val="DBE8F8"/>
                    </a:solidFill>
                  </a:tcPr>
                </a:tc>
                <a:tc>
                  <a:txBody>
                    <a:bodyPr lIns="95250" tIns="47625" rIns="95250" bIns="47625">
                      <a:noAutofit/>
                    </a:bodyPr>
                    <a:lstStyle/>
                    <a:p>
                      <a:pPr algn="l"/>
                      <a:r>
                        <a:rPr sz="1200" b="0">
                          <a:solidFill>
                            <a:srgbClr val="000000"/>
                          </a:solidFill>
                          <a:latin typeface="Arial"/>
                          <a:ea typeface="Arial"/>
                          <a:cs typeface="Arial"/>
                        </a:rPr>
                        <a:t>Legal / strategy</a:t>
                      </a:r>
                    </a:p>
                  </a:txBody>
                  <a:tcPr marL="91440" marR="91440" marT="45720" marB="45720" anchor="ctr">
                    <a:lnR w="5715">
                      <a:solidFill>
                        <a:srgbClr val="B8C7DF"/>
                      </a:solidFill>
                      <a:prstDash val="solid"/>
                    </a:lnR>
                    <a:lnB w="5715">
                      <a:solidFill>
                        <a:srgbClr val="B8C7DF"/>
                      </a:solidFill>
                      <a:prstDash val="solid"/>
                    </a:lnB>
                    <a:solidFill>
                      <a:srgbClr val="DBE8F8"/>
                    </a:solidFill>
                  </a:tcPr>
                </a:tc>
              </a:tr>
            </a:tbl>
          </a:graphicData>
        </a:graphic>
      </p:graphicFrame>
      <p:sp>
        <p:nvSpPr>
          <p:cNvPr id="9" name="s10-sequence-head">
            <a:extLst xmlns:a="http://schemas.openxmlformats.org/drawingml/2006/main">
              <a:ext uri="{FF2B5EF4-FFF2-40B4-BE49-F238E27FC236}">
                <a16:creationId xmlns:a16="http://schemas.microsoft.com/office/drawing/2014/main" id="{9A61A064-4586-4204-BCE2-29901205C833}"/>
              </a:ext>
            </a:extLst>
          </p:cNvPr>
          <p:cNvSpPr>
            <a:spLocks xmlns:a="http://schemas.openxmlformats.org/drawingml/2006/main" noGrp="1"/>
          </p:cNvSpPr>
          <p:nvPr/>
        </p:nvSpPr>
        <p:spPr>
          <a:xfrm xmlns:a="http://schemas.openxmlformats.org/drawingml/2006/main">
            <a:off x="533400" y="550545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338D"/>
                </a:solidFill>
                <a:latin typeface="Arial"/>
                <a:ea typeface="Arial"/>
                <a:cs typeface="Arial"/>
              </a:defRPr>
            </a:defPPr>
            <a:lvl1pPr algn="l">
              <a:defRPr sz="1425" b="1">
                <a:solidFill>
                  <a:srgbClr val="00338D"/>
                </a:solidFill>
                <a:latin typeface="Arial"/>
                <a:ea typeface="Arial"/>
                <a:cs typeface="Arial"/>
              </a:defRPr>
            </a:lvl1pPr>
            <a:lvl2pPr algn="l">
              <a:defRPr sz="1425" b="1">
                <a:solidFill>
                  <a:srgbClr val="00338D"/>
                </a:solidFill>
                <a:latin typeface="Arial"/>
                <a:ea typeface="Arial"/>
                <a:cs typeface="Arial"/>
              </a:defRPr>
            </a:lvl2pPr>
            <a:lvl3pPr algn="l">
              <a:defRPr sz="1425" b="1">
                <a:solidFill>
                  <a:srgbClr val="00338D"/>
                </a:solidFill>
                <a:latin typeface="Arial"/>
                <a:ea typeface="Arial"/>
                <a:cs typeface="Arial"/>
              </a:defRPr>
            </a:lvl3pPr>
            <a:lvl4pPr algn="l">
              <a:defRPr sz="1425" b="1">
                <a:solidFill>
                  <a:srgbClr val="00338D"/>
                </a:solidFill>
                <a:latin typeface="Arial"/>
                <a:ea typeface="Arial"/>
                <a:cs typeface="Arial"/>
              </a:defRPr>
            </a:lvl4pPr>
            <a:lvl5pPr algn="l">
              <a:defRPr sz="1425" b="1">
                <a:solidFill>
                  <a:srgbClr val="00338D"/>
                </a:solidFill>
                <a:latin typeface="Arial"/>
                <a:ea typeface="Arial"/>
                <a:cs typeface="Arial"/>
              </a:defRPr>
            </a:lvl5pPr>
            <a:lvl6pPr algn="l">
              <a:defRPr sz="1425" b="1">
                <a:solidFill>
                  <a:srgbClr val="00338D"/>
                </a:solidFill>
                <a:latin typeface="Arial"/>
                <a:ea typeface="Arial"/>
                <a:cs typeface="Arial"/>
              </a:defRPr>
            </a:lvl6pPr>
            <a:lvl7pPr algn="l">
              <a:defRPr sz="1425" b="1">
                <a:solidFill>
                  <a:srgbClr val="00338D"/>
                </a:solidFill>
                <a:latin typeface="Arial"/>
                <a:ea typeface="Arial"/>
                <a:cs typeface="Arial"/>
              </a:defRPr>
            </a:lvl7pPr>
            <a:lvl8pPr algn="l">
              <a:defRPr sz="1425" b="1">
                <a:solidFill>
                  <a:srgbClr val="00338D"/>
                </a:solidFill>
                <a:latin typeface="Arial"/>
                <a:ea typeface="Arial"/>
                <a:cs typeface="Arial"/>
              </a:defRPr>
            </a:lvl8pPr>
            <a:lvl9pPr algn="l">
              <a:defRPr sz="1425" b="1">
                <a:solidFill>
                  <a:srgbClr val="00338D"/>
                </a:solidFill>
                <a:latin typeface="Arial"/>
                <a:ea typeface="Arial"/>
                <a:cs typeface="Arial"/>
              </a:defRPr>
            </a:lvl9pPr>
          </a:lstStyle>
          <a:p xmlns:a="http://schemas.openxmlformats.org/drawingml/2006/main">
            <a:pPr algn="l">
              <a:defRPr sz="1425" b="1">
                <a:solidFill>
                  <a:srgbClr val="00338D"/>
                </a:solidFill>
                <a:latin typeface="Arial"/>
                <a:ea typeface="Arial"/>
                <a:cs typeface="Arial"/>
              </a:defRPr>
            </a:pPr>
            <a:r>
              <a:rPr sz="1425" b="1">
                <a:solidFill>
                  <a:srgbClr val="00338D"/>
                </a:solidFill>
                <a:latin typeface="Arial"/>
                <a:ea typeface="Arial"/>
                <a:cs typeface="Arial"/>
              </a:rPr>
              <a:t>Implications for transaction preparation</a:t>
            </a:r>
          </a:p>
        </p:txBody>
      </p:sp>
      <p:sp>
        <p:nvSpPr>
          <p:cNvPr id="10" name="s10-sequence">
            <a:extLst xmlns:a="http://schemas.openxmlformats.org/drawingml/2006/main">
              <a:ext uri="{FF2B5EF4-FFF2-40B4-BE49-F238E27FC236}">
                <a16:creationId xmlns:a16="http://schemas.microsoft.com/office/drawing/2014/main" id="{1F5C0EB2-7E84-4675-981D-6E9C0441F6FA}"/>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000000"/>
                </a:solidFill>
                <a:latin typeface="Arial"/>
                <a:ea typeface="Arial"/>
                <a:cs typeface="Arial"/>
              </a:defRPr>
            </a:defPPr>
            <a:lvl1pPr algn="l">
              <a:defRPr sz="1238" b="0">
                <a:solidFill>
                  <a:srgbClr val="000000"/>
                </a:solidFill>
                <a:latin typeface="Arial"/>
                <a:ea typeface="Arial"/>
                <a:cs typeface="Arial"/>
              </a:defRPr>
            </a:lvl1pPr>
            <a:lvl2pPr algn="l">
              <a:defRPr sz="1238" b="0">
                <a:solidFill>
                  <a:srgbClr val="000000"/>
                </a:solidFill>
                <a:latin typeface="Arial"/>
                <a:ea typeface="Arial"/>
                <a:cs typeface="Arial"/>
              </a:defRPr>
            </a:lvl2pPr>
            <a:lvl3pPr algn="l">
              <a:defRPr sz="1238" b="0">
                <a:solidFill>
                  <a:srgbClr val="000000"/>
                </a:solidFill>
                <a:latin typeface="Arial"/>
                <a:ea typeface="Arial"/>
                <a:cs typeface="Arial"/>
              </a:defRPr>
            </a:lvl3pPr>
            <a:lvl4pPr algn="l">
              <a:defRPr sz="1238" b="0">
                <a:solidFill>
                  <a:srgbClr val="000000"/>
                </a:solidFill>
                <a:latin typeface="Arial"/>
                <a:ea typeface="Arial"/>
                <a:cs typeface="Arial"/>
              </a:defRPr>
            </a:lvl4pPr>
            <a:lvl5pPr algn="l">
              <a:defRPr sz="1238" b="0">
                <a:solidFill>
                  <a:srgbClr val="000000"/>
                </a:solidFill>
                <a:latin typeface="Arial"/>
                <a:ea typeface="Arial"/>
                <a:cs typeface="Arial"/>
              </a:defRPr>
            </a:lvl5pPr>
            <a:lvl6pPr algn="l">
              <a:defRPr sz="1238" b="0">
                <a:solidFill>
                  <a:srgbClr val="000000"/>
                </a:solidFill>
                <a:latin typeface="Arial"/>
                <a:ea typeface="Arial"/>
                <a:cs typeface="Arial"/>
              </a:defRPr>
            </a:lvl6pPr>
            <a:lvl7pPr algn="l">
              <a:defRPr sz="1238" b="0">
                <a:solidFill>
                  <a:srgbClr val="000000"/>
                </a:solidFill>
                <a:latin typeface="Arial"/>
                <a:ea typeface="Arial"/>
                <a:cs typeface="Arial"/>
              </a:defRPr>
            </a:lvl7pPr>
            <a:lvl8pPr algn="l">
              <a:defRPr sz="1238" b="0">
                <a:solidFill>
                  <a:srgbClr val="000000"/>
                </a:solidFill>
                <a:latin typeface="Arial"/>
                <a:ea typeface="Arial"/>
                <a:cs typeface="Arial"/>
              </a:defRPr>
            </a:lvl8pPr>
            <a:lvl9pPr algn="l">
              <a:defRPr sz="1238" b="0">
                <a:solidFill>
                  <a:srgbClr val="000000"/>
                </a:solidFill>
                <a:latin typeface="Arial"/>
                <a:ea typeface="Arial"/>
                <a:cs typeface="Arial"/>
              </a:defRPr>
            </a:lvl9pPr>
          </a:lstStyle>
          <a:p xmlns:a="http://schemas.openxmlformats.org/drawingml/2006/main">
            <a:pPr algn="l">
              <a:defRPr sz="1238" b="0">
                <a:solidFill>
                  <a:srgbClr val="000000"/>
                </a:solidFill>
                <a:latin typeface="Arial"/>
                <a:ea typeface="Arial"/>
                <a:cs typeface="Arial"/>
              </a:defRPr>
            </a:pPr>
            <a:r>
              <a:rPr sz="1238" b="0">
                <a:solidFill>
                  <a:srgbClr val="000000"/>
                </a:solidFill>
                <a:latin typeface="Arial"/>
                <a:ea typeface="Arial"/>
                <a:cs typeface="Arial"/>
              </a:rPr>
              <a:t>The unresolved revenue basis affects historical performance, forecast opening balances and earnings analysis. Contract and capacity work must then test whether the management plan can convert into recognised revenue. Timing remains to be agreed.</a:t>
            </a:r>
          </a:p>
        </p:txBody>
      </p:sp>
    </p:spTree>
    <p:extLst>
      <p:ext uri="{BB962C8B-B14F-4D97-AF65-F5344CB8AC3E}">
        <p14:creationId xmlns:p14="http://schemas.microsoft.com/office/powerpoint/2010/main" val="799510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2026-10-22T11:02:57.2730000Z</dcterms:created>
  <dcterms:modified xsi:type="dcterms:W3CDTF">2026-10-22T11:02:57.2730000Z</dcterms:modified>
</coreProperties>
</file>