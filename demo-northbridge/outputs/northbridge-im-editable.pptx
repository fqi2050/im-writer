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db5a87cfbc14fd7" /><Relationship Type="http://schemas.openxmlformats.org/officeDocument/2006/relationships/extended-properties" Target="/docProps/app.xml" Id="Rae56c03abbd245fb" /><Relationship Type="http://schemas.openxmlformats.org/officeDocument/2006/relationships/officeDocument" Target="/ppt/presentation.xml" Id="Ra38d38472afe4a23" /></Relationships>
</file>

<file path=ppt/presentation.xml><?xml version="1.0" encoding="utf-8"?>
<p:presentation xmlns:p="http://schemas.openxmlformats.org/presentationml/2006/main">
  <p:sldMasterIdLst>
    <p:sldMasterId xmlns:r="http://schemas.openxmlformats.org/officeDocument/2006/relationships" id="2147483648" r:id="R4a5ec9f589b74855"/>
  </p:sldMasterIdLst>
  <p:notesMasterIdLst>
    <p:notesMasterId xmlns:r="http://schemas.openxmlformats.org/officeDocument/2006/relationships" r:id="Rb38885beac53450e"/>
  </p:notesMasterIdLst>
  <p:sldIdLst>
    <p:sldId xmlns:r="http://schemas.openxmlformats.org/officeDocument/2006/relationships" id="256" r:id="Re04fc470e53c40b0"/>
    <p:sldId xmlns:r="http://schemas.openxmlformats.org/officeDocument/2006/relationships" id="257" r:id="R296a4f3ccba741c9"/>
    <p:sldId xmlns:r="http://schemas.openxmlformats.org/officeDocument/2006/relationships" id="258" r:id="Ref9f543fc100434e"/>
    <p:sldId xmlns:r="http://schemas.openxmlformats.org/officeDocument/2006/relationships" id="259" r:id="Rd2d578c98ec44ee1"/>
    <p:sldId xmlns:r="http://schemas.openxmlformats.org/officeDocument/2006/relationships" id="260" r:id="R252926a4a809446d"/>
    <p:sldId xmlns:r="http://schemas.openxmlformats.org/officeDocument/2006/relationships" id="261" r:id="Re32c54914514414b"/>
    <p:sldId xmlns:r="http://schemas.openxmlformats.org/officeDocument/2006/relationships" id="262" r:id="R349028e0424a4dab"/>
    <p:sldId xmlns:r="http://schemas.openxmlformats.org/officeDocument/2006/relationships" id="263" r:id="R1f8168d48d834c0c"/>
    <p:sldId xmlns:r="http://schemas.openxmlformats.org/officeDocument/2006/relationships" id="264" r:id="R26839c5945394412"/>
    <p:sldId xmlns:r="http://schemas.openxmlformats.org/officeDocument/2006/relationships" id="265" r:id="R8f78a8d011ed45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e8896980cb4c59" /><Relationship Type="http://schemas.openxmlformats.org/officeDocument/2006/relationships/slideMaster" Target="/ppt/slideMasters/slideMaster1.xml" Id="R4a5ec9f589b74855" /><Relationship Type="http://schemas.openxmlformats.org/officeDocument/2006/relationships/notesMaster" Target="/ppt/notesMasters/notesMaster1.xml" Id="Rb38885beac53450e" /><Relationship Type="http://schemas.openxmlformats.org/officeDocument/2006/relationships/presProps" Target="/ppt/presProps.xml" Id="Ref94fd9ed7e64abb" /><Relationship Type="http://schemas.openxmlformats.org/officeDocument/2006/relationships/tableStyles" Target="/ppt/tableStyles.xml" Id="Rd6b982d9cf2e4562" /><Relationship Type="http://schemas.openxmlformats.org/officeDocument/2006/relationships/slide" Target="/ppt/slides/slide1.xml" Id="Re04fc470e53c40b0" /><Relationship Type="http://schemas.openxmlformats.org/officeDocument/2006/relationships/slide" Target="/ppt/slides/slide2.xml" Id="R296a4f3ccba741c9" /><Relationship Type="http://schemas.openxmlformats.org/officeDocument/2006/relationships/slide" Target="/ppt/slides/slide3.xml" Id="Ref9f543fc100434e" /><Relationship Type="http://schemas.openxmlformats.org/officeDocument/2006/relationships/slide" Target="/ppt/slides/slide4.xml" Id="Rd2d578c98ec44ee1" /><Relationship Type="http://schemas.openxmlformats.org/officeDocument/2006/relationships/slide" Target="/ppt/slides/slide5.xml" Id="R252926a4a809446d" /><Relationship Type="http://schemas.openxmlformats.org/officeDocument/2006/relationships/slide" Target="/ppt/slides/slide6.xml" Id="Re32c54914514414b" /><Relationship Type="http://schemas.openxmlformats.org/officeDocument/2006/relationships/slide" Target="/ppt/slides/slide7.xml" Id="R349028e0424a4dab" /><Relationship Type="http://schemas.openxmlformats.org/officeDocument/2006/relationships/slide" Target="/ppt/slides/slide8.xml" Id="R1f8168d48d834c0c" /><Relationship Type="http://schemas.openxmlformats.org/officeDocument/2006/relationships/slide" Target="/ppt/slides/slide9.xml" Id="R26839c5945394412" /><Relationship Type="http://schemas.openxmlformats.org/officeDocument/2006/relationships/slide" Target="/ppt/slides/slide10.xml" Id="R8f78a8d011ed45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0e2d4e12e44d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08cf4b39cf400a" /><Relationship Type="http://schemas.openxmlformats.org/officeDocument/2006/relationships/notesMaster" Target="/ppt/notesMasters/notesMaster1.xml" Id="R36d7ecf8c0f045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b2fdd4c0f4443f" /><Relationship Type="http://schemas.openxmlformats.org/officeDocument/2006/relationships/notesMaster" Target="/ppt/notesMasters/notesMaster1.xml" Id="R4cabfdfa06a44f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c7a5e357faf4905" /><Relationship Type="http://schemas.openxmlformats.org/officeDocument/2006/relationships/notesMaster" Target="/ppt/notesMasters/notesMaster1.xml" Id="Raec516b653dd4b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784a8c44ce4ca0" /><Relationship Type="http://schemas.openxmlformats.org/officeDocument/2006/relationships/notesMaster" Target="/ppt/notesMasters/notesMaster1.xml" Id="Rf5390feed93944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5fb20fdd32946e1" /><Relationship Type="http://schemas.openxmlformats.org/officeDocument/2006/relationships/notesMaster" Target="/ppt/notesMasters/notesMaster1.xml" Id="R40469f50465c40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f3ec9aaf1d490b" /><Relationship Type="http://schemas.openxmlformats.org/officeDocument/2006/relationships/notesMaster" Target="/ppt/notesMasters/notesMaster1.xml" Id="Rab333bbbbb594d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d2f881beaa4793" /><Relationship Type="http://schemas.openxmlformats.org/officeDocument/2006/relationships/notesMaster" Target="/ppt/notesMasters/notesMaster1.xml" Id="Rdf1c39fb9f7445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600f0668d84dd9" /><Relationship Type="http://schemas.openxmlformats.org/officeDocument/2006/relationships/notesMaster" Target="/ppt/notesMasters/notesMaster1.xml" Id="Re4fe3eebe866411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1e4fc6f5914fcf" /><Relationship Type="http://schemas.openxmlformats.org/officeDocument/2006/relationships/notesMaster" Target="/ppt/notesMasters/notesMaster1.xml" Id="R5265826cd4cd447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c75ab0e48c24119" /><Relationship Type="http://schemas.openxmlformats.org/officeDocument/2006/relationships/notesMaster" Target="/ppt/notesMasters/notesMaster1.xml" Id="Rf40f3252634f48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BUS: Business and founding [source_supported]</a:t>
            </a:r>
          </a:p>
          <a:p xmlns:a="http://schemas.openxmlformats.org/drawingml/2006/main">
            <a:r>
              <a:t>01_company_brief.docx / paragraph 4 — Northbridge Field Services Ltd was founded in 2012. The UK business provides equipment maintenance and technical field support to industrial and logistics customers. Its headquarters are in Birmingham. The transaction perimeter is the entire standalone UK company.</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BALANCE: Draft limited balance-sheet schedule [source_supported]</a:t>
            </a:r>
          </a:p>
          <a:p xmlns:a="http://schemas.openxmlformats.org/drawingml/2006/main">
            <a:r>
              <a:t>10_cfo_follow_up.eml / line 8 — At 31 December 2025, our draft schedule shows cash 2.4 and bank term debt 4.8. Lease liabilities, tax balances, debt-like items and restricted cash have not been assessed. These figures alone are insufficient for an enterprise-to-equity bridge.</a:t>
            </a:r>
          </a:p>
          <a:p xmlns:a="http://schemas.openxmlformats.org/drawingml/2006/main">
            <a:r>
              <a:t>10_cfo_follow_up.eml / line 9 — Draft trade receivables are 4.2, inventory 0.6 and trade payables 2.1 at 31 December 2025. Other working-capital items and monthly seasonality are missing. This limited snapshot is not normalised working capital.</a:t>
            </a:r>
          </a:p>
          <a:p xmlns:a="http://schemas.openxmlformats.org/drawingml/2006/main">
            <a:r>
              <a:t>Limitations: Missing leases, tax, debt-like items, restricted cash and other working-capital items. No normalised working capital.</a:t>
            </a:r>
          </a:p>
          <a:p xmlns:a="http://schemas.openxmlformats.org/drawingml/2006/main">
            <a:r>
              <a:t/>
            </a:r>
          </a:p>
          <a:p xmlns:a="http://schemas.openxmlformats.org/drawingml/2006/main">
            <a:r>
              <a:t>BUS: Business and founding [source_supported]</a:t>
            </a:r>
          </a:p>
          <a:p xmlns:a="http://schemas.openxmlformats.org/drawingml/2006/main">
            <a:r>
              <a:t>01_company_brief.docx / paragraph 4 — Northbridge Field Services Ltd was founded in 2012. The UK business provides equipment maintenance and technical field support to industrial and logistics customers. Its headquarters are in Birmingham. The transaction perimeter is the entire standalone UK company.</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DEAL: Ownership and proposed sale [source_supported]</a:t>
            </a:r>
          </a:p>
          <a:p xmlns:a="http://schemas.openxmlformats.org/drawingml/2006/main">
            <a:r>
              <a:t>01_company_brief.docx / paragraph 14 — The founder holds 70%, management holds 20% and a seed investor holds 10% of ordinary equity. Shareholders are considering a sale of 70% to 100% of the company. Management rollover, valuation, timing and financing remain to be agreed. No debt, cash or working-capital schedule has been provided.</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PROCESS: Proposed transaction perimeter and preparation responsibilities [source_supported]</a:t>
            </a:r>
          </a:p>
          <a:p xmlns:a="http://schemas.openxmlformats.org/drawingml/2006/main">
            <a:r>
              <a:t>13_transaction_workshop.txt / line 1 — FICTIONAL TRAINING CASE. Invented transaction workshop notes, 26 January 2026.</a:t>
            </a:r>
          </a:p>
          <a:p xmlns:a="http://schemas.openxmlformats.org/drawingml/2006/main">
            <a:r>
              <a:t>13_transaction_workshop.txt / line 2 — Shareholders are considering a sale of 70% to 100% of the equity in the standalone UK company. The current ownership remains founder 70%, management 20%, seed investor 10%.</a:t>
            </a:r>
          </a:p>
          <a:p xmlns:a="http://schemas.openxmlformats.org/drawingml/2006/main">
            <a:r>
              <a:t>13_transaction_workshop.txt / line 3 — The proposed perimeter includes all three hubs, operating assets and customer contracts of the company. No excluded business has been identified. Legal entity, asset ownership and contract transferability require legal diligence.</a:t>
            </a:r>
          </a:p>
          <a:p xmlns:a="http://schemas.openxmlformats.org/drawingml/2006/main">
            <a:r>
              <a:t>13_transaction_workshop.txt / line 4 — No valuation, management rollover, financing structure or transaction timetable has been agreed. The process remains at preparation stage. No offers or signed sale terms exist in this fictional case.</a:t>
            </a:r>
          </a:p>
          <a:p xmlns:a="http://schemas.openxmlformats.org/drawingml/2006/main">
            <a:r>
              <a:t>13_transaction_workshop.txt / line 5 — Daniel Cole (CFO) owns revenue reconciliation, QoE preparation and balance-sheet schedules. Aisha Patel (COO) owns job-level KPI evidence, engineer recruitment and capacity planning. Maya Reed (CEO) owns key-account continuity and pipeline evidence. External legal counsel, not yet appointed, would review title, consents and change-of-control clauses. The strategy team owns independent market work.</a:t>
            </a:r>
          </a:p>
          <a:p xmlns:a="http://schemas.openxmlformats.org/drawingml/2006/main">
            <a:r>
              <a:t>Limitations: Unaudited synthetic management submission.</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BRIDGE: Group-level forecast revenue bridge and engineer plan [source_supported]</a:t>
            </a:r>
          </a:p>
          <a:p xmlns:a="http://schemas.openxmlformats.org/drawingml/2006/main">
            <a:r>
              <a:t>11_forecast_bridge.csv / line 1 — # FICTIONAL TRAINING CASE; management submission 26 January 2026; unaudited</a:t>
            </a:r>
          </a:p>
          <a:p xmlns:a="http://schemas.openxmlformats.org/drawingml/2006/main">
            <a:r>
              <a:t>11_forecast_bridge.csv / line 2 — component,fy2026_gbp_m,fy2027_gbp_m,basis</a:t>
            </a:r>
          </a:p>
          <a:p xmlns:a="http://schemas.openxmlformats.org/drawingml/2006/main">
            <a:r>
              <a:t>11_forecast_bridge.csv / line 3 — Opening revenue,25,29,Prior year actual or forecast</a:t>
            </a:r>
          </a:p>
          <a:p xmlns:a="http://schemas.openxmlformats.org/drawingml/2006/main">
            <a:r>
              <a:t>11_forecast_bridge.csv / line 4 — Price,1,1.16,Management assumption; customer acceptance required</a:t>
            </a:r>
          </a:p>
          <a:p xmlns:a="http://schemas.openxmlformats.org/drawingml/2006/main">
            <a:r>
              <a:t>11_forecast_bridge.csv / line 5 — New contracts,2,2.4,Management assumption; unsigned pipeline</a:t>
            </a:r>
          </a:p>
          <a:p xmlns:a="http://schemas.openxmlformats.org/drawingml/2006/main">
            <a:r>
              <a:t>11_forecast_bridge.csv / line 6 — Cross-sell,1.6,1.74,Management assumption; conversion required</a:t>
            </a:r>
          </a:p>
          <a:p xmlns:a="http://schemas.openxmlformats.org/drawingml/2006/main">
            <a:r>
              <a:t>11_forecast_bridge.csv / line 7 — Attrition,-0.6,-0.7,Management assumption</a:t>
            </a:r>
          </a:p>
          <a:p xmlns:a="http://schemas.openxmlformats.org/drawingml/2006/main">
            <a:r>
              <a:t>11_forecast_bridge.csv / line 8 — Closing revenue,29,33.6,Management forecast</a:t>
            </a:r>
          </a:p>
          <a:p xmlns:a="http://schemas.openxmlformats.org/drawingml/2006/main">
            <a:r>
              <a:t>11_forecast_bridge.csv / line 9 — Year-end field engineers,95,105,Headcount; excludes attrition/replacement hiring; net growth from 85</a:t>
            </a:r>
          </a:p>
          <a:p xmlns:a="http://schemas.openxmlformats.org/drawingml/2006/main">
            <a:r>
              <a:t>Limitations: Group-level management assumptions. No customer bridge, signed pipeline or recruitment cost schedule.</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CUSTOMERS: FY2025 customer sales [source_supported]</a:t>
            </a:r>
          </a:p>
          <a:p xmlns:a="http://schemas.openxmlformats.org/drawingml/2006/main">
            <a:r>
              <a:t>02_management_model.xlsx / CustomerSales!A5 — C001</a:t>
            </a:r>
          </a:p>
          <a:p xmlns:a="http://schemas.openxmlformats.org/drawingml/2006/main">
            <a:r>
              <a:t>02_management_model.xlsx / CustomerSales!B5 — Customer A</a:t>
            </a:r>
          </a:p>
          <a:p xmlns:a="http://schemas.openxmlformats.org/drawingml/2006/main">
            <a:r>
              <a:t>02_management_model.xlsx / CustomerSales!C5 — 3000</a:t>
            </a:r>
          </a:p>
          <a:p xmlns:a="http://schemas.openxmlformats.org/drawingml/2006/main">
            <a:r>
              <a:t>02_management_model.xlsx / CustomerSales!A6 — C002</a:t>
            </a:r>
          </a:p>
          <a:p xmlns:a="http://schemas.openxmlformats.org/drawingml/2006/main">
            <a:r>
              <a:t>02_management_model.xlsx / CustomerSales!B6 — Customer B</a:t>
            </a:r>
          </a:p>
          <a:p xmlns:a="http://schemas.openxmlformats.org/drawingml/2006/main">
            <a:r>
              <a:t>02_management_model.xlsx / CustomerSales!C6 — 2250</a:t>
            </a:r>
          </a:p>
          <a:p xmlns:a="http://schemas.openxmlformats.org/drawingml/2006/main">
            <a:r>
              <a:t>02_management_model.xlsx / CustomerSales!A7 — C003</a:t>
            </a:r>
          </a:p>
          <a:p xmlns:a="http://schemas.openxmlformats.org/drawingml/2006/main">
            <a:r>
              <a:t>02_management_model.xlsx / CustomerSales!B7 — Customer C</a:t>
            </a:r>
          </a:p>
          <a:p xmlns:a="http://schemas.openxmlformats.org/drawingml/2006/main">
            <a:r>
              <a:t>02_management_model.xlsx / CustomerSales!C7 — 2000</a:t>
            </a:r>
          </a:p>
          <a:p xmlns:a="http://schemas.openxmlformats.org/drawingml/2006/main">
            <a:r>
              <a:t>02_management_model.xlsx / CustomerSales!A8 — C004</a:t>
            </a:r>
          </a:p>
          <a:p xmlns:a="http://schemas.openxmlformats.org/drawingml/2006/main">
            <a:r>
              <a:t>02_management_model.xlsx / CustomerSales!B8 — Customer D</a:t>
            </a:r>
          </a:p>
          <a:p xmlns:a="http://schemas.openxmlformats.org/drawingml/2006/main">
            <a:r>
              <a:t>02_management_model.xlsx / CustomerSales!C8 — 1750</a:t>
            </a:r>
          </a:p>
          <a:p xmlns:a="http://schemas.openxmlformats.org/drawingml/2006/main">
            <a:r>
              <a:t>02_management_model.xlsx / CustomerSales!A9 — C005</a:t>
            </a:r>
          </a:p>
          <a:p xmlns:a="http://schemas.openxmlformats.org/drawingml/2006/main">
            <a:r>
              <a:t>02_management_model.xlsx / CustomerSales!B9 — Customer E</a:t>
            </a:r>
          </a:p>
          <a:p xmlns:a="http://schemas.openxmlformats.org/drawingml/2006/main">
            <a:r>
              <a:t>02_management_model.xlsx / CustomerSales!C9 — 1500</a:t>
            </a:r>
          </a:p>
          <a:p xmlns:a="http://schemas.openxmlformats.org/drawingml/2006/main">
            <a:r>
              <a:t>02_management_model.xlsx / CustomerSales!A10 — OTHER</a:t>
            </a:r>
          </a:p>
          <a:p xmlns:a="http://schemas.openxmlformats.org/drawingml/2006/main">
            <a:r>
              <a:t>02_management_model.xlsx / CustomerSales!B10 — All other customers (aggregate)</a:t>
            </a:r>
          </a:p>
          <a:p xmlns:a="http://schemas.openxmlformats.org/drawingml/2006/main">
            <a:r>
              <a:t>02_management_model.xlsx / CustomerSales!C10 — 14500</a:t>
            </a:r>
          </a:p>
          <a:p xmlns:a="http://schemas.openxmlformats.org/drawingml/2006/main">
            <a:r>
              <a:t>Limitations: OTHER is an aggregate.</a:t>
            </a:r>
          </a:p>
          <a:p xmlns:a="http://schemas.openxmlformats.org/drawingml/2006/main">
            <a:r>
              <a:t/>
            </a:r>
          </a:p>
          <a:p xmlns:a="http://schemas.openxmlformats.org/drawingml/2006/main">
            <a:r>
              <a:t>FIN23: FY2023 financial statements [source_supported]</a:t>
            </a:r>
          </a:p>
          <a:p xmlns:a="http://schemas.openxmlformats.org/drawingml/2006/main">
            <a:r>
              <a:t>02_management_model.xlsx / PnL!B5 — FY2023A</a:t>
            </a:r>
          </a:p>
          <a:p xmlns:a="http://schemas.openxmlformats.org/drawingml/2006/main">
            <a:r>
              <a:t>02_management_model.xlsx / PnL!B6 — 18</a:t>
            </a:r>
          </a:p>
          <a:p xmlns:a="http://schemas.openxmlformats.org/drawingml/2006/main">
            <a:r>
              <a:t>02_management_model.xlsx / PnL!B7 — -10.8</a:t>
            </a:r>
          </a:p>
          <a:p xmlns:a="http://schemas.openxmlformats.org/drawingml/2006/main">
            <a:r>
              <a:t>02_management_model.xlsx / PnL!B8 — 7.199999999999999</a:t>
            </a:r>
          </a:p>
          <a:p xmlns:a="http://schemas.openxmlformats.org/drawingml/2006/main">
            <a:r>
              <a:t>02_management_model.xlsx / PnL!B9 — -4.5</a:t>
            </a:r>
          </a:p>
          <a:p xmlns:a="http://schemas.openxmlformats.org/drawingml/2006/main">
            <a:r>
              <a:t>02_management_model.xlsx / PnL!B10 — 2.6999999999999993</a:t>
            </a:r>
          </a:p>
          <a:p xmlns:a="http://schemas.openxmlformats.org/drawingml/2006/main">
            <a:r>
              <a:t>02_management_model.xlsx / PnL!B11 — 0.14999999999999997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FIN27: FY2027 financial statements [source_supported]</a:t>
            </a:r>
          </a:p>
          <a:p xmlns:a="http://schemas.openxmlformats.org/drawingml/2006/main">
            <a:r>
              <a:t>02_management_model.xlsx / PnL!F5 — FY2027F</a:t>
            </a:r>
          </a:p>
          <a:p xmlns:a="http://schemas.openxmlformats.org/drawingml/2006/main">
            <a:r>
              <a:t>02_management_model.xlsx / PnL!F6 — 33.6</a:t>
            </a:r>
          </a:p>
          <a:p xmlns:a="http://schemas.openxmlformats.org/drawingml/2006/main">
            <a:r>
              <a:t>02_management_model.xlsx / PnL!F7 — -18.6</a:t>
            </a:r>
          </a:p>
          <a:p xmlns:a="http://schemas.openxmlformats.org/drawingml/2006/main">
            <a:r>
              <a:t>02_management_model.xlsx / PnL!F8 — 15</a:t>
            </a:r>
          </a:p>
          <a:p xmlns:a="http://schemas.openxmlformats.org/drawingml/2006/main">
            <a:r>
              <a:t>02_management_model.xlsx / PnL!F9 — -7.6</a:t>
            </a:r>
          </a:p>
          <a:p xmlns:a="http://schemas.openxmlformats.org/drawingml/2006/main">
            <a:r>
              <a:t>02_management_model.xlsx / PnL!F10 — 7.4</a:t>
            </a:r>
          </a:p>
          <a:p xmlns:a="http://schemas.openxmlformats.org/drawingml/2006/main">
            <a:r>
              <a:t>02_management_model.xlsx / PnL!F11 — 0.22023809523809523</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PIPELINE: Unsigned unweighted opportunity pipeline [source_supported]</a:t>
            </a:r>
          </a:p>
          <a:p xmlns:a="http://schemas.openxmlformats.org/drawingml/2006/main">
            <a:r>
              <a:t>05_commercial_interview.txt / line 7 — Pipeline at 26 January 2026 totals GBP 4.8 million of indicative annual revenue: proposals GBP 2.4 million, negotiations GBP 1.5 million and preferred supplier GBP 0.9 million. All are unsigned. Stage values are unweighted and are not forecast revenue or backlog.</a:t>
            </a:r>
          </a:p>
          <a:p xmlns:a="http://schemas.openxmlformats.org/drawingml/2006/main">
            <a:r>
              <a:t>Limitations: All unsigned. Not backlog or forecast revenue.</a:t>
            </a:r>
          </a:p>
          <a:p xmlns:a="http://schemas.openxmlformats.org/drawingml/2006/main">
            <a:r>
              <a:t/>
            </a:r>
          </a:p>
          <a:p xmlns:a="http://schemas.openxmlformats.org/drawingml/2006/main">
            <a:r>
              <a:t>RENEWALS: Defined maintenance agreement renewal cohort [source_supported]</a:t>
            </a:r>
          </a:p>
          <a:p xmlns:a="http://schemas.openxmlformats.org/drawingml/2006/main">
            <a:r>
              <a:t>05_commercial_interview.txt / line 5 — The FY2025 renewal cohort comprised 25 maintenance agreements due for renewal, with GBP 4.00 million of annual contract value immediately before expiry. 23 agreements renewed. The annual value retained on those same agreements, before price changes or additional scope, was GBP 3.72 million. These are management-prepared counts and values, not independently verified customer retention.</a:t>
            </a:r>
          </a:p>
          <a:p xmlns:a="http://schemas.openxmlformats.org/drawingml/2006/main">
            <a:r>
              <a:t>05_commercial_interview.txt / line 6 — The earlier 94% retention estimate remains undefined. It uses no documented customer cohort and cannot be reconciled to this contract-level renewal schedule.</a:t>
            </a:r>
          </a:p>
          <a:p xmlns:a="http://schemas.openxmlformats.org/drawingml/2006/main">
            <a:r>
              <a:t>Limitations: Contract-level management cohort. Excludes price changes and additional scope. Not customer retention and not independently verified.</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CAGR: {"id": "CAGR", "formula": "(FY2025 revenue / FY2023 revenue)^(1/2) - 1", "input_ids": ["FIN23", "FIN25"], "result": 0.17851130197757925, "unit": "ratio", "rounding": "Full precision internally; one decimal for GBP million and most percentages"}</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a:p xmlns:a="http://schemas.openxmlformats.org/drawingml/2006/main">
            <a:r>
              <a:t/>
            </a:r>
          </a:p>
          <a:p xmlns:a="http://schemas.openxmlformats.org/drawingml/2006/main">
            <a:r>
              <a:t>RENEWAL_RATES: {"id": "RENEWAL_RATES", "formula": "Renewed contracts / due contracts; retained pre-price value / due annual value", "input_ids": ["RENEWALS"], "result": [0.92, 0.93], "unit": "ratio", "rounding": "Full precision internally; one decimal for GBP million and most percentages"}</a:t>
            </a:r>
          </a:p>
          <a:p xmlns:a="http://schemas.openxmlformats.org/drawingml/2006/main">
            <a:r>
              <a:t/>
            </a:r>
          </a:p>
          <a:p xmlns:a="http://schemas.openxmlformats.org/drawingml/2006/main">
            <a:r>
              <a:t>TOP5: {"id": "TOP5", "formula": "sum(CustomerSales!C5:C9) / sum(CustomerSales!C5:C10)", "input_ids": ["CUSTOMERS"], "result": 0.42,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COMMERCIAL: Service scope, pricing and account relationships [source_supported]</a:t>
            </a:r>
          </a:p>
          <a:p xmlns:a="http://schemas.openxmlformats.org/drawingml/2006/main">
            <a:r>
              <a:t>05_commercial_interview.txt / line 1 — FICTIONAL TRAINING CASE. All statements and figures are invented for workflow testing.</a:t>
            </a:r>
          </a:p>
          <a:p xmlns:a="http://schemas.openxmlformats.org/drawingml/2006/main">
            <a:r>
              <a:t>05_commercial_interview.txt / line 2 — Commercial director interview, 26 January 2026. Period: FY2025 unless specified.</a:t>
            </a:r>
          </a:p>
          <a:p xmlns:a="http://schemas.openxmlformats.org/drawingml/2006/main">
            <a:r>
              <a:t>05_commercial_interview.txt / line 3 — Scheduled maintenance covers planned inspections and preventive servicing. Most contracts specify scheduled visits and an annual fee. Reactive repairs charge call-out, labour and materials. Installation projects use a separately agreed scope and price.</a:t>
            </a:r>
          </a:p>
          <a:p xmlns:a="http://schemas.openxmlformats.org/drawingml/2006/main">
            <a:r>
              <a:t>05_commercial_interview.txt / line 4 — Contracts generally run for one to three years. Renewal requires agreement. Annual price reviews depend on contract terms and customer acceptance. Maintenance revenue should not be described as guaranteed future revenue or ARR.</a:t>
            </a:r>
          </a:p>
          <a:p xmlns:a="http://schemas.openxmlformats.org/drawingml/2006/main">
            <a:r>
              <a:t>05_commercial_interview.txt / line 5 — The FY2025 renewal cohort comprised 25 maintenance agreements due for renewal, with GBP 4.00 million of annual contract value immediately before expiry. 23 agreements renewed. The annual value retained on those same agreements, before price changes or additional scope, was GBP 3.72 million. These are management-prepared counts and values, not independently verified customer retention.</a:t>
            </a:r>
          </a:p>
          <a:p xmlns:a="http://schemas.openxmlformats.org/drawingml/2006/main">
            <a:r>
              <a:t>05_commercial_interview.txt / line 6 — The earlier 94% retention estimate remains undefined. It uses no documented customer cohort and cannot be reconciled to this contract-level renewal schedule.</a:t>
            </a:r>
          </a:p>
          <a:p xmlns:a="http://schemas.openxmlformats.org/drawingml/2006/main">
            <a:r>
              <a:t>05_commercial_interview.txt / line 7 — Pipeline at 26 January 2026 totals GBP 4.8 million of indicative annual revenue: proposals GBP 2.4 million, negotiations GBP 1.5 million and preferred supplier GBP 0.9 million. All are unsigned. Stage values are unweighted and are not forecast revenue or backlog.</a:t>
            </a:r>
          </a:p>
          <a:p xmlns:a="http://schemas.openxmlformats.org/drawingml/2006/main">
            <a:r>
              <a:t>05_commercial_interview.txt / line 8 — Maya Reed remains the primary executive contact on the largest customer accounts. The commercial team needs to document deputy account ownership and review change-of-control provisions.</a:t>
            </a:r>
          </a:p>
          <a:p xmlns:a="http://schemas.openxmlformats.org/drawingml/2006/main">
            <a:r>
              <a:t>05_commercial_interview.txt / line 9 — No independent market-size, market-share or competitor study has been submitted.</a:t>
            </a:r>
          </a:p>
          <a:p xmlns:a="http://schemas.openxmlformats.org/drawingml/2006/main">
            <a:r>
              <a:t>Limitations: Unaudited synthetic management submission.</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SECTORS: Revenue by customer industry [source_supported]</a:t>
            </a:r>
          </a:p>
          <a:p xmlns:a="http://schemas.openxmlformats.org/drawingml/2006/main">
            <a:r>
              <a:t>12_sector_mix.csv / line 1 — # FICTIONAL TRAINING CASE; management submission 26 January 2026; unaudited</a:t>
            </a:r>
          </a:p>
          <a:p xmlns:a="http://schemas.openxmlformats.org/drawingml/2006/main">
            <a:r>
              <a:t>12_sector_mix.csv / line 2 — sector,fy2025_revenue_gbp_m</a:t>
            </a:r>
          </a:p>
          <a:p xmlns:a="http://schemas.openxmlformats.org/drawingml/2006/main">
            <a:r>
              <a:t>12_sector_mix.csv / line 3 — Logistics,11.25</a:t>
            </a:r>
          </a:p>
          <a:p xmlns:a="http://schemas.openxmlformats.org/drawingml/2006/main">
            <a:r>
              <a:t>12_sector_mix.csv / line 4 — Manufacturing,8.75</a:t>
            </a:r>
          </a:p>
          <a:p xmlns:a="http://schemas.openxmlformats.org/drawingml/2006/main">
            <a:r>
              <a:t>12_sector_mix.csv / line 5 — Facilities management,5</a:t>
            </a:r>
          </a:p>
          <a:p xmlns:a="http://schemas.openxmlformats.org/drawingml/2006/main">
            <a:r>
              <a:t>Limitations: Unaudited synthetic management submission.</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UNITS: Financial and sales schedule units [source_supported]</a:t>
            </a:r>
          </a:p>
          <a:p xmlns:a="http://schemas.openxmlformats.org/drawingml/2006/main">
            <a:r>
              <a:t>04_cfo_email.eml / line 10 — The P&amp;L tab is in GBP millions. The CustomerSales and ServiceMix tabs are in GBP thousands. They cover FY2025 recognised revenue, excluding VAT, for the same UK company. CustomerSales contains the five largest customers plus one aggregate row for all others. Do not treat that aggregate as a single customer.</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a:p xmlns:a="http://schemas.openxmlformats.org/drawingml/2006/main">
            <a:r>
              <a:t/>
            </a:r>
          </a:p>
          <a:p xmlns:a="http://schemas.openxmlformats.org/drawingml/2006/main">
            <a:r>
              <a:t>NORMALIZE: {"id": "NORMALIZE", "formula": "GBP thousand / 1000", "input_ids": ["MIX", "CUSTOMERS", "UNITS"], "result": {"services_m": [17.5, 5.0, 2.5], "customers_m": [3.0, 2.25, 2.0, 1.75, 1.5, 14.5]}, "unit": "GBP million", "rounding": "Full precision internally; one decimal for GBP million and most percentages"}</a:t>
            </a:r>
          </a:p>
          <a:p xmlns:a="http://schemas.openxmlformats.org/drawingml/2006/main">
            <a:r>
              <a:t/>
            </a:r>
          </a:p>
          <a:p xmlns:a="http://schemas.openxmlformats.org/drawingml/2006/main">
            <a:r>
              <a:t>SECTOR_SHARE: {"id": "SECTOR_SHARE", "formula": "Sector revenue / FY2025 total revenue", "input_ids": ["SECTORS", "FIN25"], "result": [0.45, 0.35, 0.2],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COMMERCIAL: Service scope, pricing and account relationships [source_supported]</a:t>
            </a:r>
          </a:p>
          <a:p xmlns:a="http://schemas.openxmlformats.org/drawingml/2006/main">
            <a:r>
              <a:t>05_commercial_interview.txt / line 1 — FICTIONAL TRAINING CASE. All statements and figures are invented for workflow testing.</a:t>
            </a:r>
          </a:p>
          <a:p xmlns:a="http://schemas.openxmlformats.org/drawingml/2006/main">
            <a:r>
              <a:t>05_commercial_interview.txt / line 2 — Commercial director interview, 26 January 2026. Period: FY2025 unless specified.</a:t>
            </a:r>
          </a:p>
          <a:p xmlns:a="http://schemas.openxmlformats.org/drawingml/2006/main">
            <a:r>
              <a:t>05_commercial_interview.txt / line 3 — Scheduled maintenance covers planned inspections and preventive servicing. Most contracts specify scheduled visits and an annual fee. Reactive repairs charge call-out, labour and materials. Installation projects use a separately agreed scope and price.</a:t>
            </a:r>
          </a:p>
          <a:p xmlns:a="http://schemas.openxmlformats.org/drawingml/2006/main">
            <a:r>
              <a:t>05_commercial_interview.txt / line 4 — Contracts generally run for one to three years. Renewal requires agreement. Annual price reviews depend on contract terms and customer acceptance. Maintenance revenue should not be described as guaranteed future revenue or ARR.</a:t>
            </a:r>
          </a:p>
          <a:p xmlns:a="http://schemas.openxmlformats.org/drawingml/2006/main">
            <a:r>
              <a:t>05_commercial_interview.txt / line 5 — The FY2025 renewal cohort comprised 25 maintenance agreements due for renewal, with GBP 4.00 million of annual contract value immediately before expiry. 23 agreements renewed. The annual value retained on those same agreements, before price changes or additional scope, was GBP 3.72 million. These are management-prepared counts and values, not independently verified customer retention.</a:t>
            </a:r>
          </a:p>
          <a:p xmlns:a="http://schemas.openxmlformats.org/drawingml/2006/main">
            <a:r>
              <a:t>05_commercial_interview.txt / line 6 — The earlier 94% retention estimate remains undefined. It uses no documented customer cohort and cannot be reconciled to this contract-level renewal schedule.</a:t>
            </a:r>
          </a:p>
          <a:p xmlns:a="http://schemas.openxmlformats.org/drawingml/2006/main">
            <a:r>
              <a:t>05_commercial_interview.txt / line 7 — Pipeline at 26 January 2026 totals GBP 4.8 million of indicative annual revenue: proposals GBP 2.4 million, negotiations GBP 1.5 million and preferred supplier GBP 0.9 million. All are unsigned. Stage values are unweighted and are not forecast revenue or backlog.</a:t>
            </a:r>
          </a:p>
          <a:p xmlns:a="http://schemas.openxmlformats.org/drawingml/2006/main">
            <a:r>
              <a:t>05_commercial_interview.txt / line 8 — Maya Reed remains the primary executive contact on the largest customer accounts. The commercial team needs to document deputy account ownership and review change-of-control provisions.</a:t>
            </a:r>
          </a:p>
          <a:p xmlns:a="http://schemas.openxmlformats.org/drawingml/2006/main">
            <a:r>
              <a:t>05_commercial_interview.txt / line 9 — No independent market-size, market-share or competitor study has been submitted.</a:t>
            </a:r>
          </a:p>
          <a:p xmlns:a="http://schemas.openxmlformats.org/drawingml/2006/main">
            <a:r>
              <a:t>Limitations: Unaudited synthetic management submission.</a:t>
            </a:r>
          </a:p>
          <a:p xmlns:a="http://schemas.openxmlformats.org/drawingml/2006/main">
            <a:r>
              <a:t/>
            </a:r>
          </a:p>
          <a:p xmlns:a="http://schemas.openxmlformats.org/drawingml/2006/main">
            <a:r>
              <a:t>CUSTOMERS: FY2025 customer sales [source_supported]</a:t>
            </a:r>
          </a:p>
          <a:p xmlns:a="http://schemas.openxmlformats.org/drawingml/2006/main">
            <a:r>
              <a:t>02_management_model.xlsx / CustomerSales!A5 — C001</a:t>
            </a:r>
          </a:p>
          <a:p xmlns:a="http://schemas.openxmlformats.org/drawingml/2006/main">
            <a:r>
              <a:t>02_management_model.xlsx / CustomerSales!B5 — Customer A</a:t>
            </a:r>
          </a:p>
          <a:p xmlns:a="http://schemas.openxmlformats.org/drawingml/2006/main">
            <a:r>
              <a:t>02_management_model.xlsx / CustomerSales!C5 — 3000</a:t>
            </a:r>
          </a:p>
          <a:p xmlns:a="http://schemas.openxmlformats.org/drawingml/2006/main">
            <a:r>
              <a:t>02_management_model.xlsx / CustomerSales!A6 — C002</a:t>
            </a:r>
          </a:p>
          <a:p xmlns:a="http://schemas.openxmlformats.org/drawingml/2006/main">
            <a:r>
              <a:t>02_management_model.xlsx / CustomerSales!B6 — Customer B</a:t>
            </a:r>
          </a:p>
          <a:p xmlns:a="http://schemas.openxmlformats.org/drawingml/2006/main">
            <a:r>
              <a:t>02_management_model.xlsx / CustomerSales!C6 — 2250</a:t>
            </a:r>
          </a:p>
          <a:p xmlns:a="http://schemas.openxmlformats.org/drawingml/2006/main">
            <a:r>
              <a:t>02_management_model.xlsx / CustomerSales!A7 — C003</a:t>
            </a:r>
          </a:p>
          <a:p xmlns:a="http://schemas.openxmlformats.org/drawingml/2006/main">
            <a:r>
              <a:t>02_management_model.xlsx / CustomerSales!B7 — Customer C</a:t>
            </a:r>
          </a:p>
          <a:p xmlns:a="http://schemas.openxmlformats.org/drawingml/2006/main">
            <a:r>
              <a:t>02_management_model.xlsx / CustomerSales!C7 — 2000</a:t>
            </a:r>
          </a:p>
          <a:p xmlns:a="http://schemas.openxmlformats.org/drawingml/2006/main">
            <a:r>
              <a:t>02_management_model.xlsx / CustomerSales!A8 — C004</a:t>
            </a:r>
          </a:p>
          <a:p xmlns:a="http://schemas.openxmlformats.org/drawingml/2006/main">
            <a:r>
              <a:t>02_management_model.xlsx / CustomerSales!B8 — Customer D</a:t>
            </a:r>
          </a:p>
          <a:p xmlns:a="http://schemas.openxmlformats.org/drawingml/2006/main">
            <a:r>
              <a:t>02_management_model.xlsx / CustomerSales!C8 — 1750</a:t>
            </a:r>
          </a:p>
          <a:p xmlns:a="http://schemas.openxmlformats.org/drawingml/2006/main">
            <a:r>
              <a:t>02_management_model.xlsx / CustomerSales!A9 — C005</a:t>
            </a:r>
          </a:p>
          <a:p xmlns:a="http://schemas.openxmlformats.org/drawingml/2006/main">
            <a:r>
              <a:t>02_management_model.xlsx / CustomerSales!B9 — Customer E</a:t>
            </a:r>
          </a:p>
          <a:p xmlns:a="http://schemas.openxmlformats.org/drawingml/2006/main">
            <a:r>
              <a:t>02_management_model.xlsx / CustomerSales!C9 — 1500</a:t>
            </a:r>
          </a:p>
          <a:p xmlns:a="http://schemas.openxmlformats.org/drawingml/2006/main">
            <a:r>
              <a:t>02_management_model.xlsx / CustomerSales!A10 — OTHER</a:t>
            </a:r>
          </a:p>
          <a:p xmlns:a="http://schemas.openxmlformats.org/drawingml/2006/main">
            <a:r>
              <a:t>02_management_model.xlsx / CustomerSales!B10 — All other customers (aggregate)</a:t>
            </a:r>
          </a:p>
          <a:p xmlns:a="http://schemas.openxmlformats.org/drawingml/2006/main">
            <a:r>
              <a:t>02_management_model.xlsx / CustomerSales!C10 — 14500</a:t>
            </a:r>
          </a:p>
          <a:p xmlns:a="http://schemas.openxmlformats.org/drawingml/2006/main">
            <a:r>
              <a:t>Limitations: OTHER is an aggregate.</a:t>
            </a:r>
          </a:p>
          <a:p xmlns:a="http://schemas.openxmlformats.org/drawingml/2006/main">
            <a:r>
              <a:t/>
            </a:r>
          </a:p>
          <a:p xmlns:a="http://schemas.openxmlformats.org/drawingml/2006/main">
            <a:r>
              <a:t>EXPIRIES: Maintenance revenue by agreement expiry year [source_supported]</a:t>
            </a:r>
          </a:p>
          <a:p xmlns:a="http://schemas.openxmlformats.org/drawingml/2006/main">
            <a:r>
              <a:t>08_contract_expiries.csv / line 1 — # FICTIONAL TRAINING CASE; management submission 26 January 2026; unaudited</a:t>
            </a:r>
          </a:p>
          <a:p xmlns:a="http://schemas.openxmlformats.org/drawingml/2006/main">
            <a:r>
              <a:t>08_contract_expiries.csv / line 2 — expiry_year,fy2025_maintenance_revenue_gbp_m,basis</a:t>
            </a:r>
          </a:p>
          <a:p xmlns:a="http://schemas.openxmlformats.org/drawingml/2006/main">
            <a:r>
              <a:t>08_contract_expiries.csv / line 3 — 2026,6.0,FY2025 revenue attributed to current agreement expiry year; not backlog</a:t>
            </a:r>
          </a:p>
          <a:p xmlns:a="http://schemas.openxmlformats.org/drawingml/2006/main">
            <a:r>
              <a:t>08_contract_expiries.csv / line 4 — 2027,7.5,FY2025 revenue attributed to current agreement expiry year; not backlog</a:t>
            </a:r>
          </a:p>
          <a:p xmlns:a="http://schemas.openxmlformats.org/drawingml/2006/main">
            <a:r>
              <a:t>08_contract_expiries.csv / line 5 — 2028,4.0,FY2025 revenue attributed to current agreement expiry year; not backlog</a:t>
            </a:r>
          </a:p>
          <a:p xmlns:a="http://schemas.openxmlformats.org/drawingml/2006/main">
            <a:r>
              <a:t>Limitations: FY2025 recognised revenue assigned to expiry cohorts. Not future contracted backlog.</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PROCESS: Proposed transaction perimeter and preparation responsibilities [source_supported]</a:t>
            </a:r>
          </a:p>
          <a:p xmlns:a="http://schemas.openxmlformats.org/drawingml/2006/main">
            <a:r>
              <a:t>13_transaction_workshop.txt / line 1 — FICTIONAL TRAINING CASE. Invented transaction workshop notes, 26 January 2026.</a:t>
            </a:r>
          </a:p>
          <a:p xmlns:a="http://schemas.openxmlformats.org/drawingml/2006/main">
            <a:r>
              <a:t>13_transaction_workshop.txt / line 2 — Shareholders are considering a sale of 70% to 100% of the equity in the standalone UK company. The current ownership remains founder 70%, management 20%, seed investor 10%.</a:t>
            </a:r>
          </a:p>
          <a:p xmlns:a="http://schemas.openxmlformats.org/drawingml/2006/main">
            <a:r>
              <a:t>13_transaction_workshop.txt / line 3 — The proposed perimeter includes all three hubs, operating assets and customer contracts of the company. No excluded business has been identified. Legal entity, asset ownership and contract transferability require legal diligence.</a:t>
            </a:r>
          </a:p>
          <a:p xmlns:a="http://schemas.openxmlformats.org/drawingml/2006/main">
            <a:r>
              <a:t>13_transaction_workshop.txt / line 4 — No valuation, management rollover, financing structure or transaction timetable has been agreed. The process remains at preparation stage. No offers or signed sale terms exist in this fictional case.</a:t>
            </a:r>
          </a:p>
          <a:p xmlns:a="http://schemas.openxmlformats.org/drawingml/2006/main">
            <a:r>
              <a:t>13_transaction_workshop.txt / line 5 — Daniel Cole (CFO) owns revenue reconciliation, QoE preparation and balance-sheet schedules. Aisha Patel (COO) owns job-level KPI evidence, engineer recruitment and capacity planning. Maya Reed (CEO) owns key-account continuity and pipeline evidence. External legal counsel, not yet appointed, would review title, consents and change-of-control clauses. The strategy team owns independent market work.</a:t>
            </a:r>
          </a:p>
          <a:p xmlns:a="http://schemas.openxmlformats.org/drawingml/2006/main">
            <a:r>
              <a:t>Limitations: Unaudited synthetic management submission.</a:t>
            </a:r>
          </a:p>
          <a:p xmlns:a="http://schemas.openxmlformats.org/drawingml/2006/main">
            <a:r>
              <a:t/>
            </a:r>
          </a:p>
          <a:p xmlns:a="http://schemas.openxmlformats.org/drawingml/2006/main">
            <a:r>
              <a:t>RENEWALS: Defined maintenance agreement renewal cohort [source_supported]</a:t>
            </a:r>
          </a:p>
          <a:p xmlns:a="http://schemas.openxmlformats.org/drawingml/2006/main">
            <a:r>
              <a:t>05_commercial_interview.txt / line 5 — The FY2025 renewal cohort comprised 25 maintenance agreements due for renewal, with GBP 4.00 million of annual contract value immediately before expiry. 23 agreements renewed. The annual value retained on those same agreements, before price changes or additional scope, was GBP 3.72 million. These are management-prepared counts and values, not independently verified customer retention.</a:t>
            </a:r>
          </a:p>
          <a:p xmlns:a="http://schemas.openxmlformats.org/drawingml/2006/main">
            <a:r>
              <a:t>05_commercial_interview.txt / line 6 — The earlier 94% retention estimate remains undefined. It uses no documented customer cohort and cannot be reconciled to this contract-level renewal schedule.</a:t>
            </a:r>
          </a:p>
          <a:p xmlns:a="http://schemas.openxmlformats.org/drawingml/2006/main">
            <a:r>
              <a:t>Limitations: Contract-level management cohort. Excludes price changes and additional scope. Not customer retention and not independently verified.</a:t>
            </a:r>
          </a:p>
          <a:p xmlns:a="http://schemas.openxmlformats.org/drawingml/2006/main">
            <a:r>
              <a:t/>
            </a:r>
          </a:p>
          <a:p xmlns:a="http://schemas.openxmlformats.org/drawingml/2006/main">
            <a:r>
              <a:t>RETENTION: Retention estimate lacks defined basis [management_unverified]</a:t>
            </a:r>
          </a:p>
          <a:p xmlns:a="http://schemas.openxmlformats.org/drawingml/2006/main">
            <a:r>
              <a:t>03_management_interview.txt / line 7 — [00:17] CEO: We estimate customer retention at 94% in FY2025, but have not supplied the cohort calculation or defined whether that refers to customers or revenue.</a:t>
            </a:r>
          </a:p>
          <a:p xmlns:a="http://schemas.openxmlformats.org/drawingml/2006/main">
            <a:r>
              <a:t>Limitations: No definition or cohort data; excluded from quantitative investment highlights.</a:t>
            </a:r>
          </a:p>
          <a:p xmlns:a="http://schemas.openxmlformats.org/drawingml/2006/main">
            <a:r>
              <a:t/>
            </a:r>
          </a:p>
          <a:p xmlns:a="http://schemas.openxmlformats.org/drawingml/2006/main">
            <a:r>
              <a:t>EXPIRY_SHARE: {"id": "EXPIRY_SHARE", "formula": "FY2025 revenue in each expiry cohort / FY2025 maintenance revenue", "input_ids": ["EXPIRIES", "MIX"], "result": [0.34285714285714286, 0.42857142857142855, 0.22857142857142856], "unit": "ratio", "rounding": "Full precision internally; one decimal for GBP million and most percentages"}</a:t>
            </a:r>
          </a:p>
          <a:p xmlns:a="http://schemas.openxmlformats.org/drawingml/2006/main">
            <a:r>
              <a:t/>
            </a:r>
          </a:p>
          <a:p xmlns:a="http://schemas.openxmlformats.org/drawingml/2006/main">
            <a:r>
              <a:t>LARGEST: {"id": "LARGEST", "formula": "max(CustomerSales!C5:C9) / sum(CustomerSales!C5:C10)", "input_ids": ["CUSTOMERS"], "result": 0.12, "unit": "ratio", "rounding": "Full precision internally; one decimal for GBP million and most percentages"}</a:t>
            </a:r>
          </a:p>
          <a:p xmlns:a="http://schemas.openxmlformats.org/drawingml/2006/main">
            <a:r>
              <a:t/>
            </a:r>
          </a:p>
          <a:p xmlns:a="http://schemas.openxmlformats.org/drawingml/2006/main">
            <a:r>
              <a:t>RENEWAL_RATES: {"id": "RENEWAL_RATES", "formula": "Renewed contracts / due contracts; retained pre-price value / due annual value", "input_ids": ["RENEWALS"], "result": [0.92, 0.93], "unit": "ratio", "rounding": "Full precision internally; one decimal for GBP million and most percentages"}</a:t>
            </a:r>
          </a:p>
          <a:p xmlns:a="http://schemas.openxmlformats.org/drawingml/2006/main">
            <a:r>
              <a:t/>
            </a:r>
          </a:p>
          <a:p xmlns:a="http://schemas.openxmlformats.org/drawingml/2006/main">
            <a:r>
              <a:t>TOP5: {"id": "TOP5", "formula": "sum(CustomerSales!C5:C9) / sum(CustomerSales!C5:C10)", "input_ids": ["CUSTOMERS"], "result": 0.42,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BRIDGE: Group-level forecast revenue bridge and engineer plan [source_supported]</a:t>
            </a:r>
          </a:p>
          <a:p xmlns:a="http://schemas.openxmlformats.org/drawingml/2006/main">
            <a:r>
              <a:t>11_forecast_bridge.csv / line 1 — # FICTIONAL TRAINING CASE; management submission 26 January 2026; unaudited</a:t>
            </a:r>
          </a:p>
          <a:p xmlns:a="http://schemas.openxmlformats.org/drawingml/2006/main">
            <a:r>
              <a:t>11_forecast_bridge.csv / line 2 — component,fy2026_gbp_m,fy2027_gbp_m,basis</a:t>
            </a:r>
          </a:p>
          <a:p xmlns:a="http://schemas.openxmlformats.org/drawingml/2006/main">
            <a:r>
              <a:t>11_forecast_bridge.csv / line 3 — Opening revenue,25,29,Prior year actual or forecast</a:t>
            </a:r>
          </a:p>
          <a:p xmlns:a="http://schemas.openxmlformats.org/drawingml/2006/main">
            <a:r>
              <a:t>11_forecast_bridge.csv / line 4 — Price,1,1.16,Management assumption; customer acceptance required</a:t>
            </a:r>
          </a:p>
          <a:p xmlns:a="http://schemas.openxmlformats.org/drawingml/2006/main">
            <a:r>
              <a:t>11_forecast_bridge.csv / line 5 — New contracts,2,2.4,Management assumption; unsigned pipeline</a:t>
            </a:r>
          </a:p>
          <a:p xmlns:a="http://schemas.openxmlformats.org/drawingml/2006/main">
            <a:r>
              <a:t>11_forecast_bridge.csv / line 6 — Cross-sell,1.6,1.74,Management assumption; conversion required</a:t>
            </a:r>
          </a:p>
          <a:p xmlns:a="http://schemas.openxmlformats.org/drawingml/2006/main">
            <a:r>
              <a:t>11_forecast_bridge.csv / line 7 — Attrition,-0.6,-0.7,Management assumption</a:t>
            </a:r>
          </a:p>
          <a:p xmlns:a="http://schemas.openxmlformats.org/drawingml/2006/main">
            <a:r>
              <a:t>11_forecast_bridge.csv / line 8 — Closing revenue,29,33.6,Management forecast</a:t>
            </a:r>
          </a:p>
          <a:p xmlns:a="http://schemas.openxmlformats.org/drawingml/2006/main">
            <a:r>
              <a:t>11_forecast_bridge.csv / line 9 — Year-end field engineers,95,105,Headcount; excludes attrition/replacement hiring; net growth from 85</a:t>
            </a:r>
          </a:p>
          <a:p xmlns:a="http://schemas.openxmlformats.org/drawingml/2006/main">
            <a:r>
              <a:t>Limitations: Group-level management assumptions. No customer bridge, signed pipeline or recruitment cost schedule.</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HUBS: Hub revenue and year-end headcount [source_supported]</a:t>
            </a:r>
          </a:p>
          <a:p xmlns:a="http://schemas.openxmlformats.org/drawingml/2006/main">
            <a:r>
              <a:t>06_hub_schedule.csv / line 1 — # FICTIONAL TRAINING CASE; management submission 26 January 2026; unaudited</a:t>
            </a:r>
          </a:p>
          <a:p xmlns:a="http://schemas.openxmlformats.org/drawingml/2006/main">
            <a:r>
              <a:t>06_hub_schedule.csv / line 2 — hub,fy2025_revenue_gbp_m,employees_20251231,field_engineers_20251231</a:t>
            </a:r>
          </a:p>
          <a:p xmlns:a="http://schemas.openxmlformats.org/drawingml/2006/main">
            <a:r>
              <a:t>06_hub_schedule.csv / line 3 — Birmingham,11.5,55,40</a:t>
            </a:r>
          </a:p>
          <a:p xmlns:a="http://schemas.openxmlformats.org/drawingml/2006/main">
            <a:r>
              <a:t>06_hub_schedule.csv / line 4 — Manchester,8.0,38,27</a:t>
            </a:r>
          </a:p>
          <a:p xmlns:a="http://schemas.openxmlformats.org/drawingml/2006/main">
            <a:r>
              <a:t>06_hub_schedule.csv / line 5 — Bristol,5.5,27,18</a:t>
            </a:r>
          </a:p>
          <a:p xmlns:a="http://schemas.openxmlformats.org/drawingml/2006/main">
            <a:r>
              <a:t>Limitations: Unaudited synthetic management submission.</a:t>
            </a:r>
          </a:p>
          <a:p xmlns:a="http://schemas.openxmlformats.org/drawingml/2006/main">
            <a:r>
              <a:t/>
            </a:r>
          </a:p>
          <a:p xmlns:a="http://schemas.openxmlformats.org/drawingml/2006/main">
            <a:r>
              <a:t>KPIS: Defined service delivery measures [source_supported]</a:t>
            </a:r>
          </a:p>
          <a:p xmlns:a="http://schemas.openxmlformats.org/drawingml/2006/main">
            <a:r>
              <a:t>07_service_kpis.csv / line 1 — # FICTIONAL TRAINING CASE; management submission 26 January 2026; unaudited</a:t>
            </a:r>
          </a:p>
          <a:p xmlns:a="http://schemas.openxmlformats.org/drawingml/2006/main">
            <a:r>
              <a:t>07_service_kpis.csv / line 2 — metric,numerator,denominator,period,definition</a:t>
            </a:r>
          </a:p>
          <a:p xmlns:a="http://schemas.openxmlformats.org/drawingml/2006/main">
            <a:r>
              <a:t>07_service_kpis.csv / line 3 — Urgent response SLA,561,600,FY2025,Eligible urgent jobs attended within four hours / all eligible urgent jobs</a:t>
            </a:r>
          </a:p>
          <a:p xmlns:a="http://schemas.openxmlformats.org/drawingml/2006/main">
            <a:r>
              <a:t>07_service_kpis.csv / line 4 — First-time fix,2200,2500,FY2025,Closed reactive jobs resolved on first visit / all closed reactive jobs</a:t>
            </a:r>
          </a:p>
          <a:p xmlns:a="http://schemas.openxmlformats.org/drawingml/2006/main">
            <a:r>
              <a:t>07_service_kpis.csv / line 5 — Productive hours,126480,170000,FY2025,Recorded productive engineer hours / recorded available engineer hours; not billing utilisation</a:t>
            </a:r>
          </a:p>
          <a:p xmlns:a="http://schemas.openxmlformats.org/drawingml/2006/main">
            <a:r>
              <a:t>Limitations: Unaudited synthetic management submission.</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PROCESS: Proposed transaction perimeter and preparation responsibilities [source_supported]</a:t>
            </a:r>
          </a:p>
          <a:p xmlns:a="http://schemas.openxmlformats.org/drawingml/2006/main">
            <a:r>
              <a:t>13_transaction_workshop.txt / line 1 — FICTIONAL TRAINING CASE. Invented transaction workshop notes, 26 January 2026.</a:t>
            </a:r>
          </a:p>
          <a:p xmlns:a="http://schemas.openxmlformats.org/drawingml/2006/main">
            <a:r>
              <a:t>13_transaction_workshop.txt / line 2 — Shareholders are considering a sale of 70% to 100% of the equity in the standalone UK company. The current ownership remains founder 70%, management 20%, seed investor 10%.</a:t>
            </a:r>
          </a:p>
          <a:p xmlns:a="http://schemas.openxmlformats.org/drawingml/2006/main">
            <a:r>
              <a:t>13_transaction_workshop.txt / line 3 — The proposed perimeter includes all three hubs, operating assets and customer contracts of the company. No excluded business has been identified. Legal entity, asset ownership and contract transferability require legal diligence.</a:t>
            </a:r>
          </a:p>
          <a:p xmlns:a="http://schemas.openxmlformats.org/drawingml/2006/main">
            <a:r>
              <a:t>13_transaction_workshop.txt / line 4 — No valuation, management rollover, financing structure or transaction timetable has been agreed. The process remains at preparation stage. No offers or signed sale terms exist in this fictional case.</a:t>
            </a:r>
          </a:p>
          <a:p xmlns:a="http://schemas.openxmlformats.org/drawingml/2006/main">
            <a:r>
              <a:t>13_transaction_workshop.txt / line 5 — Daniel Cole (CFO) owns revenue reconciliation, QoE preparation and balance-sheet schedules. Aisha Patel (COO) owns job-level KPI evidence, engineer recruitment and capacity planning. Maya Reed (CEO) owns key-account continuity and pipeline evidence. External legal counsel, not yet appointed, would review title, consents and change-of-control clauses. The strategy team owns independent market work.</a:t>
            </a:r>
          </a:p>
          <a:p xmlns:a="http://schemas.openxmlformats.org/drawingml/2006/main">
            <a:r>
              <a:t>Limitations: Unaudited synthetic management submission.</a:t>
            </a:r>
          </a:p>
          <a:p xmlns:a="http://schemas.openxmlformats.org/drawingml/2006/main">
            <a:r>
              <a:t/>
            </a:r>
          </a:p>
          <a:p xmlns:a="http://schemas.openxmlformats.org/drawingml/2006/main">
            <a:r>
              <a:t>KPI_RATES: {"id": "KPI_RATES", "formula": "Numerator / denominator for each defined service KPI", "input_ids": ["KPIS"], "result": [0.935, 0.88, 0.744],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FIN23: FY2023 financial statements [source_supported]</a:t>
            </a:r>
          </a:p>
          <a:p xmlns:a="http://schemas.openxmlformats.org/drawingml/2006/main">
            <a:r>
              <a:t>02_management_model.xlsx / PnL!B5 — FY2023A</a:t>
            </a:r>
          </a:p>
          <a:p xmlns:a="http://schemas.openxmlformats.org/drawingml/2006/main">
            <a:r>
              <a:t>02_management_model.xlsx / PnL!B6 — 18</a:t>
            </a:r>
          </a:p>
          <a:p xmlns:a="http://schemas.openxmlformats.org/drawingml/2006/main">
            <a:r>
              <a:t>02_management_model.xlsx / PnL!B7 — -10.8</a:t>
            </a:r>
          </a:p>
          <a:p xmlns:a="http://schemas.openxmlformats.org/drawingml/2006/main">
            <a:r>
              <a:t>02_management_model.xlsx / PnL!B8 — 7.199999999999999</a:t>
            </a:r>
          </a:p>
          <a:p xmlns:a="http://schemas.openxmlformats.org/drawingml/2006/main">
            <a:r>
              <a:t>02_management_model.xlsx / PnL!B9 — -4.5</a:t>
            </a:r>
          </a:p>
          <a:p xmlns:a="http://schemas.openxmlformats.org/drawingml/2006/main">
            <a:r>
              <a:t>02_management_model.xlsx / PnL!B10 — 2.6999999999999993</a:t>
            </a:r>
          </a:p>
          <a:p xmlns:a="http://schemas.openxmlformats.org/drawingml/2006/main">
            <a:r>
              <a:t>02_management_model.xlsx / PnL!B11 — 0.14999999999999997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FIN24: FY2024 financial statements [source_supported]</a:t>
            </a:r>
          </a:p>
          <a:p xmlns:a="http://schemas.openxmlformats.org/drawingml/2006/main">
            <a:r>
              <a:t>02_management_model.xlsx / PnL!C5 — FY2024A</a:t>
            </a:r>
          </a:p>
          <a:p xmlns:a="http://schemas.openxmlformats.org/drawingml/2006/main">
            <a:r>
              <a:t>02_management_model.xlsx / PnL!C6 — 21.5</a:t>
            </a:r>
          </a:p>
          <a:p xmlns:a="http://schemas.openxmlformats.org/drawingml/2006/main">
            <a:r>
              <a:t>02_management_model.xlsx / PnL!C7 — -12.7</a:t>
            </a:r>
          </a:p>
          <a:p xmlns:a="http://schemas.openxmlformats.org/drawingml/2006/main">
            <a:r>
              <a:t>02_management_model.xlsx / PnL!C8 — 8.8</a:t>
            </a:r>
          </a:p>
          <a:p xmlns:a="http://schemas.openxmlformats.org/drawingml/2006/main">
            <a:r>
              <a:t>02_management_model.xlsx / PnL!C9 — -4.9</a:t>
            </a:r>
          </a:p>
          <a:p xmlns:a="http://schemas.openxmlformats.org/drawingml/2006/main">
            <a:r>
              <a:t>02_management_model.xlsx / PnL!C10 — 3.9000000000000004</a:t>
            </a:r>
          </a:p>
          <a:p xmlns:a="http://schemas.openxmlformats.org/drawingml/2006/main">
            <a:r>
              <a:t>02_management_model.xlsx / PnL!C11 — 0.1813953488372093</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QUARTERS: Quarterly revenue and management EBITDA [source_supported]</a:t>
            </a:r>
          </a:p>
          <a:p xmlns:a="http://schemas.openxmlformats.org/drawingml/2006/main">
            <a:r>
              <a:t>09_quarterly_accounts.csv / line 1 — # FICTIONAL TRAINING CASE; management submission 26 January 2026; unaudited</a:t>
            </a:r>
          </a:p>
          <a:p xmlns:a="http://schemas.openxmlformats.org/drawingml/2006/main">
            <a:r>
              <a:t>09_quarterly_accounts.csv / line 2 — quarter,revenue_gbp_m,ebitda_gbp_m,basis</a:t>
            </a:r>
          </a:p>
          <a:p xmlns:a="http://schemas.openxmlformats.org/drawingml/2006/main">
            <a:r>
              <a:t>09_quarterly_accounts.csv / line 3 — Q1 2025,5.7,0.9,Unaudited provisional management actuals</a:t>
            </a:r>
          </a:p>
          <a:p xmlns:a="http://schemas.openxmlformats.org/drawingml/2006/main">
            <a:r>
              <a:t>09_quarterly_accounts.csv / line 4 — Q2 2025,6.1,1.15,Unaudited provisional management actuals</a:t>
            </a:r>
          </a:p>
          <a:p xmlns:a="http://schemas.openxmlformats.org/drawingml/2006/main">
            <a:r>
              <a:t>09_quarterly_accounts.csv / line 5 — Q3 2025,6.4,1.3,Unaudited provisional management actuals</a:t>
            </a:r>
          </a:p>
          <a:p xmlns:a="http://schemas.openxmlformats.org/drawingml/2006/main">
            <a:r>
              <a:t>09_quarterly_accounts.csv / line 6 — Q4 2025,6.8,1.65,Unaudited provisional management actuals</a:t>
            </a:r>
          </a:p>
          <a:p xmlns:a="http://schemas.openxmlformats.org/drawingml/2006/main">
            <a:r>
              <a:t>Limitations: Unaudited synthetic management submission.</a:t>
            </a:r>
          </a:p>
          <a:p xmlns:a="http://schemas.openxmlformats.org/drawingml/2006/main">
            <a:r>
              <a:t/>
            </a:r>
          </a:p>
          <a:p xmlns:a="http://schemas.openxmlformats.org/drawingml/2006/main">
            <a:r>
              <a:t>CAGR: {"id": "CAGR", "formula": "(FY2025 revenue / FY2023 revenue)^(1/2) - 1", "input_ids": ["FIN23", "FIN25"], "result": 0.17851130197757925, "unit": "ratio", "rounding": "Full precision internally; one decimal for GBP million and most percentages"}</a:t>
            </a:r>
          </a:p>
          <a:p xmlns:a="http://schemas.openxmlformats.org/drawingml/2006/main">
            <a:r>
              <a:t/>
            </a:r>
          </a:p>
          <a:p xmlns:a="http://schemas.openxmlformats.org/drawingml/2006/main">
            <a:r>
              <a:t>MARGINS: {"id": "MARGINS", "formula": "Each period EBITDA / same period revenue", "input_ids": ["FIN23", "FIN24", "FIN25", "FIN26", "FIN27"], "result": [0.14999999999999997, 0.1813953488372093, 0.2, 0.21034482758620687, 0.22023809523809523],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BRIDGE: Group-level forecast revenue bridge and engineer plan [source_supported]</a:t>
            </a:r>
          </a:p>
          <a:p xmlns:a="http://schemas.openxmlformats.org/drawingml/2006/main">
            <a:r>
              <a:t>11_forecast_bridge.csv / line 1 — # FICTIONAL TRAINING CASE; management submission 26 January 2026; unaudited</a:t>
            </a:r>
          </a:p>
          <a:p xmlns:a="http://schemas.openxmlformats.org/drawingml/2006/main">
            <a:r>
              <a:t>11_forecast_bridge.csv / line 2 — component,fy2026_gbp_m,fy2027_gbp_m,basis</a:t>
            </a:r>
          </a:p>
          <a:p xmlns:a="http://schemas.openxmlformats.org/drawingml/2006/main">
            <a:r>
              <a:t>11_forecast_bridge.csv / line 3 — Opening revenue,25,29,Prior year actual or forecast</a:t>
            </a:r>
          </a:p>
          <a:p xmlns:a="http://schemas.openxmlformats.org/drawingml/2006/main">
            <a:r>
              <a:t>11_forecast_bridge.csv / line 4 — Price,1,1.16,Management assumption; customer acceptance required</a:t>
            </a:r>
          </a:p>
          <a:p xmlns:a="http://schemas.openxmlformats.org/drawingml/2006/main">
            <a:r>
              <a:t>11_forecast_bridge.csv / line 5 — New contracts,2,2.4,Management assumption; unsigned pipeline</a:t>
            </a:r>
          </a:p>
          <a:p xmlns:a="http://schemas.openxmlformats.org/drawingml/2006/main">
            <a:r>
              <a:t>11_forecast_bridge.csv / line 6 — Cross-sell,1.6,1.74,Management assumption; conversion required</a:t>
            </a:r>
          </a:p>
          <a:p xmlns:a="http://schemas.openxmlformats.org/drawingml/2006/main">
            <a:r>
              <a:t>11_forecast_bridge.csv / line 7 — Attrition,-0.6,-0.7,Management assumption</a:t>
            </a:r>
          </a:p>
          <a:p xmlns:a="http://schemas.openxmlformats.org/drawingml/2006/main">
            <a:r>
              <a:t>11_forecast_bridge.csv / line 8 — Closing revenue,29,33.6,Management forecast</a:t>
            </a:r>
          </a:p>
          <a:p xmlns:a="http://schemas.openxmlformats.org/drawingml/2006/main">
            <a:r>
              <a:t>11_forecast_bridge.csv / line 9 — Year-end field engineers,95,105,Headcount; excludes attrition/replacement hiring; net growth from 85</a:t>
            </a:r>
          </a:p>
          <a:p xmlns:a="http://schemas.openxmlformats.org/drawingml/2006/main">
            <a:r>
              <a:t>Limitations: Group-level management assumptions. No customer bridge, signed pipeline or recruitment cost schedule.</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FIN26: FY2026 financial statements [source_supported]</a:t>
            </a:r>
          </a:p>
          <a:p xmlns:a="http://schemas.openxmlformats.org/drawingml/2006/main">
            <a:r>
              <a:t>02_management_model.xlsx / PnL!E5 — FY2026F</a:t>
            </a:r>
          </a:p>
          <a:p xmlns:a="http://schemas.openxmlformats.org/drawingml/2006/main">
            <a:r>
              <a:t>02_management_model.xlsx / PnL!E6 — 29</a:t>
            </a:r>
          </a:p>
          <a:p xmlns:a="http://schemas.openxmlformats.org/drawingml/2006/main">
            <a:r>
              <a:t>02_management_model.xlsx / PnL!E7 — -16.5</a:t>
            </a:r>
          </a:p>
          <a:p xmlns:a="http://schemas.openxmlformats.org/drawingml/2006/main">
            <a:r>
              <a:t>02_management_model.xlsx / PnL!E8 — 12.5</a:t>
            </a:r>
          </a:p>
          <a:p xmlns:a="http://schemas.openxmlformats.org/drawingml/2006/main">
            <a:r>
              <a:t>02_management_model.xlsx / PnL!E9 — -6.4</a:t>
            </a:r>
          </a:p>
          <a:p xmlns:a="http://schemas.openxmlformats.org/drawingml/2006/main">
            <a:r>
              <a:t>02_management_model.xlsx / PnL!E10 — 6.1</a:t>
            </a:r>
          </a:p>
          <a:p xmlns:a="http://schemas.openxmlformats.org/drawingml/2006/main">
            <a:r>
              <a:t>02_management_model.xlsx / PnL!E11 — 0.21034482758620687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FIN27: FY2027 financial statements [source_supported]</a:t>
            </a:r>
          </a:p>
          <a:p xmlns:a="http://schemas.openxmlformats.org/drawingml/2006/main">
            <a:r>
              <a:t>02_management_model.xlsx / PnL!F5 — FY2027F</a:t>
            </a:r>
          </a:p>
          <a:p xmlns:a="http://schemas.openxmlformats.org/drawingml/2006/main">
            <a:r>
              <a:t>02_management_model.xlsx / PnL!F6 — 33.6</a:t>
            </a:r>
          </a:p>
          <a:p xmlns:a="http://schemas.openxmlformats.org/drawingml/2006/main">
            <a:r>
              <a:t>02_management_model.xlsx / PnL!F7 — -18.6</a:t>
            </a:r>
          </a:p>
          <a:p xmlns:a="http://schemas.openxmlformats.org/drawingml/2006/main">
            <a:r>
              <a:t>02_management_model.xlsx / PnL!F8 — 15</a:t>
            </a:r>
          </a:p>
          <a:p xmlns:a="http://schemas.openxmlformats.org/drawingml/2006/main">
            <a:r>
              <a:t>02_management_model.xlsx / PnL!F9 — -7.6</a:t>
            </a:r>
          </a:p>
          <a:p xmlns:a="http://schemas.openxmlformats.org/drawingml/2006/main">
            <a:r>
              <a:t>02_management_model.xlsx / PnL!F10 — 7.4</a:t>
            </a:r>
          </a:p>
          <a:p xmlns:a="http://schemas.openxmlformats.org/drawingml/2006/main">
            <a:r>
              <a:t>02_management_model.xlsx / PnL!F11 — 0.22023809523809523</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PIPELINE: Unsigned unweighted opportunity pipeline [source_supported]</a:t>
            </a:r>
          </a:p>
          <a:p xmlns:a="http://schemas.openxmlformats.org/drawingml/2006/main">
            <a:r>
              <a:t>05_commercial_interview.txt / line 7 — Pipeline at 26 January 2026 totals GBP 4.8 million of indicative annual revenue: proposals GBP 2.4 million, negotiations GBP 1.5 million and preferred supplier GBP 0.9 million. All are unsigned. Stage values are unweighted and are not forecast revenue or backlog.</a:t>
            </a:r>
          </a:p>
          <a:p xmlns:a="http://schemas.openxmlformats.org/drawingml/2006/main">
            <a:r>
              <a:t>Limitations: All unsigned. Not backlog or forecast revenue.</a:t>
            </a:r>
          </a:p>
          <a:p xmlns:a="http://schemas.openxmlformats.org/drawingml/2006/main">
            <a:r>
              <a:t/>
            </a:r>
          </a:p>
          <a:p xmlns:a="http://schemas.openxmlformats.org/drawingml/2006/main">
            <a:r>
              <a:t>FORECAST_TIE: {"id": "FORECAST_TIE", "formula": "Opening revenue + price + new contracts + cross-sell + attrition", "input_ids": ["BRIDGE"], "result": [29.0, 33.6], "unit": "GBP million", "rounding": "Full precision internally; one decimal for GBP million and most percentages"}</a:t>
            </a:r>
          </a:p>
          <a:p xmlns:a="http://schemas.openxmlformats.org/drawingml/2006/main">
            <a:r>
              <a:t/>
            </a:r>
          </a:p>
          <a:p xmlns:a="http://schemas.openxmlformats.org/drawingml/2006/main">
            <a:r>
              <a:t>MARGINS: {"id": "MARGINS", "formula": "Each period EBITDA / same period revenue", "input_ids": ["FIN23", "FIN24", "FIN25", "FIN26", "FIN27"], "result": [0.14999999999999997, 0.1813953488372093, 0.2, 0.21034482758620687, 0.22023809523809523],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BALANCE: Draft limited balance-sheet schedule [source_supported]</a:t>
            </a:r>
          </a:p>
          <a:p xmlns:a="http://schemas.openxmlformats.org/drawingml/2006/main">
            <a:r>
              <a:t>10_cfo_follow_up.eml / line 8 — At 31 December 2025, our draft schedule shows cash 2.4 and bank term debt 4.8. Lease liabilities, tax balances, debt-like items and restricted cash have not been assessed. These figures alone are insufficient for an enterprise-to-equity bridge.</a:t>
            </a:r>
          </a:p>
          <a:p xmlns:a="http://schemas.openxmlformats.org/drawingml/2006/main">
            <a:r>
              <a:t>10_cfo_follow_up.eml / line 9 — Draft trade receivables are 4.2, inventory 0.6 and trade payables 2.1 at 31 December 2025. Other working-capital items and monthly seasonality are missing. This limited snapshot is not normalised working capital.</a:t>
            </a:r>
          </a:p>
          <a:p xmlns:a="http://schemas.openxmlformats.org/drawingml/2006/main">
            <a:r>
              <a:t>Limitations: Missing leases, tax, debt-like items, restricted cash and other working-capital items. No normalised working capital.</a:t>
            </a:r>
          </a:p>
          <a:p xmlns:a="http://schemas.openxmlformats.org/drawingml/2006/main">
            <a:r>
              <a:t/>
            </a:r>
          </a:p>
          <a:p xmlns:a="http://schemas.openxmlformats.org/drawingml/2006/main">
            <a:r>
              <a:t>DEAL: Ownership and proposed sale [source_supported]</a:t>
            </a:r>
          </a:p>
          <a:p xmlns:a="http://schemas.openxmlformats.org/drawingml/2006/main">
            <a:r>
              <a:t>01_company_brief.docx / paragraph 14 — The founder holds 70%, management holds 20% and a seed investor holds 10% of ordinary equity. Shareholders are considering a sale of 70% to 100% of the company. Management rollover, valuation, timing and financing remain to be agreed. No debt, cash or working-capital schedule has been provided.</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PROCESS: Proposed transaction perimeter and preparation responsibilities [source_supported]</a:t>
            </a:r>
          </a:p>
          <a:p xmlns:a="http://schemas.openxmlformats.org/drawingml/2006/main">
            <a:r>
              <a:t>13_transaction_workshop.txt / line 1 — FICTIONAL TRAINING CASE. Invented transaction workshop notes, 26 January 2026.</a:t>
            </a:r>
          </a:p>
          <a:p xmlns:a="http://schemas.openxmlformats.org/drawingml/2006/main">
            <a:r>
              <a:t>13_transaction_workshop.txt / line 2 — Shareholders are considering a sale of 70% to 100% of the equity in the standalone UK company. The current ownership remains founder 70%, management 20%, seed investor 10%.</a:t>
            </a:r>
          </a:p>
          <a:p xmlns:a="http://schemas.openxmlformats.org/drawingml/2006/main">
            <a:r>
              <a:t>13_transaction_workshop.txt / line 3 — The proposed perimeter includes all three hubs, operating assets and customer contracts of the company. No excluded business has been identified. Legal entity, asset ownership and contract transferability require legal diligence.</a:t>
            </a:r>
          </a:p>
          <a:p xmlns:a="http://schemas.openxmlformats.org/drawingml/2006/main">
            <a:r>
              <a:t>13_transaction_workshop.txt / line 4 — No valuation, management rollover, financing structure or transaction timetable has been agreed. The process remains at preparation stage. No offers or signed sale terms exist in this fictional case.</a:t>
            </a:r>
          </a:p>
          <a:p xmlns:a="http://schemas.openxmlformats.org/drawingml/2006/main">
            <a:r>
              <a:t>13_transaction_workshop.txt / line 5 — Daniel Cole (CFO) owns revenue reconciliation, QoE preparation and balance-sheet schedules. Aisha Patel (COO) owns job-level KPI evidence, engineer recruitment and capacity planning. Maya Reed (CEO) owns key-account continuity and pipeline evidence. External legal counsel, not yet appointed, would review title, consents and change-of-control clauses. The strategy team owns independent market work.</a:t>
            </a:r>
          </a:p>
          <a:p xmlns:a="http://schemas.openxmlformats.org/drawingml/2006/main">
            <a:r>
              <a:t>Limitations: Unaudited synthetic management submission.</a:t>
            </a:r>
          </a:p>
          <a:p xmlns:a="http://schemas.openxmlformats.org/drawingml/2006/main">
            <a:r>
              <a:t/>
            </a:r>
          </a:p>
          <a:p xmlns:a="http://schemas.openxmlformats.org/drawingml/2006/main">
            <a:r>
              <a:t>LIMITED_NET_DEBT: {"id": "LIMITED_NET_DEBT", "formula": "Bank term debt minus cash only", "input_ids": ["BALANCE"], "result": 2.4, "unit": "GBP million", "rounding": "Full precision internally; one decimal for GBP million and most percentages"}</a:t>
            </a:r>
          </a:p>
          <a:p xmlns:a="http://schemas.openxmlformats.org/drawingml/2006/main">
            <a:r>
              <a:t/>
            </a:r>
          </a:p>
          <a:p xmlns:a="http://schemas.openxmlformats.org/drawingml/2006/main">
            <a:r>
              <a:t>TRADE_WC: {"id": "TRADE_WC", "formula": "Trade receivables + inventory - trade payables", "input_ids": ["BALANCE"], "result": 2.6999999999999997, "unit": "GBP million",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BALANCE: Draft limited balance-sheet schedule [source_supported]</a:t>
            </a:r>
          </a:p>
          <a:p xmlns:a="http://schemas.openxmlformats.org/drawingml/2006/main">
            <a:r>
              <a:t>10_cfo_follow_up.eml / line 8 — At 31 December 2025, our draft schedule shows cash 2.4 and bank term debt 4.8. Lease liabilities, tax balances, debt-like items and restricted cash have not been assessed. These figures alone are insufficient for an enterprise-to-equity bridge.</a:t>
            </a:r>
          </a:p>
          <a:p xmlns:a="http://schemas.openxmlformats.org/drawingml/2006/main">
            <a:r>
              <a:t>10_cfo_follow_up.eml / line 9 — Draft trade receivables are 4.2, inventory 0.6 and trade payables 2.1 at 31 December 2025. Other working-capital items and monthly seasonality are missing. This limited snapshot is not normalised working capital.</a:t>
            </a:r>
          </a:p>
          <a:p xmlns:a="http://schemas.openxmlformats.org/drawingml/2006/main">
            <a:r>
              <a:t>Limitations: Missing leases, tax, debt-like items, restricted cash and other working-capital items. No normalised working capital.</a:t>
            </a:r>
          </a:p>
          <a:p xmlns:a="http://schemas.openxmlformats.org/drawingml/2006/main">
            <a:r>
              <a:t/>
            </a:r>
          </a:p>
          <a:p xmlns:a="http://schemas.openxmlformats.org/drawingml/2006/main">
            <a:r>
              <a:t>BRIDGE: Group-level forecast revenue bridge and engineer plan [source_supported]</a:t>
            </a:r>
          </a:p>
          <a:p xmlns:a="http://schemas.openxmlformats.org/drawingml/2006/main">
            <a:r>
              <a:t>11_forecast_bridge.csv / line 1 — # FICTIONAL TRAINING CASE; management submission 26 January 2026; unaudited</a:t>
            </a:r>
          </a:p>
          <a:p xmlns:a="http://schemas.openxmlformats.org/drawingml/2006/main">
            <a:r>
              <a:t>11_forecast_bridge.csv / line 2 — component,fy2026_gbp_m,fy2027_gbp_m,basis</a:t>
            </a:r>
          </a:p>
          <a:p xmlns:a="http://schemas.openxmlformats.org/drawingml/2006/main">
            <a:r>
              <a:t>11_forecast_bridge.csv / line 3 — Opening revenue,25,29,Prior year actual or forecast</a:t>
            </a:r>
          </a:p>
          <a:p xmlns:a="http://schemas.openxmlformats.org/drawingml/2006/main">
            <a:r>
              <a:t>11_forecast_bridge.csv / line 4 — Price,1,1.16,Management assumption; customer acceptance required</a:t>
            </a:r>
          </a:p>
          <a:p xmlns:a="http://schemas.openxmlformats.org/drawingml/2006/main">
            <a:r>
              <a:t>11_forecast_bridge.csv / line 5 — New contracts,2,2.4,Management assumption; unsigned pipeline</a:t>
            </a:r>
          </a:p>
          <a:p xmlns:a="http://schemas.openxmlformats.org/drawingml/2006/main">
            <a:r>
              <a:t>11_forecast_bridge.csv / line 6 — Cross-sell,1.6,1.74,Management assumption; conversion required</a:t>
            </a:r>
          </a:p>
          <a:p xmlns:a="http://schemas.openxmlformats.org/drawingml/2006/main">
            <a:r>
              <a:t>11_forecast_bridge.csv / line 7 — Attrition,-0.6,-0.7,Management assumption</a:t>
            </a:r>
          </a:p>
          <a:p xmlns:a="http://schemas.openxmlformats.org/drawingml/2006/main">
            <a:r>
              <a:t>11_forecast_bridge.csv / line 8 — Closing revenue,29,33.6,Management forecast</a:t>
            </a:r>
          </a:p>
          <a:p xmlns:a="http://schemas.openxmlformats.org/drawingml/2006/main">
            <a:r>
              <a:t>11_forecast_bridge.csv / line 9 — Year-end field engineers,95,105,Headcount; excludes attrition/replacement hiring; net growth from 85</a:t>
            </a:r>
          </a:p>
          <a:p xmlns:a="http://schemas.openxmlformats.org/drawingml/2006/main">
            <a:r>
              <a:t>Limitations: Group-level management assumptions. No customer bridge, signed pipeline or recruitment cost schedule.</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EXPIRIES: Maintenance revenue by agreement expiry year [source_supported]</a:t>
            </a:r>
          </a:p>
          <a:p xmlns:a="http://schemas.openxmlformats.org/drawingml/2006/main">
            <a:r>
              <a:t>08_contract_expiries.csv / line 1 — # FICTIONAL TRAINING CASE; management submission 26 January 2026; unaudited</a:t>
            </a:r>
          </a:p>
          <a:p xmlns:a="http://schemas.openxmlformats.org/drawingml/2006/main">
            <a:r>
              <a:t>08_contract_expiries.csv / line 2 — expiry_year,fy2025_maintenance_revenue_gbp_m,basis</a:t>
            </a:r>
          </a:p>
          <a:p xmlns:a="http://schemas.openxmlformats.org/drawingml/2006/main">
            <a:r>
              <a:t>08_contract_expiries.csv / line 3 — 2026,6.0,FY2025 revenue attributed to current agreement expiry year; not backlog</a:t>
            </a:r>
          </a:p>
          <a:p xmlns:a="http://schemas.openxmlformats.org/drawingml/2006/main">
            <a:r>
              <a:t>08_contract_expiries.csv / line 4 — 2027,7.5,FY2025 revenue attributed to current agreement expiry year; not backlog</a:t>
            </a:r>
          </a:p>
          <a:p xmlns:a="http://schemas.openxmlformats.org/drawingml/2006/main">
            <a:r>
              <a:t>08_contract_expiries.csv / line 5 — 2028,4.0,FY2025 revenue attributed to current agreement expiry year; not backlog</a:t>
            </a:r>
          </a:p>
          <a:p xmlns:a="http://schemas.openxmlformats.org/drawingml/2006/main">
            <a:r>
              <a:t>Limitations: FY2025 recognised revenue assigned to expiry cohorts. Not future contracted backlog.</a:t>
            </a:r>
          </a:p>
          <a:p xmlns:a="http://schemas.openxmlformats.org/drawingml/2006/main">
            <a:r>
              <a:t/>
            </a:r>
          </a:p>
          <a:p xmlns:a="http://schemas.openxmlformats.org/drawingml/2006/main">
            <a:r>
              <a:t>FIN_UPDATE: Updated financial diligence status [source_supported]</a:t>
            </a:r>
          </a:p>
          <a:p xmlns:a="http://schemas.openxmlformats.org/drawingml/2006/main">
            <a:r>
              <a:t>10_cfo_follow_up.eml / line 7 — Please continue to use the FY2025 revenue of 25.0 in the management model provisionally. The earlier 26.2 briefing figure remains unreconciled. We have identified 0.8 of possible orders relating to services scheduled for 2026, but have not verified this against invoices and the ledger. Do not deduct this amount and describe the difference as resolved.</a:t>
            </a:r>
          </a:p>
          <a:p xmlns:a="http://schemas.openxmlformats.org/drawingml/2006/main">
            <a:r>
              <a:t>10_cfo_follow_up.eml / line 10 — Management has proposed EBITDA adjustments of 0.18 for founder remuneration and 0.12 for systems implementation. We have not substantiated either adjustment. Retain management-reported EBITDA of 5.0 with no add-backs.</a:t>
            </a:r>
          </a:p>
          <a:p xmlns:a="http://schemas.openxmlformats.org/drawingml/2006/main">
            <a:r>
              <a:t>10_cfo_follow_up.eml / line 11 — The quarterly revenue and EBITDA schedule ties to the annual model. All figures remain unaudited. No quality-of-earnings report is available.</a:t>
            </a:r>
          </a:p>
          <a:p xmlns:a="http://schemas.openxmlformats.org/drawingml/2006/main">
            <a:r>
              <a:t>10_cfo_follow_up.eml / line 12 — The supplemental forecast bridge explains group-level movements only. No customer-level bridge, signed pipeline, recruitment cost schedule or timing of engineer productivity is available.</a:t>
            </a:r>
          </a:p>
          <a:p xmlns:a="http://schemas.openxmlformats.org/drawingml/2006/main">
            <a:r>
              <a:t>Limitations: Revenue conflict remains open. No verified EBITDA add-backs, QoE or customer-level forecast support.</a:t>
            </a:r>
          </a:p>
          <a:p xmlns:a="http://schemas.openxmlformats.org/drawingml/2006/main">
            <a:r>
              <a:t/>
            </a:r>
          </a:p>
          <a:p xmlns:a="http://schemas.openxmlformats.org/drawingml/2006/main">
            <a:r>
              <a:t>KPIS: Defined service delivery measures [source_supported]</a:t>
            </a:r>
          </a:p>
          <a:p xmlns:a="http://schemas.openxmlformats.org/drawingml/2006/main">
            <a:r>
              <a:t>07_service_kpis.csv / line 1 — # FICTIONAL TRAINING CASE; management submission 26 January 2026; unaudited</a:t>
            </a:r>
          </a:p>
          <a:p xmlns:a="http://schemas.openxmlformats.org/drawingml/2006/main">
            <a:r>
              <a:t>07_service_kpis.csv / line 2 — metric,numerator,denominator,period,definition</a:t>
            </a:r>
          </a:p>
          <a:p xmlns:a="http://schemas.openxmlformats.org/drawingml/2006/main">
            <a:r>
              <a:t>07_service_kpis.csv / line 3 — Urgent response SLA,561,600,FY2025,Eligible urgent jobs attended within four hours / all eligible urgent jobs</a:t>
            </a:r>
          </a:p>
          <a:p xmlns:a="http://schemas.openxmlformats.org/drawingml/2006/main">
            <a:r>
              <a:t>07_service_kpis.csv / line 4 — First-time fix,2200,2500,FY2025,Closed reactive jobs resolved on first visit / all closed reactive jobs</a:t>
            </a:r>
          </a:p>
          <a:p xmlns:a="http://schemas.openxmlformats.org/drawingml/2006/main">
            <a:r>
              <a:t>07_service_kpis.csv / line 5 — Productive hours,126480,170000,FY2025,Recorded productive engineer hours / recorded available engineer hours; not billing utilisation</a:t>
            </a:r>
          </a:p>
          <a:p xmlns:a="http://schemas.openxmlformats.org/drawingml/2006/main">
            <a:r>
              <a:t>Limitations: Unaudited synthetic management submission.</a:t>
            </a:r>
          </a:p>
          <a:p xmlns:a="http://schemas.openxmlformats.org/drawingml/2006/main">
            <a:r>
              <a:t/>
            </a:r>
          </a:p>
          <a:p xmlns:a="http://schemas.openxmlformats.org/drawingml/2006/main">
            <a:r>
              <a:t>MARKET: Market size and share unavailable [missing]</a:t>
            </a:r>
          </a:p>
          <a:p xmlns:a="http://schemas.openxmlformats.org/drawingml/2006/main">
            <a:r>
              <a:t>01_company_brief.docx / paragraph 16 — Management describes the UK equipment-maintenance market as fragmented. No independent market-size study, market-share estimate or competitor benchmarking has been provided.</a:t>
            </a:r>
          </a:p>
          <a:p xmlns:a="http://schemas.openxmlformats.org/drawingml/2006/main">
            <a:r>
              <a:t>Limitations: Fragmentation is a management assertion without independent support.</a:t>
            </a:r>
          </a:p>
          <a:p xmlns:a="http://schemas.openxmlformats.org/drawingml/2006/main">
            <a:r>
              <a:t/>
            </a:r>
          </a:p>
          <a:p xmlns:a="http://schemas.openxmlformats.org/drawingml/2006/main">
            <a:r>
              <a:t>PIPELINE: Unsigned unweighted opportunity pipeline [source_supported]</a:t>
            </a:r>
          </a:p>
          <a:p xmlns:a="http://schemas.openxmlformats.org/drawingml/2006/main">
            <a:r>
              <a:t>05_commercial_interview.txt / line 7 — Pipeline at 26 January 2026 totals GBP 4.8 million of indicative annual revenue: proposals GBP 2.4 million, negotiations GBP 1.5 million and preferred supplier GBP 0.9 million. All are unsigned. Stage values are unweighted and are not forecast revenue or backlog.</a:t>
            </a:r>
          </a:p>
          <a:p xmlns:a="http://schemas.openxmlformats.org/drawingml/2006/main">
            <a:r>
              <a:t>Limitations: All unsigned. Not backlog or forecast revenue.</a:t>
            </a:r>
          </a:p>
          <a:p xmlns:a="http://schemas.openxmlformats.org/drawingml/2006/main">
            <a:r>
              <a:t/>
            </a:r>
          </a:p>
          <a:p xmlns:a="http://schemas.openxmlformats.org/drawingml/2006/main">
            <a:r>
              <a:t>PROCESS: Proposed transaction perimeter and preparation responsibilities [source_supported]</a:t>
            </a:r>
          </a:p>
          <a:p xmlns:a="http://schemas.openxmlformats.org/drawingml/2006/main">
            <a:r>
              <a:t>13_transaction_workshop.txt / line 1 — FICTIONAL TRAINING CASE. Invented transaction workshop notes, 26 January 2026.</a:t>
            </a:r>
          </a:p>
          <a:p xmlns:a="http://schemas.openxmlformats.org/drawingml/2006/main">
            <a:r>
              <a:t>13_transaction_workshop.txt / line 2 — Shareholders are considering a sale of 70% to 100% of the equity in the standalone UK company. The current ownership remains founder 70%, management 20%, seed investor 10%.</a:t>
            </a:r>
          </a:p>
          <a:p xmlns:a="http://schemas.openxmlformats.org/drawingml/2006/main">
            <a:r>
              <a:t>13_transaction_workshop.txt / line 3 — The proposed perimeter includes all three hubs, operating assets and customer contracts of the company. No excluded business has been identified. Legal entity, asset ownership and contract transferability require legal diligence.</a:t>
            </a:r>
          </a:p>
          <a:p xmlns:a="http://schemas.openxmlformats.org/drawingml/2006/main">
            <a:r>
              <a:t>13_transaction_workshop.txt / line 4 — No valuation, management rollover, financing structure or transaction timetable has been agreed. The process remains at preparation stage. No offers or signed sale terms exist in this fictional case.</a:t>
            </a:r>
          </a:p>
          <a:p xmlns:a="http://schemas.openxmlformats.org/drawingml/2006/main">
            <a:r>
              <a:t>13_transaction_workshop.txt / line 5 — Daniel Cole (CFO) owns revenue reconciliation, QoE preparation and balance-sheet schedules. Aisha Patel (COO) owns job-level KPI evidence, engineer recruitment and capacity planning. Maya Reed (CEO) owns key-account continuity and pipeline evidence. External legal counsel, not yet appointed, would review title, consents and change-of-control clauses. The strategy team owns independent market work.</a:t>
            </a:r>
          </a:p>
          <a:p xmlns:a="http://schemas.openxmlformats.org/drawingml/2006/main">
            <a:r>
              <a:t>Limitations: Unaudited synthetic management submission.</a:t>
            </a:r>
          </a:p>
          <a:p xmlns:a="http://schemas.openxmlformats.org/drawingml/2006/main">
            <a:r>
              <a:t/>
            </a:r>
          </a:p>
          <a:p xmlns:a="http://schemas.openxmlformats.org/drawingml/2006/main">
            <a:r>
              <a:t>RENEWALS: Defined maintenance agreement renewal cohort [source_supported]</a:t>
            </a:r>
          </a:p>
          <a:p xmlns:a="http://schemas.openxmlformats.org/drawingml/2006/main">
            <a:r>
              <a:t>05_commercial_interview.txt / line 5 — The FY2025 renewal cohort comprised 25 maintenance agreements due for renewal, with GBP 4.00 million of annual contract value immediately before expiry. 23 agreements renewed. The annual value retained on those same agreements, before price changes or additional scope, was GBP 3.72 million. These are management-prepared counts and values, not independently verified customer retention.</a:t>
            </a:r>
          </a:p>
          <a:p xmlns:a="http://schemas.openxmlformats.org/drawingml/2006/main">
            <a:r>
              <a:t>05_commercial_interview.txt / line 6 — The earlier 94% retention estimate remains undefined. It uses no documented customer cohort and cannot be reconciled to this contract-level renewal schedule.</a:t>
            </a:r>
          </a:p>
          <a:p xmlns:a="http://schemas.openxmlformats.org/drawingml/2006/main">
            <a:r>
              <a:t>Limitations: Contract-level management cohort. Excludes price changes and additional scope. Not customer retention and not independently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b196699da6487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9110057d514da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8000f44a474a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2cb8c9389e42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c415112e8574a2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ff291c55244ee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519361-37DE-48B5-8EE7-7BACC75A27B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F14A7B9-ACD5-40CE-A2ED-7917C97A9E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766A56C-A1BA-4859-A57B-98E8D31168B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436C9E-0C21-419A-AAA8-22979035D0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F218D74-294D-4E47-9BBB-8CD5DECF7DC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9F1A9BD-8AB0-4341-A2B8-39B207C027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1CC572-1BA6-425A-A0B3-25E2B46DF3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6528F4-2418-46BC-A7BA-67366080774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CC30B7-9834-4249-8440-B81756EBFE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F40278-E542-4826-92E0-110584688F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610cfc422c4588" /><Relationship Type="http://schemas.openxmlformats.org/officeDocument/2006/relationships/slideLayout" Target="/ppt/slideLayouts/slideLayout1.xml" Id="R71bd4887373f4379" /><Relationship Type="http://schemas.openxmlformats.org/officeDocument/2006/relationships/slideLayout" Target="/ppt/slideLayouts/slideLayout2.xml" Id="R403d87ab001f4d47" /><Relationship Type="http://schemas.openxmlformats.org/officeDocument/2006/relationships/slideLayout" Target="/ppt/slideLayouts/slideLayout3.xml" Id="Rfede5ed0d4794e29" /><Relationship Type="http://schemas.openxmlformats.org/officeDocument/2006/relationships/slideLayout" Target="/ppt/slideLayouts/slideLayout4.xml" Id="Rc0f50d833b614f18" /><Relationship Type="http://schemas.openxmlformats.org/officeDocument/2006/relationships/slideLayout" Target="/ppt/slideLayouts/slideLayout5.xml" Id="Rfec5a27e335548b0" /><Relationship Type="http://schemas.openxmlformats.org/officeDocument/2006/relationships/slideLayout" Target="/ppt/slideLayouts/slideLayout6.xml" Id="R1fa1e461a46a47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bd4887373f4379"/>
    <p:sldLayoutId xmlns:r="http://schemas.openxmlformats.org/officeDocument/2006/relationships" id="2147483650" r:id="R403d87ab001f4d47"/>
    <p:sldLayoutId xmlns:r="http://schemas.openxmlformats.org/officeDocument/2006/relationships" id="2147483651" r:id="Rfede5ed0d4794e29"/>
    <p:sldLayoutId xmlns:r="http://schemas.openxmlformats.org/officeDocument/2006/relationships" id="2147483652" r:id="Rc0f50d833b614f18"/>
    <p:sldLayoutId xmlns:r="http://schemas.openxmlformats.org/officeDocument/2006/relationships" id="2147483653" r:id="Rfec5a27e335548b0"/>
    <p:sldLayoutId xmlns:r="http://schemas.openxmlformats.org/officeDocument/2006/relationships" id="2147483654" r:id="R1fa1e461a46a47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5ca23878ed841f8" /><Relationship Type="http://schemas.openxmlformats.org/officeDocument/2006/relationships/notesSlide" Target="/ppt/notesSlides/notesSlide1.xml" Id="R7831c5c0b68041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3ba0a760434e42" /><Relationship Type="http://schemas.openxmlformats.org/officeDocument/2006/relationships/notesSlide" Target="/ppt/notesSlides/notesSlide2.xml" Id="R57a61c0fdc9f4c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14350211c4e411a" /><Relationship Type="http://schemas.openxmlformats.org/officeDocument/2006/relationships/notesSlide" Target="/ppt/notesSlides/notesSlide3.xml" Id="Rbb954e30e4814b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ebec3ebd6e64b29" /><Relationship Type="http://schemas.openxmlformats.org/officeDocument/2006/relationships/notesSlide" Target="/ppt/notesSlides/notesSlide4.xml" Id="Rb79ba8cd01f448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962bcb917f34373" /><Relationship Type="http://schemas.openxmlformats.org/officeDocument/2006/relationships/chart" Target="/ppt/slides/charts/chart1.xml" Id="R43db4358a0d24148" /><Relationship Type="http://schemas.openxmlformats.org/officeDocument/2006/relationships/notesSlide" Target="/ppt/notesSlides/notesSlide5.xml" Id="R72983f3addc347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60c34d2efc14a2a" /><Relationship Type="http://schemas.openxmlformats.org/officeDocument/2006/relationships/notesSlide" Target="/ppt/notesSlides/notesSlide6.xml" Id="Rba2e91a65f8a43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3265e2d72d3464e" /><Relationship Type="http://schemas.openxmlformats.org/officeDocument/2006/relationships/notesSlide" Target="/ppt/notesSlides/notesSlide7.xml" Id="Rbdd20cfece6044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e9d64e04f3436e" /><Relationship Type="http://schemas.openxmlformats.org/officeDocument/2006/relationships/chart" Target="/ppt/slides/charts/chart2.xml" Id="Rf2df8285c0a04d79" /><Relationship Type="http://schemas.openxmlformats.org/officeDocument/2006/relationships/notesSlide" Target="/ppt/notesSlides/notesSlide8.xml" Id="R48419d71c1a74a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9f3ed8adc641c4" /><Relationship Type="http://schemas.openxmlformats.org/officeDocument/2006/relationships/notesSlide" Target="/ppt/notesSlides/notesSlide9.xml" Id="R803003c5452647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0d22b9cc6394aff" /><Relationship Type="http://schemas.openxmlformats.org/officeDocument/2006/relationships/notesSlide" Target="/ppt/notesSlides/notesSlide10.xml" Id="Rf170c3abb541457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Share of FY2025 revenue</c:v>
          </c:tx>
          <c:spPr>
            <a:solidFill xmlns:a="http://schemas.openxmlformats.org/drawingml/2006/main">
              <a:srgbClr val="00338D"/>
            </a:solidFill>
          </c:spPr>
          <c:invertIfNegative val="0"/>
          <c:cat>
            <c:strRef>
              <c:f>'Chart Data'!$A$2:$A$6</c:f>
              <c:strCache>
                <c:ptCount val="5"/>
                <c:pt idx="0">
                  <c:v>A</c:v>
                </c:pt>
                <c:pt idx="1">
                  <c:v>B</c:v>
                </c:pt>
                <c:pt idx="2">
                  <c:v>C</c:v>
                </c:pt>
                <c:pt idx="3">
                  <c:v>D</c:v>
                </c:pt>
                <c:pt idx="4">
                  <c:v>E</c:v>
                </c:pt>
              </c:strCache>
            </c:strRef>
          </c:cat>
          <c:val>
            <c:numRef>
              <c:f>'Chart Data'!$B$2:$B$6</c:f>
              <c:numCache>
                <c:formatCode>0.0%</c:formatCode>
                <c:ptCount val="5"/>
                <c:pt idx="0">
                  <c:v>0.12</c:v>
                </c:pt>
                <c:pt idx="1">
                  <c:v>0.09</c:v>
                </c:pt>
                <c:pt idx="2">
                  <c:v>0.08</c:v>
                </c:pt>
                <c:pt idx="3">
                  <c:v>0.07</c:v>
                </c:pt>
                <c:pt idx="4">
                  <c:v>0.06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b="1">
                  <a:solidFill>
                    <a:srgbClr val="00338D"/>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E8"/>
            </a:solidFill>
          </a:ln>
        </c:spPr>
        <c:txPr>
          <a:bodyPr xmlns:a="http://schemas.openxmlformats.org/drawingml/2006/main" anchorCtr="1"/>
          <a:lstStyle xmlns:a="http://schemas.openxmlformats.org/drawingml/2006/main"/>
          <a:p xmlns:a="http://schemas.openxmlformats.org/drawingml/2006/main">
            <a:pPr>
              <a:defRPr sz="1200">
                <a:solidFill>
                  <a:srgbClr val="595959"/>
                </a:solidFill>
                <a:latin typeface="Arial"/>
                <a:ea typeface="Arial"/>
                <a:cs typeface="Arial"/>
              </a:defRPr>
            </a:pPr>
          </a:p>
        </c:txPr>
        <c:crossAx val="48672768"/>
      </c:catAx>
      <c:valAx>
        <c:axId val="48672768"/>
        <c:scaling>
          <c:orientation val="minMax"/>
          <c:max val="0.16"/>
          <c:min val="0"/>
        </c:scaling>
        <c:delete val="0"/>
        <c:axPos val="l"/>
        <c:majorGridlines>
          <c:spPr>
            <a:ln xmlns:a="http://schemas.openxmlformats.org/drawingml/2006/main" w="9525">
              <a:solidFill>
                <a:srgbClr val="DCE4E8"/>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595959"/>
                </a:solidFill>
                <a:latin typeface="Arial"/>
                <a:ea typeface="Arial"/>
                <a:cs typeface="Arial"/>
              </a:defRPr>
            </a:pPr>
          </a:p>
        </c:txPr>
        <c:crossAx val="48650112"/>
        <c:crossBetween val="between"/>
        <c:majorUnit val="0.04"/>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GBP million</c:v>
          </c:tx>
          <c:spPr>
            <a:solidFill xmlns:a="http://schemas.openxmlformats.org/drawingml/2006/main">
              <a:srgbClr val="00338D"/>
            </a:solidFill>
          </c:spPr>
          <c:invertIfNegative val="0"/>
          <c:cat>
            <c:strRef>
              <c:f>'Chart Data'!$A$2:$A$4</c:f>
              <c:strCache>
                <c:ptCount val="3"/>
                <c:pt idx="0">
                  <c:v>2025A</c:v>
                </c:pt>
                <c:pt idx="1">
                  <c:v>2026F</c:v>
                </c:pt>
                <c:pt idx="2">
                  <c:v>2027F</c:v>
                </c:pt>
              </c:strCache>
            </c:strRef>
          </c:cat>
          <c:val>
            <c:numRef>
              <c:f>'Chart Data'!$B$2:$B$4</c:f>
              <c:numCache>
                <c:formatCode>0.0</c:formatCode>
                <c:ptCount val="3"/>
                <c:pt idx="0">
                  <c:v>25</c:v>
                </c:pt>
                <c:pt idx="1">
                  <c:v>29</c:v>
                </c:pt>
                <c:pt idx="2">
                  <c:v>33.6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b="1">
                  <a:solidFill>
                    <a:srgbClr val="00338D"/>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E8"/>
            </a:solidFill>
          </a:ln>
        </c:spPr>
        <c:txPr>
          <a:bodyPr xmlns:a="http://schemas.openxmlformats.org/drawingml/2006/main" anchorCtr="1"/>
          <a:lstStyle xmlns:a="http://schemas.openxmlformats.org/drawingml/2006/main"/>
          <a:p xmlns:a="http://schemas.openxmlformats.org/drawingml/2006/main">
            <a:pPr>
              <a:defRPr sz="1200">
                <a:solidFill>
                  <a:srgbClr val="595959"/>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CE4E8"/>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595959"/>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ver-label">
            <a:extLst xmlns:a="http://schemas.openxmlformats.org/drawingml/2006/main">
              <a:ext uri="{FF2B5EF4-FFF2-40B4-BE49-F238E27FC236}">
                <a16:creationId xmlns:a16="http://schemas.microsoft.com/office/drawing/2014/main" id="{7DDFDA79-15DC-4AD1-8743-7082DB9D66CC}"/>
              </a:ext>
            </a:extLst>
          </p:cNvPr>
          <p:cNvSpPr>
            <a:spLocks xmlns:a="http://schemas.openxmlformats.org/drawingml/2006/main" noGrp="1"/>
          </p:cNvSpPr>
          <p:nvPr/>
        </p:nvSpPr>
        <p:spPr>
          <a:xfrm xmlns:a="http://schemas.openxmlformats.org/drawingml/2006/main">
            <a:off x="685800" y="590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00338D"/>
                </a:solidFill>
                <a:latin typeface="Arial"/>
                <a:ea typeface="Arial"/>
                <a:cs typeface="Arial"/>
              </a:defRPr>
            </a:defPPr>
            <a:lvl1pPr algn="l">
              <a:defRPr sz="1350" b="1">
                <a:solidFill>
                  <a:srgbClr val="00338D"/>
                </a:solidFill>
                <a:latin typeface="Arial"/>
                <a:ea typeface="Arial"/>
                <a:cs typeface="Arial"/>
              </a:defRPr>
            </a:lvl1pPr>
            <a:lvl2pPr algn="l">
              <a:defRPr sz="1350" b="1">
                <a:solidFill>
                  <a:srgbClr val="00338D"/>
                </a:solidFill>
                <a:latin typeface="Arial"/>
                <a:ea typeface="Arial"/>
                <a:cs typeface="Arial"/>
              </a:defRPr>
            </a:lvl2pPr>
            <a:lvl3pPr algn="l">
              <a:defRPr sz="1350" b="1">
                <a:solidFill>
                  <a:srgbClr val="00338D"/>
                </a:solidFill>
                <a:latin typeface="Arial"/>
                <a:ea typeface="Arial"/>
                <a:cs typeface="Arial"/>
              </a:defRPr>
            </a:lvl3pPr>
            <a:lvl4pPr algn="l">
              <a:defRPr sz="1350" b="1">
                <a:solidFill>
                  <a:srgbClr val="00338D"/>
                </a:solidFill>
                <a:latin typeface="Arial"/>
                <a:ea typeface="Arial"/>
                <a:cs typeface="Arial"/>
              </a:defRPr>
            </a:lvl4pPr>
            <a:lvl5pPr algn="l">
              <a:defRPr sz="1350" b="1">
                <a:solidFill>
                  <a:srgbClr val="00338D"/>
                </a:solidFill>
                <a:latin typeface="Arial"/>
                <a:ea typeface="Arial"/>
                <a:cs typeface="Arial"/>
              </a:defRPr>
            </a:lvl5pPr>
            <a:lvl6pPr algn="l">
              <a:defRPr sz="1350" b="1">
                <a:solidFill>
                  <a:srgbClr val="00338D"/>
                </a:solidFill>
                <a:latin typeface="Arial"/>
                <a:ea typeface="Arial"/>
                <a:cs typeface="Arial"/>
              </a:defRPr>
            </a:lvl6pPr>
            <a:lvl7pPr algn="l">
              <a:defRPr sz="1350" b="1">
                <a:solidFill>
                  <a:srgbClr val="00338D"/>
                </a:solidFill>
                <a:latin typeface="Arial"/>
                <a:ea typeface="Arial"/>
                <a:cs typeface="Arial"/>
              </a:defRPr>
            </a:lvl7pPr>
            <a:lvl8pPr algn="l">
              <a:defRPr sz="1350" b="1">
                <a:solidFill>
                  <a:srgbClr val="00338D"/>
                </a:solidFill>
                <a:latin typeface="Arial"/>
                <a:ea typeface="Arial"/>
                <a:cs typeface="Arial"/>
              </a:defRPr>
            </a:lvl8pPr>
            <a:lvl9pPr algn="l">
              <a:defRPr sz="1350" b="1">
                <a:solidFill>
                  <a:srgbClr val="00338D"/>
                </a:solidFill>
                <a:latin typeface="Arial"/>
                <a:ea typeface="Arial"/>
                <a:cs typeface="Arial"/>
              </a:defRPr>
            </a:lvl9pPr>
          </a:lstStyle>
          <a:p xmlns:a="http://schemas.openxmlformats.org/drawingml/2006/main">
            <a:pPr algn="l">
              <a:defRPr sz="1350" b="1">
                <a:solidFill>
                  <a:srgbClr val="00338D"/>
                </a:solidFill>
                <a:latin typeface="Arial"/>
                <a:ea typeface="Arial"/>
                <a:cs typeface="Arial"/>
              </a:defRPr>
            </a:pPr>
            <a:r>
              <a:rPr sz="1350" b="1">
                <a:solidFill>
                  <a:srgbClr val="00338D"/>
                </a:solidFill>
                <a:latin typeface="Arial"/>
                <a:ea typeface="Arial"/>
                <a:cs typeface="Arial"/>
              </a:rPr>
              <a:t>FICTIONAL TRANSACTION CASE</a:t>
            </a:r>
          </a:p>
        </p:txBody>
      </p:sp>
      <p:sp>
        <p:nvSpPr>
          <p:cNvPr id="2" name="cover-title">
            <a:extLst xmlns:a="http://schemas.openxmlformats.org/drawingml/2006/main">
              <a:ext uri="{FF2B5EF4-FFF2-40B4-BE49-F238E27FC236}">
                <a16:creationId xmlns:a16="http://schemas.microsoft.com/office/drawing/2014/main" id="{37173F81-BD3D-4820-B526-1F0DCE29B519}"/>
              </a:ext>
            </a:extLst>
          </p:cNvPr>
          <p:cNvSpPr>
            <a:spLocks xmlns:a="http://schemas.openxmlformats.org/drawingml/2006/main" noGrp="1"/>
          </p:cNvSpPr>
          <p:nvPr/>
        </p:nvSpPr>
        <p:spPr>
          <a:xfrm xmlns:a="http://schemas.openxmlformats.org/drawingml/2006/main">
            <a:off x="685800" y="188595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00338D"/>
                </a:solidFill>
                <a:latin typeface="Arial"/>
                <a:ea typeface="Arial"/>
                <a:cs typeface="Arial"/>
              </a:defRPr>
            </a:defPPr>
            <a:lvl1pPr algn="l">
              <a:defRPr sz="4050" b="1">
                <a:solidFill>
                  <a:srgbClr val="00338D"/>
                </a:solidFill>
                <a:latin typeface="Arial"/>
                <a:ea typeface="Arial"/>
                <a:cs typeface="Arial"/>
              </a:defRPr>
            </a:lvl1pPr>
            <a:lvl2pPr algn="l">
              <a:defRPr sz="4050" b="1">
                <a:solidFill>
                  <a:srgbClr val="00338D"/>
                </a:solidFill>
                <a:latin typeface="Arial"/>
                <a:ea typeface="Arial"/>
                <a:cs typeface="Arial"/>
              </a:defRPr>
            </a:lvl2pPr>
            <a:lvl3pPr algn="l">
              <a:defRPr sz="4050" b="1">
                <a:solidFill>
                  <a:srgbClr val="00338D"/>
                </a:solidFill>
                <a:latin typeface="Arial"/>
                <a:ea typeface="Arial"/>
                <a:cs typeface="Arial"/>
              </a:defRPr>
            </a:lvl3pPr>
            <a:lvl4pPr algn="l">
              <a:defRPr sz="4050" b="1">
                <a:solidFill>
                  <a:srgbClr val="00338D"/>
                </a:solidFill>
                <a:latin typeface="Arial"/>
                <a:ea typeface="Arial"/>
                <a:cs typeface="Arial"/>
              </a:defRPr>
            </a:lvl4pPr>
            <a:lvl5pPr algn="l">
              <a:defRPr sz="4050" b="1">
                <a:solidFill>
                  <a:srgbClr val="00338D"/>
                </a:solidFill>
                <a:latin typeface="Arial"/>
                <a:ea typeface="Arial"/>
                <a:cs typeface="Arial"/>
              </a:defRPr>
            </a:lvl5pPr>
            <a:lvl6pPr algn="l">
              <a:defRPr sz="4050" b="1">
                <a:solidFill>
                  <a:srgbClr val="00338D"/>
                </a:solidFill>
                <a:latin typeface="Arial"/>
                <a:ea typeface="Arial"/>
                <a:cs typeface="Arial"/>
              </a:defRPr>
            </a:lvl6pPr>
            <a:lvl7pPr algn="l">
              <a:defRPr sz="4050" b="1">
                <a:solidFill>
                  <a:srgbClr val="00338D"/>
                </a:solidFill>
                <a:latin typeface="Arial"/>
                <a:ea typeface="Arial"/>
                <a:cs typeface="Arial"/>
              </a:defRPr>
            </a:lvl7pPr>
            <a:lvl8pPr algn="l">
              <a:defRPr sz="4050" b="1">
                <a:solidFill>
                  <a:srgbClr val="00338D"/>
                </a:solidFill>
                <a:latin typeface="Arial"/>
                <a:ea typeface="Arial"/>
                <a:cs typeface="Arial"/>
              </a:defRPr>
            </a:lvl8pPr>
            <a:lvl9pPr algn="l">
              <a:defRPr sz="4050" b="1">
                <a:solidFill>
                  <a:srgbClr val="00338D"/>
                </a:solidFill>
                <a:latin typeface="Arial"/>
                <a:ea typeface="Arial"/>
                <a:cs typeface="Arial"/>
              </a:defRPr>
            </a:lvl9pPr>
          </a:lstStyle>
          <a:p xmlns:a="http://schemas.openxmlformats.org/drawingml/2006/main">
            <a:pPr algn="l">
              <a:defRPr sz="4050" b="1">
                <a:solidFill>
                  <a:srgbClr val="00338D"/>
                </a:solidFill>
                <a:latin typeface="Arial"/>
                <a:ea typeface="Arial"/>
                <a:cs typeface="Arial"/>
              </a:defRPr>
            </a:pPr>
            <a:r>
              <a:rPr sz="4050" b="1">
                <a:solidFill>
                  <a:srgbClr val="00338D"/>
                </a:solidFill>
                <a:latin typeface="Arial"/>
                <a:ea typeface="Arial"/>
                <a:cs typeface="Arial"/>
              </a:rPr>
              <a:t>Project Northbridge</a:t>
            </a:r>
          </a:p>
        </p:txBody>
      </p:sp>
      <p:sp>
        <p:nvSpPr>
          <p:cNvPr id="3" name="cover-subtitle">
            <a:extLst xmlns:a="http://schemas.openxmlformats.org/drawingml/2006/main">
              <a:ext uri="{FF2B5EF4-FFF2-40B4-BE49-F238E27FC236}">
                <a16:creationId xmlns:a16="http://schemas.microsoft.com/office/drawing/2014/main" id="{C8115983-937A-44F6-94FF-834F67870B0C}"/>
              </a:ext>
            </a:extLst>
          </p:cNvPr>
          <p:cNvSpPr>
            <a:spLocks xmlns:a="http://schemas.openxmlformats.org/drawingml/2006/main" noGrp="1"/>
          </p:cNvSpPr>
          <p:nvPr/>
        </p:nvSpPr>
        <p:spPr>
          <a:xfrm xmlns:a="http://schemas.openxmlformats.org/drawingml/2006/main">
            <a:off x="685800" y="289560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00338D"/>
                </a:solidFill>
                <a:latin typeface="Arial"/>
                <a:ea typeface="Arial"/>
                <a:cs typeface="Arial"/>
              </a:defRPr>
            </a:defPPr>
            <a:lvl1pPr algn="l">
              <a:defRPr sz="2550" b="0">
                <a:solidFill>
                  <a:srgbClr val="00338D"/>
                </a:solidFill>
                <a:latin typeface="Arial"/>
                <a:ea typeface="Arial"/>
                <a:cs typeface="Arial"/>
              </a:defRPr>
            </a:lvl1pPr>
            <a:lvl2pPr algn="l">
              <a:defRPr sz="2550" b="0">
                <a:solidFill>
                  <a:srgbClr val="00338D"/>
                </a:solidFill>
                <a:latin typeface="Arial"/>
                <a:ea typeface="Arial"/>
                <a:cs typeface="Arial"/>
              </a:defRPr>
            </a:lvl2pPr>
            <a:lvl3pPr algn="l">
              <a:defRPr sz="2550" b="0">
                <a:solidFill>
                  <a:srgbClr val="00338D"/>
                </a:solidFill>
                <a:latin typeface="Arial"/>
                <a:ea typeface="Arial"/>
                <a:cs typeface="Arial"/>
              </a:defRPr>
            </a:lvl3pPr>
            <a:lvl4pPr algn="l">
              <a:defRPr sz="2550" b="0">
                <a:solidFill>
                  <a:srgbClr val="00338D"/>
                </a:solidFill>
                <a:latin typeface="Arial"/>
                <a:ea typeface="Arial"/>
                <a:cs typeface="Arial"/>
              </a:defRPr>
            </a:lvl4pPr>
            <a:lvl5pPr algn="l">
              <a:defRPr sz="2550" b="0">
                <a:solidFill>
                  <a:srgbClr val="00338D"/>
                </a:solidFill>
                <a:latin typeface="Arial"/>
                <a:ea typeface="Arial"/>
                <a:cs typeface="Arial"/>
              </a:defRPr>
            </a:lvl5pPr>
            <a:lvl6pPr algn="l">
              <a:defRPr sz="2550" b="0">
                <a:solidFill>
                  <a:srgbClr val="00338D"/>
                </a:solidFill>
                <a:latin typeface="Arial"/>
                <a:ea typeface="Arial"/>
                <a:cs typeface="Arial"/>
              </a:defRPr>
            </a:lvl6pPr>
            <a:lvl7pPr algn="l">
              <a:defRPr sz="2550" b="0">
                <a:solidFill>
                  <a:srgbClr val="00338D"/>
                </a:solidFill>
                <a:latin typeface="Arial"/>
                <a:ea typeface="Arial"/>
                <a:cs typeface="Arial"/>
              </a:defRPr>
            </a:lvl7pPr>
            <a:lvl8pPr algn="l">
              <a:defRPr sz="2550" b="0">
                <a:solidFill>
                  <a:srgbClr val="00338D"/>
                </a:solidFill>
                <a:latin typeface="Arial"/>
                <a:ea typeface="Arial"/>
                <a:cs typeface="Arial"/>
              </a:defRPr>
            </a:lvl8pPr>
            <a:lvl9pPr algn="l">
              <a:defRPr sz="2550" b="0">
                <a:solidFill>
                  <a:srgbClr val="00338D"/>
                </a:solidFill>
                <a:latin typeface="Arial"/>
                <a:ea typeface="Arial"/>
                <a:cs typeface="Arial"/>
              </a:defRPr>
            </a:lvl9pPr>
          </a:lstStyle>
          <a:p xmlns:a="http://schemas.openxmlformats.org/drawingml/2006/main">
            <a:pPr algn="l">
              <a:defRPr sz="2550" b="0">
                <a:solidFill>
                  <a:srgbClr val="00338D"/>
                </a:solidFill>
                <a:latin typeface="Arial"/>
                <a:ea typeface="Arial"/>
                <a:cs typeface="Arial"/>
              </a:defRPr>
            </a:pPr>
            <a:r>
              <a:rPr sz="2550" b="0">
                <a:solidFill>
                  <a:srgbClr val="00338D"/>
                </a:solidFill>
                <a:latin typeface="Arial"/>
                <a:ea typeface="Arial"/>
                <a:cs typeface="Arial"/>
              </a:rPr>
              <a:t>Information memorandum</a:t>
            </a:r>
          </a:p>
        </p:txBody>
      </p:sp>
      <p:sp>
        <p:nvSpPr>
          <p:cNvPr id="4" name="cover-rule">
            <a:extLst xmlns:a="http://schemas.openxmlformats.org/drawingml/2006/main">
              <a:ext uri="{FF2B5EF4-FFF2-40B4-BE49-F238E27FC236}">
                <a16:creationId xmlns:a16="http://schemas.microsoft.com/office/drawing/2014/main" id="{2A2F11F8-062D-4339-8413-C8541B9D2C20}"/>
              </a:ext>
            </a:extLst>
          </p:cNvPr>
          <p:cNvSpPr>
            <a:spLocks xmlns:a="http://schemas.openxmlformats.org/drawingml/2006/main" noGrp="1"/>
          </p:cNvSpPr>
          <p:nvPr/>
        </p:nvSpPr>
        <p:spPr>
          <a:xfrm xmlns:a="http://schemas.openxmlformats.org/drawingml/2006/main">
            <a:off x="685800" y="3705225"/>
            <a:ext cx="10820400" cy="9525"/>
          </a:xfrm>
          <a:prstGeom xmlns:a="http://schemas.openxmlformats.org/drawingml/2006/main" prst="rect">
            <a:avLst/>
          </a:prstGeom>
          <a:solidFill xmlns:a="http://schemas.openxmlformats.org/drawingml/2006/main">
            <a:srgbClr val="00338D"/>
          </a:solidFill>
          <a:ln xmlns:a="http://schemas.openxmlformats.org/drawingml/2006/main" w="0">
            <a:noFill/>
          </a:ln>
        </p:spPr>
      </p:sp>
      <p:sp>
        <p:nvSpPr>
          <p:cNvPr id="5" name="cover-company">
            <a:extLst xmlns:a="http://schemas.openxmlformats.org/drawingml/2006/main">
              <a:ext uri="{FF2B5EF4-FFF2-40B4-BE49-F238E27FC236}">
                <a16:creationId xmlns:a16="http://schemas.microsoft.com/office/drawing/2014/main" id="{406F0F02-C7B5-4536-9768-4289E3BB7EAA}"/>
              </a:ext>
            </a:extLst>
          </p:cNvPr>
          <p:cNvSpPr>
            <a:spLocks xmlns:a="http://schemas.openxmlformats.org/drawingml/2006/main" noGrp="1"/>
          </p:cNvSpPr>
          <p:nvPr/>
        </p:nvSpPr>
        <p:spPr>
          <a:xfrm xmlns:a="http://schemas.openxmlformats.org/drawingml/2006/main">
            <a:off x="685800" y="4029075"/>
            <a:ext cx="9525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Northbridge Field Services Ltd</a:t>
            </a:r>
          </a:p>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Equipment maintenance and technical field support in the UK</a:t>
            </a:r>
          </a:p>
        </p:txBody>
      </p:sp>
      <p:sp>
        <p:nvSpPr>
          <p:cNvPr id="6" name="cover-date">
            <a:extLst xmlns:a="http://schemas.openxmlformats.org/drawingml/2006/main">
              <a:ext uri="{FF2B5EF4-FFF2-40B4-BE49-F238E27FC236}">
                <a16:creationId xmlns:a16="http://schemas.microsoft.com/office/drawing/2014/main" id="{6B8C357D-F3AC-4F05-B8B9-0F18842478E7}"/>
              </a:ext>
            </a:extLst>
          </p:cNvPr>
          <p:cNvSpPr>
            <a:spLocks xmlns:a="http://schemas.openxmlformats.org/drawingml/2006/main" noGrp="1"/>
          </p:cNvSpPr>
          <p:nvPr/>
        </p:nvSpPr>
        <p:spPr>
          <a:xfrm xmlns:a="http://schemas.openxmlformats.org/drawingml/2006/main">
            <a:off x="685800" y="5276850"/>
            <a:ext cx="857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95959"/>
                </a:solidFill>
                <a:latin typeface="Arial"/>
                <a:ea typeface="Arial"/>
                <a:cs typeface="Arial"/>
              </a:defRPr>
            </a:defPPr>
            <a:lvl1pPr algn="l">
              <a:defRPr sz="1425" b="0">
                <a:solidFill>
                  <a:srgbClr val="595959"/>
                </a:solidFill>
                <a:latin typeface="Arial"/>
                <a:ea typeface="Arial"/>
                <a:cs typeface="Arial"/>
              </a:defRPr>
            </a:lvl1pPr>
            <a:lvl2pPr algn="l">
              <a:defRPr sz="1425" b="0">
                <a:solidFill>
                  <a:srgbClr val="595959"/>
                </a:solidFill>
                <a:latin typeface="Arial"/>
                <a:ea typeface="Arial"/>
                <a:cs typeface="Arial"/>
              </a:defRPr>
            </a:lvl2pPr>
            <a:lvl3pPr algn="l">
              <a:defRPr sz="1425" b="0">
                <a:solidFill>
                  <a:srgbClr val="595959"/>
                </a:solidFill>
                <a:latin typeface="Arial"/>
                <a:ea typeface="Arial"/>
                <a:cs typeface="Arial"/>
              </a:defRPr>
            </a:lvl3pPr>
            <a:lvl4pPr algn="l">
              <a:defRPr sz="1425" b="0">
                <a:solidFill>
                  <a:srgbClr val="595959"/>
                </a:solidFill>
                <a:latin typeface="Arial"/>
                <a:ea typeface="Arial"/>
                <a:cs typeface="Arial"/>
              </a:defRPr>
            </a:lvl4pPr>
            <a:lvl5pPr algn="l">
              <a:defRPr sz="1425" b="0">
                <a:solidFill>
                  <a:srgbClr val="595959"/>
                </a:solidFill>
                <a:latin typeface="Arial"/>
                <a:ea typeface="Arial"/>
                <a:cs typeface="Arial"/>
              </a:defRPr>
            </a:lvl5pPr>
            <a:lvl6pPr algn="l">
              <a:defRPr sz="1425" b="0">
                <a:solidFill>
                  <a:srgbClr val="595959"/>
                </a:solidFill>
                <a:latin typeface="Arial"/>
                <a:ea typeface="Arial"/>
                <a:cs typeface="Arial"/>
              </a:defRPr>
            </a:lvl6pPr>
            <a:lvl7pPr algn="l">
              <a:defRPr sz="1425" b="0">
                <a:solidFill>
                  <a:srgbClr val="595959"/>
                </a:solidFill>
                <a:latin typeface="Arial"/>
                <a:ea typeface="Arial"/>
                <a:cs typeface="Arial"/>
              </a:defRPr>
            </a:lvl7pPr>
            <a:lvl8pPr algn="l">
              <a:defRPr sz="1425" b="0">
                <a:solidFill>
                  <a:srgbClr val="595959"/>
                </a:solidFill>
                <a:latin typeface="Arial"/>
                <a:ea typeface="Arial"/>
                <a:cs typeface="Arial"/>
              </a:defRPr>
            </a:lvl8pPr>
            <a:lvl9pPr algn="l">
              <a:defRPr sz="1425" b="0">
                <a:solidFill>
                  <a:srgbClr val="595959"/>
                </a:solidFill>
                <a:latin typeface="Arial"/>
                <a:ea typeface="Arial"/>
                <a:cs typeface="Arial"/>
              </a:defRPr>
            </a:lvl9pPr>
          </a:lstStyle>
          <a:p xmlns:a="http://schemas.openxmlformats.org/drawingml/2006/main">
            <a:pPr algn="l">
              <a:defRPr sz="1425" b="0">
                <a:solidFill>
                  <a:srgbClr val="595959"/>
                </a:solidFill>
                <a:latin typeface="Arial"/>
                <a:ea typeface="Arial"/>
                <a:cs typeface="Arial"/>
              </a:defRPr>
            </a:pPr>
            <a:r>
              <a:rPr sz="1425" b="0">
                <a:solidFill>
                  <a:srgbClr val="595959"/>
                </a:solidFill>
                <a:latin typeface="Arial"/>
                <a:ea typeface="Arial"/>
                <a:cs typeface="Arial"/>
              </a:rPr>
              <a:t>January 2026</a:t>
            </a:r>
          </a:p>
          <a:p xmlns:a="http://schemas.openxmlformats.org/drawingml/2006/main">
            <a:pPr algn="l">
              <a:defRPr sz="1425" b="0">
                <a:solidFill>
                  <a:srgbClr val="595959"/>
                </a:solidFill>
                <a:latin typeface="Arial"/>
                <a:ea typeface="Arial"/>
                <a:cs typeface="Arial"/>
              </a:defRPr>
            </a:pPr>
            <a:r>
              <a:rPr sz="1425" b="0">
                <a:solidFill>
                  <a:srgbClr val="595959"/>
                </a:solidFill>
                <a:latin typeface="Arial"/>
                <a:ea typeface="Arial"/>
                <a:cs typeface="Arial"/>
              </a:rPr>
              <a:t>Draft for discussion</a:t>
            </a:r>
          </a:p>
        </p:txBody>
      </p:sp>
      <p:sp>
        <p:nvSpPr>
          <p:cNvPr id="7" name="cover-fiction">
            <a:extLst xmlns:a="http://schemas.openxmlformats.org/drawingml/2006/main">
              <a:ext uri="{FF2B5EF4-FFF2-40B4-BE49-F238E27FC236}">
                <a16:creationId xmlns:a16="http://schemas.microsoft.com/office/drawing/2014/main" id="{6AD260A3-22B1-4CCC-B43C-D23AFD69F232}"/>
              </a:ext>
            </a:extLst>
          </p:cNvPr>
          <p:cNvSpPr>
            <a:spLocks xmlns:a="http://schemas.openxmlformats.org/drawingml/2006/main" noGrp="1"/>
          </p:cNvSpPr>
          <p:nvPr/>
        </p:nvSpPr>
        <p:spPr>
          <a:xfrm xmlns:a="http://schemas.openxmlformats.org/drawingml/2006/main">
            <a:off x="685800" y="6334125"/>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595959"/>
                </a:solidFill>
                <a:latin typeface="Arial"/>
                <a:ea typeface="Arial"/>
                <a:cs typeface="Arial"/>
              </a:defRPr>
            </a:defPPr>
            <a:lvl1pPr algn="l">
              <a:defRPr sz="900" b="0">
                <a:solidFill>
                  <a:srgbClr val="595959"/>
                </a:solidFill>
                <a:latin typeface="Arial"/>
                <a:ea typeface="Arial"/>
                <a:cs typeface="Arial"/>
              </a:defRPr>
            </a:lvl1pPr>
            <a:lvl2pPr algn="l">
              <a:defRPr sz="900" b="0">
                <a:solidFill>
                  <a:srgbClr val="595959"/>
                </a:solidFill>
                <a:latin typeface="Arial"/>
                <a:ea typeface="Arial"/>
                <a:cs typeface="Arial"/>
              </a:defRPr>
            </a:lvl2pPr>
            <a:lvl3pPr algn="l">
              <a:defRPr sz="900" b="0">
                <a:solidFill>
                  <a:srgbClr val="595959"/>
                </a:solidFill>
                <a:latin typeface="Arial"/>
                <a:ea typeface="Arial"/>
                <a:cs typeface="Arial"/>
              </a:defRPr>
            </a:lvl3pPr>
            <a:lvl4pPr algn="l">
              <a:defRPr sz="900" b="0">
                <a:solidFill>
                  <a:srgbClr val="595959"/>
                </a:solidFill>
                <a:latin typeface="Arial"/>
                <a:ea typeface="Arial"/>
                <a:cs typeface="Arial"/>
              </a:defRPr>
            </a:lvl4pPr>
            <a:lvl5pPr algn="l">
              <a:defRPr sz="900" b="0">
                <a:solidFill>
                  <a:srgbClr val="595959"/>
                </a:solidFill>
                <a:latin typeface="Arial"/>
                <a:ea typeface="Arial"/>
                <a:cs typeface="Arial"/>
              </a:defRPr>
            </a:lvl5pPr>
            <a:lvl6pPr algn="l">
              <a:defRPr sz="900" b="0">
                <a:solidFill>
                  <a:srgbClr val="595959"/>
                </a:solidFill>
                <a:latin typeface="Arial"/>
                <a:ea typeface="Arial"/>
                <a:cs typeface="Arial"/>
              </a:defRPr>
            </a:lvl6pPr>
            <a:lvl7pPr algn="l">
              <a:defRPr sz="900" b="0">
                <a:solidFill>
                  <a:srgbClr val="595959"/>
                </a:solidFill>
                <a:latin typeface="Arial"/>
                <a:ea typeface="Arial"/>
                <a:cs typeface="Arial"/>
              </a:defRPr>
            </a:lvl7pPr>
            <a:lvl8pPr algn="l">
              <a:defRPr sz="900" b="0">
                <a:solidFill>
                  <a:srgbClr val="595959"/>
                </a:solidFill>
                <a:latin typeface="Arial"/>
                <a:ea typeface="Arial"/>
                <a:cs typeface="Arial"/>
              </a:defRPr>
            </a:lvl8pPr>
            <a:lvl9pPr algn="l">
              <a:defRPr sz="900" b="0">
                <a:solidFill>
                  <a:srgbClr val="595959"/>
                </a:solidFill>
                <a:latin typeface="Arial"/>
                <a:ea typeface="Arial"/>
                <a:cs typeface="Arial"/>
              </a:defRPr>
            </a:lvl9pPr>
          </a:lstStyle>
          <a:p xmlns:a="http://schemas.openxmlformats.org/drawingml/2006/main">
            <a:pPr algn="l">
              <a:defRPr sz="900" b="0">
                <a:solidFill>
                  <a:srgbClr val="595959"/>
                </a:solidFill>
                <a:latin typeface="Arial"/>
                <a:ea typeface="Arial"/>
                <a:cs typeface="Arial"/>
              </a:defRPr>
            </a:pPr>
            <a:r>
              <a:rPr sz="900" b="0">
                <a:solidFill>
                  <a:srgbClr val="595959"/>
                </a:solidFill>
                <a:latin typeface="Arial"/>
                <a:ea typeface="Arial"/>
                <a:cs typeface="Arial"/>
              </a:rPr>
              <a:t>All companies, people and figures are fictional. Management information is unaudited.</a:t>
            </a:r>
          </a:p>
        </p:txBody>
      </p:sp>
    </p:spTree>
    <p:extLst>
      <p:ext uri="{BB962C8B-B14F-4D97-AF65-F5344CB8AC3E}">
        <p14:creationId xmlns:p14="http://schemas.microsoft.com/office/powerpoint/2010/main" val="108554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2-section">
            <a:extLst xmlns:a="http://schemas.openxmlformats.org/drawingml/2006/main">
              <a:ext uri="{FF2B5EF4-FFF2-40B4-BE49-F238E27FC236}">
                <a16:creationId xmlns:a16="http://schemas.microsoft.com/office/drawing/2014/main" id="{79735D70-B4C6-4B68-8721-60489B02F336}"/>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Executive summary</a:t>
            </a:r>
          </a:p>
        </p:txBody>
      </p:sp>
      <p:sp>
        <p:nvSpPr>
          <p:cNvPr id="2" name="s2-title">
            <a:extLst xmlns:a="http://schemas.openxmlformats.org/drawingml/2006/main">
              <a:ext uri="{FF2B5EF4-FFF2-40B4-BE49-F238E27FC236}">
                <a16:creationId xmlns:a16="http://schemas.microsoft.com/office/drawing/2014/main" id="{9793E79A-C4E9-4E1C-950C-911007806DB6}"/>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Business and transaction overview</a:t>
            </a:r>
          </a:p>
        </p:txBody>
      </p:sp>
      <p:sp>
        <p:nvSpPr>
          <p:cNvPr id="3" name="s2-source">
            <a:extLst xmlns:a="http://schemas.openxmlformats.org/drawingml/2006/main">
              <a:ext uri="{FF2B5EF4-FFF2-40B4-BE49-F238E27FC236}">
                <a16:creationId xmlns:a16="http://schemas.microsoft.com/office/drawing/2014/main" id="{120D52E0-8F92-4859-AA8D-CBED5C39C024}"/>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01 company brief; 02 management model, PnL and ServiceMix; 10 CFO follow-up; 13 transaction workshop.</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A = management actuals. FY2025 revenue remains provisional. Full locators are in slide notes.</a:t>
            </a:r>
          </a:p>
        </p:txBody>
      </p:sp>
      <p:sp>
        <p:nvSpPr>
          <p:cNvPr id="4" name="s2-footer-rule">
            <a:extLst xmlns:a="http://schemas.openxmlformats.org/drawingml/2006/main">
              <a:ext uri="{FF2B5EF4-FFF2-40B4-BE49-F238E27FC236}">
                <a16:creationId xmlns:a16="http://schemas.microsoft.com/office/drawing/2014/main" id="{E09A39BB-DAF1-426E-8BA4-19CC9DC79864}"/>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2-footer">
            <a:extLst xmlns:a="http://schemas.openxmlformats.org/drawingml/2006/main">
              <a:ext uri="{FF2B5EF4-FFF2-40B4-BE49-F238E27FC236}">
                <a16:creationId xmlns:a16="http://schemas.microsoft.com/office/drawing/2014/main" id="{ABAC8699-1368-4075-B767-7E559C204D8C}"/>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2-number">
            <a:extLst xmlns:a="http://schemas.openxmlformats.org/drawingml/2006/main">
              <a:ext uri="{FF2B5EF4-FFF2-40B4-BE49-F238E27FC236}">
                <a16:creationId xmlns:a16="http://schemas.microsoft.com/office/drawing/2014/main" id="{AB2C976D-0C20-4246-AA7B-4381CD97F30E}"/>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2</a:t>
            </a:r>
          </a:p>
        </p:txBody>
      </p:sp>
      <p:sp>
        <p:nvSpPr>
          <p:cNvPr id="7" name="s2-intro">
            <a:extLst xmlns:a="http://schemas.openxmlformats.org/drawingml/2006/main">
              <a:ext uri="{FF2B5EF4-FFF2-40B4-BE49-F238E27FC236}">
                <a16:creationId xmlns:a16="http://schemas.microsoft.com/office/drawing/2014/main" id="{FFDE11F4-99B4-430F-8E96-6962CD2F8BB3}"/>
              </a:ext>
            </a:extLst>
          </p:cNvPr>
          <p:cNvSpPr>
            <a:spLocks xmlns:a="http://schemas.openxmlformats.org/drawingml/2006/main" noGrp="1"/>
          </p:cNvSpPr>
          <p:nvPr/>
        </p:nvSpPr>
        <p:spPr>
          <a:xfrm xmlns:a="http://schemas.openxmlformats.org/drawingml/2006/main">
            <a:off x="685800" y="1400175"/>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000000"/>
                </a:solidFill>
                <a:latin typeface="Arial"/>
                <a:ea typeface="Arial"/>
                <a:cs typeface="Arial"/>
              </a:defRPr>
            </a:defPPr>
            <a:lvl1pPr algn="l">
              <a:defRPr sz="1500" b="0">
                <a:solidFill>
                  <a:srgbClr val="000000"/>
                </a:solidFill>
                <a:latin typeface="Arial"/>
                <a:ea typeface="Arial"/>
                <a:cs typeface="Arial"/>
              </a:defRPr>
            </a:lvl1pPr>
            <a:lvl2pPr algn="l">
              <a:defRPr sz="1500" b="0">
                <a:solidFill>
                  <a:srgbClr val="000000"/>
                </a:solidFill>
                <a:latin typeface="Arial"/>
                <a:ea typeface="Arial"/>
                <a:cs typeface="Arial"/>
              </a:defRPr>
            </a:lvl2pPr>
            <a:lvl3pPr algn="l">
              <a:defRPr sz="1500" b="0">
                <a:solidFill>
                  <a:srgbClr val="000000"/>
                </a:solidFill>
                <a:latin typeface="Arial"/>
                <a:ea typeface="Arial"/>
                <a:cs typeface="Arial"/>
              </a:defRPr>
            </a:lvl3pPr>
            <a:lvl4pPr algn="l">
              <a:defRPr sz="1500" b="0">
                <a:solidFill>
                  <a:srgbClr val="000000"/>
                </a:solidFill>
                <a:latin typeface="Arial"/>
                <a:ea typeface="Arial"/>
                <a:cs typeface="Arial"/>
              </a:defRPr>
            </a:lvl4pPr>
            <a:lvl5pPr algn="l">
              <a:defRPr sz="1500" b="0">
                <a:solidFill>
                  <a:srgbClr val="000000"/>
                </a:solidFill>
                <a:latin typeface="Arial"/>
                <a:ea typeface="Arial"/>
                <a:cs typeface="Arial"/>
              </a:defRPr>
            </a:lvl5pPr>
            <a:lvl6pPr algn="l">
              <a:defRPr sz="1500" b="0">
                <a:solidFill>
                  <a:srgbClr val="000000"/>
                </a:solidFill>
                <a:latin typeface="Arial"/>
                <a:ea typeface="Arial"/>
                <a:cs typeface="Arial"/>
              </a:defRPr>
            </a:lvl6pPr>
            <a:lvl7pPr algn="l">
              <a:defRPr sz="1500" b="0">
                <a:solidFill>
                  <a:srgbClr val="000000"/>
                </a:solidFill>
                <a:latin typeface="Arial"/>
                <a:ea typeface="Arial"/>
                <a:cs typeface="Arial"/>
              </a:defRPr>
            </a:lvl7pPr>
            <a:lvl8pPr algn="l">
              <a:defRPr sz="1500" b="0">
                <a:solidFill>
                  <a:srgbClr val="000000"/>
                </a:solidFill>
                <a:latin typeface="Arial"/>
                <a:ea typeface="Arial"/>
                <a:cs typeface="Arial"/>
              </a:defRPr>
            </a:lvl8pPr>
            <a:lvl9pPr algn="l">
              <a:defRPr sz="1500" b="0">
                <a:solidFill>
                  <a:srgbClr val="000000"/>
                </a:solidFill>
                <a:latin typeface="Arial"/>
                <a:ea typeface="Arial"/>
                <a:cs typeface="Arial"/>
              </a:defRPr>
            </a:lvl9pPr>
          </a:lstStyle>
          <a:p xmlns:a="http://schemas.openxmlformats.org/drawingml/2006/main">
            <a:pPr algn="l">
              <a:defRPr sz="1500" b="0">
                <a:solidFill>
                  <a:srgbClr val="000000"/>
                </a:solidFill>
                <a:latin typeface="Arial"/>
                <a:ea typeface="Arial"/>
                <a:cs typeface="Arial"/>
              </a:defRPr>
            </a:pPr>
            <a:r>
              <a:rPr sz="1500" b="0">
                <a:solidFill>
                  <a:srgbClr val="000000"/>
                </a:solidFill>
                <a:latin typeface="Arial"/>
                <a:ea typeface="Arial"/>
                <a:cs typeface="Arial"/>
              </a:rPr>
              <a:t>Northbridge provides planned equipment maintenance, reactive repairs and installation services to UK industrial and commercial sites. The company operates through three regional hubs.</a:t>
            </a:r>
          </a:p>
        </p:txBody>
      </p:sp>
      <p:graphicFrame>
        <p:nvGraphicFramePr>
          <p:cNvPr id="8" name="">
            <a:extLst xmlns:a="http://schemas.openxmlformats.org/drawingml/2006/main">
              <a:ext uri="{FF2B5EF4-FFF2-40B4-BE49-F238E27FC236}">
                <a16:creationId xmlns:a16="http://schemas.microsoft.com/office/drawing/2014/main" id="{1B1DB37F-D3F2-4702-83B5-4E47A8A8048E}"/>
              </a:ext>
            </a:extLst>
          </p:cNvPr>
          <p:cNvGraphicFramePr/>
          <p:nvPr/>
        </p:nvGraphicFramePr>
        <p:xfrm>
          <a:off xmlns:a="http://schemas.openxmlformats.org/drawingml/2006/main" x="685800" y="2247900"/>
          <a:ext xmlns:a="http://schemas.openxmlformats.org/drawingml/2006/main" cx="6619875" cy="2781300"/>
        </p:xfrm>
        <a:graphic xmlns:a="http://schemas.openxmlformats.org/drawingml/2006/main">
          <a:graphicData uri="http://schemas.openxmlformats.org/drawingml/2006/table">
            <a:tbl>
              <a:tblPr/>
              <a:tblGrid>
                <a:gridCol w="2448421"/>
                <a:gridCol w="4171454"/>
              </a:tblGrid>
              <a:tr h="459284">
                <a:tc>
                  <a:txBody>
                    <a:bodyPr lIns="95250" tIns="66675" rIns="95250" bIns="66675">
                      <a:noAutofit/>
                    </a:bodyPr>
                    <a:lstStyle/>
                    <a:p>
                      <a:pPr algn="l"/>
                      <a:r>
                        <a:rPr sz="1275" b="1">
                          <a:solidFill>
                            <a:srgbClr val="FFFFFF"/>
                          </a:solidFill>
                          <a:latin typeface="Arial"/>
                          <a:ea typeface="Arial"/>
                          <a:cs typeface="Arial"/>
                        </a:rPr>
                        <a:t>Company profile</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Current position</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63748">
                <a:tc>
                  <a:txBody>
                    <a:bodyPr lIns="95250" tIns="66675" rIns="95250" bIns="66675">
                      <a:noAutofit/>
                    </a:bodyPr>
                    <a:lstStyle/>
                    <a:p>
                      <a:pPr algn="l"/>
                      <a:r>
                        <a:rPr sz="1275" b="0">
                          <a:solidFill>
                            <a:srgbClr val="000000"/>
                          </a:solidFill>
                          <a:latin typeface="Arial"/>
                          <a:ea typeface="Arial"/>
                          <a:cs typeface="Arial"/>
                        </a:rPr>
                        <a:t>Founded / headquarters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2012 / Birmingham</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63748">
                <a:tc>
                  <a:txBody>
                    <a:bodyPr lIns="95250" tIns="66675" rIns="95250" bIns="66675">
                      <a:noAutofit/>
                    </a:bodyPr>
                    <a:lstStyle/>
                    <a:p>
                      <a:pPr algn="l"/>
                      <a:r>
                        <a:rPr sz="1275" b="0">
                          <a:solidFill>
                            <a:srgbClr val="000000"/>
                          </a:solidFill>
                          <a:latin typeface="Arial"/>
                          <a:ea typeface="Arial"/>
                          <a:cs typeface="Arial"/>
                        </a:rPr>
                        <a:t>FY2025 revenue / EBITDA</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£25.0m / £5.0m (management-reported)</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63748">
                <a:tc>
                  <a:txBody>
                    <a:bodyPr lIns="95250" tIns="66675" rIns="95250" bIns="66675">
                      <a:noAutofit/>
                    </a:bodyPr>
                    <a:lstStyle/>
                    <a:p>
                      <a:pPr algn="l"/>
                      <a:r>
                        <a:rPr sz="1275" b="0">
                          <a:solidFill>
                            <a:srgbClr val="000000"/>
                          </a:solidFill>
                          <a:latin typeface="Arial"/>
                          <a:ea typeface="Arial"/>
                          <a:cs typeface="Arial"/>
                        </a:rPr>
                        <a:t>Revenue mix</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Maintenance 70%, repairs 20%, projects 10%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63748">
                <a:tc>
                  <a:txBody>
                    <a:bodyPr lIns="95250" tIns="66675" rIns="95250" bIns="66675">
                      <a:noAutofit/>
                    </a:bodyPr>
                    <a:lstStyle/>
                    <a:p>
                      <a:pPr algn="l"/>
                      <a:r>
                        <a:rPr sz="1275" b="0">
                          <a:solidFill>
                            <a:srgbClr val="000000"/>
                          </a:solidFill>
                          <a:latin typeface="Arial"/>
                          <a:ea typeface="Arial"/>
                          <a:cs typeface="Arial"/>
                        </a:rPr>
                        <a:t>Employees / field engineers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120 / 85 at 31 December 2025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63848">
                <a:tc>
                  <a:txBody>
                    <a:bodyPr lIns="95250" tIns="66675" rIns="95250" bIns="66675">
                      <a:noAutofit/>
                    </a:bodyPr>
                    <a:lstStyle/>
                    <a:p>
                      <a:pPr algn="l"/>
                      <a:r>
                        <a:rPr sz="1275" b="0">
                          <a:solidFill>
                            <a:srgbClr val="000000"/>
                          </a:solidFill>
                          <a:latin typeface="Arial"/>
                          <a:ea typeface="Arial"/>
                          <a:cs typeface="Arial"/>
                        </a:rPr>
                        <a:t>Proposed sale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70%–100% of equity in the standalone UK company</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9" name="s2-transaction-head">
            <a:extLst xmlns:a="http://schemas.openxmlformats.org/drawingml/2006/main">
              <a:ext uri="{FF2B5EF4-FFF2-40B4-BE49-F238E27FC236}">
                <a16:creationId xmlns:a16="http://schemas.microsoft.com/office/drawing/2014/main" id="{3F869600-E71B-4F8C-B63B-6C81727AFBEE}"/>
              </a:ext>
            </a:extLst>
          </p:cNvPr>
          <p:cNvSpPr>
            <a:spLocks xmlns:a="http://schemas.openxmlformats.org/drawingml/2006/main" noGrp="1"/>
          </p:cNvSpPr>
          <p:nvPr/>
        </p:nvSpPr>
        <p:spPr>
          <a:xfrm xmlns:a="http://schemas.openxmlformats.org/drawingml/2006/main">
            <a:off x="7686675" y="2247900"/>
            <a:ext cx="3819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Transaction preparation</a:t>
            </a:r>
          </a:p>
        </p:txBody>
      </p:sp>
      <p:sp>
        <p:nvSpPr>
          <p:cNvPr id="10" name="s2-transaction">
            <a:extLst xmlns:a="http://schemas.openxmlformats.org/drawingml/2006/main">
              <a:ext uri="{FF2B5EF4-FFF2-40B4-BE49-F238E27FC236}">
                <a16:creationId xmlns:a16="http://schemas.microsoft.com/office/drawing/2014/main" id="{A69E8223-C026-4AE1-A750-082A6FB7139B}"/>
              </a:ext>
            </a:extLst>
          </p:cNvPr>
          <p:cNvSpPr>
            <a:spLocks xmlns:a="http://schemas.openxmlformats.org/drawingml/2006/main" noGrp="1"/>
          </p:cNvSpPr>
          <p:nvPr/>
        </p:nvSpPr>
        <p:spPr>
          <a:xfrm xmlns:a="http://schemas.openxmlformats.org/drawingml/2006/main">
            <a:off x="7686675" y="2647950"/>
            <a:ext cx="38195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The proposed perimeter includes the three hubs, operating assets and customer contracts. Shareholders have not agreed valuation, rollover or a timetable.</a:t>
            </a:r>
          </a:p>
        </p:txBody>
      </p:sp>
      <p:sp>
        <p:nvSpPr>
          <p:cNvPr id="11" name="s2-status-head">
            <a:extLst xmlns:a="http://schemas.openxmlformats.org/drawingml/2006/main">
              <a:ext uri="{FF2B5EF4-FFF2-40B4-BE49-F238E27FC236}">
                <a16:creationId xmlns:a16="http://schemas.microsoft.com/office/drawing/2014/main" id="{C72E10F7-847E-4661-B2BB-0FA44E94C22D}"/>
              </a:ext>
            </a:extLst>
          </p:cNvPr>
          <p:cNvSpPr>
            <a:spLocks xmlns:a="http://schemas.openxmlformats.org/drawingml/2006/main" noGrp="1"/>
          </p:cNvSpPr>
          <p:nvPr/>
        </p:nvSpPr>
        <p:spPr>
          <a:xfrm xmlns:a="http://schemas.openxmlformats.org/drawingml/2006/main">
            <a:off x="7686675" y="4105275"/>
            <a:ext cx="3819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Financial status</a:t>
            </a:r>
          </a:p>
        </p:txBody>
      </p:sp>
      <p:sp>
        <p:nvSpPr>
          <p:cNvPr id="12" name="s2-status">
            <a:extLst xmlns:a="http://schemas.openxmlformats.org/drawingml/2006/main">
              <a:ext uri="{FF2B5EF4-FFF2-40B4-BE49-F238E27FC236}">
                <a16:creationId xmlns:a16="http://schemas.microsoft.com/office/drawing/2014/main" id="{1F8DC461-3F0D-4404-BC02-3A017FF72A65}"/>
              </a:ext>
            </a:extLst>
          </p:cNvPr>
          <p:cNvSpPr>
            <a:spLocks xmlns:a="http://schemas.openxmlformats.org/drawingml/2006/main" noGrp="1"/>
          </p:cNvSpPr>
          <p:nvPr/>
        </p:nvSpPr>
        <p:spPr>
          <a:xfrm xmlns:a="http://schemas.openxmlformats.org/drawingml/2006/main">
            <a:off x="7686675" y="4505325"/>
            <a:ext cx="38195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Draft quarterly and balance-sheet schedules are available. No QoE report or verified EBITDA adjustments support the earnings presented. Contract and legal review remains outstanding.</a:t>
            </a:r>
          </a:p>
        </p:txBody>
      </p:sp>
      <p:sp>
        <p:nvSpPr>
          <p:cNvPr id="13" name="s2-rule">
            <a:extLst xmlns:a="http://schemas.openxmlformats.org/drawingml/2006/main">
              <a:ext uri="{FF2B5EF4-FFF2-40B4-BE49-F238E27FC236}">
                <a16:creationId xmlns:a16="http://schemas.microsoft.com/office/drawing/2014/main" id="{A808F387-FCE6-4127-86B8-E3426AC09C2F}"/>
              </a:ext>
            </a:extLst>
          </p:cNvPr>
          <p:cNvSpPr>
            <a:spLocks xmlns:a="http://schemas.openxmlformats.org/drawingml/2006/main" noGrp="1"/>
          </p:cNvSpPr>
          <p:nvPr/>
        </p:nvSpPr>
        <p:spPr>
          <a:xfrm xmlns:a="http://schemas.openxmlformats.org/drawingml/2006/main">
            <a:off x="685800" y="5314950"/>
            <a:ext cx="6619875"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14" name="s2-reconciliation">
            <a:extLst xmlns:a="http://schemas.openxmlformats.org/drawingml/2006/main">
              <a:ext uri="{FF2B5EF4-FFF2-40B4-BE49-F238E27FC236}">
                <a16:creationId xmlns:a16="http://schemas.microsoft.com/office/drawing/2014/main" id="{2A7D611B-D8ED-4953-8DD3-E5EFE5C023E7}"/>
              </a:ext>
            </a:extLst>
          </p:cNvPr>
          <p:cNvSpPr>
            <a:spLocks xmlns:a="http://schemas.openxmlformats.org/drawingml/2006/main" noGrp="1"/>
          </p:cNvSpPr>
          <p:nvPr/>
        </p:nvSpPr>
        <p:spPr>
          <a:xfrm xmlns:a="http://schemas.openxmlformats.org/drawingml/2006/main">
            <a:off x="685800" y="5505450"/>
            <a:ext cx="6619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338D"/>
                </a:solidFill>
                <a:latin typeface="Arial"/>
                <a:ea typeface="Arial"/>
                <a:cs typeface="Arial"/>
              </a:defRPr>
            </a:defPPr>
            <a:lvl1pPr algn="l">
              <a:defRPr sz="1350" b="0">
                <a:solidFill>
                  <a:srgbClr val="00338D"/>
                </a:solidFill>
                <a:latin typeface="Arial"/>
                <a:ea typeface="Arial"/>
                <a:cs typeface="Arial"/>
              </a:defRPr>
            </a:lvl1pPr>
            <a:lvl2pPr algn="l">
              <a:defRPr sz="1350" b="0">
                <a:solidFill>
                  <a:srgbClr val="00338D"/>
                </a:solidFill>
                <a:latin typeface="Arial"/>
                <a:ea typeface="Arial"/>
                <a:cs typeface="Arial"/>
              </a:defRPr>
            </a:lvl2pPr>
            <a:lvl3pPr algn="l">
              <a:defRPr sz="1350" b="0">
                <a:solidFill>
                  <a:srgbClr val="00338D"/>
                </a:solidFill>
                <a:latin typeface="Arial"/>
                <a:ea typeface="Arial"/>
                <a:cs typeface="Arial"/>
              </a:defRPr>
            </a:lvl3pPr>
            <a:lvl4pPr algn="l">
              <a:defRPr sz="1350" b="0">
                <a:solidFill>
                  <a:srgbClr val="00338D"/>
                </a:solidFill>
                <a:latin typeface="Arial"/>
                <a:ea typeface="Arial"/>
                <a:cs typeface="Arial"/>
              </a:defRPr>
            </a:lvl4pPr>
            <a:lvl5pPr algn="l">
              <a:defRPr sz="1350" b="0">
                <a:solidFill>
                  <a:srgbClr val="00338D"/>
                </a:solidFill>
                <a:latin typeface="Arial"/>
                <a:ea typeface="Arial"/>
                <a:cs typeface="Arial"/>
              </a:defRPr>
            </a:lvl5pPr>
            <a:lvl6pPr algn="l">
              <a:defRPr sz="1350" b="0">
                <a:solidFill>
                  <a:srgbClr val="00338D"/>
                </a:solidFill>
                <a:latin typeface="Arial"/>
                <a:ea typeface="Arial"/>
                <a:cs typeface="Arial"/>
              </a:defRPr>
            </a:lvl6pPr>
            <a:lvl7pPr algn="l">
              <a:defRPr sz="1350" b="0">
                <a:solidFill>
                  <a:srgbClr val="00338D"/>
                </a:solidFill>
                <a:latin typeface="Arial"/>
                <a:ea typeface="Arial"/>
                <a:cs typeface="Arial"/>
              </a:defRPr>
            </a:lvl7pPr>
            <a:lvl8pPr algn="l">
              <a:defRPr sz="1350" b="0">
                <a:solidFill>
                  <a:srgbClr val="00338D"/>
                </a:solidFill>
                <a:latin typeface="Arial"/>
                <a:ea typeface="Arial"/>
                <a:cs typeface="Arial"/>
              </a:defRPr>
            </a:lvl8pPr>
            <a:lvl9pPr algn="l">
              <a:defRPr sz="1350" b="0">
                <a:solidFill>
                  <a:srgbClr val="00338D"/>
                </a:solidFill>
                <a:latin typeface="Arial"/>
                <a:ea typeface="Arial"/>
                <a:cs typeface="Arial"/>
              </a:defRPr>
            </a:lvl9pPr>
          </a:lstStyle>
          <a:p xmlns:a="http://schemas.openxmlformats.org/drawingml/2006/main">
            <a:pPr algn="l">
              <a:defRPr sz="1350" b="0">
                <a:solidFill>
                  <a:srgbClr val="00338D"/>
                </a:solidFill>
                <a:latin typeface="Arial"/>
                <a:ea typeface="Arial"/>
                <a:cs typeface="Arial"/>
              </a:defRPr>
            </a:pPr>
            <a:r>
              <a:rPr sz="1350" b="0">
                <a:solidFill>
                  <a:srgbClr val="00338D"/>
                </a:solidFill>
                <a:latin typeface="Arial"/>
                <a:ea typeface="Arial"/>
                <a:cs typeface="Arial"/>
              </a:rPr>
              <a:t>The £26.2m earlier briefing differs from the £25.0m model. The CFO supports provisional use of the model while reconciliation remains open.</a:t>
            </a:r>
          </a:p>
        </p:txBody>
      </p:sp>
    </p:spTree>
    <p:extLst>
      <p:ext uri="{BB962C8B-B14F-4D97-AF65-F5344CB8AC3E}">
        <p14:creationId xmlns:p14="http://schemas.microsoft.com/office/powerpoint/2010/main" val="4574325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3-section">
            <a:extLst xmlns:a="http://schemas.openxmlformats.org/drawingml/2006/main">
              <a:ext uri="{FF2B5EF4-FFF2-40B4-BE49-F238E27FC236}">
                <a16:creationId xmlns:a16="http://schemas.microsoft.com/office/drawing/2014/main" id="{9034C718-84D4-41BE-9101-F034F969489C}"/>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Investment case</a:t>
            </a:r>
          </a:p>
        </p:txBody>
      </p:sp>
      <p:sp>
        <p:nvSpPr>
          <p:cNvPr id="2" name="s3-title">
            <a:extLst xmlns:a="http://schemas.openxmlformats.org/drawingml/2006/main">
              <a:ext uri="{FF2B5EF4-FFF2-40B4-BE49-F238E27FC236}">
                <a16:creationId xmlns:a16="http://schemas.microsoft.com/office/drawing/2014/main" id="{322752B8-2811-4E8F-AAB7-F9D6554F6D34}"/>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Investment case and supporting evidence</a:t>
            </a:r>
          </a:p>
        </p:txBody>
      </p:sp>
      <p:sp>
        <p:nvSpPr>
          <p:cNvPr id="3" name="s3-source">
            <a:extLst xmlns:a="http://schemas.openxmlformats.org/drawingml/2006/main">
              <a:ext uri="{FF2B5EF4-FFF2-40B4-BE49-F238E27FC236}">
                <a16:creationId xmlns:a16="http://schemas.microsoft.com/office/drawing/2014/main" id="{3019B75C-5CCA-41C3-8B3C-E88144DC9237}"/>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02 management model; 05 commercial interview; 06 hub schedule; 10 CFO follow-up; 11 forecast bridge.</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All figures are synthetic management submissions. Renewal metrics refer to agreements, not customers.</a:t>
            </a:r>
          </a:p>
        </p:txBody>
      </p:sp>
      <p:sp>
        <p:nvSpPr>
          <p:cNvPr id="4" name="s3-footer-rule">
            <a:extLst xmlns:a="http://schemas.openxmlformats.org/drawingml/2006/main">
              <a:ext uri="{FF2B5EF4-FFF2-40B4-BE49-F238E27FC236}">
                <a16:creationId xmlns:a16="http://schemas.microsoft.com/office/drawing/2014/main" id="{4F277CCF-29D9-4778-8F6D-D76BA0E629EA}"/>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3-footer">
            <a:extLst xmlns:a="http://schemas.openxmlformats.org/drawingml/2006/main">
              <a:ext uri="{FF2B5EF4-FFF2-40B4-BE49-F238E27FC236}">
                <a16:creationId xmlns:a16="http://schemas.microsoft.com/office/drawing/2014/main" id="{DC70E176-4B9A-420D-B26B-F273BA922656}"/>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3-number">
            <a:extLst xmlns:a="http://schemas.openxmlformats.org/drawingml/2006/main">
              <a:ext uri="{FF2B5EF4-FFF2-40B4-BE49-F238E27FC236}">
                <a16:creationId xmlns:a16="http://schemas.microsoft.com/office/drawing/2014/main" id="{A906020C-BED3-4F36-800D-E1EEEF716D74}"/>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3</a:t>
            </a:r>
          </a:p>
        </p:txBody>
      </p:sp>
      <p:graphicFrame>
        <p:nvGraphicFramePr>
          <p:cNvPr id="7" name="">
            <a:extLst xmlns:a="http://schemas.openxmlformats.org/drawingml/2006/main">
              <a:ext uri="{FF2B5EF4-FFF2-40B4-BE49-F238E27FC236}">
                <a16:creationId xmlns:a16="http://schemas.microsoft.com/office/drawing/2014/main" id="{4F1F1527-72F8-4D25-A47C-95D4CDD07332}"/>
              </a:ext>
            </a:extLst>
          </p:cNvPr>
          <p:cNvGraphicFramePr/>
          <p:nvPr/>
        </p:nvGraphicFramePr>
        <p:xfrm>
          <a:off xmlns:a="http://schemas.openxmlformats.org/drawingml/2006/main" x="685800" y="1409700"/>
          <a:ext xmlns:a="http://schemas.openxmlformats.org/drawingml/2006/main" cx="10820400" cy="3305175"/>
        </p:xfrm>
        <a:graphic xmlns:a="http://schemas.openxmlformats.org/drawingml/2006/main">
          <a:graphicData uri="http://schemas.openxmlformats.org/drawingml/2006/table">
            <a:tbl>
              <a:tblPr/>
              <a:tblGrid>
                <a:gridCol w="2001441"/>
                <a:gridCol w="4378127"/>
                <a:gridCol w="4440833"/>
              </a:tblGrid>
              <a:tr h="447873">
                <a:tc>
                  <a:txBody>
                    <a:bodyPr lIns="95250" tIns="66675" rIns="95250" bIns="66675">
                      <a:noAutofit/>
                    </a:bodyPr>
                    <a:lstStyle/>
                    <a:p>
                      <a:pPr algn="l"/>
                      <a:r>
                        <a:rPr sz="1275" b="1">
                          <a:solidFill>
                            <a:srgbClr val="FFFFFF"/>
                          </a:solidFill>
                          <a:latin typeface="Arial"/>
                          <a:ea typeface="Arial"/>
                          <a:cs typeface="Arial"/>
                        </a:rPr>
                        <a:t>Investment theme</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Supporting evidence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Qualification / diligence focus</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713482">
                <a:tc>
                  <a:txBody>
                    <a:bodyPr lIns="95250" tIns="66675" rIns="95250" bIns="66675">
                      <a:noAutofit/>
                    </a:bodyPr>
                    <a:lstStyle/>
                    <a:p>
                      <a:pPr algn="l"/>
                      <a:r>
                        <a:rPr sz="1275" b="0">
                          <a:solidFill>
                            <a:srgbClr val="000000"/>
                          </a:solidFill>
                          <a:latin typeface="Arial"/>
                          <a:ea typeface="Arial"/>
                          <a:cs typeface="Arial"/>
                        </a:rPr>
                        <a:t>Maintenance activity</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£17.5m maintenance revenue, or 70% of FY2025 sales. Agreements typically run one to three years.</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Renewal requires agreement. Validate contract scope, expiry profile and pricing clauses.</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713482">
                <a:tc>
                  <a:txBody>
                    <a:bodyPr lIns="95250" tIns="66675" rIns="95250" bIns="66675">
                      <a:noAutofit/>
                    </a:bodyPr>
                    <a:lstStyle/>
                    <a:p>
                      <a:pPr algn="l"/>
                      <a:r>
                        <a:rPr sz="1275" b="0">
                          <a:solidFill>
                            <a:srgbClr val="000000"/>
                          </a:solidFill>
                          <a:latin typeface="Arial"/>
                          <a:ea typeface="Arial"/>
                          <a:cs typeface="Arial"/>
                        </a:rPr>
                        <a:t>Historical development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Revenue grew from £18.0m in FY2023 to a provisional £25.0m in FY2025 (17.9% CAGR).</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The earlier briefing reports a different FY2025 revenue figure. Earnings remain unaudited.</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713482">
                <a:tc>
                  <a:txBody>
                    <a:bodyPr lIns="95250" tIns="66675" rIns="95250" bIns="66675">
                      <a:noAutofit/>
                    </a:bodyPr>
                    <a:lstStyle/>
                    <a:p>
                      <a:pPr algn="l"/>
                      <a:r>
                        <a:rPr sz="1275" b="0">
                          <a:solidFill>
                            <a:srgbClr val="000000"/>
                          </a:solidFill>
                          <a:latin typeface="Arial"/>
                          <a:ea typeface="Arial"/>
                          <a:cs typeface="Arial"/>
                        </a:rPr>
                        <a:t>Delivery footprint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85 engineers across Birmingham, Manchester and Bristol. Total employees: 120.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Validate service KPIs against job records and test engineer capacity by region.</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713680">
                <a:tc>
                  <a:txBody>
                    <a:bodyPr lIns="95250" tIns="66675" rIns="95250" bIns="66675">
                      <a:noAutofit/>
                    </a:bodyPr>
                    <a:lstStyle/>
                    <a:p>
                      <a:pPr algn="l"/>
                      <a:r>
                        <a:rPr sz="1275" b="0">
                          <a:solidFill>
                            <a:srgbClr val="000000"/>
                          </a:solidFill>
                          <a:latin typeface="Arial"/>
                          <a:ea typeface="Arial"/>
                          <a:cs typeface="Arial"/>
                        </a:rPr>
                        <a:t>Management expansion plan</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Forecast revenue of £33.6m in FY2027, supported by pricing, new contracts and cross-sell.</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Pipeline remains unsigned. Hiring costs and customer-level forecast support are missing.</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8" name="s3-renewal-head">
            <a:extLst xmlns:a="http://schemas.openxmlformats.org/drawingml/2006/main">
              <a:ext uri="{FF2B5EF4-FFF2-40B4-BE49-F238E27FC236}">
                <a16:creationId xmlns:a16="http://schemas.microsoft.com/office/drawing/2014/main" id="{11448073-B933-4522-8E32-8C7508E7132A}"/>
              </a:ext>
            </a:extLst>
          </p:cNvPr>
          <p:cNvSpPr>
            <a:spLocks xmlns:a="http://schemas.openxmlformats.org/drawingml/2006/main" noGrp="1"/>
          </p:cNvSpPr>
          <p:nvPr/>
        </p:nvSpPr>
        <p:spPr>
          <a:xfrm xmlns:a="http://schemas.openxmlformats.org/drawingml/2006/main">
            <a:off x="685800" y="5000625"/>
            <a:ext cx="509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Renewal evidence</a:t>
            </a:r>
          </a:p>
        </p:txBody>
      </p:sp>
      <p:sp>
        <p:nvSpPr>
          <p:cNvPr id="9" name="s3-renewal">
            <a:extLst xmlns:a="http://schemas.openxmlformats.org/drawingml/2006/main">
              <a:ext uri="{FF2B5EF4-FFF2-40B4-BE49-F238E27FC236}">
                <a16:creationId xmlns:a16="http://schemas.microsoft.com/office/drawing/2014/main" id="{12E5BD05-3CE6-412A-99FF-B7D15CE46990}"/>
              </a:ext>
            </a:extLst>
          </p:cNvPr>
          <p:cNvSpPr>
            <a:spLocks xmlns:a="http://schemas.openxmlformats.org/drawingml/2006/main" noGrp="1"/>
          </p:cNvSpPr>
          <p:nvPr/>
        </p:nvSpPr>
        <p:spPr>
          <a:xfrm xmlns:a="http://schemas.openxmlformats.org/drawingml/2006/main">
            <a:off x="685800" y="5391150"/>
            <a:ext cx="5095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23 of 25 agreements due in FY2025 renewed (92%). Retained annual value was 93%, excluding price changes and additional scope.</a:t>
            </a:r>
          </a:p>
        </p:txBody>
      </p:sp>
      <p:sp>
        <p:nvSpPr>
          <p:cNvPr id="10" name="s3-concentration-head">
            <a:extLst xmlns:a="http://schemas.openxmlformats.org/drawingml/2006/main">
              <a:ext uri="{FF2B5EF4-FFF2-40B4-BE49-F238E27FC236}">
                <a16:creationId xmlns:a16="http://schemas.microsoft.com/office/drawing/2014/main" id="{DC0A4092-5584-44FF-82CE-FDA9FBB12CF4}"/>
              </a:ext>
            </a:extLst>
          </p:cNvPr>
          <p:cNvSpPr>
            <a:spLocks xmlns:a="http://schemas.openxmlformats.org/drawingml/2006/main" noGrp="1"/>
          </p:cNvSpPr>
          <p:nvPr/>
        </p:nvSpPr>
        <p:spPr>
          <a:xfrm xmlns:a="http://schemas.openxmlformats.org/drawingml/2006/main">
            <a:off x="6162675" y="5000625"/>
            <a:ext cx="5343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Customer and earnings exposure</a:t>
            </a:r>
          </a:p>
        </p:txBody>
      </p:sp>
      <p:sp>
        <p:nvSpPr>
          <p:cNvPr id="11" name="s3-concentration">
            <a:extLst xmlns:a="http://schemas.openxmlformats.org/drawingml/2006/main">
              <a:ext uri="{FF2B5EF4-FFF2-40B4-BE49-F238E27FC236}">
                <a16:creationId xmlns:a16="http://schemas.microsoft.com/office/drawing/2014/main" id="{35F0E40D-F1E0-45B7-818A-CC4EFBF23DA0}"/>
              </a:ext>
            </a:extLst>
          </p:cNvPr>
          <p:cNvSpPr>
            <a:spLocks xmlns:a="http://schemas.openxmlformats.org/drawingml/2006/main" noGrp="1"/>
          </p:cNvSpPr>
          <p:nvPr/>
        </p:nvSpPr>
        <p:spPr>
          <a:xfrm xmlns:a="http://schemas.openxmlformats.org/drawingml/2006/main">
            <a:off x="6162675" y="5391150"/>
            <a:ext cx="53435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The five largest customers account for 42% of revenue. No unverified add-backs are included in the £5.0m management EBITDA.</a:t>
            </a:r>
          </a:p>
        </p:txBody>
      </p:sp>
    </p:spTree>
    <p:extLst>
      <p:ext uri="{BB962C8B-B14F-4D97-AF65-F5344CB8AC3E}">
        <p14:creationId xmlns:p14="http://schemas.microsoft.com/office/powerpoint/2010/main" val="14697181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4-section">
            <a:extLst xmlns:a="http://schemas.openxmlformats.org/drawingml/2006/main">
              <a:ext uri="{FF2B5EF4-FFF2-40B4-BE49-F238E27FC236}">
                <a16:creationId xmlns:a16="http://schemas.microsoft.com/office/drawing/2014/main" id="{F1A5AC5D-FEA9-4C21-BF96-DD69376708D1}"/>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Business overview</a:t>
            </a:r>
          </a:p>
        </p:txBody>
      </p:sp>
      <p:sp>
        <p:nvSpPr>
          <p:cNvPr id="2" name="s4-title">
            <a:extLst xmlns:a="http://schemas.openxmlformats.org/drawingml/2006/main">
              <a:ext uri="{FF2B5EF4-FFF2-40B4-BE49-F238E27FC236}">
                <a16:creationId xmlns:a16="http://schemas.microsoft.com/office/drawing/2014/main" id="{EBB8929D-A9D3-4643-8425-20526708F191}"/>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Service portfolio and customer applications</a:t>
            </a:r>
          </a:p>
        </p:txBody>
      </p:sp>
      <p:sp>
        <p:nvSpPr>
          <p:cNvPr id="3" name="s4-source">
            <a:extLst xmlns:a="http://schemas.openxmlformats.org/drawingml/2006/main">
              <a:ext uri="{FF2B5EF4-FFF2-40B4-BE49-F238E27FC236}">
                <a16:creationId xmlns:a16="http://schemas.microsoft.com/office/drawing/2014/main" id="{DC34A69B-967D-43ED-90F2-6B7293CF6576}"/>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02 management model, ServiceMix!A5:C7; 05 commercial interview; 12 sector mix.</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Revenue is FY2025 provisional management actuals. GBP thousand schedules are converted to GBP million.</a:t>
            </a:r>
          </a:p>
        </p:txBody>
      </p:sp>
      <p:sp>
        <p:nvSpPr>
          <p:cNvPr id="4" name="s4-footer-rule">
            <a:extLst xmlns:a="http://schemas.openxmlformats.org/drawingml/2006/main">
              <a:ext uri="{FF2B5EF4-FFF2-40B4-BE49-F238E27FC236}">
                <a16:creationId xmlns:a16="http://schemas.microsoft.com/office/drawing/2014/main" id="{44D3F98F-B307-4A17-A1DB-F794DB485274}"/>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4-footer">
            <a:extLst xmlns:a="http://schemas.openxmlformats.org/drawingml/2006/main">
              <a:ext uri="{FF2B5EF4-FFF2-40B4-BE49-F238E27FC236}">
                <a16:creationId xmlns:a16="http://schemas.microsoft.com/office/drawing/2014/main" id="{397C8421-1AEB-458A-9DF5-9C6385E727ED}"/>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4-number">
            <a:extLst xmlns:a="http://schemas.openxmlformats.org/drawingml/2006/main">
              <a:ext uri="{FF2B5EF4-FFF2-40B4-BE49-F238E27FC236}">
                <a16:creationId xmlns:a16="http://schemas.microsoft.com/office/drawing/2014/main" id="{7BE2036A-7356-40FB-AD51-CD0B2666C00E}"/>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4</a:t>
            </a:r>
          </a:p>
        </p:txBody>
      </p:sp>
      <p:graphicFrame>
        <p:nvGraphicFramePr>
          <p:cNvPr id="7" name="">
            <a:extLst xmlns:a="http://schemas.openxmlformats.org/drawingml/2006/main">
              <a:ext uri="{FF2B5EF4-FFF2-40B4-BE49-F238E27FC236}">
                <a16:creationId xmlns:a16="http://schemas.microsoft.com/office/drawing/2014/main" id="{D03AF628-1E27-409B-AD1A-6A9D4191299B}"/>
              </a:ext>
            </a:extLst>
          </p:cNvPr>
          <p:cNvGraphicFramePr/>
          <p:nvPr/>
        </p:nvGraphicFramePr>
        <p:xfrm>
          <a:off xmlns:a="http://schemas.openxmlformats.org/drawingml/2006/main" x="685800" y="1409700"/>
          <a:ext xmlns:a="http://schemas.openxmlformats.org/drawingml/2006/main" cx="10820400" cy="2238375"/>
        </p:xfrm>
        <a:graphic xmlns:a="http://schemas.openxmlformats.org/drawingml/2006/main">
          <a:graphicData uri="http://schemas.openxmlformats.org/drawingml/2006/table">
            <a:tbl>
              <a:tblPr/>
              <a:tblGrid>
                <a:gridCol w="3293070"/>
                <a:gridCol w="1411288"/>
                <a:gridCol w="1176040"/>
                <a:gridCol w="4940002"/>
              </a:tblGrid>
              <a:tr h="443508">
                <a:tc>
                  <a:txBody>
                    <a:bodyPr lIns="95250" tIns="66675" rIns="95250" bIns="66675">
                      <a:noAutofit/>
                    </a:bodyPr>
                    <a:lstStyle/>
                    <a:p>
                      <a:pPr algn="l"/>
                      <a:r>
                        <a:rPr sz="1275" b="1">
                          <a:solidFill>
                            <a:srgbClr val="FFFFFF"/>
                          </a:solidFill>
                          <a:latin typeface="Arial"/>
                          <a:ea typeface="Arial"/>
                          <a:cs typeface="Arial"/>
                        </a:rPr>
                        <a:t>Service</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FY2025 £m</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Share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Delivery and commercial basis</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47873">
                <a:tc>
                  <a:txBody>
                    <a:bodyPr lIns="95250" tIns="66675" rIns="95250" bIns="66675">
                      <a:noAutofit/>
                    </a:bodyPr>
                    <a:lstStyle/>
                    <a:p>
                      <a:pPr algn="l"/>
                      <a:r>
                        <a:rPr sz="1275" b="0">
                          <a:solidFill>
                            <a:srgbClr val="000000"/>
                          </a:solidFill>
                          <a:latin typeface="Arial"/>
                          <a:ea typeface="Arial"/>
                          <a:cs typeface="Arial"/>
                        </a:rPr>
                        <a:t>Scheduled maintenance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17.5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70%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Planned visits and preventive servicing</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47873">
                <a:tc>
                  <a:txBody>
                    <a:bodyPr lIns="95250" tIns="66675" rIns="95250" bIns="66675">
                      <a:noAutofit/>
                    </a:bodyPr>
                    <a:lstStyle/>
                    <a:p>
                      <a:pPr algn="l"/>
                      <a:r>
                        <a:rPr sz="1275" b="0">
                          <a:solidFill>
                            <a:srgbClr val="000000"/>
                          </a:solidFill>
                          <a:latin typeface="Arial"/>
                          <a:ea typeface="Arial"/>
                          <a:cs typeface="Arial"/>
                        </a:rPr>
                        <a:t>Reactive repairs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5.0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Call-out, labour and materials</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47873">
                <a:tc>
                  <a:txBody>
                    <a:bodyPr lIns="95250" tIns="66675" rIns="95250" bIns="66675">
                      <a:noAutofit/>
                    </a:bodyPr>
                    <a:lstStyle/>
                    <a:p>
                      <a:pPr algn="l"/>
                      <a:r>
                        <a:rPr sz="1275" b="0">
                          <a:solidFill>
                            <a:srgbClr val="000000"/>
                          </a:solidFill>
                          <a:latin typeface="Arial"/>
                          <a:ea typeface="Arial"/>
                          <a:cs typeface="Arial"/>
                        </a:rPr>
                        <a:t>Installation projects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Separately agreed scope and project price</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48072">
                <a:tc>
                  <a:txBody>
                    <a:bodyPr lIns="95250" tIns="66675" rIns="95250" bIns="66675">
                      <a:noAutofit/>
                    </a:bodyPr>
                    <a:lstStyle/>
                    <a:p>
                      <a:pPr algn="l"/>
                      <a:r>
                        <a:rPr sz="1275" b="1">
                          <a:solidFill>
                            <a:srgbClr val="000000"/>
                          </a:solidFill>
                          <a:latin typeface="Arial"/>
                          <a:ea typeface="Arial"/>
                          <a:cs typeface="Arial"/>
                        </a:rPr>
                        <a:t>Total</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25.0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100%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1">
                          <a:solidFill>
                            <a:srgbClr val="000000"/>
                          </a:solidFill>
                          <a:latin typeface="Arial"/>
                          <a:ea typeface="Arial"/>
                          <a:cs typeface="Arial"/>
                        </a:rPr>
                        <a:t>Provisional management revenue</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8" name="s4-sector-head">
            <a:extLst xmlns:a="http://schemas.openxmlformats.org/drawingml/2006/main">
              <a:ext uri="{FF2B5EF4-FFF2-40B4-BE49-F238E27FC236}">
                <a16:creationId xmlns:a16="http://schemas.microsoft.com/office/drawing/2014/main" id="{B440D73B-5BAA-450F-B4E9-B44F8DB4CAE3}"/>
              </a:ext>
            </a:extLst>
          </p:cNvPr>
          <p:cNvSpPr>
            <a:spLocks xmlns:a="http://schemas.openxmlformats.org/drawingml/2006/main" noGrp="1"/>
          </p:cNvSpPr>
          <p:nvPr/>
        </p:nvSpPr>
        <p:spPr>
          <a:xfrm xmlns:a="http://schemas.openxmlformats.org/drawingml/2006/main">
            <a:off x="685800" y="3905250"/>
            <a:ext cx="5095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Customer industry mix</a:t>
            </a:r>
          </a:p>
        </p:txBody>
      </p:sp>
      <p:graphicFrame>
        <p:nvGraphicFramePr>
          <p:cNvPr id="9" name="">
            <a:extLst xmlns:a="http://schemas.openxmlformats.org/drawingml/2006/main">
              <a:ext uri="{FF2B5EF4-FFF2-40B4-BE49-F238E27FC236}">
                <a16:creationId xmlns:a16="http://schemas.microsoft.com/office/drawing/2014/main" id="{98254A1F-086B-4509-BD93-69E4AE1E2056}"/>
              </a:ext>
            </a:extLst>
          </p:cNvPr>
          <p:cNvGraphicFramePr/>
          <p:nvPr/>
        </p:nvGraphicFramePr>
        <p:xfrm>
          <a:off xmlns:a="http://schemas.openxmlformats.org/drawingml/2006/main" x="685800" y="4286250"/>
          <a:ext xmlns:a="http://schemas.openxmlformats.org/drawingml/2006/main" cx="5095875" cy="1657350"/>
        </p:xfrm>
        <a:graphic xmlns:a="http://schemas.openxmlformats.org/drawingml/2006/main">
          <a:graphicData uri="http://schemas.openxmlformats.org/drawingml/2006/table">
            <a:tbl>
              <a:tblPr/>
              <a:tblGrid>
                <a:gridCol w="2911971"/>
                <a:gridCol w="1213247"/>
                <a:gridCol w="970657"/>
              </a:tblGrid>
              <a:tr h="410468">
                <a:tc>
                  <a:txBody>
                    <a:bodyPr lIns="95250" tIns="66675" rIns="95250" bIns="66675">
                      <a:noAutofit/>
                    </a:bodyPr>
                    <a:lstStyle/>
                    <a:p>
                      <a:pPr algn="l"/>
                      <a:r>
                        <a:rPr sz="1275" b="1">
                          <a:solidFill>
                            <a:srgbClr val="FFFFFF"/>
                          </a:solidFill>
                          <a:latin typeface="Arial"/>
                          <a:ea typeface="Arial"/>
                          <a:cs typeface="Arial"/>
                        </a:rPr>
                        <a:t>Industry</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FY2025 £m</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Share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14536">
                <a:tc>
                  <a:txBody>
                    <a:bodyPr lIns="95250" tIns="66675" rIns="95250" bIns="66675">
                      <a:noAutofit/>
                    </a:bodyPr>
                    <a:lstStyle/>
                    <a:p>
                      <a:pPr algn="l"/>
                      <a:r>
                        <a:rPr sz="1275" b="0">
                          <a:solidFill>
                            <a:srgbClr val="000000"/>
                          </a:solidFill>
                          <a:latin typeface="Arial"/>
                          <a:ea typeface="Arial"/>
                          <a:cs typeface="Arial"/>
                        </a:rPr>
                        <a:t>Logistics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11.25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45%</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14536">
                <a:tc>
                  <a:txBody>
                    <a:bodyPr lIns="95250" tIns="66675" rIns="95250" bIns="66675">
                      <a:noAutofit/>
                    </a:bodyPr>
                    <a:lstStyle/>
                    <a:p>
                      <a:pPr algn="l"/>
                      <a:r>
                        <a:rPr sz="1275" b="0">
                          <a:solidFill>
                            <a:srgbClr val="000000"/>
                          </a:solidFill>
                          <a:latin typeface="Arial"/>
                          <a:ea typeface="Arial"/>
                          <a:cs typeface="Arial"/>
                        </a:rPr>
                        <a:t>Manufacturing</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8.75</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35%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14635">
                <a:tc>
                  <a:txBody>
                    <a:bodyPr lIns="95250" tIns="66675" rIns="95250" bIns="66675">
                      <a:noAutofit/>
                    </a:bodyPr>
                    <a:lstStyle/>
                    <a:p>
                      <a:pPr algn="l"/>
                      <a:r>
                        <a:rPr sz="1275" b="0">
                          <a:solidFill>
                            <a:srgbClr val="000000"/>
                          </a:solidFill>
                          <a:latin typeface="Arial"/>
                          <a:ea typeface="Arial"/>
                          <a:cs typeface="Arial"/>
                        </a:rPr>
                        <a:t>Facilities management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5.00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10" name="s4-terms-head">
            <a:extLst xmlns:a="http://schemas.openxmlformats.org/drawingml/2006/main">
              <a:ext uri="{FF2B5EF4-FFF2-40B4-BE49-F238E27FC236}">
                <a16:creationId xmlns:a16="http://schemas.microsoft.com/office/drawing/2014/main" id="{6A3D5C14-178D-40BA-A104-AF2885FBA40F}"/>
              </a:ext>
            </a:extLst>
          </p:cNvPr>
          <p:cNvSpPr>
            <a:spLocks xmlns:a="http://schemas.openxmlformats.org/drawingml/2006/main" noGrp="1"/>
          </p:cNvSpPr>
          <p:nvPr/>
        </p:nvSpPr>
        <p:spPr>
          <a:xfrm xmlns:a="http://schemas.openxmlformats.org/drawingml/2006/main">
            <a:off x="6162675" y="3905250"/>
            <a:ext cx="5343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Commercial terms</a:t>
            </a:r>
          </a:p>
        </p:txBody>
      </p:sp>
      <p:sp>
        <p:nvSpPr>
          <p:cNvPr id="11" name="s4-terms">
            <a:extLst xmlns:a="http://schemas.openxmlformats.org/drawingml/2006/main">
              <a:ext uri="{FF2B5EF4-FFF2-40B4-BE49-F238E27FC236}">
                <a16:creationId xmlns:a16="http://schemas.microsoft.com/office/drawing/2014/main" id="{10C43FF1-A61D-4951-A2F3-804D3D8BF9F3}"/>
              </a:ext>
            </a:extLst>
          </p:cNvPr>
          <p:cNvSpPr>
            <a:spLocks xmlns:a="http://schemas.openxmlformats.org/drawingml/2006/main" noGrp="1"/>
          </p:cNvSpPr>
          <p:nvPr/>
        </p:nvSpPr>
        <p:spPr>
          <a:xfrm xmlns:a="http://schemas.openxmlformats.org/drawingml/2006/main">
            <a:off x="6162675" y="4295775"/>
            <a:ext cx="53435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Maintenance agreements typically run one to three years and require renewal by agreement. Annual price reviews depend on contract terms and customer acceptance.</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Maintenance revenue describes historical service mix. Future revenue depends on renewals and contracted scope.</a:t>
            </a:r>
          </a:p>
        </p:txBody>
      </p:sp>
    </p:spTree>
    <p:extLst>
      <p:ext uri="{BB962C8B-B14F-4D97-AF65-F5344CB8AC3E}">
        <p14:creationId xmlns:p14="http://schemas.microsoft.com/office/powerpoint/2010/main" val="2746313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5-section">
            <a:extLst xmlns:a="http://schemas.openxmlformats.org/drawingml/2006/main">
              <a:ext uri="{FF2B5EF4-FFF2-40B4-BE49-F238E27FC236}">
                <a16:creationId xmlns:a16="http://schemas.microsoft.com/office/drawing/2014/main" id="{ED39BEEA-69BD-44E8-8A1B-052348ECF2B9}"/>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Customer quality</a:t>
            </a:r>
          </a:p>
        </p:txBody>
      </p:sp>
      <p:sp>
        <p:nvSpPr>
          <p:cNvPr id="2" name="s5-title">
            <a:extLst xmlns:a="http://schemas.openxmlformats.org/drawingml/2006/main">
              <a:ext uri="{FF2B5EF4-FFF2-40B4-BE49-F238E27FC236}">
                <a16:creationId xmlns:a16="http://schemas.microsoft.com/office/drawing/2014/main" id="{B9470320-E4C2-47AE-A061-9952B2A2999A}"/>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Customer concentration and contract renewal</a:t>
            </a:r>
          </a:p>
        </p:txBody>
      </p:sp>
      <p:sp>
        <p:nvSpPr>
          <p:cNvPr id="3" name="s5-source">
            <a:extLst xmlns:a="http://schemas.openxmlformats.org/drawingml/2006/main">
              <a:ext uri="{FF2B5EF4-FFF2-40B4-BE49-F238E27FC236}">
                <a16:creationId xmlns:a16="http://schemas.microsoft.com/office/drawing/2014/main" id="{BE920C18-B08F-4E06-BFBD-A9776686C0A1}"/>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02 management model, CustomerSales!A5:C10; 05 commercial interview; 08 contract expiry schedule.</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Expiry cohorts allocate FY2025 maintenance revenue by current agreement expiry year. They are not backlog.</a:t>
            </a:r>
          </a:p>
        </p:txBody>
      </p:sp>
      <p:sp>
        <p:nvSpPr>
          <p:cNvPr id="4" name="s5-footer-rule">
            <a:extLst xmlns:a="http://schemas.openxmlformats.org/drawingml/2006/main">
              <a:ext uri="{FF2B5EF4-FFF2-40B4-BE49-F238E27FC236}">
                <a16:creationId xmlns:a16="http://schemas.microsoft.com/office/drawing/2014/main" id="{675623C6-BF12-4852-8995-5935C08D242D}"/>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5-footer">
            <a:extLst xmlns:a="http://schemas.openxmlformats.org/drawingml/2006/main">
              <a:ext uri="{FF2B5EF4-FFF2-40B4-BE49-F238E27FC236}">
                <a16:creationId xmlns:a16="http://schemas.microsoft.com/office/drawing/2014/main" id="{81398FFF-5B09-44A8-89DF-184F9E94DBBB}"/>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5-number">
            <a:extLst xmlns:a="http://schemas.openxmlformats.org/drawingml/2006/main">
              <a:ext uri="{FF2B5EF4-FFF2-40B4-BE49-F238E27FC236}">
                <a16:creationId xmlns:a16="http://schemas.microsoft.com/office/drawing/2014/main" id="{72336918-4EA1-4C7D-89B6-E47AE53BC43E}"/>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5</a:t>
            </a:r>
          </a:p>
        </p:txBody>
      </p:sp>
      <p:sp>
        <p:nvSpPr>
          <p:cNvPr id="7" name="s5-chart-head">
            <a:extLst xmlns:a="http://schemas.openxmlformats.org/drawingml/2006/main">
              <a:ext uri="{FF2B5EF4-FFF2-40B4-BE49-F238E27FC236}">
                <a16:creationId xmlns:a16="http://schemas.microsoft.com/office/drawing/2014/main" id="{52A8B6EF-F774-4EDD-9FA5-7055440184BF}"/>
              </a:ext>
            </a:extLst>
          </p:cNvPr>
          <p:cNvSpPr>
            <a:spLocks xmlns:a="http://schemas.openxmlformats.org/drawingml/2006/main" noGrp="1"/>
          </p:cNvSpPr>
          <p:nvPr/>
        </p:nvSpPr>
        <p:spPr>
          <a:xfrm xmlns:a="http://schemas.openxmlformats.org/drawingml/2006/main">
            <a:off x="685800" y="1409700"/>
            <a:ext cx="5429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Largest customers: FY2025 revenue share</a:t>
            </a:r>
          </a:p>
        </p:txBody>
      </p:sp>
      <p:graphicFrame>
        <p:nvGraphicFramePr>
          <p:cNvPr id="8" name="Chart">
            <a:extLst xmlns:a="http://schemas.openxmlformats.org/drawingml/2006/main">
              <a:ext uri="{FF2B5EF4-FFF2-40B4-BE49-F238E27FC236}">
                <a16:creationId xmlns:a16="http://schemas.microsoft.com/office/drawing/2014/main" id="{6B792070-CC56-4A5E-A29E-DD7C596A0F54}"/>
              </a:ext>
            </a:extLst>
          </p:cNvPr>
          <p:cNvGraphicFramePr/>
          <p:nvPr/>
        </p:nvGraphicFramePr>
        <p:xfrm>
          <a:off xmlns:a="http://schemas.openxmlformats.org/drawingml/2006/main" x="685800" y="1819275"/>
          <a:ext xmlns:a="http://schemas.openxmlformats.org/drawingml/2006/main" cx="5429250" cy="2457450"/>
        </p:xfrm>
        <a:graphic xmlns:a="http://schemas.openxmlformats.org/drawingml/2006/main">
          <a:graphicData uri="http://schemas.openxmlformats.org/drawingml/2006/chart">
            <c:chart xmlns:r="http://schemas.openxmlformats.org/officeDocument/2006/relationships" xmlns:c="http://schemas.openxmlformats.org/drawingml/2006/chart" r:id="R43db4358a0d24148"/>
          </a:graphicData>
        </a:graphic>
      </p:graphicFrame>
      <p:sp>
        <p:nvSpPr>
          <p:cNvPr id="9" name="s5-exposure">
            <a:extLst xmlns:a="http://schemas.openxmlformats.org/drawingml/2006/main">
              <a:ext uri="{FF2B5EF4-FFF2-40B4-BE49-F238E27FC236}">
                <a16:creationId xmlns:a16="http://schemas.microsoft.com/office/drawing/2014/main" id="{F13C9C3A-1C15-4EDF-849C-9BA9FB5C5DDB}"/>
              </a:ext>
            </a:extLst>
          </p:cNvPr>
          <p:cNvSpPr>
            <a:spLocks xmlns:a="http://schemas.openxmlformats.org/drawingml/2006/main" noGrp="1"/>
          </p:cNvSpPr>
          <p:nvPr/>
        </p:nvSpPr>
        <p:spPr>
          <a:xfrm xmlns:a="http://schemas.openxmlformats.org/drawingml/2006/main">
            <a:off x="685800" y="4429125"/>
            <a:ext cx="5429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Top five: 42%. Largest customer: 12%. Other customers together represent 58%. The founder remains the executive contact for major accounts.</a:t>
            </a:r>
          </a:p>
        </p:txBody>
      </p:sp>
      <p:sp>
        <p:nvSpPr>
          <p:cNvPr id="10" name="s5-expiry-head">
            <a:extLst xmlns:a="http://schemas.openxmlformats.org/drawingml/2006/main">
              <a:ext uri="{FF2B5EF4-FFF2-40B4-BE49-F238E27FC236}">
                <a16:creationId xmlns:a16="http://schemas.microsoft.com/office/drawing/2014/main" id="{45DB6497-8F36-4073-9D6B-DDDE32354CA8}"/>
              </a:ext>
            </a:extLst>
          </p:cNvPr>
          <p:cNvSpPr>
            <a:spLocks xmlns:a="http://schemas.openxmlformats.org/drawingml/2006/main" noGrp="1"/>
          </p:cNvSpPr>
          <p:nvPr/>
        </p:nvSpPr>
        <p:spPr>
          <a:xfrm xmlns:a="http://schemas.openxmlformats.org/drawingml/2006/main">
            <a:off x="6496050" y="1409700"/>
            <a:ext cx="5010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Maintenance agreement expiry profile</a:t>
            </a:r>
          </a:p>
        </p:txBody>
      </p:sp>
      <p:graphicFrame>
        <p:nvGraphicFramePr>
          <p:cNvPr id="11" name="">
            <a:extLst xmlns:a="http://schemas.openxmlformats.org/drawingml/2006/main">
              <a:ext uri="{FF2B5EF4-FFF2-40B4-BE49-F238E27FC236}">
                <a16:creationId xmlns:a16="http://schemas.microsoft.com/office/drawing/2014/main" id="{9470F421-A2E7-4417-A833-01A9DC00E152}"/>
              </a:ext>
            </a:extLst>
          </p:cNvPr>
          <p:cNvGraphicFramePr/>
          <p:nvPr/>
        </p:nvGraphicFramePr>
        <p:xfrm>
          <a:off xmlns:a="http://schemas.openxmlformats.org/drawingml/2006/main" x="6496050" y="1819275"/>
          <a:ext xmlns:a="http://schemas.openxmlformats.org/drawingml/2006/main" cx="5010150" cy="1724025"/>
        </p:xfrm>
        <a:graphic xmlns:a="http://schemas.openxmlformats.org/drawingml/2006/main">
          <a:graphicData uri="http://schemas.openxmlformats.org/drawingml/2006/table">
            <a:tbl>
              <a:tblPr/>
              <a:tblGrid>
                <a:gridCol w="1089124"/>
                <a:gridCol w="1306909"/>
                <a:gridCol w="2614116"/>
              </a:tblGrid>
              <a:tr h="427038">
                <a:tc>
                  <a:txBody>
                    <a:bodyPr lIns="95250" tIns="66675" rIns="95250" bIns="66675">
                      <a:noAutofit/>
                    </a:bodyPr>
                    <a:lstStyle/>
                    <a:p>
                      <a:pPr algn="l"/>
                      <a:r>
                        <a:rPr sz="1275" b="1">
                          <a:solidFill>
                            <a:srgbClr val="FFFFFF"/>
                          </a:solidFill>
                          <a:latin typeface="Arial"/>
                          <a:ea typeface="Arial"/>
                          <a:cs typeface="Arial"/>
                        </a:rPr>
                        <a:t>Expiry</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FY2025 £m</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Share of maintenance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31205">
                <a:tc>
                  <a:txBody>
                    <a:bodyPr lIns="95250" tIns="66675" rIns="95250" bIns="66675">
                      <a:noAutofit/>
                    </a:bodyPr>
                    <a:lstStyle/>
                    <a:p>
                      <a:pPr algn="l"/>
                      <a:r>
                        <a:rPr sz="1275" b="0">
                          <a:solidFill>
                            <a:srgbClr val="000000"/>
                          </a:solidFill>
                          <a:latin typeface="Arial"/>
                          <a:ea typeface="Arial"/>
                          <a:cs typeface="Arial"/>
                        </a:rPr>
                        <a:t>2026</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6.0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34.3%</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31205">
                <a:tc>
                  <a:txBody>
                    <a:bodyPr lIns="95250" tIns="66675" rIns="95250" bIns="66675">
                      <a:noAutofit/>
                    </a:bodyPr>
                    <a:lstStyle/>
                    <a:p>
                      <a:pPr algn="l"/>
                      <a:r>
                        <a:rPr sz="1275" b="0">
                          <a:solidFill>
                            <a:srgbClr val="000000"/>
                          </a:solidFill>
                          <a:latin typeface="Arial"/>
                          <a:ea typeface="Arial"/>
                          <a:cs typeface="Arial"/>
                        </a:rPr>
                        <a:t>2027</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7.5</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42.9%</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31403">
                <a:tc>
                  <a:txBody>
                    <a:bodyPr lIns="95250" tIns="66675" rIns="95250" bIns="66675">
                      <a:noAutofit/>
                    </a:bodyPr>
                    <a:lstStyle/>
                    <a:p>
                      <a:pPr algn="l"/>
                      <a:r>
                        <a:rPr sz="1275" b="0">
                          <a:solidFill>
                            <a:srgbClr val="000000"/>
                          </a:solidFill>
                          <a:latin typeface="Arial"/>
                          <a:ea typeface="Arial"/>
                          <a:cs typeface="Arial"/>
                        </a:rPr>
                        <a:t>2028</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4.0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22.9%</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12" name="s5-renewal-head">
            <a:extLst xmlns:a="http://schemas.openxmlformats.org/drawingml/2006/main">
              <a:ext uri="{FF2B5EF4-FFF2-40B4-BE49-F238E27FC236}">
                <a16:creationId xmlns:a16="http://schemas.microsoft.com/office/drawing/2014/main" id="{3AE52177-6BEA-43DE-BC32-F06B4837EA35}"/>
              </a:ext>
            </a:extLst>
          </p:cNvPr>
          <p:cNvSpPr>
            <a:spLocks xmlns:a="http://schemas.openxmlformats.org/drawingml/2006/main" noGrp="1"/>
          </p:cNvSpPr>
          <p:nvPr/>
        </p:nvSpPr>
        <p:spPr>
          <a:xfrm xmlns:a="http://schemas.openxmlformats.org/drawingml/2006/main">
            <a:off x="6496050" y="3781425"/>
            <a:ext cx="5010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FY2025 renewal cohort</a:t>
            </a:r>
          </a:p>
        </p:txBody>
      </p:sp>
      <p:sp>
        <p:nvSpPr>
          <p:cNvPr id="13" name="s5-renewal">
            <a:extLst xmlns:a="http://schemas.openxmlformats.org/drawingml/2006/main">
              <a:ext uri="{FF2B5EF4-FFF2-40B4-BE49-F238E27FC236}">
                <a16:creationId xmlns:a16="http://schemas.microsoft.com/office/drawing/2014/main" id="{FD560D2D-151D-42CB-9C00-FA198724D825}"/>
              </a:ext>
            </a:extLst>
          </p:cNvPr>
          <p:cNvSpPr>
            <a:spLocks xmlns:a="http://schemas.openxmlformats.org/drawingml/2006/main" noGrp="1"/>
          </p:cNvSpPr>
          <p:nvPr/>
        </p:nvSpPr>
        <p:spPr>
          <a:xfrm xmlns:a="http://schemas.openxmlformats.org/drawingml/2006/main">
            <a:off x="6496050" y="4181475"/>
            <a:ext cx="501015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Agreements renewed: 23 / 25 (92%).</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Annual value retained: £3.72m / £4.00m (93%), before price or scope changes.</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The earlier 94% retention estimate lacks a defined customer cohort and remains excluded.</a:t>
            </a:r>
          </a:p>
        </p:txBody>
      </p:sp>
      <p:sp>
        <p:nvSpPr>
          <p:cNvPr id="14" name="s5-review">
            <a:extLst xmlns:a="http://schemas.openxmlformats.org/drawingml/2006/main">
              <a:ext uri="{FF2B5EF4-FFF2-40B4-BE49-F238E27FC236}">
                <a16:creationId xmlns:a16="http://schemas.microsoft.com/office/drawing/2014/main" id="{7DE7B318-9317-4774-8DFA-8137C8E34794}"/>
              </a:ext>
            </a:extLst>
          </p:cNvPr>
          <p:cNvSpPr>
            <a:spLocks xmlns:a="http://schemas.openxmlformats.org/drawingml/2006/main" noGrp="1"/>
          </p:cNvSpPr>
          <p:nvPr/>
        </p:nvSpPr>
        <p:spPr>
          <a:xfrm xmlns:a="http://schemas.openxmlformats.org/drawingml/2006/main">
            <a:off x="685800" y="5391150"/>
            <a:ext cx="5429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338D"/>
                </a:solidFill>
                <a:latin typeface="Arial"/>
                <a:ea typeface="Arial"/>
                <a:cs typeface="Arial"/>
              </a:defRPr>
            </a:defPPr>
            <a:lvl1pPr algn="l">
              <a:defRPr sz="1350" b="0">
                <a:solidFill>
                  <a:srgbClr val="00338D"/>
                </a:solidFill>
                <a:latin typeface="Arial"/>
                <a:ea typeface="Arial"/>
                <a:cs typeface="Arial"/>
              </a:defRPr>
            </a:lvl1pPr>
            <a:lvl2pPr algn="l">
              <a:defRPr sz="1350" b="0">
                <a:solidFill>
                  <a:srgbClr val="00338D"/>
                </a:solidFill>
                <a:latin typeface="Arial"/>
                <a:ea typeface="Arial"/>
                <a:cs typeface="Arial"/>
              </a:defRPr>
            </a:lvl2pPr>
            <a:lvl3pPr algn="l">
              <a:defRPr sz="1350" b="0">
                <a:solidFill>
                  <a:srgbClr val="00338D"/>
                </a:solidFill>
                <a:latin typeface="Arial"/>
                <a:ea typeface="Arial"/>
                <a:cs typeface="Arial"/>
              </a:defRPr>
            </a:lvl3pPr>
            <a:lvl4pPr algn="l">
              <a:defRPr sz="1350" b="0">
                <a:solidFill>
                  <a:srgbClr val="00338D"/>
                </a:solidFill>
                <a:latin typeface="Arial"/>
                <a:ea typeface="Arial"/>
                <a:cs typeface="Arial"/>
              </a:defRPr>
            </a:lvl4pPr>
            <a:lvl5pPr algn="l">
              <a:defRPr sz="1350" b="0">
                <a:solidFill>
                  <a:srgbClr val="00338D"/>
                </a:solidFill>
                <a:latin typeface="Arial"/>
                <a:ea typeface="Arial"/>
                <a:cs typeface="Arial"/>
              </a:defRPr>
            </a:lvl5pPr>
            <a:lvl6pPr algn="l">
              <a:defRPr sz="1350" b="0">
                <a:solidFill>
                  <a:srgbClr val="00338D"/>
                </a:solidFill>
                <a:latin typeface="Arial"/>
                <a:ea typeface="Arial"/>
                <a:cs typeface="Arial"/>
              </a:defRPr>
            </a:lvl6pPr>
            <a:lvl7pPr algn="l">
              <a:defRPr sz="1350" b="0">
                <a:solidFill>
                  <a:srgbClr val="00338D"/>
                </a:solidFill>
                <a:latin typeface="Arial"/>
                <a:ea typeface="Arial"/>
                <a:cs typeface="Arial"/>
              </a:defRPr>
            </a:lvl7pPr>
            <a:lvl8pPr algn="l">
              <a:defRPr sz="1350" b="0">
                <a:solidFill>
                  <a:srgbClr val="00338D"/>
                </a:solidFill>
                <a:latin typeface="Arial"/>
                <a:ea typeface="Arial"/>
                <a:cs typeface="Arial"/>
              </a:defRPr>
            </a:lvl8pPr>
            <a:lvl9pPr algn="l">
              <a:defRPr sz="1350" b="0">
                <a:solidFill>
                  <a:srgbClr val="00338D"/>
                </a:solidFill>
                <a:latin typeface="Arial"/>
                <a:ea typeface="Arial"/>
                <a:cs typeface="Arial"/>
              </a:defRPr>
            </a:lvl9pPr>
          </a:lstStyle>
          <a:p xmlns:a="http://schemas.openxmlformats.org/drawingml/2006/main">
            <a:pPr algn="l">
              <a:defRPr sz="1350" b="0">
                <a:solidFill>
                  <a:srgbClr val="00338D"/>
                </a:solidFill>
                <a:latin typeface="Arial"/>
                <a:ea typeface="Arial"/>
                <a:cs typeface="Arial"/>
              </a:defRPr>
            </a:pPr>
            <a:r>
              <a:rPr sz="1350" b="0">
                <a:solidFill>
                  <a:srgbClr val="00338D"/>
                </a:solidFill>
                <a:latin typeface="Arial"/>
                <a:ea typeface="Arial"/>
                <a:cs typeface="Arial"/>
              </a:rPr>
              <a:t>Commercial review should validate renewal cohorts, pricing provisions and change-of-control requirements.</a:t>
            </a:r>
          </a:p>
        </p:txBody>
      </p:sp>
    </p:spTree>
    <p:extLst>
      <p:ext uri="{BB962C8B-B14F-4D97-AF65-F5344CB8AC3E}">
        <p14:creationId xmlns:p14="http://schemas.microsoft.com/office/powerpoint/2010/main" val="120614553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6-section">
            <a:extLst xmlns:a="http://schemas.openxmlformats.org/drawingml/2006/main">
              <a:ext uri="{FF2B5EF4-FFF2-40B4-BE49-F238E27FC236}">
                <a16:creationId xmlns:a16="http://schemas.microsoft.com/office/drawing/2014/main" id="{F3989188-C5A4-4451-AD21-600DAC79A537}"/>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Operations</a:t>
            </a:r>
          </a:p>
        </p:txBody>
      </p:sp>
      <p:sp>
        <p:nvSpPr>
          <p:cNvPr id="2" name="s6-title">
            <a:extLst xmlns:a="http://schemas.openxmlformats.org/drawingml/2006/main">
              <a:ext uri="{FF2B5EF4-FFF2-40B4-BE49-F238E27FC236}">
                <a16:creationId xmlns:a16="http://schemas.microsoft.com/office/drawing/2014/main" id="{D2DCAC64-86A2-48F9-B532-AF1D14415465}"/>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Regional delivery capacity and service performance</a:t>
            </a:r>
          </a:p>
        </p:txBody>
      </p:sp>
      <p:sp>
        <p:nvSpPr>
          <p:cNvPr id="3" name="s6-source">
            <a:extLst xmlns:a="http://schemas.openxmlformats.org/drawingml/2006/main">
              <a:ext uri="{FF2B5EF4-FFF2-40B4-BE49-F238E27FC236}">
                <a16:creationId xmlns:a16="http://schemas.microsoft.com/office/drawing/2014/main" id="{1E56193A-033C-4129-AC8A-343ED3473C65}"/>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01 company brief; 06 hub schedule; 07 service KPIs; 11 forecast bridge; 13 transaction workshop.</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Headcount at 31 December 2025. Service KPIs cover FY2025 and await job-level validation.</a:t>
            </a:r>
          </a:p>
        </p:txBody>
      </p:sp>
      <p:sp>
        <p:nvSpPr>
          <p:cNvPr id="4" name="s6-footer-rule">
            <a:extLst xmlns:a="http://schemas.openxmlformats.org/drawingml/2006/main">
              <a:ext uri="{FF2B5EF4-FFF2-40B4-BE49-F238E27FC236}">
                <a16:creationId xmlns:a16="http://schemas.microsoft.com/office/drawing/2014/main" id="{66AE1D7F-C29A-4D40-A0C2-88B517048F27}"/>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6-footer">
            <a:extLst xmlns:a="http://schemas.openxmlformats.org/drawingml/2006/main">
              <a:ext uri="{FF2B5EF4-FFF2-40B4-BE49-F238E27FC236}">
                <a16:creationId xmlns:a16="http://schemas.microsoft.com/office/drawing/2014/main" id="{71347DCD-2017-40E7-9C4D-D64CAD28A710}"/>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6-number">
            <a:extLst xmlns:a="http://schemas.openxmlformats.org/drawingml/2006/main">
              <a:ext uri="{FF2B5EF4-FFF2-40B4-BE49-F238E27FC236}">
                <a16:creationId xmlns:a16="http://schemas.microsoft.com/office/drawing/2014/main" id="{6A018E9F-2C25-4B1F-A472-C5C50AFD5262}"/>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6</a:t>
            </a:r>
          </a:p>
        </p:txBody>
      </p:sp>
      <p:graphicFrame>
        <p:nvGraphicFramePr>
          <p:cNvPr id="7" name="">
            <a:extLst xmlns:a="http://schemas.openxmlformats.org/drawingml/2006/main">
              <a:ext uri="{FF2B5EF4-FFF2-40B4-BE49-F238E27FC236}">
                <a16:creationId xmlns:a16="http://schemas.microsoft.com/office/drawing/2014/main" id="{E717929A-353D-4746-B9BD-197A32F2AFDF}"/>
              </a:ext>
            </a:extLst>
          </p:cNvPr>
          <p:cNvGraphicFramePr/>
          <p:nvPr/>
        </p:nvGraphicFramePr>
        <p:xfrm>
          <a:off xmlns:a="http://schemas.openxmlformats.org/drawingml/2006/main" x="685800" y="1409700"/>
          <a:ext xmlns:a="http://schemas.openxmlformats.org/drawingml/2006/main" cx="6324600" cy="2181225"/>
        </p:xfrm>
        <a:graphic xmlns:a="http://schemas.openxmlformats.org/drawingml/2006/main">
          <a:graphicData uri="http://schemas.openxmlformats.org/drawingml/2006/table">
            <a:tbl>
              <a:tblPr/>
              <a:tblGrid>
                <a:gridCol w="2338487"/>
                <a:gridCol w="1328638"/>
                <a:gridCol w="1328638"/>
                <a:gridCol w="1328837"/>
              </a:tblGrid>
              <a:tr h="432197">
                <a:tc>
                  <a:txBody>
                    <a:bodyPr lIns="95250" tIns="66675" rIns="95250" bIns="66675">
                      <a:noAutofit/>
                    </a:bodyPr>
                    <a:lstStyle/>
                    <a:p>
                      <a:pPr algn="l"/>
                      <a:r>
                        <a:rPr sz="1275" b="1">
                          <a:solidFill>
                            <a:srgbClr val="FFFFFF"/>
                          </a:solidFill>
                          <a:latin typeface="Arial"/>
                          <a:ea typeface="Arial"/>
                          <a:cs typeface="Arial"/>
                        </a:rPr>
                        <a:t>Hub</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FY2025 £m</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Employees</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Engineers</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36364">
                <a:tc>
                  <a:txBody>
                    <a:bodyPr lIns="95250" tIns="66675" rIns="95250" bIns="66675">
                      <a:noAutofit/>
                    </a:bodyPr>
                    <a:lstStyle/>
                    <a:p>
                      <a:pPr algn="l"/>
                      <a:r>
                        <a:rPr sz="1275" b="0">
                          <a:solidFill>
                            <a:srgbClr val="000000"/>
                          </a:solidFill>
                          <a:latin typeface="Arial"/>
                          <a:ea typeface="Arial"/>
                          <a:cs typeface="Arial"/>
                        </a:rPr>
                        <a:t>Birmingham</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11.5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55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40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36364">
                <a:tc>
                  <a:txBody>
                    <a:bodyPr lIns="95250" tIns="66675" rIns="95250" bIns="66675">
                      <a:noAutofit/>
                    </a:bodyPr>
                    <a:lstStyle/>
                    <a:p>
                      <a:pPr algn="l"/>
                      <a:r>
                        <a:rPr sz="1275" b="0">
                          <a:solidFill>
                            <a:srgbClr val="000000"/>
                          </a:solidFill>
                          <a:latin typeface="Arial"/>
                          <a:ea typeface="Arial"/>
                          <a:cs typeface="Arial"/>
                        </a:rPr>
                        <a:t>Manchester</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8.0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38</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27</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36364">
                <a:tc>
                  <a:txBody>
                    <a:bodyPr lIns="95250" tIns="66675" rIns="95250" bIns="66675">
                      <a:noAutofit/>
                    </a:bodyPr>
                    <a:lstStyle/>
                    <a:p>
                      <a:pPr algn="l"/>
                      <a:r>
                        <a:rPr sz="1275" b="0">
                          <a:solidFill>
                            <a:srgbClr val="000000"/>
                          </a:solidFill>
                          <a:latin typeface="Arial"/>
                          <a:ea typeface="Arial"/>
                          <a:cs typeface="Arial"/>
                        </a:rPr>
                        <a:t>Bristol</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5.5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27</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18</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36761">
                <a:tc>
                  <a:txBody>
                    <a:bodyPr lIns="95250" tIns="66675" rIns="95250" bIns="66675">
                      <a:noAutofit/>
                    </a:bodyPr>
                    <a:lstStyle/>
                    <a:p>
                      <a:pPr algn="l"/>
                      <a:r>
                        <a:rPr sz="1275" b="1">
                          <a:solidFill>
                            <a:srgbClr val="000000"/>
                          </a:solidFill>
                          <a:latin typeface="Arial"/>
                          <a:ea typeface="Arial"/>
                          <a:cs typeface="Arial"/>
                        </a:rPr>
                        <a:t>Total</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25.0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120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85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8" name="s6-kpi-head">
            <a:extLst xmlns:a="http://schemas.openxmlformats.org/drawingml/2006/main">
              <a:ext uri="{FF2B5EF4-FFF2-40B4-BE49-F238E27FC236}">
                <a16:creationId xmlns:a16="http://schemas.microsoft.com/office/drawing/2014/main" id="{B1224ACC-442F-40CD-AE85-AFAF6EF90CC2}"/>
              </a:ext>
            </a:extLst>
          </p:cNvPr>
          <p:cNvSpPr>
            <a:spLocks xmlns:a="http://schemas.openxmlformats.org/drawingml/2006/main" noGrp="1"/>
          </p:cNvSpPr>
          <p:nvPr/>
        </p:nvSpPr>
        <p:spPr>
          <a:xfrm xmlns:a="http://schemas.openxmlformats.org/drawingml/2006/main">
            <a:off x="7391400" y="1409700"/>
            <a:ext cx="4114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Service delivery measures</a:t>
            </a:r>
          </a:p>
        </p:txBody>
      </p:sp>
      <p:sp>
        <p:nvSpPr>
          <p:cNvPr id="9" name="s6-kpi0">
            <a:extLst xmlns:a="http://schemas.openxmlformats.org/drawingml/2006/main">
              <a:ext uri="{FF2B5EF4-FFF2-40B4-BE49-F238E27FC236}">
                <a16:creationId xmlns:a16="http://schemas.microsoft.com/office/drawing/2014/main" id="{5325426D-0861-4A8F-910A-FB89A9D819D9}"/>
              </a:ext>
            </a:extLst>
          </p:cNvPr>
          <p:cNvSpPr>
            <a:spLocks xmlns:a="http://schemas.openxmlformats.org/drawingml/2006/main" noGrp="1"/>
          </p:cNvSpPr>
          <p:nvPr/>
        </p:nvSpPr>
        <p:spPr>
          <a:xfrm xmlns:a="http://schemas.openxmlformats.org/drawingml/2006/main">
            <a:off x="7391400" y="183832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338D"/>
                </a:solidFill>
                <a:latin typeface="Arial"/>
                <a:ea typeface="Arial"/>
                <a:cs typeface="Arial"/>
              </a:defRPr>
            </a:defPPr>
            <a:lvl1pPr algn="l">
              <a:defRPr sz="1500" b="1">
                <a:solidFill>
                  <a:srgbClr val="00338D"/>
                </a:solidFill>
                <a:latin typeface="Arial"/>
                <a:ea typeface="Arial"/>
                <a:cs typeface="Arial"/>
              </a:defRPr>
            </a:lvl1pPr>
            <a:lvl2pPr algn="l">
              <a:defRPr sz="1500" b="1">
                <a:solidFill>
                  <a:srgbClr val="00338D"/>
                </a:solidFill>
                <a:latin typeface="Arial"/>
                <a:ea typeface="Arial"/>
                <a:cs typeface="Arial"/>
              </a:defRPr>
            </a:lvl2pPr>
            <a:lvl3pPr algn="l">
              <a:defRPr sz="1500" b="1">
                <a:solidFill>
                  <a:srgbClr val="00338D"/>
                </a:solidFill>
                <a:latin typeface="Arial"/>
                <a:ea typeface="Arial"/>
                <a:cs typeface="Arial"/>
              </a:defRPr>
            </a:lvl3pPr>
            <a:lvl4pPr algn="l">
              <a:defRPr sz="1500" b="1">
                <a:solidFill>
                  <a:srgbClr val="00338D"/>
                </a:solidFill>
                <a:latin typeface="Arial"/>
                <a:ea typeface="Arial"/>
                <a:cs typeface="Arial"/>
              </a:defRPr>
            </a:lvl4pPr>
            <a:lvl5pPr algn="l">
              <a:defRPr sz="1500" b="1">
                <a:solidFill>
                  <a:srgbClr val="00338D"/>
                </a:solidFill>
                <a:latin typeface="Arial"/>
                <a:ea typeface="Arial"/>
                <a:cs typeface="Arial"/>
              </a:defRPr>
            </a:lvl5pPr>
            <a:lvl6pPr algn="l">
              <a:defRPr sz="1500" b="1">
                <a:solidFill>
                  <a:srgbClr val="00338D"/>
                </a:solidFill>
                <a:latin typeface="Arial"/>
                <a:ea typeface="Arial"/>
                <a:cs typeface="Arial"/>
              </a:defRPr>
            </a:lvl6pPr>
            <a:lvl7pPr algn="l">
              <a:defRPr sz="1500" b="1">
                <a:solidFill>
                  <a:srgbClr val="00338D"/>
                </a:solidFill>
                <a:latin typeface="Arial"/>
                <a:ea typeface="Arial"/>
                <a:cs typeface="Arial"/>
              </a:defRPr>
            </a:lvl7pPr>
            <a:lvl8pPr algn="l">
              <a:defRPr sz="1500" b="1">
                <a:solidFill>
                  <a:srgbClr val="00338D"/>
                </a:solidFill>
                <a:latin typeface="Arial"/>
                <a:ea typeface="Arial"/>
                <a:cs typeface="Arial"/>
              </a:defRPr>
            </a:lvl8pPr>
            <a:lvl9pPr algn="l">
              <a:defRPr sz="1500" b="1">
                <a:solidFill>
                  <a:srgbClr val="00338D"/>
                </a:solidFill>
                <a:latin typeface="Arial"/>
                <a:ea typeface="Arial"/>
                <a:cs typeface="Arial"/>
              </a:defRPr>
            </a:lvl9pPr>
          </a:lstStyle>
          <a:p xmlns:a="http://schemas.openxmlformats.org/drawingml/2006/main">
            <a:pPr algn="l">
              <a:defRPr sz="1500" b="1">
                <a:solidFill>
                  <a:srgbClr val="00338D"/>
                </a:solidFill>
                <a:latin typeface="Arial"/>
                <a:ea typeface="Arial"/>
                <a:cs typeface="Arial"/>
              </a:defRPr>
            </a:pPr>
            <a:r>
              <a:rPr sz="1500" b="1">
                <a:solidFill>
                  <a:srgbClr val="00338D"/>
                </a:solidFill>
                <a:latin typeface="Arial"/>
                <a:ea typeface="Arial"/>
                <a:cs typeface="Arial"/>
              </a:rPr>
              <a:t>Urgent response SLA: 93.5%</a:t>
            </a:r>
          </a:p>
        </p:txBody>
      </p:sp>
      <p:sp>
        <p:nvSpPr>
          <p:cNvPr id="10" name="s6-definition0">
            <a:extLst xmlns:a="http://schemas.openxmlformats.org/drawingml/2006/main">
              <a:ext uri="{FF2B5EF4-FFF2-40B4-BE49-F238E27FC236}">
                <a16:creationId xmlns:a16="http://schemas.microsoft.com/office/drawing/2014/main" id="{98139215-499F-43AB-9E49-95742035D4CB}"/>
              </a:ext>
            </a:extLst>
          </p:cNvPr>
          <p:cNvSpPr>
            <a:spLocks xmlns:a="http://schemas.openxmlformats.org/drawingml/2006/main" noGrp="1"/>
          </p:cNvSpPr>
          <p:nvPr/>
        </p:nvSpPr>
        <p:spPr>
          <a:xfrm xmlns:a="http://schemas.openxmlformats.org/drawingml/2006/main">
            <a:off x="7391400" y="2143125"/>
            <a:ext cx="4114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561 of 600 eligible urgent jobs attended within four hours.</a:t>
            </a:r>
          </a:p>
        </p:txBody>
      </p:sp>
      <p:sp>
        <p:nvSpPr>
          <p:cNvPr id="11" name="s6-kpi1">
            <a:extLst xmlns:a="http://schemas.openxmlformats.org/drawingml/2006/main">
              <a:ext uri="{FF2B5EF4-FFF2-40B4-BE49-F238E27FC236}">
                <a16:creationId xmlns:a16="http://schemas.microsoft.com/office/drawing/2014/main" id="{4D7F7C25-BABA-4CE8-87F5-0C6FCC975757}"/>
              </a:ext>
            </a:extLst>
          </p:cNvPr>
          <p:cNvSpPr>
            <a:spLocks xmlns:a="http://schemas.openxmlformats.org/drawingml/2006/main" noGrp="1"/>
          </p:cNvSpPr>
          <p:nvPr/>
        </p:nvSpPr>
        <p:spPr>
          <a:xfrm xmlns:a="http://schemas.openxmlformats.org/drawingml/2006/main">
            <a:off x="7391400" y="2667000"/>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338D"/>
                </a:solidFill>
                <a:latin typeface="Arial"/>
                <a:ea typeface="Arial"/>
                <a:cs typeface="Arial"/>
              </a:defRPr>
            </a:defPPr>
            <a:lvl1pPr algn="l">
              <a:defRPr sz="1500" b="1">
                <a:solidFill>
                  <a:srgbClr val="00338D"/>
                </a:solidFill>
                <a:latin typeface="Arial"/>
                <a:ea typeface="Arial"/>
                <a:cs typeface="Arial"/>
              </a:defRPr>
            </a:lvl1pPr>
            <a:lvl2pPr algn="l">
              <a:defRPr sz="1500" b="1">
                <a:solidFill>
                  <a:srgbClr val="00338D"/>
                </a:solidFill>
                <a:latin typeface="Arial"/>
                <a:ea typeface="Arial"/>
                <a:cs typeface="Arial"/>
              </a:defRPr>
            </a:lvl2pPr>
            <a:lvl3pPr algn="l">
              <a:defRPr sz="1500" b="1">
                <a:solidFill>
                  <a:srgbClr val="00338D"/>
                </a:solidFill>
                <a:latin typeface="Arial"/>
                <a:ea typeface="Arial"/>
                <a:cs typeface="Arial"/>
              </a:defRPr>
            </a:lvl3pPr>
            <a:lvl4pPr algn="l">
              <a:defRPr sz="1500" b="1">
                <a:solidFill>
                  <a:srgbClr val="00338D"/>
                </a:solidFill>
                <a:latin typeface="Arial"/>
                <a:ea typeface="Arial"/>
                <a:cs typeface="Arial"/>
              </a:defRPr>
            </a:lvl4pPr>
            <a:lvl5pPr algn="l">
              <a:defRPr sz="1500" b="1">
                <a:solidFill>
                  <a:srgbClr val="00338D"/>
                </a:solidFill>
                <a:latin typeface="Arial"/>
                <a:ea typeface="Arial"/>
                <a:cs typeface="Arial"/>
              </a:defRPr>
            </a:lvl5pPr>
            <a:lvl6pPr algn="l">
              <a:defRPr sz="1500" b="1">
                <a:solidFill>
                  <a:srgbClr val="00338D"/>
                </a:solidFill>
                <a:latin typeface="Arial"/>
                <a:ea typeface="Arial"/>
                <a:cs typeface="Arial"/>
              </a:defRPr>
            </a:lvl6pPr>
            <a:lvl7pPr algn="l">
              <a:defRPr sz="1500" b="1">
                <a:solidFill>
                  <a:srgbClr val="00338D"/>
                </a:solidFill>
                <a:latin typeface="Arial"/>
                <a:ea typeface="Arial"/>
                <a:cs typeface="Arial"/>
              </a:defRPr>
            </a:lvl7pPr>
            <a:lvl8pPr algn="l">
              <a:defRPr sz="1500" b="1">
                <a:solidFill>
                  <a:srgbClr val="00338D"/>
                </a:solidFill>
                <a:latin typeface="Arial"/>
                <a:ea typeface="Arial"/>
                <a:cs typeface="Arial"/>
              </a:defRPr>
            </a:lvl8pPr>
            <a:lvl9pPr algn="l">
              <a:defRPr sz="1500" b="1">
                <a:solidFill>
                  <a:srgbClr val="00338D"/>
                </a:solidFill>
                <a:latin typeface="Arial"/>
                <a:ea typeface="Arial"/>
                <a:cs typeface="Arial"/>
              </a:defRPr>
            </a:lvl9pPr>
          </a:lstStyle>
          <a:p xmlns:a="http://schemas.openxmlformats.org/drawingml/2006/main">
            <a:pPr algn="l">
              <a:defRPr sz="1500" b="1">
                <a:solidFill>
                  <a:srgbClr val="00338D"/>
                </a:solidFill>
                <a:latin typeface="Arial"/>
                <a:ea typeface="Arial"/>
                <a:cs typeface="Arial"/>
              </a:defRPr>
            </a:pPr>
            <a:r>
              <a:rPr sz="1500" b="1">
                <a:solidFill>
                  <a:srgbClr val="00338D"/>
                </a:solidFill>
                <a:latin typeface="Arial"/>
                <a:ea typeface="Arial"/>
                <a:cs typeface="Arial"/>
              </a:rPr>
              <a:t>First-time fix: 88.0%</a:t>
            </a:r>
          </a:p>
        </p:txBody>
      </p:sp>
      <p:sp>
        <p:nvSpPr>
          <p:cNvPr id="12" name="s6-definition1">
            <a:extLst xmlns:a="http://schemas.openxmlformats.org/drawingml/2006/main">
              <a:ext uri="{FF2B5EF4-FFF2-40B4-BE49-F238E27FC236}">
                <a16:creationId xmlns:a16="http://schemas.microsoft.com/office/drawing/2014/main" id="{DE451FE8-B4ED-4F69-A459-F2F60ED81CAB}"/>
              </a:ext>
            </a:extLst>
          </p:cNvPr>
          <p:cNvSpPr>
            <a:spLocks xmlns:a="http://schemas.openxmlformats.org/drawingml/2006/main" noGrp="1"/>
          </p:cNvSpPr>
          <p:nvPr/>
        </p:nvSpPr>
        <p:spPr>
          <a:xfrm xmlns:a="http://schemas.openxmlformats.org/drawingml/2006/main">
            <a:off x="7391400" y="2971800"/>
            <a:ext cx="4114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2,200 of 2,500 closed reactive jobs resolved on the first visit.</a:t>
            </a:r>
          </a:p>
        </p:txBody>
      </p:sp>
      <p:sp>
        <p:nvSpPr>
          <p:cNvPr id="13" name="s6-kpi2">
            <a:extLst xmlns:a="http://schemas.openxmlformats.org/drawingml/2006/main">
              <a:ext uri="{FF2B5EF4-FFF2-40B4-BE49-F238E27FC236}">
                <a16:creationId xmlns:a16="http://schemas.microsoft.com/office/drawing/2014/main" id="{1BA77B8F-540B-4B32-98E1-48CBB774549D}"/>
              </a:ext>
            </a:extLst>
          </p:cNvPr>
          <p:cNvSpPr>
            <a:spLocks xmlns:a="http://schemas.openxmlformats.org/drawingml/2006/main" noGrp="1"/>
          </p:cNvSpPr>
          <p:nvPr/>
        </p:nvSpPr>
        <p:spPr>
          <a:xfrm xmlns:a="http://schemas.openxmlformats.org/drawingml/2006/main">
            <a:off x="7391400" y="3495675"/>
            <a:ext cx="4114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338D"/>
                </a:solidFill>
                <a:latin typeface="Arial"/>
                <a:ea typeface="Arial"/>
                <a:cs typeface="Arial"/>
              </a:defRPr>
            </a:defPPr>
            <a:lvl1pPr algn="l">
              <a:defRPr sz="1500" b="1">
                <a:solidFill>
                  <a:srgbClr val="00338D"/>
                </a:solidFill>
                <a:latin typeface="Arial"/>
                <a:ea typeface="Arial"/>
                <a:cs typeface="Arial"/>
              </a:defRPr>
            </a:lvl1pPr>
            <a:lvl2pPr algn="l">
              <a:defRPr sz="1500" b="1">
                <a:solidFill>
                  <a:srgbClr val="00338D"/>
                </a:solidFill>
                <a:latin typeface="Arial"/>
                <a:ea typeface="Arial"/>
                <a:cs typeface="Arial"/>
              </a:defRPr>
            </a:lvl2pPr>
            <a:lvl3pPr algn="l">
              <a:defRPr sz="1500" b="1">
                <a:solidFill>
                  <a:srgbClr val="00338D"/>
                </a:solidFill>
                <a:latin typeface="Arial"/>
                <a:ea typeface="Arial"/>
                <a:cs typeface="Arial"/>
              </a:defRPr>
            </a:lvl3pPr>
            <a:lvl4pPr algn="l">
              <a:defRPr sz="1500" b="1">
                <a:solidFill>
                  <a:srgbClr val="00338D"/>
                </a:solidFill>
                <a:latin typeface="Arial"/>
                <a:ea typeface="Arial"/>
                <a:cs typeface="Arial"/>
              </a:defRPr>
            </a:lvl4pPr>
            <a:lvl5pPr algn="l">
              <a:defRPr sz="1500" b="1">
                <a:solidFill>
                  <a:srgbClr val="00338D"/>
                </a:solidFill>
                <a:latin typeface="Arial"/>
                <a:ea typeface="Arial"/>
                <a:cs typeface="Arial"/>
              </a:defRPr>
            </a:lvl5pPr>
            <a:lvl6pPr algn="l">
              <a:defRPr sz="1500" b="1">
                <a:solidFill>
                  <a:srgbClr val="00338D"/>
                </a:solidFill>
                <a:latin typeface="Arial"/>
                <a:ea typeface="Arial"/>
                <a:cs typeface="Arial"/>
              </a:defRPr>
            </a:lvl6pPr>
            <a:lvl7pPr algn="l">
              <a:defRPr sz="1500" b="1">
                <a:solidFill>
                  <a:srgbClr val="00338D"/>
                </a:solidFill>
                <a:latin typeface="Arial"/>
                <a:ea typeface="Arial"/>
                <a:cs typeface="Arial"/>
              </a:defRPr>
            </a:lvl7pPr>
            <a:lvl8pPr algn="l">
              <a:defRPr sz="1500" b="1">
                <a:solidFill>
                  <a:srgbClr val="00338D"/>
                </a:solidFill>
                <a:latin typeface="Arial"/>
                <a:ea typeface="Arial"/>
                <a:cs typeface="Arial"/>
              </a:defRPr>
            </a:lvl8pPr>
            <a:lvl9pPr algn="l">
              <a:defRPr sz="1500" b="1">
                <a:solidFill>
                  <a:srgbClr val="00338D"/>
                </a:solidFill>
                <a:latin typeface="Arial"/>
                <a:ea typeface="Arial"/>
                <a:cs typeface="Arial"/>
              </a:defRPr>
            </a:lvl9pPr>
          </a:lstStyle>
          <a:p xmlns:a="http://schemas.openxmlformats.org/drawingml/2006/main">
            <a:pPr algn="l">
              <a:defRPr sz="1500" b="1">
                <a:solidFill>
                  <a:srgbClr val="00338D"/>
                </a:solidFill>
                <a:latin typeface="Arial"/>
                <a:ea typeface="Arial"/>
                <a:cs typeface="Arial"/>
              </a:defRPr>
            </a:pPr>
            <a:r>
              <a:rPr sz="1500" b="1">
                <a:solidFill>
                  <a:srgbClr val="00338D"/>
                </a:solidFill>
                <a:latin typeface="Arial"/>
                <a:ea typeface="Arial"/>
                <a:cs typeface="Arial"/>
              </a:rPr>
              <a:t>Productive hours: 74.4%</a:t>
            </a:r>
          </a:p>
        </p:txBody>
      </p:sp>
      <p:sp>
        <p:nvSpPr>
          <p:cNvPr id="14" name="s6-definition2">
            <a:extLst xmlns:a="http://schemas.openxmlformats.org/drawingml/2006/main">
              <a:ext uri="{FF2B5EF4-FFF2-40B4-BE49-F238E27FC236}">
                <a16:creationId xmlns:a16="http://schemas.microsoft.com/office/drawing/2014/main" id="{E744573A-1BD0-49C7-A5DB-E4A6BE133B69}"/>
              </a:ext>
            </a:extLst>
          </p:cNvPr>
          <p:cNvSpPr>
            <a:spLocks xmlns:a="http://schemas.openxmlformats.org/drawingml/2006/main" noGrp="1"/>
          </p:cNvSpPr>
          <p:nvPr/>
        </p:nvSpPr>
        <p:spPr>
          <a:xfrm xmlns:a="http://schemas.openxmlformats.org/drawingml/2006/main">
            <a:off x="7391400" y="3800475"/>
            <a:ext cx="4114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126,480 productive / 170,000 available hours. Not billing utilisation.</a:t>
            </a:r>
          </a:p>
        </p:txBody>
      </p:sp>
      <p:sp>
        <p:nvSpPr>
          <p:cNvPr id="15" name="s6-management-head">
            <a:extLst xmlns:a="http://schemas.openxmlformats.org/drawingml/2006/main">
              <a:ext uri="{FF2B5EF4-FFF2-40B4-BE49-F238E27FC236}">
                <a16:creationId xmlns:a16="http://schemas.microsoft.com/office/drawing/2014/main" id="{C5D4123E-83F2-4675-8925-CE93CDC9D6FE}"/>
              </a:ext>
            </a:extLst>
          </p:cNvPr>
          <p:cNvSpPr>
            <a:spLocks xmlns:a="http://schemas.openxmlformats.org/drawingml/2006/main" noGrp="1"/>
          </p:cNvSpPr>
          <p:nvPr/>
        </p:nvSpPr>
        <p:spPr>
          <a:xfrm xmlns:a="http://schemas.openxmlformats.org/drawingml/2006/main">
            <a:off x="685800" y="3905250"/>
            <a:ext cx="6324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Management and account continuity</a:t>
            </a:r>
          </a:p>
        </p:txBody>
      </p:sp>
      <p:graphicFrame>
        <p:nvGraphicFramePr>
          <p:cNvPr id="16" name="">
            <a:extLst xmlns:a="http://schemas.openxmlformats.org/drawingml/2006/main">
              <a:ext uri="{FF2B5EF4-FFF2-40B4-BE49-F238E27FC236}">
                <a16:creationId xmlns:a16="http://schemas.microsoft.com/office/drawing/2014/main" id="{A236BD26-0EAB-4573-802A-78AD1775726D}"/>
              </a:ext>
            </a:extLst>
          </p:cNvPr>
          <p:cNvGraphicFramePr/>
          <p:nvPr/>
        </p:nvGraphicFramePr>
        <p:xfrm>
          <a:off xmlns:a="http://schemas.openxmlformats.org/drawingml/2006/main" x="685800" y="4295775"/>
          <a:ext xmlns:a="http://schemas.openxmlformats.org/drawingml/2006/main" cx="6324600" cy="1638300"/>
        </p:xfrm>
        <a:graphic xmlns:a="http://schemas.openxmlformats.org/drawingml/2006/main">
          <a:graphicData uri="http://schemas.openxmlformats.org/drawingml/2006/table">
            <a:tbl>
              <a:tblPr/>
              <a:tblGrid>
                <a:gridCol w="2358231"/>
                <a:gridCol w="3966369"/>
              </a:tblGrid>
              <a:tr h="405805">
                <a:tc>
                  <a:txBody>
                    <a:bodyPr lIns="95250" tIns="66675" rIns="95250" bIns="66675">
                      <a:noAutofit/>
                    </a:bodyPr>
                    <a:lstStyle/>
                    <a:p>
                      <a:pPr algn="l"/>
                      <a:r>
                        <a:rPr sz="1275" b="1">
                          <a:solidFill>
                            <a:srgbClr val="FFFFFF"/>
                          </a:solidFill>
                          <a:latin typeface="Arial"/>
                          <a:ea typeface="Arial"/>
                          <a:cs typeface="Arial"/>
                        </a:rPr>
                        <a:t>Executive</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Responsibility</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09674">
                <a:tc>
                  <a:txBody>
                    <a:bodyPr lIns="95250" tIns="66675" rIns="95250" bIns="66675">
                      <a:noAutofit/>
                    </a:bodyPr>
                    <a:lstStyle/>
                    <a:p>
                      <a:pPr algn="l"/>
                      <a:r>
                        <a:rPr sz="1275" b="0">
                          <a:solidFill>
                            <a:srgbClr val="000000"/>
                          </a:solidFill>
                          <a:latin typeface="Arial"/>
                          <a:ea typeface="Arial"/>
                          <a:cs typeface="Arial"/>
                        </a:rPr>
                        <a:t>Maya Reed, CEO</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Key accounts and commercial evidence</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09674">
                <a:tc>
                  <a:txBody>
                    <a:bodyPr lIns="95250" tIns="66675" rIns="95250" bIns="66675">
                      <a:noAutofit/>
                    </a:bodyPr>
                    <a:lstStyle/>
                    <a:p>
                      <a:pPr algn="l"/>
                      <a:r>
                        <a:rPr sz="1275" b="0">
                          <a:solidFill>
                            <a:srgbClr val="000000"/>
                          </a:solidFill>
                          <a:latin typeface="Arial"/>
                          <a:ea typeface="Arial"/>
                          <a:cs typeface="Arial"/>
                        </a:rPr>
                        <a:t>Daniel Cole, CFO</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Financial reporting and transaction preparation</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09972">
                <a:tc>
                  <a:txBody>
                    <a:bodyPr lIns="95250" tIns="66675" rIns="95250" bIns="66675">
                      <a:noAutofit/>
                    </a:bodyPr>
                    <a:lstStyle/>
                    <a:p>
                      <a:pPr algn="l"/>
                      <a:r>
                        <a:rPr sz="1275" b="0">
                          <a:solidFill>
                            <a:srgbClr val="000000"/>
                          </a:solidFill>
                          <a:latin typeface="Arial"/>
                          <a:ea typeface="Arial"/>
                          <a:cs typeface="Arial"/>
                        </a:rPr>
                        <a:t>Aisha Patel, COO</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Service delivery, recruitment and capacity</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17" name="s6-capacity-head">
            <a:extLst xmlns:a="http://schemas.openxmlformats.org/drawingml/2006/main">
              <a:ext uri="{FF2B5EF4-FFF2-40B4-BE49-F238E27FC236}">
                <a16:creationId xmlns:a16="http://schemas.microsoft.com/office/drawing/2014/main" id="{33D057D8-A6EB-4B9A-9675-7DE9F765CF9A}"/>
              </a:ext>
            </a:extLst>
          </p:cNvPr>
          <p:cNvSpPr>
            <a:spLocks xmlns:a="http://schemas.openxmlformats.org/drawingml/2006/main" noGrp="1"/>
          </p:cNvSpPr>
          <p:nvPr/>
        </p:nvSpPr>
        <p:spPr>
          <a:xfrm xmlns:a="http://schemas.openxmlformats.org/drawingml/2006/main">
            <a:off x="7391400" y="4610100"/>
            <a:ext cx="4114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Capacity plan</a:t>
            </a:r>
          </a:p>
        </p:txBody>
      </p:sp>
      <p:sp>
        <p:nvSpPr>
          <p:cNvPr id="18" name="s6-capacity">
            <a:extLst xmlns:a="http://schemas.openxmlformats.org/drawingml/2006/main">
              <a:ext uri="{FF2B5EF4-FFF2-40B4-BE49-F238E27FC236}">
                <a16:creationId xmlns:a16="http://schemas.microsoft.com/office/drawing/2014/main" id="{5EF9882F-7CA1-424F-8950-DB85A1ECB2EC}"/>
              </a:ext>
            </a:extLst>
          </p:cNvPr>
          <p:cNvSpPr>
            <a:spLocks xmlns:a="http://schemas.openxmlformats.org/drawingml/2006/main" noGrp="1"/>
          </p:cNvSpPr>
          <p:nvPr/>
        </p:nvSpPr>
        <p:spPr>
          <a:xfrm xmlns:a="http://schemas.openxmlformats.org/drawingml/2006/main">
            <a:off x="7391400" y="5000625"/>
            <a:ext cx="4114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Year-end engineers: 85 in 2025, 95 in 2026F and 105 in 2027F. Recruitment costs and productivity ramp-up require support.</a:t>
            </a:r>
          </a:p>
        </p:txBody>
      </p:sp>
    </p:spTree>
    <p:extLst>
      <p:ext uri="{BB962C8B-B14F-4D97-AF65-F5344CB8AC3E}">
        <p14:creationId xmlns:p14="http://schemas.microsoft.com/office/powerpoint/2010/main" val="15851965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7-section">
            <a:extLst xmlns:a="http://schemas.openxmlformats.org/drawingml/2006/main">
              <a:ext uri="{FF2B5EF4-FFF2-40B4-BE49-F238E27FC236}">
                <a16:creationId xmlns:a16="http://schemas.microsoft.com/office/drawing/2014/main" id="{1F50EF13-E0F4-4421-BDB5-6935336AB449}"/>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Financial analysis</a:t>
            </a:r>
          </a:p>
        </p:txBody>
      </p:sp>
      <p:sp>
        <p:nvSpPr>
          <p:cNvPr id="2" name="s7-title">
            <a:extLst xmlns:a="http://schemas.openxmlformats.org/drawingml/2006/main">
              <a:ext uri="{FF2B5EF4-FFF2-40B4-BE49-F238E27FC236}">
                <a16:creationId xmlns:a16="http://schemas.microsoft.com/office/drawing/2014/main" id="{BB3A3122-6FC2-4088-9C59-79304CF9C159}"/>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Historical financial performance</a:t>
            </a:r>
          </a:p>
        </p:txBody>
      </p:sp>
      <p:sp>
        <p:nvSpPr>
          <p:cNvPr id="3" name="s7-source">
            <a:extLst xmlns:a="http://schemas.openxmlformats.org/drawingml/2006/main">
              <a:ext uri="{FF2B5EF4-FFF2-40B4-BE49-F238E27FC236}">
                <a16:creationId xmlns:a16="http://schemas.microsoft.com/office/drawing/2014/main" id="{ECA49316-290F-40D1-8BD0-E704249584F3}"/>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02 management model, PnL!B5:D11; 09 quarterly accounts; 10 CFO follow-up; 01 earlier company brief.</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GBP million unless stated. Year ending 31 December. A = unaudited management actuals.</a:t>
            </a:r>
          </a:p>
        </p:txBody>
      </p:sp>
      <p:sp>
        <p:nvSpPr>
          <p:cNvPr id="4" name="s7-footer-rule">
            <a:extLst xmlns:a="http://schemas.openxmlformats.org/drawingml/2006/main">
              <a:ext uri="{FF2B5EF4-FFF2-40B4-BE49-F238E27FC236}">
                <a16:creationId xmlns:a16="http://schemas.microsoft.com/office/drawing/2014/main" id="{B5764813-021F-4970-8338-A59C479399CB}"/>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7-footer">
            <a:extLst xmlns:a="http://schemas.openxmlformats.org/drawingml/2006/main">
              <a:ext uri="{FF2B5EF4-FFF2-40B4-BE49-F238E27FC236}">
                <a16:creationId xmlns:a16="http://schemas.microsoft.com/office/drawing/2014/main" id="{879C2594-DEAF-48B4-ABD8-F5572FF4AB2E}"/>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7-number">
            <a:extLst xmlns:a="http://schemas.openxmlformats.org/drawingml/2006/main">
              <a:ext uri="{FF2B5EF4-FFF2-40B4-BE49-F238E27FC236}">
                <a16:creationId xmlns:a16="http://schemas.microsoft.com/office/drawing/2014/main" id="{4542524D-270A-484D-AF98-A02A73F51BE4}"/>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7</a:t>
            </a:r>
          </a:p>
        </p:txBody>
      </p:sp>
      <p:graphicFrame>
        <p:nvGraphicFramePr>
          <p:cNvPr id="7" name="">
            <a:extLst xmlns:a="http://schemas.openxmlformats.org/drawingml/2006/main">
              <a:ext uri="{FF2B5EF4-FFF2-40B4-BE49-F238E27FC236}">
                <a16:creationId xmlns:a16="http://schemas.microsoft.com/office/drawing/2014/main" id="{6BED8DE2-045E-4243-8CAF-30A106555DDF}"/>
              </a:ext>
            </a:extLst>
          </p:cNvPr>
          <p:cNvGraphicFramePr/>
          <p:nvPr/>
        </p:nvGraphicFramePr>
        <p:xfrm>
          <a:off xmlns:a="http://schemas.openxmlformats.org/drawingml/2006/main" x="685800" y="1409700"/>
          <a:ext xmlns:a="http://schemas.openxmlformats.org/drawingml/2006/main" cx="6705600" cy="2857500"/>
        </p:xfrm>
        <a:graphic xmlns:a="http://schemas.openxmlformats.org/drawingml/2006/main">
          <a:graphicData uri="http://schemas.openxmlformats.org/drawingml/2006/table">
            <a:tbl>
              <a:tblPr/>
              <a:tblGrid>
                <a:gridCol w="2748161"/>
                <a:gridCol w="1319113"/>
                <a:gridCol w="1319113"/>
                <a:gridCol w="1319213"/>
              </a:tblGrid>
              <a:tr h="404316">
                <a:tc>
                  <a:txBody>
                    <a:bodyPr lIns="95250" tIns="66675" rIns="95250" bIns="66675">
                      <a:noAutofit/>
                    </a:bodyPr>
                    <a:lstStyle/>
                    <a:p>
                      <a:r>
                        <a:rPr sz="1275" b="1">
                          <a:solidFill>
                            <a:srgbClr val="FFFFFF"/>
                          </a:solidFill>
                          <a:latin typeface="Arial"/>
                          <a:ea typeface="Arial"/>
                          <a:cs typeface="Arial"/>
                        </a:rPr>
                        <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FY2023A</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FY2024A</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FY2025A</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08285">
                <a:tc>
                  <a:txBody>
                    <a:bodyPr lIns="95250" tIns="66675" rIns="95250" bIns="66675">
                      <a:noAutofit/>
                    </a:bodyPr>
                    <a:lstStyle/>
                    <a:p>
                      <a:pPr algn="l"/>
                      <a:r>
                        <a:rPr sz="1275" b="1">
                          <a:solidFill>
                            <a:srgbClr val="000000"/>
                          </a:solidFill>
                          <a:latin typeface="Arial"/>
                          <a:ea typeface="Arial"/>
                          <a:cs typeface="Arial"/>
                        </a:rPr>
                        <a:t>Revenue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18.0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21.5</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25.0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08285">
                <a:tc>
                  <a:txBody>
                    <a:bodyPr lIns="95250" tIns="66675" rIns="95250" bIns="66675">
                      <a:noAutofit/>
                    </a:bodyPr>
                    <a:lstStyle/>
                    <a:p>
                      <a:pPr algn="l"/>
                      <a:r>
                        <a:rPr sz="1275" b="0">
                          <a:solidFill>
                            <a:srgbClr val="000000"/>
                          </a:solidFill>
                          <a:latin typeface="Arial"/>
                          <a:ea typeface="Arial"/>
                          <a:cs typeface="Arial"/>
                        </a:rPr>
                        <a:t>Cost of services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(10.8)</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(12.7)</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(14.5)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08285">
                <a:tc>
                  <a:txBody>
                    <a:bodyPr lIns="95250" tIns="66675" rIns="95250" bIns="66675">
                      <a:noAutofit/>
                    </a:bodyPr>
                    <a:lstStyle/>
                    <a:p>
                      <a:pPr algn="l"/>
                      <a:r>
                        <a:rPr sz="1275" b="0">
                          <a:solidFill>
                            <a:srgbClr val="000000"/>
                          </a:solidFill>
                          <a:latin typeface="Arial"/>
                          <a:ea typeface="Arial"/>
                          <a:cs typeface="Arial"/>
                        </a:rPr>
                        <a:t>Gross profit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7.2</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8.8</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10.5</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08285">
                <a:tc>
                  <a:txBody>
                    <a:bodyPr lIns="95250" tIns="66675" rIns="95250" bIns="66675">
                      <a:noAutofit/>
                    </a:bodyPr>
                    <a:lstStyle/>
                    <a:p>
                      <a:pPr algn="l"/>
                      <a:r>
                        <a:rPr sz="1275" b="0">
                          <a:solidFill>
                            <a:srgbClr val="000000"/>
                          </a:solidFill>
                          <a:latin typeface="Arial"/>
                          <a:ea typeface="Arial"/>
                          <a:cs typeface="Arial"/>
                        </a:rPr>
                        <a:t>Operating expenses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(4.5)</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(4.9)</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(5.5)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08285">
                <a:tc>
                  <a:txBody>
                    <a:bodyPr lIns="95250" tIns="66675" rIns="95250" bIns="66675">
                      <a:noAutofit/>
                    </a:bodyPr>
                    <a:lstStyle/>
                    <a:p>
                      <a:pPr algn="l"/>
                      <a:r>
                        <a:rPr sz="1275" b="1">
                          <a:solidFill>
                            <a:srgbClr val="000000"/>
                          </a:solidFill>
                          <a:latin typeface="Arial"/>
                          <a:ea typeface="Arial"/>
                          <a:cs typeface="Arial"/>
                        </a:rPr>
                        <a:t>EBITDA</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2.7</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3.9</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5.0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08583">
                <a:tc>
                  <a:txBody>
                    <a:bodyPr lIns="95250" tIns="66675" rIns="95250" bIns="66675">
                      <a:noAutofit/>
                    </a:bodyPr>
                    <a:lstStyle/>
                    <a:p>
                      <a:pPr algn="l"/>
                      <a:r>
                        <a:rPr sz="1275" b="1">
                          <a:solidFill>
                            <a:srgbClr val="000000"/>
                          </a:solidFill>
                          <a:latin typeface="Arial"/>
                          <a:ea typeface="Arial"/>
                          <a:cs typeface="Arial"/>
                        </a:rPr>
                        <a:t>EBITDA margin</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15.0%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18.1%</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20.0%</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8" name="s7-quarter-head">
            <a:extLst xmlns:a="http://schemas.openxmlformats.org/drawingml/2006/main">
              <a:ext uri="{FF2B5EF4-FFF2-40B4-BE49-F238E27FC236}">
                <a16:creationId xmlns:a16="http://schemas.microsoft.com/office/drawing/2014/main" id="{CECA119D-F5F6-4605-A6CF-B0E0AA2B3767}"/>
              </a:ext>
            </a:extLst>
          </p:cNvPr>
          <p:cNvSpPr>
            <a:spLocks xmlns:a="http://schemas.openxmlformats.org/drawingml/2006/main" noGrp="1"/>
          </p:cNvSpPr>
          <p:nvPr/>
        </p:nvSpPr>
        <p:spPr>
          <a:xfrm xmlns:a="http://schemas.openxmlformats.org/drawingml/2006/main">
            <a:off x="7772400" y="1409700"/>
            <a:ext cx="3733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FY2025 quarterly detail</a:t>
            </a:r>
          </a:p>
        </p:txBody>
      </p:sp>
      <p:graphicFrame>
        <p:nvGraphicFramePr>
          <p:cNvPr id="9" name="">
            <a:extLst xmlns:a="http://schemas.openxmlformats.org/drawingml/2006/main">
              <a:ext uri="{FF2B5EF4-FFF2-40B4-BE49-F238E27FC236}">
                <a16:creationId xmlns:a16="http://schemas.microsoft.com/office/drawing/2014/main" id="{962F5120-04FE-42EF-9508-6713F5BEDF5A}"/>
              </a:ext>
            </a:extLst>
          </p:cNvPr>
          <p:cNvGraphicFramePr/>
          <p:nvPr/>
        </p:nvGraphicFramePr>
        <p:xfrm>
          <a:off xmlns:a="http://schemas.openxmlformats.org/drawingml/2006/main" x="7772400" y="1819275"/>
          <a:ext xmlns:a="http://schemas.openxmlformats.org/drawingml/2006/main" cx="3733800" cy="2028825"/>
        </p:xfrm>
        <a:graphic xmlns:a="http://schemas.openxmlformats.org/drawingml/2006/main">
          <a:graphicData uri="http://schemas.openxmlformats.org/drawingml/2006/table">
            <a:tbl>
              <a:tblPr/>
              <a:tblGrid>
                <a:gridCol w="1244600"/>
                <a:gridCol w="1244600"/>
                <a:gridCol w="1244600"/>
              </a:tblGrid>
              <a:tr h="334863">
                <a:tc>
                  <a:txBody>
                    <a:bodyPr lIns="95250" tIns="66675" rIns="95250" bIns="66675">
                      <a:noAutofit/>
                    </a:bodyPr>
                    <a:lstStyle/>
                    <a:p>
                      <a:pPr algn="l"/>
                      <a:r>
                        <a:rPr sz="1275" b="1">
                          <a:solidFill>
                            <a:srgbClr val="FFFFFF"/>
                          </a:solidFill>
                          <a:latin typeface="Arial"/>
                          <a:ea typeface="Arial"/>
                          <a:cs typeface="Arial"/>
                        </a:rPr>
                        <a:t>£m</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Revenue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EBITDA</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338138">
                <a:tc>
                  <a:txBody>
                    <a:bodyPr lIns="95250" tIns="66675" rIns="95250" bIns="66675">
                      <a:noAutofit/>
                    </a:bodyPr>
                    <a:lstStyle/>
                    <a:p>
                      <a:pPr algn="l"/>
                      <a:r>
                        <a:rPr sz="1275" b="0">
                          <a:solidFill>
                            <a:srgbClr val="000000"/>
                          </a:solidFill>
                          <a:latin typeface="Arial"/>
                          <a:ea typeface="Arial"/>
                          <a:cs typeface="Arial"/>
                        </a:rPr>
                        <a:t>Q1</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5.70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0.90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38138">
                <a:tc>
                  <a:txBody>
                    <a:bodyPr lIns="95250" tIns="66675" rIns="95250" bIns="66675">
                      <a:noAutofit/>
                    </a:bodyPr>
                    <a:lstStyle/>
                    <a:p>
                      <a:pPr algn="l"/>
                      <a:r>
                        <a:rPr sz="1275" b="0">
                          <a:solidFill>
                            <a:srgbClr val="000000"/>
                          </a:solidFill>
                          <a:latin typeface="Arial"/>
                          <a:ea typeface="Arial"/>
                          <a:cs typeface="Arial"/>
                        </a:rPr>
                        <a:t>Q2</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6.10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1.15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38138">
                <a:tc>
                  <a:txBody>
                    <a:bodyPr lIns="95250" tIns="66675" rIns="95250" bIns="66675">
                      <a:noAutofit/>
                    </a:bodyPr>
                    <a:lstStyle/>
                    <a:p>
                      <a:pPr algn="l"/>
                      <a:r>
                        <a:rPr sz="1275" b="0">
                          <a:solidFill>
                            <a:srgbClr val="000000"/>
                          </a:solidFill>
                          <a:latin typeface="Arial"/>
                          <a:ea typeface="Arial"/>
                          <a:cs typeface="Arial"/>
                        </a:rPr>
                        <a:t>Q3</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6.40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1.30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38138">
                <a:tc>
                  <a:txBody>
                    <a:bodyPr lIns="95250" tIns="66675" rIns="95250" bIns="66675">
                      <a:noAutofit/>
                    </a:bodyPr>
                    <a:lstStyle/>
                    <a:p>
                      <a:pPr algn="l"/>
                      <a:r>
                        <a:rPr sz="1275" b="0">
                          <a:solidFill>
                            <a:srgbClr val="000000"/>
                          </a:solidFill>
                          <a:latin typeface="Arial"/>
                          <a:ea typeface="Arial"/>
                          <a:cs typeface="Arial"/>
                        </a:rPr>
                        <a:t>Q4</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6.80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1.65</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38237">
                <a:tc>
                  <a:txBody>
                    <a:bodyPr lIns="95250" tIns="66675" rIns="95250" bIns="66675">
                      <a:noAutofit/>
                    </a:bodyPr>
                    <a:lstStyle/>
                    <a:p>
                      <a:pPr algn="l"/>
                      <a:r>
                        <a:rPr sz="1275" b="1">
                          <a:solidFill>
                            <a:srgbClr val="000000"/>
                          </a:solidFill>
                          <a:latin typeface="Arial"/>
                          <a:ea typeface="Arial"/>
                          <a:cs typeface="Arial"/>
                        </a:rPr>
                        <a:t>FY2025</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25.00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5.00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10" name="s7-trend-head">
            <a:extLst xmlns:a="http://schemas.openxmlformats.org/drawingml/2006/main">
              <a:ext uri="{FF2B5EF4-FFF2-40B4-BE49-F238E27FC236}">
                <a16:creationId xmlns:a16="http://schemas.microsoft.com/office/drawing/2014/main" id="{2939DB06-104B-42A0-B5ED-B2ED3C6FDD40}"/>
              </a:ext>
            </a:extLst>
          </p:cNvPr>
          <p:cNvSpPr>
            <a:spLocks xmlns:a="http://schemas.openxmlformats.org/drawingml/2006/main" noGrp="1"/>
          </p:cNvSpPr>
          <p:nvPr/>
        </p:nvSpPr>
        <p:spPr>
          <a:xfrm xmlns:a="http://schemas.openxmlformats.org/drawingml/2006/main">
            <a:off x="685800" y="4552950"/>
            <a:ext cx="6705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Revenue and profitability</a:t>
            </a:r>
          </a:p>
        </p:txBody>
      </p:sp>
      <p:sp>
        <p:nvSpPr>
          <p:cNvPr id="11" name="s7-trend">
            <a:extLst xmlns:a="http://schemas.openxmlformats.org/drawingml/2006/main">
              <a:ext uri="{FF2B5EF4-FFF2-40B4-BE49-F238E27FC236}">
                <a16:creationId xmlns:a16="http://schemas.microsoft.com/office/drawing/2014/main" id="{B5250249-B8D6-414F-A08D-62986CCAB64E}"/>
              </a:ext>
            </a:extLst>
          </p:cNvPr>
          <p:cNvSpPr>
            <a:spLocks xmlns:a="http://schemas.openxmlformats.org/drawingml/2006/main" noGrp="1"/>
          </p:cNvSpPr>
          <p:nvPr/>
        </p:nvSpPr>
        <p:spPr>
          <a:xfrm xmlns:a="http://schemas.openxmlformats.org/drawingml/2006/main">
            <a:off x="685800" y="4953000"/>
            <a:ext cx="6705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Revenue grew at 17.9% CAGR from FY2023 to FY2025. Management EBITDA increased from £2.7m to £5.0m. EBITDA margin rose from 15.0% to 20.0%.</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The £26.2m earlier revenue estimate remains unreconciled to the £25.0m model.</a:t>
            </a:r>
          </a:p>
        </p:txBody>
      </p:sp>
      <p:sp>
        <p:nvSpPr>
          <p:cNvPr id="12" name="s7-quality-head">
            <a:extLst xmlns:a="http://schemas.openxmlformats.org/drawingml/2006/main">
              <a:ext uri="{FF2B5EF4-FFF2-40B4-BE49-F238E27FC236}">
                <a16:creationId xmlns:a16="http://schemas.microsoft.com/office/drawing/2014/main" id="{BAC80F7D-2C29-4335-968B-7E4E28A037CB}"/>
              </a:ext>
            </a:extLst>
          </p:cNvPr>
          <p:cNvSpPr>
            <a:spLocks xmlns:a="http://schemas.openxmlformats.org/drawingml/2006/main" noGrp="1"/>
          </p:cNvSpPr>
          <p:nvPr/>
        </p:nvSpPr>
        <p:spPr>
          <a:xfrm xmlns:a="http://schemas.openxmlformats.org/drawingml/2006/main">
            <a:off x="7772400" y="4143375"/>
            <a:ext cx="3733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Earnings quality</a:t>
            </a:r>
          </a:p>
        </p:txBody>
      </p:sp>
      <p:sp>
        <p:nvSpPr>
          <p:cNvPr id="13" name="s7-quality">
            <a:extLst xmlns:a="http://schemas.openxmlformats.org/drawingml/2006/main">
              <a:ext uri="{FF2B5EF4-FFF2-40B4-BE49-F238E27FC236}">
                <a16:creationId xmlns:a16="http://schemas.microsoft.com/office/drawing/2014/main" id="{C648EB34-7DED-4799-887F-841A80A02594}"/>
              </a:ext>
            </a:extLst>
          </p:cNvPr>
          <p:cNvSpPr>
            <a:spLocks xmlns:a="http://schemas.openxmlformats.org/drawingml/2006/main" noGrp="1"/>
          </p:cNvSpPr>
          <p:nvPr/>
        </p:nvSpPr>
        <p:spPr>
          <a:xfrm xmlns:a="http://schemas.openxmlformats.org/drawingml/2006/main">
            <a:off x="7772400" y="4552950"/>
            <a:ext cx="3733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Quarterly totals agree to the annual model. This arithmetic check does not resolve the earlier revenue discrepancy.</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No proposed EBITDA add-backs are included. A QoE report is outstanding.</a:t>
            </a:r>
          </a:p>
        </p:txBody>
      </p:sp>
    </p:spTree>
    <p:extLst>
      <p:ext uri="{BB962C8B-B14F-4D97-AF65-F5344CB8AC3E}">
        <p14:creationId xmlns:p14="http://schemas.microsoft.com/office/powerpoint/2010/main" val="10932878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8-section">
            <a:extLst xmlns:a="http://schemas.openxmlformats.org/drawingml/2006/main">
              <a:ext uri="{FF2B5EF4-FFF2-40B4-BE49-F238E27FC236}">
                <a16:creationId xmlns:a16="http://schemas.microsoft.com/office/drawing/2014/main" id="{2B8E0084-9737-4C3F-926F-4B69D8225EC8}"/>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Management outlook</a:t>
            </a:r>
          </a:p>
        </p:txBody>
      </p:sp>
      <p:sp>
        <p:nvSpPr>
          <p:cNvPr id="2" name="s8-title">
            <a:extLst xmlns:a="http://schemas.openxmlformats.org/drawingml/2006/main">
              <a:ext uri="{FF2B5EF4-FFF2-40B4-BE49-F238E27FC236}">
                <a16:creationId xmlns:a16="http://schemas.microsoft.com/office/drawing/2014/main" id="{3D3A648F-3C65-4420-A1E4-95D126A1B72C}"/>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Management forecast and growth assumptions</a:t>
            </a:r>
          </a:p>
        </p:txBody>
      </p:sp>
      <p:sp>
        <p:nvSpPr>
          <p:cNvPr id="3" name="s8-source">
            <a:extLst xmlns:a="http://schemas.openxmlformats.org/drawingml/2006/main">
              <a:ext uri="{FF2B5EF4-FFF2-40B4-BE49-F238E27FC236}">
                <a16:creationId xmlns:a16="http://schemas.microsoft.com/office/drawing/2014/main" id="{3057C47E-B64C-4BD0-A171-DF770D872F72}"/>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02 management model, PnL!D6:F11; 05 commercial interview; 10 CFO follow-up; 11 forecast bridge.</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A = management actuals, F = management forecast. Pipeline is unsigned and unweighted.</a:t>
            </a:r>
          </a:p>
        </p:txBody>
      </p:sp>
      <p:sp>
        <p:nvSpPr>
          <p:cNvPr id="4" name="s8-footer-rule">
            <a:extLst xmlns:a="http://schemas.openxmlformats.org/drawingml/2006/main">
              <a:ext uri="{FF2B5EF4-FFF2-40B4-BE49-F238E27FC236}">
                <a16:creationId xmlns:a16="http://schemas.microsoft.com/office/drawing/2014/main" id="{351A3519-DE9C-46BD-A9B7-86AFFA0BC488}"/>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8-footer">
            <a:extLst xmlns:a="http://schemas.openxmlformats.org/drawingml/2006/main">
              <a:ext uri="{FF2B5EF4-FFF2-40B4-BE49-F238E27FC236}">
                <a16:creationId xmlns:a16="http://schemas.microsoft.com/office/drawing/2014/main" id="{3A317BB8-0D34-434F-B300-BF1E0CA4C22F}"/>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8-number">
            <a:extLst xmlns:a="http://schemas.openxmlformats.org/drawingml/2006/main">
              <a:ext uri="{FF2B5EF4-FFF2-40B4-BE49-F238E27FC236}">
                <a16:creationId xmlns:a16="http://schemas.microsoft.com/office/drawing/2014/main" id="{EF2D9EB4-E921-4D87-BE6E-2DC9D25E0ED1}"/>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8</a:t>
            </a:r>
          </a:p>
        </p:txBody>
      </p:sp>
      <p:sp>
        <p:nvSpPr>
          <p:cNvPr id="7" name="s8-chart-head">
            <a:extLst xmlns:a="http://schemas.openxmlformats.org/drawingml/2006/main">
              <a:ext uri="{FF2B5EF4-FFF2-40B4-BE49-F238E27FC236}">
                <a16:creationId xmlns:a16="http://schemas.microsoft.com/office/drawing/2014/main" id="{0D7C5B74-F0A2-4D51-9E1A-515B15804E29}"/>
              </a:ext>
            </a:extLst>
          </p:cNvPr>
          <p:cNvSpPr>
            <a:spLocks xmlns:a="http://schemas.openxmlformats.org/drawingml/2006/main" noGrp="1"/>
          </p:cNvSpPr>
          <p:nvPr/>
        </p:nvSpPr>
        <p:spPr>
          <a:xfrm xmlns:a="http://schemas.openxmlformats.org/drawingml/2006/main">
            <a:off x="685800" y="1409700"/>
            <a:ext cx="409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Revenue (£m)</a:t>
            </a:r>
          </a:p>
        </p:txBody>
      </p:sp>
      <p:graphicFrame>
        <p:nvGraphicFramePr>
          <p:cNvPr id="8" name="Chart">
            <a:extLst xmlns:a="http://schemas.openxmlformats.org/drawingml/2006/main">
              <a:ext uri="{FF2B5EF4-FFF2-40B4-BE49-F238E27FC236}">
                <a16:creationId xmlns:a16="http://schemas.microsoft.com/office/drawing/2014/main" id="{2EBEDDE4-DFDD-497C-9A21-D13AC75F9081}"/>
              </a:ext>
            </a:extLst>
          </p:cNvPr>
          <p:cNvGraphicFramePr/>
          <p:nvPr/>
        </p:nvGraphicFramePr>
        <p:xfrm>
          <a:off xmlns:a="http://schemas.openxmlformats.org/drawingml/2006/main" x="685800" y="1800225"/>
          <a:ext xmlns:a="http://schemas.openxmlformats.org/drawingml/2006/main" cx="4095750" cy="2257425"/>
        </p:xfrm>
        <a:graphic xmlns:a="http://schemas.openxmlformats.org/drawingml/2006/main">
          <a:graphicData uri="http://schemas.openxmlformats.org/drawingml/2006/chart">
            <c:chart xmlns:r="http://schemas.openxmlformats.org/officeDocument/2006/relationships" xmlns:c="http://schemas.openxmlformats.org/drawingml/2006/chart" r:id="Rf2df8285c0a04d79"/>
          </a:graphicData>
        </a:graphic>
      </p:graphicFrame>
      <p:graphicFrame>
        <p:nvGraphicFramePr>
          <p:cNvPr id="9" name="">
            <a:extLst xmlns:a="http://schemas.openxmlformats.org/drawingml/2006/main">
              <a:ext uri="{FF2B5EF4-FFF2-40B4-BE49-F238E27FC236}">
                <a16:creationId xmlns:a16="http://schemas.microsoft.com/office/drawing/2014/main" id="{CDB6BBF8-3755-4D20-B930-A1ACA8B46636}"/>
              </a:ext>
            </a:extLst>
          </p:cNvPr>
          <p:cNvGraphicFramePr/>
          <p:nvPr/>
        </p:nvGraphicFramePr>
        <p:xfrm>
          <a:off xmlns:a="http://schemas.openxmlformats.org/drawingml/2006/main" x="685800" y="4229100"/>
          <a:ext xmlns:a="http://schemas.openxmlformats.org/drawingml/2006/main" cx="4095750" cy="1076325"/>
        </p:xfrm>
        <a:graphic xmlns:a="http://schemas.openxmlformats.org/drawingml/2006/main">
          <a:graphicData uri="http://schemas.openxmlformats.org/drawingml/2006/table">
            <a:tbl>
              <a:tblPr/>
              <a:tblGrid>
                <a:gridCol w="1365250"/>
                <a:gridCol w="910134"/>
                <a:gridCol w="910134"/>
                <a:gridCol w="910233"/>
              </a:tblGrid>
              <a:tr h="355402">
                <a:tc>
                  <a:txBody>
                    <a:bodyPr lIns="95250" tIns="66675" rIns="95250" bIns="66675">
                      <a:noAutofit/>
                    </a:bodyPr>
                    <a:lstStyle/>
                    <a:p>
                      <a:pPr algn="l"/>
                      <a:r>
                        <a:rPr sz="1275" b="1">
                          <a:solidFill>
                            <a:srgbClr val="FFFFFF"/>
                          </a:solidFill>
                          <a:latin typeface="Arial"/>
                          <a:ea typeface="Arial"/>
                          <a:cs typeface="Arial"/>
                        </a:rPr>
                        <a:t>£m</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2025A</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2026F</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2027F</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358775">
                <a:tc>
                  <a:txBody>
                    <a:bodyPr lIns="95250" tIns="66675" rIns="95250" bIns="66675">
                      <a:noAutofit/>
                    </a:bodyPr>
                    <a:lstStyle/>
                    <a:p>
                      <a:pPr algn="l"/>
                      <a:r>
                        <a:rPr sz="1275" b="0">
                          <a:solidFill>
                            <a:srgbClr val="000000"/>
                          </a:solidFill>
                          <a:latin typeface="Arial"/>
                          <a:ea typeface="Arial"/>
                          <a:cs typeface="Arial"/>
                        </a:rPr>
                        <a:t>EBITDA</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5.0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6.1</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7.4</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58973">
                <a:tc>
                  <a:txBody>
                    <a:bodyPr lIns="95250" tIns="66675" rIns="95250" bIns="66675">
                      <a:noAutofit/>
                    </a:bodyPr>
                    <a:lstStyle/>
                    <a:p>
                      <a:pPr algn="l"/>
                      <a:r>
                        <a:rPr sz="1275" b="0">
                          <a:solidFill>
                            <a:srgbClr val="000000"/>
                          </a:solidFill>
                          <a:latin typeface="Arial"/>
                          <a:ea typeface="Arial"/>
                          <a:cs typeface="Arial"/>
                        </a:rPr>
                        <a:t>Margin</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20.0%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21.0%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22.0%</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10" name="s8-hiring">
            <a:extLst xmlns:a="http://schemas.openxmlformats.org/drawingml/2006/main">
              <a:ext uri="{FF2B5EF4-FFF2-40B4-BE49-F238E27FC236}">
                <a16:creationId xmlns:a16="http://schemas.microsoft.com/office/drawing/2014/main" id="{FFB97E6F-D01F-4B23-B339-8E7D149DAD6E}"/>
              </a:ext>
            </a:extLst>
          </p:cNvPr>
          <p:cNvSpPr>
            <a:spLocks xmlns:a="http://schemas.openxmlformats.org/drawingml/2006/main" noGrp="1"/>
          </p:cNvSpPr>
          <p:nvPr/>
        </p:nvSpPr>
        <p:spPr>
          <a:xfrm xmlns:a="http://schemas.openxmlformats.org/drawingml/2006/main">
            <a:off x="685800" y="5524500"/>
            <a:ext cx="4095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Engineer plan: 85 to 105 by 2027F. Hiring costs and ramp-up require validation.</a:t>
            </a:r>
          </a:p>
        </p:txBody>
      </p:sp>
      <p:graphicFrame>
        <p:nvGraphicFramePr>
          <p:cNvPr id="11" name="">
            <a:extLst xmlns:a="http://schemas.openxmlformats.org/drawingml/2006/main">
              <a:ext uri="{FF2B5EF4-FFF2-40B4-BE49-F238E27FC236}">
                <a16:creationId xmlns:a16="http://schemas.microsoft.com/office/drawing/2014/main" id="{F62F22CD-6DFE-453A-BF88-9833B6D9E156}"/>
              </a:ext>
            </a:extLst>
          </p:cNvPr>
          <p:cNvGraphicFramePr/>
          <p:nvPr/>
        </p:nvGraphicFramePr>
        <p:xfrm>
          <a:off xmlns:a="http://schemas.openxmlformats.org/drawingml/2006/main" x="5162550" y="1409700"/>
          <a:ext xmlns:a="http://schemas.openxmlformats.org/drawingml/2006/main" cx="6343650" cy="2686050"/>
        </p:xfrm>
        <a:graphic xmlns:a="http://schemas.openxmlformats.org/drawingml/2006/main">
          <a:graphicData uri="http://schemas.openxmlformats.org/drawingml/2006/table">
            <a:tbl>
              <a:tblPr/>
              <a:tblGrid>
                <a:gridCol w="3639840"/>
                <a:gridCol w="1351855"/>
                <a:gridCol w="1351955"/>
              </a:tblGrid>
              <a:tr h="380107">
                <a:tc>
                  <a:txBody>
                    <a:bodyPr lIns="95250" tIns="66675" rIns="95250" bIns="66675">
                      <a:noAutofit/>
                    </a:bodyPr>
                    <a:lstStyle/>
                    <a:p>
                      <a:pPr algn="l"/>
                      <a:r>
                        <a:rPr sz="1275" b="1">
                          <a:solidFill>
                            <a:srgbClr val="FFFFFF"/>
                          </a:solidFill>
                          <a:latin typeface="Arial"/>
                          <a:ea typeface="Arial"/>
                          <a:cs typeface="Arial"/>
                        </a:rPr>
                        <a:t>Revenue bridge (£m)</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2026F</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2027F</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383778">
                <a:tc>
                  <a:txBody>
                    <a:bodyPr lIns="95250" tIns="66675" rIns="95250" bIns="66675">
                      <a:noAutofit/>
                    </a:bodyPr>
                    <a:lstStyle/>
                    <a:p>
                      <a:pPr algn="l"/>
                      <a:r>
                        <a:rPr sz="1275" b="1">
                          <a:solidFill>
                            <a:srgbClr val="000000"/>
                          </a:solidFill>
                          <a:latin typeface="Arial"/>
                          <a:ea typeface="Arial"/>
                          <a:cs typeface="Arial"/>
                        </a:rPr>
                        <a:t>Opening revenue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25.00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29.00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3778">
                <a:tc>
                  <a:txBody>
                    <a:bodyPr lIns="95250" tIns="66675" rIns="95250" bIns="66675">
                      <a:noAutofit/>
                    </a:bodyPr>
                    <a:lstStyle/>
                    <a:p>
                      <a:pPr algn="l"/>
                      <a:r>
                        <a:rPr sz="1275" b="0">
                          <a:solidFill>
                            <a:srgbClr val="000000"/>
                          </a:solidFill>
                          <a:latin typeface="Arial"/>
                          <a:ea typeface="Arial"/>
                          <a:cs typeface="Arial"/>
                        </a:rPr>
                        <a:t>Price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1.00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1.16</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83778">
                <a:tc>
                  <a:txBody>
                    <a:bodyPr lIns="95250" tIns="66675" rIns="95250" bIns="66675">
                      <a:noAutofit/>
                    </a:bodyPr>
                    <a:lstStyle/>
                    <a:p>
                      <a:pPr algn="l"/>
                      <a:r>
                        <a:rPr sz="1275" b="0">
                          <a:solidFill>
                            <a:srgbClr val="000000"/>
                          </a:solidFill>
                          <a:latin typeface="Arial"/>
                          <a:ea typeface="Arial"/>
                          <a:cs typeface="Arial"/>
                        </a:rPr>
                        <a:t>New contracts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2.00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2.40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3778">
                <a:tc>
                  <a:txBody>
                    <a:bodyPr lIns="95250" tIns="66675" rIns="95250" bIns="66675">
                      <a:noAutofit/>
                    </a:bodyPr>
                    <a:lstStyle/>
                    <a:p>
                      <a:pPr algn="l"/>
                      <a:r>
                        <a:rPr sz="1275" b="0">
                          <a:solidFill>
                            <a:srgbClr val="000000"/>
                          </a:solidFill>
                          <a:latin typeface="Arial"/>
                          <a:ea typeface="Arial"/>
                          <a:cs typeface="Arial"/>
                        </a:rPr>
                        <a:t>Cross-sell</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1.60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1.74</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83778">
                <a:tc>
                  <a:txBody>
                    <a:bodyPr lIns="95250" tIns="66675" rIns="95250" bIns="66675">
                      <a:noAutofit/>
                    </a:bodyPr>
                    <a:lstStyle/>
                    <a:p>
                      <a:pPr algn="l"/>
                      <a:r>
                        <a:rPr sz="1275" b="0">
                          <a:solidFill>
                            <a:srgbClr val="000000"/>
                          </a:solidFill>
                          <a:latin typeface="Arial"/>
                          <a:ea typeface="Arial"/>
                          <a:cs typeface="Arial"/>
                        </a:rPr>
                        <a:t>Attrition</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(0.60)</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(0.70)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3877">
                <a:tc>
                  <a:txBody>
                    <a:bodyPr lIns="95250" tIns="66675" rIns="95250" bIns="66675">
                      <a:noAutofit/>
                    </a:bodyPr>
                    <a:lstStyle/>
                    <a:p>
                      <a:pPr algn="l"/>
                      <a:r>
                        <a:rPr sz="1275" b="1">
                          <a:solidFill>
                            <a:srgbClr val="000000"/>
                          </a:solidFill>
                          <a:latin typeface="Arial"/>
                          <a:ea typeface="Arial"/>
                          <a:cs typeface="Arial"/>
                        </a:rPr>
                        <a:t>Closing revenue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29.00</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33.60</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12" name="s8-pipeline-head">
            <a:extLst xmlns:a="http://schemas.openxmlformats.org/drawingml/2006/main">
              <a:ext uri="{FF2B5EF4-FFF2-40B4-BE49-F238E27FC236}">
                <a16:creationId xmlns:a16="http://schemas.microsoft.com/office/drawing/2014/main" id="{9DAFE2FC-0544-4F6D-A181-961EDE871480}"/>
              </a:ext>
            </a:extLst>
          </p:cNvPr>
          <p:cNvSpPr>
            <a:spLocks xmlns:a="http://schemas.openxmlformats.org/drawingml/2006/main" noGrp="1"/>
          </p:cNvSpPr>
          <p:nvPr/>
        </p:nvSpPr>
        <p:spPr>
          <a:xfrm xmlns:a="http://schemas.openxmlformats.org/drawingml/2006/main">
            <a:off x="5162550" y="4362450"/>
            <a:ext cx="6343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Commercial support and dependencies</a:t>
            </a:r>
          </a:p>
        </p:txBody>
      </p:sp>
      <p:sp>
        <p:nvSpPr>
          <p:cNvPr id="13" name="s8-pipeline">
            <a:extLst xmlns:a="http://schemas.openxmlformats.org/drawingml/2006/main">
              <a:ext uri="{FF2B5EF4-FFF2-40B4-BE49-F238E27FC236}">
                <a16:creationId xmlns:a16="http://schemas.microsoft.com/office/drawing/2014/main" id="{1D68AEA5-61E7-46C1-9178-37EC41E44A86}"/>
              </a:ext>
            </a:extLst>
          </p:cNvPr>
          <p:cNvSpPr>
            <a:spLocks xmlns:a="http://schemas.openxmlformats.org/drawingml/2006/main" noGrp="1"/>
          </p:cNvSpPr>
          <p:nvPr/>
        </p:nvSpPr>
        <p:spPr>
          <a:xfrm xmlns:a="http://schemas.openxmlformats.org/drawingml/2006/main">
            <a:off x="5162550" y="4762500"/>
            <a:ext cx="63436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Unsigned pipeline: £4.8m of indicative annual revenue, comprising proposals (£2.4m), negotiations (£1.5m) and preferred supplier positions (£0.9m).</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Pricing and cross-sell assumptions require customer acceptance. The group bridge has no supporting customer-level forecast.</a:t>
            </a:r>
          </a:p>
        </p:txBody>
      </p:sp>
    </p:spTree>
    <p:extLst>
      <p:ext uri="{BB962C8B-B14F-4D97-AF65-F5344CB8AC3E}">
        <p14:creationId xmlns:p14="http://schemas.microsoft.com/office/powerpoint/2010/main" val="13864912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9-section">
            <a:extLst xmlns:a="http://schemas.openxmlformats.org/drawingml/2006/main">
              <a:ext uri="{FF2B5EF4-FFF2-40B4-BE49-F238E27FC236}">
                <a16:creationId xmlns:a16="http://schemas.microsoft.com/office/drawing/2014/main" id="{D8F5BA3C-9515-4BF3-8193-3969395AB588}"/>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Transaction overview</a:t>
            </a:r>
          </a:p>
        </p:txBody>
      </p:sp>
      <p:sp>
        <p:nvSpPr>
          <p:cNvPr id="2" name="s9-title">
            <a:extLst xmlns:a="http://schemas.openxmlformats.org/drawingml/2006/main">
              <a:ext uri="{FF2B5EF4-FFF2-40B4-BE49-F238E27FC236}">
                <a16:creationId xmlns:a16="http://schemas.microsoft.com/office/drawing/2014/main" id="{782FE8ED-4FE0-4F0D-B20C-AA0D4C74E532}"/>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Proposed transaction and financial position</a:t>
            </a:r>
          </a:p>
        </p:txBody>
      </p:sp>
      <p:sp>
        <p:nvSpPr>
          <p:cNvPr id="3" name="s9-source">
            <a:extLst xmlns:a="http://schemas.openxmlformats.org/drawingml/2006/main">
              <a:ext uri="{FF2B5EF4-FFF2-40B4-BE49-F238E27FC236}">
                <a16:creationId xmlns:a16="http://schemas.microsoft.com/office/drawing/2014/main" id="{CAB53901-AE9B-4460-8C2A-6AD7B6BD590C}"/>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01 company brief; 10 CFO follow-up; 13 transaction workshop.</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GBP million. Draft balances at 31 December 2025. Equity sale proposal remains subject to agreement.</a:t>
            </a:r>
          </a:p>
        </p:txBody>
      </p:sp>
      <p:sp>
        <p:nvSpPr>
          <p:cNvPr id="4" name="s9-footer-rule">
            <a:extLst xmlns:a="http://schemas.openxmlformats.org/drawingml/2006/main">
              <a:ext uri="{FF2B5EF4-FFF2-40B4-BE49-F238E27FC236}">
                <a16:creationId xmlns:a16="http://schemas.microsoft.com/office/drawing/2014/main" id="{A2B54194-0BF4-4D5C-8CF4-44EF76CA827A}"/>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9-footer">
            <a:extLst xmlns:a="http://schemas.openxmlformats.org/drawingml/2006/main">
              <a:ext uri="{FF2B5EF4-FFF2-40B4-BE49-F238E27FC236}">
                <a16:creationId xmlns:a16="http://schemas.microsoft.com/office/drawing/2014/main" id="{55E653BA-DD7B-4AFF-8956-1D16D5AE9532}"/>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9-number">
            <a:extLst xmlns:a="http://schemas.openxmlformats.org/drawingml/2006/main">
              <a:ext uri="{FF2B5EF4-FFF2-40B4-BE49-F238E27FC236}">
                <a16:creationId xmlns:a16="http://schemas.microsoft.com/office/drawing/2014/main" id="{3C225193-6EC4-4991-97C2-6B34FD7C14AA}"/>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9</a:t>
            </a:r>
          </a:p>
        </p:txBody>
      </p:sp>
      <p:graphicFrame>
        <p:nvGraphicFramePr>
          <p:cNvPr id="7" name="">
            <a:extLst xmlns:a="http://schemas.openxmlformats.org/drawingml/2006/main">
              <a:ext uri="{FF2B5EF4-FFF2-40B4-BE49-F238E27FC236}">
                <a16:creationId xmlns:a16="http://schemas.microsoft.com/office/drawing/2014/main" id="{E17DC2A8-9BA3-41F8-AF85-A2E16EA5AF35}"/>
              </a:ext>
            </a:extLst>
          </p:cNvPr>
          <p:cNvGraphicFramePr/>
          <p:nvPr/>
        </p:nvGraphicFramePr>
        <p:xfrm>
          <a:off xmlns:a="http://schemas.openxmlformats.org/drawingml/2006/main" x="685800" y="1409700"/>
          <a:ext xmlns:a="http://schemas.openxmlformats.org/drawingml/2006/main" cx="4210050" cy="1657350"/>
        </p:xfrm>
        <a:graphic xmlns:a="http://schemas.openxmlformats.org/drawingml/2006/main">
          <a:graphicData uri="http://schemas.openxmlformats.org/drawingml/2006/table">
            <a:tbl>
              <a:tblPr/>
              <a:tblGrid>
                <a:gridCol w="2741414"/>
                <a:gridCol w="1468636"/>
              </a:tblGrid>
              <a:tr h="410468">
                <a:tc>
                  <a:txBody>
                    <a:bodyPr lIns="95250" tIns="66675" rIns="95250" bIns="66675">
                      <a:noAutofit/>
                    </a:bodyPr>
                    <a:lstStyle/>
                    <a:p>
                      <a:pPr algn="l"/>
                      <a:r>
                        <a:rPr sz="1275" b="1">
                          <a:solidFill>
                            <a:srgbClr val="FFFFFF"/>
                          </a:solidFill>
                          <a:latin typeface="Arial"/>
                          <a:ea typeface="Arial"/>
                          <a:cs typeface="Arial"/>
                        </a:rPr>
                        <a:t>Shareholder</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Ownership</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414536">
                <a:tc>
                  <a:txBody>
                    <a:bodyPr lIns="95250" tIns="66675" rIns="95250" bIns="66675">
                      <a:noAutofit/>
                    </a:bodyPr>
                    <a:lstStyle/>
                    <a:p>
                      <a:pPr algn="l"/>
                      <a:r>
                        <a:rPr sz="1275" b="0">
                          <a:solidFill>
                            <a:srgbClr val="000000"/>
                          </a:solidFill>
                          <a:latin typeface="Arial"/>
                          <a:ea typeface="Arial"/>
                          <a:cs typeface="Arial"/>
                        </a:rPr>
                        <a:t>Founder</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70%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414536">
                <a:tc>
                  <a:txBody>
                    <a:bodyPr lIns="95250" tIns="66675" rIns="95250" bIns="66675">
                      <a:noAutofit/>
                    </a:bodyPr>
                    <a:lstStyle/>
                    <a:p>
                      <a:pPr algn="l"/>
                      <a:r>
                        <a:rPr sz="1275" b="0">
                          <a:solidFill>
                            <a:srgbClr val="000000"/>
                          </a:solidFill>
                          <a:latin typeface="Arial"/>
                          <a:ea typeface="Arial"/>
                          <a:cs typeface="Arial"/>
                        </a:rPr>
                        <a:t>Management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20%</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414635">
                <a:tc>
                  <a:txBody>
                    <a:bodyPr lIns="95250" tIns="66675" rIns="95250" bIns="66675">
                      <a:noAutofit/>
                    </a:bodyPr>
                    <a:lstStyle/>
                    <a:p>
                      <a:pPr algn="l"/>
                      <a:r>
                        <a:rPr sz="1275" b="0">
                          <a:solidFill>
                            <a:srgbClr val="000000"/>
                          </a:solidFill>
                          <a:latin typeface="Arial"/>
                          <a:ea typeface="Arial"/>
                          <a:cs typeface="Arial"/>
                        </a:rPr>
                        <a:t>Seed investor</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10%</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bl>
          </a:graphicData>
        </a:graphic>
      </p:graphicFrame>
      <p:sp>
        <p:nvSpPr>
          <p:cNvPr id="8" name="s9-perimeter-head">
            <a:extLst xmlns:a="http://schemas.openxmlformats.org/drawingml/2006/main">
              <a:ext uri="{FF2B5EF4-FFF2-40B4-BE49-F238E27FC236}">
                <a16:creationId xmlns:a16="http://schemas.microsoft.com/office/drawing/2014/main" id="{4A2AFE5D-0F8A-43E4-8BE8-679257B5A61E}"/>
              </a:ext>
            </a:extLst>
          </p:cNvPr>
          <p:cNvSpPr>
            <a:spLocks xmlns:a="http://schemas.openxmlformats.org/drawingml/2006/main" noGrp="1"/>
          </p:cNvSpPr>
          <p:nvPr/>
        </p:nvSpPr>
        <p:spPr>
          <a:xfrm xmlns:a="http://schemas.openxmlformats.org/drawingml/2006/main">
            <a:off x="685800" y="3381375"/>
            <a:ext cx="421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Proposed perimeter</a:t>
            </a:r>
          </a:p>
        </p:txBody>
      </p:sp>
      <p:sp>
        <p:nvSpPr>
          <p:cNvPr id="9" name="s9-perimeter">
            <a:extLst xmlns:a="http://schemas.openxmlformats.org/drawingml/2006/main">
              <a:ext uri="{FF2B5EF4-FFF2-40B4-BE49-F238E27FC236}">
                <a16:creationId xmlns:a16="http://schemas.microsoft.com/office/drawing/2014/main" id="{58033461-2B62-4AF1-AD47-57D884F13235}"/>
              </a:ext>
            </a:extLst>
          </p:cNvPr>
          <p:cNvSpPr>
            <a:spLocks xmlns:a="http://schemas.openxmlformats.org/drawingml/2006/main" noGrp="1"/>
          </p:cNvSpPr>
          <p:nvPr/>
        </p:nvSpPr>
        <p:spPr>
          <a:xfrm xmlns:a="http://schemas.openxmlformats.org/drawingml/2006/main">
            <a:off x="685800" y="3771900"/>
            <a:ext cx="421005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Shareholders are considering a 70%–100% equity sale. The proposed perimeter includes the company’s operating assets, hubs and customer contracts.</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Valuation, rollover, financing and timing remain unagreed. Legal review must confirm title and required consents.</a:t>
            </a:r>
          </a:p>
        </p:txBody>
      </p:sp>
      <p:graphicFrame>
        <p:nvGraphicFramePr>
          <p:cNvPr id="10" name="">
            <a:extLst xmlns:a="http://schemas.openxmlformats.org/drawingml/2006/main">
              <a:ext uri="{FF2B5EF4-FFF2-40B4-BE49-F238E27FC236}">
                <a16:creationId xmlns:a16="http://schemas.microsoft.com/office/drawing/2014/main" id="{618FA146-AEEE-4686-BDB0-2C45BF3C55A1}"/>
              </a:ext>
            </a:extLst>
          </p:cNvPr>
          <p:cNvGraphicFramePr/>
          <p:nvPr/>
        </p:nvGraphicFramePr>
        <p:xfrm>
          <a:off xmlns:a="http://schemas.openxmlformats.org/drawingml/2006/main" x="5276850" y="1409700"/>
          <a:ext xmlns:a="http://schemas.openxmlformats.org/drawingml/2006/main" cx="6229350" cy="2676525"/>
        </p:xfrm>
        <a:graphic xmlns:a="http://schemas.openxmlformats.org/drawingml/2006/main">
          <a:graphicData uri="http://schemas.openxmlformats.org/drawingml/2006/table">
            <a:tbl>
              <a:tblPr/>
              <a:tblGrid>
                <a:gridCol w="4480719"/>
                <a:gridCol w="1748631"/>
              </a:tblGrid>
              <a:tr h="378718">
                <a:tc>
                  <a:txBody>
                    <a:bodyPr lIns="95250" tIns="66675" rIns="95250" bIns="66675">
                      <a:noAutofit/>
                    </a:bodyPr>
                    <a:lstStyle/>
                    <a:p>
                      <a:pPr algn="l"/>
                      <a:r>
                        <a:rPr sz="1275" b="1">
                          <a:solidFill>
                            <a:srgbClr val="FFFFFF"/>
                          </a:solidFill>
                          <a:latin typeface="Arial"/>
                          <a:ea typeface="Arial"/>
                          <a:cs typeface="Arial"/>
                        </a:rPr>
                        <a:t>Draft balance / subtotal</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r"/>
                      <a:r>
                        <a:rPr sz="1275" b="1">
                          <a:solidFill>
                            <a:srgbClr val="FFFFFF"/>
                          </a:solidFill>
                          <a:latin typeface="Arial"/>
                          <a:ea typeface="Arial"/>
                          <a:cs typeface="Arial"/>
                        </a:rPr>
                        <a:t>£m</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382389">
                <a:tc>
                  <a:txBody>
                    <a:bodyPr lIns="95250" tIns="66675" rIns="95250" bIns="66675">
                      <a:noAutofit/>
                    </a:bodyPr>
                    <a:lstStyle/>
                    <a:p>
                      <a:pPr algn="l"/>
                      <a:r>
                        <a:rPr sz="1275" b="0">
                          <a:solidFill>
                            <a:srgbClr val="000000"/>
                          </a:solidFill>
                          <a:latin typeface="Arial"/>
                          <a:ea typeface="Arial"/>
                          <a:cs typeface="Arial"/>
                        </a:rPr>
                        <a:t>Cash</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2.4</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2389">
                <a:tc>
                  <a:txBody>
                    <a:bodyPr lIns="95250" tIns="66675" rIns="95250" bIns="66675">
                      <a:noAutofit/>
                    </a:bodyPr>
                    <a:lstStyle/>
                    <a:p>
                      <a:pPr algn="l"/>
                      <a:r>
                        <a:rPr sz="1275" b="0">
                          <a:solidFill>
                            <a:srgbClr val="000000"/>
                          </a:solidFill>
                          <a:latin typeface="Arial"/>
                          <a:ea typeface="Arial"/>
                          <a:cs typeface="Arial"/>
                        </a:rPr>
                        <a:t>Bank term debt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4.8</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82389">
                <a:tc>
                  <a:txBody>
                    <a:bodyPr lIns="95250" tIns="66675" rIns="95250" bIns="66675">
                      <a:noAutofit/>
                    </a:bodyPr>
                    <a:lstStyle/>
                    <a:p>
                      <a:pPr algn="l"/>
                      <a:r>
                        <a:rPr sz="1275" b="1">
                          <a:solidFill>
                            <a:srgbClr val="000000"/>
                          </a:solidFill>
                          <a:latin typeface="Arial"/>
                          <a:ea typeface="Arial"/>
                          <a:cs typeface="Arial"/>
                        </a:rPr>
                        <a:t>Bank debt less cash only</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1">
                          <a:solidFill>
                            <a:srgbClr val="000000"/>
                          </a:solidFill>
                          <a:latin typeface="Arial"/>
                          <a:ea typeface="Arial"/>
                          <a:cs typeface="Arial"/>
                        </a:rPr>
                        <a:t>2.4</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2389">
                <a:tc>
                  <a:txBody>
                    <a:bodyPr lIns="95250" tIns="66675" rIns="95250" bIns="66675">
                      <a:noAutofit/>
                    </a:bodyPr>
                    <a:lstStyle/>
                    <a:p>
                      <a:pPr algn="l"/>
                      <a:r>
                        <a:rPr sz="1275" b="0">
                          <a:solidFill>
                            <a:srgbClr val="000000"/>
                          </a:solidFill>
                          <a:latin typeface="Arial"/>
                          <a:ea typeface="Arial"/>
                          <a:cs typeface="Arial"/>
                        </a:rPr>
                        <a:t>Trade receivables / inventory</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0">
                          <a:solidFill>
                            <a:srgbClr val="000000"/>
                          </a:solidFill>
                          <a:latin typeface="Arial"/>
                          <a:ea typeface="Arial"/>
                          <a:cs typeface="Arial"/>
                        </a:rPr>
                        <a:t>4.2 / 0.6</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382389">
                <a:tc>
                  <a:txBody>
                    <a:bodyPr lIns="95250" tIns="66675" rIns="95250" bIns="66675">
                      <a:noAutofit/>
                    </a:bodyPr>
                    <a:lstStyle/>
                    <a:p>
                      <a:pPr algn="l"/>
                      <a:r>
                        <a:rPr sz="1275" b="0">
                          <a:solidFill>
                            <a:srgbClr val="000000"/>
                          </a:solidFill>
                          <a:latin typeface="Arial"/>
                          <a:ea typeface="Arial"/>
                          <a:cs typeface="Arial"/>
                        </a:rPr>
                        <a:t>Trade payables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r"/>
                      <a:r>
                        <a:rPr sz="1275" b="0">
                          <a:solidFill>
                            <a:srgbClr val="000000"/>
                          </a:solidFill>
                          <a:latin typeface="Arial"/>
                          <a:ea typeface="Arial"/>
                          <a:cs typeface="Arial"/>
                        </a:rPr>
                        <a:t>2.1</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382687">
                <a:tc>
                  <a:txBody>
                    <a:bodyPr lIns="95250" tIns="66675" rIns="95250" bIns="66675">
                      <a:noAutofit/>
                    </a:bodyPr>
                    <a:lstStyle/>
                    <a:p>
                      <a:pPr algn="l"/>
                      <a:r>
                        <a:rPr sz="1275" b="1">
                          <a:solidFill>
                            <a:srgbClr val="000000"/>
                          </a:solidFill>
                          <a:latin typeface="Arial"/>
                          <a:ea typeface="Arial"/>
                          <a:cs typeface="Arial"/>
                        </a:rPr>
                        <a:t>Trade working capital only</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r"/>
                      <a:r>
                        <a:rPr sz="1275" b="1">
                          <a:solidFill>
                            <a:srgbClr val="000000"/>
                          </a:solidFill>
                          <a:latin typeface="Arial"/>
                          <a:ea typeface="Arial"/>
                          <a:cs typeface="Arial"/>
                        </a:rPr>
                        <a:t>2.7</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11" name="s9-limits-head">
            <a:extLst xmlns:a="http://schemas.openxmlformats.org/drawingml/2006/main">
              <a:ext uri="{FF2B5EF4-FFF2-40B4-BE49-F238E27FC236}">
                <a16:creationId xmlns:a16="http://schemas.microsoft.com/office/drawing/2014/main" id="{DF537C2C-1645-4F02-8132-0AF3CDD6C5DB}"/>
              </a:ext>
            </a:extLst>
          </p:cNvPr>
          <p:cNvSpPr>
            <a:spLocks xmlns:a="http://schemas.openxmlformats.org/drawingml/2006/main" noGrp="1"/>
          </p:cNvSpPr>
          <p:nvPr/>
        </p:nvSpPr>
        <p:spPr>
          <a:xfrm xmlns:a="http://schemas.openxmlformats.org/drawingml/2006/main">
            <a:off x="5276850" y="4381500"/>
            <a:ext cx="6229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00338D"/>
                </a:solidFill>
                <a:latin typeface="Arial"/>
                <a:ea typeface="Arial"/>
                <a:cs typeface="Arial"/>
              </a:defRPr>
            </a:defPPr>
            <a:lvl1pPr algn="l">
              <a:defRPr sz="1575" b="1">
                <a:solidFill>
                  <a:srgbClr val="00338D"/>
                </a:solidFill>
                <a:latin typeface="Arial"/>
                <a:ea typeface="Arial"/>
                <a:cs typeface="Arial"/>
              </a:defRPr>
            </a:lvl1pPr>
            <a:lvl2pPr algn="l">
              <a:defRPr sz="1575" b="1">
                <a:solidFill>
                  <a:srgbClr val="00338D"/>
                </a:solidFill>
                <a:latin typeface="Arial"/>
                <a:ea typeface="Arial"/>
                <a:cs typeface="Arial"/>
              </a:defRPr>
            </a:lvl2pPr>
            <a:lvl3pPr algn="l">
              <a:defRPr sz="1575" b="1">
                <a:solidFill>
                  <a:srgbClr val="00338D"/>
                </a:solidFill>
                <a:latin typeface="Arial"/>
                <a:ea typeface="Arial"/>
                <a:cs typeface="Arial"/>
              </a:defRPr>
            </a:lvl3pPr>
            <a:lvl4pPr algn="l">
              <a:defRPr sz="1575" b="1">
                <a:solidFill>
                  <a:srgbClr val="00338D"/>
                </a:solidFill>
                <a:latin typeface="Arial"/>
                <a:ea typeface="Arial"/>
                <a:cs typeface="Arial"/>
              </a:defRPr>
            </a:lvl4pPr>
            <a:lvl5pPr algn="l">
              <a:defRPr sz="1575" b="1">
                <a:solidFill>
                  <a:srgbClr val="00338D"/>
                </a:solidFill>
                <a:latin typeface="Arial"/>
                <a:ea typeface="Arial"/>
                <a:cs typeface="Arial"/>
              </a:defRPr>
            </a:lvl5pPr>
            <a:lvl6pPr algn="l">
              <a:defRPr sz="1575" b="1">
                <a:solidFill>
                  <a:srgbClr val="00338D"/>
                </a:solidFill>
                <a:latin typeface="Arial"/>
                <a:ea typeface="Arial"/>
                <a:cs typeface="Arial"/>
              </a:defRPr>
            </a:lvl6pPr>
            <a:lvl7pPr algn="l">
              <a:defRPr sz="1575" b="1">
                <a:solidFill>
                  <a:srgbClr val="00338D"/>
                </a:solidFill>
                <a:latin typeface="Arial"/>
                <a:ea typeface="Arial"/>
                <a:cs typeface="Arial"/>
              </a:defRPr>
            </a:lvl7pPr>
            <a:lvl8pPr algn="l">
              <a:defRPr sz="1575" b="1">
                <a:solidFill>
                  <a:srgbClr val="00338D"/>
                </a:solidFill>
                <a:latin typeface="Arial"/>
                <a:ea typeface="Arial"/>
                <a:cs typeface="Arial"/>
              </a:defRPr>
            </a:lvl8pPr>
            <a:lvl9pPr algn="l">
              <a:defRPr sz="1575" b="1">
                <a:solidFill>
                  <a:srgbClr val="00338D"/>
                </a:solidFill>
                <a:latin typeface="Arial"/>
                <a:ea typeface="Arial"/>
                <a:cs typeface="Arial"/>
              </a:defRPr>
            </a:lvl9pPr>
          </a:lstStyle>
          <a:p xmlns:a="http://schemas.openxmlformats.org/drawingml/2006/main">
            <a:pPr algn="l">
              <a:defRPr sz="1575" b="1">
                <a:solidFill>
                  <a:srgbClr val="00338D"/>
                </a:solidFill>
                <a:latin typeface="Arial"/>
                <a:ea typeface="Arial"/>
                <a:cs typeface="Arial"/>
              </a:defRPr>
            </a:pPr>
            <a:r>
              <a:rPr sz="1575" b="1">
                <a:solidFill>
                  <a:srgbClr val="00338D"/>
                </a:solidFill>
                <a:latin typeface="Arial"/>
                <a:ea typeface="Arial"/>
                <a:cs typeface="Arial"/>
              </a:rPr>
              <a:t>Limitations of the draft balances</a:t>
            </a:r>
          </a:p>
        </p:txBody>
      </p:sp>
      <p:sp>
        <p:nvSpPr>
          <p:cNvPr id="12" name="s9-limits">
            <a:extLst xmlns:a="http://schemas.openxmlformats.org/drawingml/2006/main">
              <a:ext uri="{FF2B5EF4-FFF2-40B4-BE49-F238E27FC236}">
                <a16:creationId xmlns:a16="http://schemas.microsoft.com/office/drawing/2014/main" id="{49025D55-5B82-492C-8BEA-AE2604B9EC26}"/>
              </a:ext>
            </a:extLst>
          </p:cNvPr>
          <p:cNvSpPr>
            <a:spLocks xmlns:a="http://schemas.openxmlformats.org/drawingml/2006/main" noGrp="1"/>
          </p:cNvSpPr>
          <p:nvPr/>
        </p:nvSpPr>
        <p:spPr>
          <a:xfrm xmlns:a="http://schemas.openxmlformats.org/drawingml/2006/main">
            <a:off x="5276850" y="4781550"/>
            <a:ext cx="62293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Lease liabilities, tax, debt-like items and restricted cash have not been assessed. Monthly working-capital seasonality and other balances are missing.</a:t>
            </a:r>
          </a:p>
          <a:p xmlns:a="http://schemas.openxmlformats.org/drawingml/2006/main">
            <a:r>
              <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The limited subtotals do not establish transaction net debt, normalised working capital or an enterprise-to-equity bridge.</a:t>
            </a:r>
          </a:p>
        </p:txBody>
      </p:sp>
    </p:spTree>
    <p:extLst>
      <p:ext uri="{BB962C8B-B14F-4D97-AF65-F5344CB8AC3E}">
        <p14:creationId xmlns:p14="http://schemas.microsoft.com/office/powerpoint/2010/main" val="18706751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10-section">
            <a:extLst xmlns:a="http://schemas.openxmlformats.org/drawingml/2006/main">
              <a:ext uri="{FF2B5EF4-FFF2-40B4-BE49-F238E27FC236}">
                <a16:creationId xmlns:a16="http://schemas.microsoft.com/office/drawing/2014/main" id="{D3236C85-EEAC-4476-8906-9ED519035A98}"/>
              </a:ext>
            </a:extLst>
          </p:cNvPr>
          <p:cNvSpPr>
            <a:spLocks xmlns:a="http://schemas.openxmlformats.org/drawingml/2006/main" noGrp="1"/>
          </p:cNvSpPr>
          <p:nvPr/>
        </p:nvSpPr>
        <p:spPr>
          <a:xfrm xmlns:a="http://schemas.openxmlformats.org/drawingml/2006/main">
            <a:off x="685800" y="2667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0338D"/>
                </a:solidFill>
                <a:latin typeface="Arial"/>
                <a:ea typeface="Arial"/>
                <a:cs typeface="Arial"/>
              </a:defRPr>
            </a:defPPr>
            <a:lvl1pPr algn="l">
              <a:defRPr sz="1200" b="1">
                <a:solidFill>
                  <a:srgbClr val="00338D"/>
                </a:solidFill>
                <a:latin typeface="Arial"/>
                <a:ea typeface="Arial"/>
                <a:cs typeface="Arial"/>
              </a:defRPr>
            </a:lvl1pPr>
            <a:lvl2pPr algn="l">
              <a:defRPr sz="1200" b="1">
                <a:solidFill>
                  <a:srgbClr val="00338D"/>
                </a:solidFill>
                <a:latin typeface="Arial"/>
                <a:ea typeface="Arial"/>
                <a:cs typeface="Arial"/>
              </a:defRPr>
            </a:lvl2pPr>
            <a:lvl3pPr algn="l">
              <a:defRPr sz="1200" b="1">
                <a:solidFill>
                  <a:srgbClr val="00338D"/>
                </a:solidFill>
                <a:latin typeface="Arial"/>
                <a:ea typeface="Arial"/>
                <a:cs typeface="Arial"/>
              </a:defRPr>
            </a:lvl3pPr>
            <a:lvl4pPr algn="l">
              <a:defRPr sz="1200" b="1">
                <a:solidFill>
                  <a:srgbClr val="00338D"/>
                </a:solidFill>
                <a:latin typeface="Arial"/>
                <a:ea typeface="Arial"/>
                <a:cs typeface="Arial"/>
              </a:defRPr>
            </a:lvl4pPr>
            <a:lvl5pPr algn="l">
              <a:defRPr sz="1200" b="1">
                <a:solidFill>
                  <a:srgbClr val="00338D"/>
                </a:solidFill>
                <a:latin typeface="Arial"/>
                <a:ea typeface="Arial"/>
                <a:cs typeface="Arial"/>
              </a:defRPr>
            </a:lvl5pPr>
            <a:lvl6pPr algn="l">
              <a:defRPr sz="1200" b="1">
                <a:solidFill>
                  <a:srgbClr val="00338D"/>
                </a:solidFill>
                <a:latin typeface="Arial"/>
                <a:ea typeface="Arial"/>
                <a:cs typeface="Arial"/>
              </a:defRPr>
            </a:lvl6pPr>
            <a:lvl7pPr algn="l">
              <a:defRPr sz="1200" b="1">
                <a:solidFill>
                  <a:srgbClr val="00338D"/>
                </a:solidFill>
                <a:latin typeface="Arial"/>
                <a:ea typeface="Arial"/>
                <a:cs typeface="Arial"/>
              </a:defRPr>
            </a:lvl7pPr>
            <a:lvl8pPr algn="l">
              <a:defRPr sz="1200" b="1">
                <a:solidFill>
                  <a:srgbClr val="00338D"/>
                </a:solidFill>
                <a:latin typeface="Arial"/>
                <a:ea typeface="Arial"/>
                <a:cs typeface="Arial"/>
              </a:defRPr>
            </a:lvl8pPr>
            <a:lvl9pPr algn="l">
              <a:defRPr sz="1200" b="1">
                <a:solidFill>
                  <a:srgbClr val="00338D"/>
                </a:solidFill>
                <a:latin typeface="Arial"/>
                <a:ea typeface="Arial"/>
                <a:cs typeface="Arial"/>
              </a:defRPr>
            </a:lvl9pPr>
          </a:lstStyle>
          <a:p xmlns:a="http://schemas.openxmlformats.org/drawingml/2006/main">
            <a:pPr algn="l">
              <a:defRPr sz="1200" b="1">
                <a:solidFill>
                  <a:srgbClr val="00338D"/>
                </a:solidFill>
                <a:latin typeface="Arial"/>
                <a:ea typeface="Arial"/>
                <a:cs typeface="Arial"/>
              </a:defRPr>
            </a:pPr>
            <a:r>
              <a:rPr sz="1200" b="1">
                <a:solidFill>
                  <a:srgbClr val="00338D"/>
                </a:solidFill>
                <a:latin typeface="Arial"/>
                <a:ea typeface="Arial"/>
                <a:cs typeface="Arial"/>
              </a:rPr>
              <a:t>Diligence agenda</a:t>
            </a:r>
          </a:p>
        </p:txBody>
      </p:sp>
      <p:sp>
        <p:nvSpPr>
          <p:cNvPr id="2" name="s10-title">
            <a:extLst xmlns:a="http://schemas.openxmlformats.org/drawingml/2006/main">
              <a:ext uri="{FF2B5EF4-FFF2-40B4-BE49-F238E27FC236}">
                <a16:creationId xmlns:a16="http://schemas.microsoft.com/office/drawing/2014/main" id="{2DEAB116-C6DF-4C6A-8C6F-C5CFF95E0D58}"/>
              </a:ext>
            </a:extLst>
          </p:cNvPr>
          <p:cNvSpPr>
            <a:spLocks xmlns:a="http://schemas.openxmlformats.org/drawingml/2006/main" noGrp="1"/>
          </p:cNvSpPr>
          <p:nvPr/>
        </p:nvSpPr>
        <p:spPr>
          <a:xfrm xmlns:a="http://schemas.openxmlformats.org/drawingml/2006/main">
            <a:off x="685800" y="581025"/>
            <a:ext cx="10820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0338D"/>
                </a:solidFill>
                <a:latin typeface="Arial"/>
                <a:ea typeface="Arial"/>
                <a:cs typeface="Arial"/>
              </a:defRPr>
            </a:defPPr>
            <a:lvl1pPr algn="l">
              <a:defRPr sz="2550" b="1">
                <a:solidFill>
                  <a:srgbClr val="00338D"/>
                </a:solidFill>
                <a:latin typeface="Arial"/>
                <a:ea typeface="Arial"/>
                <a:cs typeface="Arial"/>
              </a:defRPr>
            </a:lvl1pPr>
            <a:lvl2pPr algn="l">
              <a:defRPr sz="2550" b="1">
                <a:solidFill>
                  <a:srgbClr val="00338D"/>
                </a:solidFill>
                <a:latin typeface="Arial"/>
                <a:ea typeface="Arial"/>
                <a:cs typeface="Arial"/>
              </a:defRPr>
            </a:lvl2pPr>
            <a:lvl3pPr algn="l">
              <a:defRPr sz="2550" b="1">
                <a:solidFill>
                  <a:srgbClr val="00338D"/>
                </a:solidFill>
                <a:latin typeface="Arial"/>
                <a:ea typeface="Arial"/>
                <a:cs typeface="Arial"/>
              </a:defRPr>
            </a:lvl3pPr>
            <a:lvl4pPr algn="l">
              <a:defRPr sz="2550" b="1">
                <a:solidFill>
                  <a:srgbClr val="00338D"/>
                </a:solidFill>
                <a:latin typeface="Arial"/>
                <a:ea typeface="Arial"/>
                <a:cs typeface="Arial"/>
              </a:defRPr>
            </a:lvl4pPr>
            <a:lvl5pPr algn="l">
              <a:defRPr sz="2550" b="1">
                <a:solidFill>
                  <a:srgbClr val="00338D"/>
                </a:solidFill>
                <a:latin typeface="Arial"/>
                <a:ea typeface="Arial"/>
                <a:cs typeface="Arial"/>
              </a:defRPr>
            </a:lvl5pPr>
            <a:lvl6pPr algn="l">
              <a:defRPr sz="2550" b="1">
                <a:solidFill>
                  <a:srgbClr val="00338D"/>
                </a:solidFill>
                <a:latin typeface="Arial"/>
                <a:ea typeface="Arial"/>
                <a:cs typeface="Arial"/>
              </a:defRPr>
            </a:lvl6pPr>
            <a:lvl7pPr algn="l">
              <a:defRPr sz="2550" b="1">
                <a:solidFill>
                  <a:srgbClr val="00338D"/>
                </a:solidFill>
                <a:latin typeface="Arial"/>
                <a:ea typeface="Arial"/>
                <a:cs typeface="Arial"/>
              </a:defRPr>
            </a:lvl7pPr>
            <a:lvl8pPr algn="l">
              <a:defRPr sz="2550" b="1">
                <a:solidFill>
                  <a:srgbClr val="00338D"/>
                </a:solidFill>
                <a:latin typeface="Arial"/>
                <a:ea typeface="Arial"/>
                <a:cs typeface="Arial"/>
              </a:defRPr>
            </a:lvl8pPr>
            <a:lvl9pPr algn="l">
              <a:defRPr sz="2550" b="1">
                <a:solidFill>
                  <a:srgbClr val="00338D"/>
                </a:solidFill>
                <a:latin typeface="Arial"/>
                <a:ea typeface="Arial"/>
                <a:cs typeface="Arial"/>
              </a:defRPr>
            </a:lvl9pPr>
          </a:lstStyle>
          <a:p xmlns:a="http://schemas.openxmlformats.org/drawingml/2006/main">
            <a:pPr algn="l">
              <a:defRPr sz="2550" b="1">
                <a:solidFill>
                  <a:srgbClr val="00338D"/>
                </a:solidFill>
                <a:latin typeface="Arial"/>
                <a:ea typeface="Arial"/>
                <a:cs typeface="Arial"/>
              </a:defRPr>
            </a:pPr>
            <a:r>
              <a:rPr sz="2550" b="1">
                <a:solidFill>
                  <a:srgbClr val="00338D"/>
                </a:solidFill>
                <a:latin typeface="Arial"/>
                <a:ea typeface="Arial"/>
                <a:cs typeface="Arial"/>
              </a:rPr>
              <a:t>Outstanding diligence and preparation priorities</a:t>
            </a:r>
          </a:p>
        </p:txBody>
      </p:sp>
      <p:sp>
        <p:nvSpPr>
          <p:cNvPr id="3" name="s10-source">
            <a:extLst xmlns:a="http://schemas.openxmlformats.org/drawingml/2006/main">
              <a:ext uri="{FF2B5EF4-FFF2-40B4-BE49-F238E27FC236}">
                <a16:creationId xmlns:a16="http://schemas.microsoft.com/office/drawing/2014/main" id="{DC8EEEB5-586E-4759-A757-3E78FCC3BEE3}"/>
              </a:ext>
            </a:extLst>
          </p:cNvPr>
          <p:cNvSpPr>
            <a:spLocks xmlns:a="http://schemas.openxmlformats.org/drawingml/2006/main" noGrp="1"/>
          </p:cNvSpPr>
          <p:nvPr/>
        </p:nvSpPr>
        <p:spPr>
          <a:xfrm xmlns:a="http://schemas.openxmlformats.org/drawingml/2006/main">
            <a:off x="685800" y="61912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00338D"/>
                </a:solidFill>
                <a:latin typeface="Arial"/>
                <a:ea typeface="Arial"/>
                <a:cs typeface="Arial"/>
              </a:defRPr>
            </a:defPPr>
            <a:lvl1pPr algn="l">
              <a:defRPr sz="900" b="0">
                <a:solidFill>
                  <a:srgbClr val="00338D"/>
                </a:solidFill>
                <a:latin typeface="Arial"/>
                <a:ea typeface="Arial"/>
                <a:cs typeface="Arial"/>
              </a:defRPr>
            </a:lvl1pPr>
            <a:lvl2pPr algn="l">
              <a:defRPr sz="900" b="0">
                <a:solidFill>
                  <a:srgbClr val="00338D"/>
                </a:solidFill>
                <a:latin typeface="Arial"/>
                <a:ea typeface="Arial"/>
                <a:cs typeface="Arial"/>
              </a:defRPr>
            </a:lvl2pPr>
            <a:lvl3pPr algn="l">
              <a:defRPr sz="900" b="0">
                <a:solidFill>
                  <a:srgbClr val="00338D"/>
                </a:solidFill>
                <a:latin typeface="Arial"/>
                <a:ea typeface="Arial"/>
                <a:cs typeface="Arial"/>
              </a:defRPr>
            </a:lvl3pPr>
            <a:lvl4pPr algn="l">
              <a:defRPr sz="900" b="0">
                <a:solidFill>
                  <a:srgbClr val="00338D"/>
                </a:solidFill>
                <a:latin typeface="Arial"/>
                <a:ea typeface="Arial"/>
                <a:cs typeface="Arial"/>
              </a:defRPr>
            </a:lvl4pPr>
            <a:lvl5pPr algn="l">
              <a:defRPr sz="900" b="0">
                <a:solidFill>
                  <a:srgbClr val="00338D"/>
                </a:solidFill>
                <a:latin typeface="Arial"/>
                <a:ea typeface="Arial"/>
                <a:cs typeface="Arial"/>
              </a:defRPr>
            </a:lvl5pPr>
            <a:lvl6pPr algn="l">
              <a:defRPr sz="900" b="0">
                <a:solidFill>
                  <a:srgbClr val="00338D"/>
                </a:solidFill>
                <a:latin typeface="Arial"/>
                <a:ea typeface="Arial"/>
                <a:cs typeface="Arial"/>
              </a:defRPr>
            </a:lvl6pPr>
            <a:lvl7pPr algn="l">
              <a:defRPr sz="900" b="0">
                <a:solidFill>
                  <a:srgbClr val="00338D"/>
                </a:solidFill>
                <a:latin typeface="Arial"/>
                <a:ea typeface="Arial"/>
                <a:cs typeface="Arial"/>
              </a:defRPr>
            </a:lvl7pPr>
            <a:lvl8pPr algn="l">
              <a:defRPr sz="900" b="0">
                <a:solidFill>
                  <a:srgbClr val="00338D"/>
                </a:solidFill>
                <a:latin typeface="Arial"/>
                <a:ea typeface="Arial"/>
                <a:cs typeface="Arial"/>
              </a:defRPr>
            </a:lvl8pPr>
            <a:lvl9pPr algn="l">
              <a:defRPr sz="900" b="0">
                <a:solidFill>
                  <a:srgbClr val="00338D"/>
                </a:solidFill>
                <a:latin typeface="Arial"/>
                <a:ea typeface="Arial"/>
                <a:cs typeface="Arial"/>
              </a:defRPr>
            </a:lvl9pPr>
          </a:lstStyle>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Sources: 05 commercial interview; 07 service KPIs; 10 CFO follow-up; 11 forecast bridge; 13 transaction workshop.</a:t>
            </a:r>
          </a:p>
          <a:p xmlns:a="http://schemas.openxmlformats.org/drawingml/2006/main">
            <a:pPr algn="l">
              <a:defRPr sz="900" b="0">
                <a:solidFill>
                  <a:srgbClr val="00338D"/>
                </a:solidFill>
                <a:latin typeface="Arial"/>
                <a:ea typeface="Arial"/>
                <a:cs typeface="Arial"/>
              </a:defRPr>
            </a:pPr>
            <a:r>
              <a:rPr sz="900" b="0">
                <a:solidFill>
                  <a:srgbClr val="00338D"/>
                </a:solidFill>
                <a:latin typeface="Arial"/>
                <a:ea typeface="Arial"/>
                <a:cs typeface="Arial"/>
              </a:rPr>
              <a:t>Responsibility indicates management preparation ownership. External diligence appointments remain open.</a:t>
            </a:r>
          </a:p>
        </p:txBody>
      </p:sp>
      <p:sp>
        <p:nvSpPr>
          <p:cNvPr id="4" name="s10-footer-rule">
            <a:extLst xmlns:a="http://schemas.openxmlformats.org/drawingml/2006/main">
              <a:ext uri="{FF2B5EF4-FFF2-40B4-BE49-F238E27FC236}">
                <a16:creationId xmlns:a16="http://schemas.microsoft.com/office/drawing/2014/main" id="{331762F7-879D-4076-9DF3-CE5642167AD0}"/>
              </a:ext>
            </a:extLst>
          </p:cNvPr>
          <p:cNvSpPr>
            <a:spLocks xmlns:a="http://schemas.openxmlformats.org/drawingml/2006/main" noGrp="1"/>
          </p:cNvSpPr>
          <p:nvPr/>
        </p:nvSpPr>
        <p:spPr>
          <a:xfrm xmlns:a="http://schemas.openxmlformats.org/drawingml/2006/main">
            <a:off x="685800" y="6581775"/>
            <a:ext cx="10820400" cy="9525"/>
          </a:xfrm>
          <a:prstGeom xmlns:a="http://schemas.openxmlformats.org/drawingml/2006/main" prst="rect">
            <a:avLst/>
          </a:prstGeom>
          <a:solidFill xmlns:a="http://schemas.openxmlformats.org/drawingml/2006/main">
            <a:srgbClr val="B8C7DF"/>
          </a:solidFill>
          <a:ln xmlns:a="http://schemas.openxmlformats.org/drawingml/2006/main" w="0">
            <a:noFill/>
          </a:ln>
        </p:spPr>
      </p:sp>
      <p:sp>
        <p:nvSpPr>
          <p:cNvPr id="5" name="s10-footer">
            <a:extLst xmlns:a="http://schemas.openxmlformats.org/drawingml/2006/main">
              <a:ext uri="{FF2B5EF4-FFF2-40B4-BE49-F238E27FC236}">
                <a16:creationId xmlns:a16="http://schemas.microsoft.com/office/drawing/2014/main" id="{336A6A47-0198-4F3E-B1E5-288297D01816}"/>
              </a:ext>
            </a:extLst>
          </p:cNvPr>
          <p:cNvSpPr>
            <a:spLocks xmlns:a="http://schemas.openxmlformats.org/drawingml/2006/main" noGrp="1"/>
          </p:cNvSpPr>
          <p:nvPr/>
        </p:nvSpPr>
        <p:spPr>
          <a:xfrm xmlns:a="http://schemas.openxmlformats.org/drawingml/2006/main">
            <a:off x="685800" y="6638925"/>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595959"/>
                </a:solidFill>
                <a:latin typeface="Arial"/>
                <a:ea typeface="Arial"/>
                <a:cs typeface="Arial"/>
              </a:defRPr>
            </a:defPPr>
            <a:lvl1pPr algn="l">
              <a:defRPr sz="825" b="0">
                <a:solidFill>
                  <a:srgbClr val="595959"/>
                </a:solidFill>
                <a:latin typeface="Arial"/>
                <a:ea typeface="Arial"/>
                <a:cs typeface="Arial"/>
              </a:defRPr>
            </a:lvl1pPr>
            <a:lvl2pPr algn="l">
              <a:defRPr sz="825" b="0">
                <a:solidFill>
                  <a:srgbClr val="595959"/>
                </a:solidFill>
                <a:latin typeface="Arial"/>
                <a:ea typeface="Arial"/>
                <a:cs typeface="Arial"/>
              </a:defRPr>
            </a:lvl2pPr>
            <a:lvl3pPr algn="l">
              <a:defRPr sz="825" b="0">
                <a:solidFill>
                  <a:srgbClr val="595959"/>
                </a:solidFill>
                <a:latin typeface="Arial"/>
                <a:ea typeface="Arial"/>
                <a:cs typeface="Arial"/>
              </a:defRPr>
            </a:lvl3pPr>
            <a:lvl4pPr algn="l">
              <a:defRPr sz="825" b="0">
                <a:solidFill>
                  <a:srgbClr val="595959"/>
                </a:solidFill>
                <a:latin typeface="Arial"/>
                <a:ea typeface="Arial"/>
                <a:cs typeface="Arial"/>
              </a:defRPr>
            </a:lvl4pPr>
            <a:lvl5pPr algn="l">
              <a:defRPr sz="825" b="0">
                <a:solidFill>
                  <a:srgbClr val="595959"/>
                </a:solidFill>
                <a:latin typeface="Arial"/>
                <a:ea typeface="Arial"/>
                <a:cs typeface="Arial"/>
              </a:defRPr>
            </a:lvl5pPr>
            <a:lvl6pPr algn="l">
              <a:defRPr sz="825" b="0">
                <a:solidFill>
                  <a:srgbClr val="595959"/>
                </a:solidFill>
                <a:latin typeface="Arial"/>
                <a:ea typeface="Arial"/>
                <a:cs typeface="Arial"/>
              </a:defRPr>
            </a:lvl6pPr>
            <a:lvl7pPr algn="l">
              <a:defRPr sz="825" b="0">
                <a:solidFill>
                  <a:srgbClr val="595959"/>
                </a:solidFill>
                <a:latin typeface="Arial"/>
                <a:ea typeface="Arial"/>
                <a:cs typeface="Arial"/>
              </a:defRPr>
            </a:lvl7pPr>
            <a:lvl8pPr algn="l">
              <a:defRPr sz="825" b="0">
                <a:solidFill>
                  <a:srgbClr val="595959"/>
                </a:solidFill>
                <a:latin typeface="Arial"/>
                <a:ea typeface="Arial"/>
                <a:cs typeface="Arial"/>
              </a:defRPr>
            </a:lvl8pPr>
            <a:lvl9pPr algn="l">
              <a:defRPr sz="825" b="0">
                <a:solidFill>
                  <a:srgbClr val="595959"/>
                </a:solidFill>
                <a:latin typeface="Arial"/>
                <a:ea typeface="Arial"/>
                <a:cs typeface="Arial"/>
              </a:defRPr>
            </a:lvl9pPr>
          </a:lstStyle>
          <a:p xmlns:a="http://schemas.openxmlformats.org/drawingml/2006/main">
            <a:pPr algn="l">
              <a:defRPr sz="825" b="0">
                <a:solidFill>
                  <a:srgbClr val="595959"/>
                </a:solidFill>
                <a:latin typeface="Arial"/>
                <a:ea typeface="Arial"/>
                <a:cs typeface="Arial"/>
              </a:defRPr>
            </a:pPr>
            <a:r>
              <a:rPr sz="825" b="0">
                <a:solidFill>
                  <a:srgbClr val="595959"/>
                </a:solidFill>
                <a:latin typeface="Arial"/>
                <a:ea typeface="Arial"/>
                <a:cs typeface="Arial"/>
              </a:rPr>
              <a:t>NORTHBRIDGE     FICTIONAL TRAINING CASE     January 2026</a:t>
            </a:r>
          </a:p>
        </p:txBody>
      </p:sp>
      <p:sp>
        <p:nvSpPr>
          <p:cNvPr id="6" name="s10-number">
            <a:extLst xmlns:a="http://schemas.openxmlformats.org/drawingml/2006/main">
              <a:ext uri="{FF2B5EF4-FFF2-40B4-BE49-F238E27FC236}">
                <a16:creationId xmlns:a16="http://schemas.microsoft.com/office/drawing/2014/main" id="{D28DA225-AFE2-420E-A74D-7DDE370F2D12}"/>
              </a:ext>
            </a:extLst>
          </p:cNvPr>
          <p:cNvSpPr>
            <a:spLocks xmlns:a="http://schemas.openxmlformats.org/drawingml/2006/main" noGrp="1"/>
          </p:cNvSpPr>
          <p:nvPr/>
        </p:nvSpPr>
        <p:spPr>
          <a:xfrm xmlns:a="http://schemas.openxmlformats.org/drawingml/2006/main">
            <a:off x="11144250" y="6638925"/>
            <a:ext cx="3619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 b="0">
                <a:solidFill>
                  <a:srgbClr val="00338D"/>
                </a:solidFill>
                <a:latin typeface="Arial"/>
                <a:ea typeface="Arial"/>
                <a:cs typeface="Arial"/>
              </a:defRPr>
            </a:defPPr>
            <a:lvl1pPr algn="l">
              <a:defRPr sz="825" b="0">
                <a:solidFill>
                  <a:srgbClr val="00338D"/>
                </a:solidFill>
                <a:latin typeface="Arial"/>
                <a:ea typeface="Arial"/>
                <a:cs typeface="Arial"/>
              </a:defRPr>
            </a:lvl1pPr>
            <a:lvl2pPr algn="l">
              <a:defRPr sz="825" b="0">
                <a:solidFill>
                  <a:srgbClr val="00338D"/>
                </a:solidFill>
                <a:latin typeface="Arial"/>
                <a:ea typeface="Arial"/>
                <a:cs typeface="Arial"/>
              </a:defRPr>
            </a:lvl2pPr>
            <a:lvl3pPr algn="l">
              <a:defRPr sz="825" b="0">
                <a:solidFill>
                  <a:srgbClr val="00338D"/>
                </a:solidFill>
                <a:latin typeface="Arial"/>
                <a:ea typeface="Arial"/>
                <a:cs typeface="Arial"/>
              </a:defRPr>
            </a:lvl3pPr>
            <a:lvl4pPr algn="l">
              <a:defRPr sz="825" b="0">
                <a:solidFill>
                  <a:srgbClr val="00338D"/>
                </a:solidFill>
                <a:latin typeface="Arial"/>
                <a:ea typeface="Arial"/>
                <a:cs typeface="Arial"/>
              </a:defRPr>
            </a:lvl4pPr>
            <a:lvl5pPr algn="l">
              <a:defRPr sz="825" b="0">
                <a:solidFill>
                  <a:srgbClr val="00338D"/>
                </a:solidFill>
                <a:latin typeface="Arial"/>
                <a:ea typeface="Arial"/>
                <a:cs typeface="Arial"/>
              </a:defRPr>
            </a:lvl5pPr>
            <a:lvl6pPr algn="l">
              <a:defRPr sz="825" b="0">
                <a:solidFill>
                  <a:srgbClr val="00338D"/>
                </a:solidFill>
                <a:latin typeface="Arial"/>
                <a:ea typeface="Arial"/>
                <a:cs typeface="Arial"/>
              </a:defRPr>
            </a:lvl6pPr>
            <a:lvl7pPr algn="l">
              <a:defRPr sz="825" b="0">
                <a:solidFill>
                  <a:srgbClr val="00338D"/>
                </a:solidFill>
                <a:latin typeface="Arial"/>
                <a:ea typeface="Arial"/>
                <a:cs typeface="Arial"/>
              </a:defRPr>
            </a:lvl7pPr>
            <a:lvl8pPr algn="l">
              <a:defRPr sz="825" b="0">
                <a:solidFill>
                  <a:srgbClr val="00338D"/>
                </a:solidFill>
                <a:latin typeface="Arial"/>
                <a:ea typeface="Arial"/>
                <a:cs typeface="Arial"/>
              </a:defRPr>
            </a:lvl8pPr>
            <a:lvl9pPr algn="l">
              <a:defRPr sz="825" b="0">
                <a:solidFill>
                  <a:srgbClr val="00338D"/>
                </a:solidFill>
                <a:latin typeface="Arial"/>
                <a:ea typeface="Arial"/>
                <a:cs typeface="Arial"/>
              </a:defRPr>
            </a:lvl9pPr>
          </a:lstStyle>
          <a:p xmlns:a="http://schemas.openxmlformats.org/drawingml/2006/main">
            <a:pPr algn="l">
              <a:defRPr sz="825" b="0">
                <a:solidFill>
                  <a:srgbClr val="00338D"/>
                </a:solidFill>
                <a:latin typeface="Arial"/>
                <a:ea typeface="Arial"/>
                <a:cs typeface="Arial"/>
              </a:defRPr>
            </a:pPr>
            <a:r>
              <a:rPr sz="825" b="0">
                <a:solidFill>
                  <a:srgbClr val="00338D"/>
                </a:solidFill>
                <a:latin typeface="Arial"/>
                <a:ea typeface="Arial"/>
                <a:cs typeface="Arial"/>
              </a:rPr>
              <a:t>10</a:t>
            </a:r>
          </a:p>
        </p:txBody>
      </p:sp>
      <p:graphicFrame>
        <p:nvGraphicFramePr>
          <p:cNvPr id="7" name="">
            <a:extLst xmlns:a="http://schemas.openxmlformats.org/drawingml/2006/main">
              <a:ext uri="{FF2B5EF4-FFF2-40B4-BE49-F238E27FC236}">
                <a16:creationId xmlns:a16="http://schemas.microsoft.com/office/drawing/2014/main" id="{A2212206-E427-4799-8669-D70D8A75AADF}"/>
              </a:ext>
            </a:extLst>
          </p:cNvPr>
          <p:cNvGraphicFramePr/>
          <p:nvPr/>
        </p:nvGraphicFramePr>
        <p:xfrm>
          <a:off xmlns:a="http://schemas.openxmlformats.org/drawingml/2006/main" x="685800" y="1409700"/>
          <a:ext xmlns:a="http://schemas.openxmlformats.org/drawingml/2006/main" cx="10820400" cy="4200525"/>
        </p:xfrm>
        <a:graphic xmlns:a="http://schemas.openxmlformats.org/drawingml/2006/main">
          <a:graphicData uri="http://schemas.openxmlformats.org/drawingml/2006/table">
            <a:tbl>
              <a:tblPr/>
              <a:tblGrid>
                <a:gridCol w="1714698"/>
                <a:gridCol w="3665835"/>
                <a:gridCol w="4138910"/>
                <a:gridCol w="1300956"/>
              </a:tblGrid>
              <a:tr h="397570">
                <a:tc>
                  <a:txBody>
                    <a:bodyPr lIns="95250" tIns="66675" rIns="95250" bIns="66675">
                      <a:noAutofit/>
                    </a:bodyPr>
                    <a:lstStyle/>
                    <a:p>
                      <a:pPr algn="l"/>
                      <a:r>
                        <a:rPr sz="1275" b="1">
                          <a:solidFill>
                            <a:srgbClr val="FFFFFF"/>
                          </a:solidFill>
                          <a:latin typeface="Arial"/>
                          <a:ea typeface="Arial"/>
                          <a:cs typeface="Arial"/>
                        </a:rPr>
                        <a:t>Workstream</a:t>
                      </a:r>
                    </a:p>
                  </a:txBody>
                  <a:tcPr marL="91440" marR="91440" marT="45720" marB="45720" anchor="ctr">
                    <a:lnL w="9525">
                      <a:solidFill>
                        <a:srgbClr val="B8C7DF"/>
                      </a:solidFill>
                      <a:prstDash val="solid"/>
                    </a:lnL>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Evidence now available</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Next evidence required</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c>
                  <a:txBody>
                    <a:bodyPr lIns="95250" tIns="66675" rIns="95250" bIns="66675">
                      <a:noAutofit/>
                    </a:bodyPr>
                    <a:lstStyle/>
                    <a:p>
                      <a:pPr algn="l"/>
                      <a:r>
                        <a:rPr sz="1275" b="1">
                          <a:solidFill>
                            <a:srgbClr val="FFFFFF"/>
                          </a:solidFill>
                          <a:latin typeface="Arial"/>
                          <a:ea typeface="Arial"/>
                          <a:cs typeface="Arial"/>
                        </a:rPr>
                        <a:t>Owner</a:t>
                      </a:r>
                    </a:p>
                  </a:txBody>
                  <a:tcPr marL="91440" marR="91440" marT="45720" marB="45720" anchor="ctr">
                    <a:lnR w="9525">
                      <a:solidFill>
                        <a:srgbClr val="B8C7DF"/>
                      </a:solidFill>
                      <a:prstDash val="solid"/>
                    </a:lnR>
                    <a:lnT w="9525">
                      <a:solidFill>
                        <a:srgbClr val="B8C7DF"/>
                      </a:solidFill>
                      <a:prstDash val="solid"/>
                    </a:lnT>
                    <a:lnB w="9525">
                      <a:solidFill>
                        <a:srgbClr val="B8C7DF"/>
                      </a:solidFill>
                      <a:prstDash val="solid"/>
                    </a:lnB>
                    <a:solidFill>
                      <a:srgbClr val="00338D"/>
                    </a:solidFill>
                  </a:tcPr>
                </a:tc>
              </a:tr>
              <a:tr h="633214">
                <a:tc>
                  <a:txBody>
                    <a:bodyPr lIns="95250" tIns="66675" rIns="95250" bIns="66675">
                      <a:noAutofit/>
                    </a:bodyPr>
                    <a:lstStyle/>
                    <a:p>
                      <a:pPr algn="l"/>
                      <a:r>
                        <a:rPr sz="1275" b="0">
                          <a:solidFill>
                            <a:srgbClr val="000000"/>
                          </a:solidFill>
                          <a:latin typeface="Arial"/>
                          <a:ea typeface="Arial"/>
                          <a:cs typeface="Arial"/>
                        </a:rPr>
                        <a:t>Revenue and QoE</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Annual and quarterly figures agree. Earlier revenue discrepancy remains.</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Ledger reconciliation, cut-off evidence and support for any adjustments.</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CFO</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633214">
                <a:tc>
                  <a:txBody>
                    <a:bodyPr lIns="95250" tIns="66675" rIns="95250" bIns="66675">
                      <a:noAutofit/>
                    </a:bodyPr>
                    <a:lstStyle/>
                    <a:p>
                      <a:pPr algn="l"/>
                      <a:r>
                        <a:rPr sz="1275" b="0">
                          <a:solidFill>
                            <a:srgbClr val="000000"/>
                          </a:solidFill>
                          <a:latin typeface="Arial"/>
                          <a:ea typeface="Arial"/>
                          <a:cs typeface="Arial"/>
                        </a:rPr>
                        <a:t>Balance sheet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Draft cash, bank debt and trade balances.</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Full cash/debt-like schedules and monthly working capital.</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CFO</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633214">
                <a:tc>
                  <a:txBody>
                    <a:bodyPr lIns="95250" tIns="66675" rIns="95250" bIns="66675">
                      <a:noAutofit/>
                    </a:bodyPr>
                    <a:lstStyle/>
                    <a:p>
                      <a:pPr algn="l"/>
                      <a:r>
                        <a:rPr sz="1275" b="0">
                          <a:solidFill>
                            <a:srgbClr val="000000"/>
                          </a:solidFill>
                          <a:latin typeface="Arial"/>
                          <a:ea typeface="Arial"/>
                          <a:cs typeface="Arial"/>
                        </a:rPr>
                        <a:t>Customer quality</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Defined 25-agreement renewal cohort and expiry schedule.</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Contract review, cohort validation and customer retention definition.</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CEO</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633214">
                <a:tc>
                  <a:txBody>
                    <a:bodyPr lIns="95250" tIns="66675" rIns="95250" bIns="66675">
                      <a:noAutofit/>
                    </a:bodyPr>
                    <a:lstStyle/>
                    <a:p>
                      <a:pPr algn="l"/>
                      <a:r>
                        <a:rPr sz="1275" b="0">
                          <a:solidFill>
                            <a:srgbClr val="000000"/>
                          </a:solidFill>
                          <a:latin typeface="Arial"/>
                          <a:ea typeface="Arial"/>
                          <a:cs typeface="Arial"/>
                        </a:rPr>
                        <a:t>Operations</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Hub staffing and KPIs with stated denominators.</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Job records, staffing capacity, hiring costs and productivity timing.</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COO</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r h="633214">
                <a:tc>
                  <a:txBody>
                    <a:bodyPr lIns="95250" tIns="66675" rIns="95250" bIns="66675">
                      <a:noAutofit/>
                    </a:bodyPr>
                    <a:lstStyle/>
                    <a:p>
                      <a:pPr algn="l"/>
                      <a:r>
                        <a:rPr sz="1275" b="0">
                          <a:solidFill>
                            <a:srgbClr val="000000"/>
                          </a:solidFill>
                          <a:latin typeface="Arial"/>
                          <a:ea typeface="Arial"/>
                          <a:cs typeface="Arial"/>
                        </a:rPr>
                        <a:t>Forecast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Group revenue bridge and unsigned opportunity pipeline.</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Customer bridge, signed awards and evidence for pricing/cross-sell.</a:t>
                      </a:r>
                    </a:p>
                  </a:txBody>
                  <a:tcPr marL="91440" marR="91440" marT="45720" marB="45720" anchor="ctr">
                    <a:lnR w="9525">
                      <a:solidFill>
                        <a:srgbClr val="B8C7DF"/>
                      </a:solidFill>
                      <a:prstDash val="solid"/>
                    </a:lnR>
                    <a:lnB w="9525">
                      <a:solidFill>
                        <a:srgbClr val="B8C7DF"/>
                      </a:solidFill>
                      <a:prstDash val="solid"/>
                    </a:lnB>
                    <a:solidFill>
                      <a:srgbClr val="FFFFFF"/>
                    </a:solidFill>
                  </a:tcPr>
                </a:tc>
                <a:tc>
                  <a:txBody>
                    <a:bodyPr lIns="95250" tIns="66675" rIns="95250" bIns="66675">
                      <a:noAutofit/>
                    </a:bodyPr>
                    <a:lstStyle/>
                    <a:p>
                      <a:pPr algn="l"/>
                      <a:r>
                        <a:rPr sz="1275" b="0">
                          <a:solidFill>
                            <a:srgbClr val="000000"/>
                          </a:solidFill>
                          <a:latin typeface="Arial"/>
                          <a:ea typeface="Arial"/>
                          <a:cs typeface="Arial"/>
                        </a:rPr>
                        <a:t>CFO / CEO</a:t>
                      </a:r>
                    </a:p>
                  </a:txBody>
                  <a:tcPr marL="91440" marR="91440" marT="45720" marB="45720" anchor="ctr">
                    <a:lnR w="9525">
                      <a:solidFill>
                        <a:srgbClr val="B8C7DF"/>
                      </a:solidFill>
                      <a:prstDash val="solid"/>
                    </a:lnR>
                    <a:lnB w="9525">
                      <a:solidFill>
                        <a:srgbClr val="B8C7DF"/>
                      </a:solidFill>
                      <a:prstDash val="solid"/>
                    </a:lnB>
                    <a:solidFill>
                      <a:srgbClr val="FFFFFF"/>
                    </a:solidFill>
                  </a:tcPr>
                </a:tc>
              </a:tr>
              <a:tr h="633710">
                <a:tc>
                  <a:txBody>
                    <a:bodyPr lIns="95250" tIns="66675" rIns="95250" bIns="66675">
                      <a:noAutofit/>
                    </a:bodyPr>
                    <a:lstStyle/>
                    <a:p>
                      <a:pPr algn="l"/>
                      <a:r>
                        <a:rPr sz="1275" b="0">
                          <a:solidFill>
                            <a:srgbClr val="000000"/>
                          </a:solidFill>
                          <a:latin typeface="Arial"/>
                          <a:ea typeface="Arial"/>
                          <a:cs typeface="Arial"/>
                        </a:rPr>
                        <a:t>Legal and market</a:t>
                      </a:r>
                    </a:p>
                  </a:txBody>
                  <a:tcPr marL="91440" marR="91440" marT="45720" marB="45720" anchor="ctr">
                    <a:lnL w="9525">
                      <a:solidFill>
                        <a:srgbClr val="B8C7DF"/>
                      </a:solidFill>
                      <a:prstDash val="solid"/>
                    </a:lnL>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Proposed operating perimeter. No independent market study.</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Title, consent and change-of-control review. Independent market work.</a:t>
                      </a:r>
                    </a:p>
                  </a:txBody>
                  <a:tcPr marL="91440" marR="91440" marT="45720" marB="45720" anchor="ctr">
                    <a:lnR w="9525">
                      <a:solidFill>
                        <a:srgbClr val="B8C7DF"/>
                      </a:solidFill>
                      <a:prstDash val="solid"/>
                    </a:lnR>
                    <a:lnB w="9525">
                      <a:solidFill>
                        <a:srgbClr val="B8C7DF"/>
                      </a:solidFill>
                      <a:prstDash val="solid"/>
                    </a:lnB>
                    <a:solidFill>
                      <a:srgbClr val="DBE8F8"/>
                    </a:solidFill>
                  </a:tcPr>
                </a:tc>
                <a:tc>
                  <a:txBody>
                    <a:bodyPr lIns="95250" tIns="66675" rIns="95250" bIns="66675">
                      <a:noAutofit/>
                    </a:bodyPr>
                    <a:lstStyle/>
                    <a:p>
                      <a:pPr algn="l"/>
                      <a:r>
                        <a:rPr sz="1275" b="0">
                          <a:solidFill>
                            <a:srgbClr val="000000"/>
                          </a:solidFill>
                          <a:latin typeface="Arial"/>
                          <a:ea typeface="Arial"/>
                          <a:cs typeface="Arial"/>
                        </a:rPr>
                        <a:t>Legal / strategy</a:t>
                      </a:r>
                    </a:p>
                  </a:txBody>
                  <a:tcPr marL="91440" marR="91440" marT="45720" marB="45720" anchor="ctr">
                    <a:lnR w="9525">
                      <a:solidFill>
                        <a:srgbClr val="B8C7DF"/>
                      </a:solidFill>
                      <a:prstDash val="solid"/>
                    </a:lnR>
                    <a:lnB w="9525">
                      <a:solidFill>
                        <a:srgbClr val="B8C7DF"/>
                      </a:solidFill>
                      <a:prstDash val="solid"/>
                    </a:lnB>
                    <a:solidFill>
                      <a:srgbClr val="DBE8F8"/>
                    </a:solidFill>
                  </a:tcPr>
                </a:tc>
              </a:tr>
            </a:tbl>
          </a:graphicData>
        </a:graphic>
      </p:graphicFrame>
      <p:sp>
        <p:nvSpPr>
          <p:cNvPr id="8" name="s10-close">
            <a:extLst xmlns:a="http://schemas.openxmlformats.org/drawingml/2006/main">
              <a:ext uri="{FF2B5EF4-FFF2-40B4-BE49-F238E27FC236}">
                <a16:creationId xmlns:a16="http://schemas.microsoft.com/office/drawing/2014/main" id="{F64DDA48-F11E-468E-A9AE-6D45EFE39F27}"/>
              </a:ext>
            </a:extLst>
          </p:cNvPr>
          <p:cNvSpPr>
            <a:spLocks xmlns:a="http://schemas.openxmlformats.org/drawingml/2006/main" noGrp="1"/>
          </p:cNvSpPr>
          <p:nvPr/>
        </p:nvSpPr>
        <p:spPr>
          <a:xfrm xmlns:a="http://schemas.openxmlformats.org/drawingml/2006/main">
            <a:off x="685800" y="5791200"/>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00338D"/>
                </a:solidFill>
                <a:latin typeface="Arial"/>
                <a:ea typeface="Arial"/>
                <a:cs typeface="Arial"/>
              </a:defRPr>
            </a:defPPr>
            <a:lvl1pPr algn="l">
              <a:defRPr sz="1350" b="1">
                <a:solidFill>
                  <a:srgbClr val="00338D"/>
                </a:solidFill>
                <a:latin typeface="Arial"/>
                <a:ea typeface="Arial"/>
                <a:cs typeface="Arial"/>
              </a:defRPr>
            </a:lvl1pPr>
            <a:lvl2pPr algn="l">
              <a:defRPr sz="1350" b="1">
                <a:solidFill>
                  <a:srgbClr val="00338D"/>
                </a:solidFill>
                <a:latin typeface="Arial"/>
                <a:ea typeface="Arial"/>
                <a:cs typeface="Arial"/>
              </a:defRPr>
            </a:lvl2pPr>
            <a:lvl3pPr algn="l">
              <a:defRPr sz="1350" b="1">
                <a:solidFill>
                  <a:srgbClr val="00338D"/>
                </a:solidFill>
                <a:latin typeface="Arial"/>
                <a:ea typeface="Arial"/>
                <a:cs typeface="Arial"/>
              </a:defRPr>
            </a:lvl3pPr>
            <a:lvl4pPr algn="l">
              <a:defRPr sz="1350" b="1">
                <a:solidFill>
                  <a:srgbClr val="00338D"/>
                </a:solidFill>
                <a:latin typeface="Arial"/>
                <a:ea typeface="Arial"/>
                <a:cs typeface="Arial"/>
              </a:defRPr>
            </a:lvl4pPr>
            <a:lvl5pPr algn="l">
              <a:defRPr sz="1350" b="1">
                <a:solidFill>
                  <a:srgbClr val="00338D"/>
                </a:solidFill>
                <a:latin typeface="Arial"/>
                <a:ea typeface="Arial"/>
                <a:cs typeface="Arial"/>
              </a:defRPr>
            </a:lvl5pPr>
            <a:lvl6pPr algn="l">
              <a:defRPr sz="1350" b="1">
                <a:solidFill>
                  <a:srgbClr val="00338D"/>
                </a:solidFill>
                <a:latin typeface="Arial"/>
                <a:ea typeface="Arial"/>
                <a:cs typeface="Arial"/>
              </a:defRPr>
            </a:lvl6pPr>
            <a:lvl7pPr algn="l">
              <a:defRPr sz="1350" b="1">
                <a:solidFill>
                  <a:srgbClr val="00338D"/>
                </a:solidFill>
                <a:latin typeface="Arial"/>
                <a:ea typeface="Arial"/>
                <a:cs typeface="Arial"/>
              </a:defRPr>
            </a:lvl7pPr>
            <a:lvl8pPr algn="l">
              <a:defRPr sz="1350" b="1">
                <a:solidFill>
                  <a:srgbClr val="00338D"/>
                </a:solidFill>
                <a:latin typeface="Arial"/>
                <a:ea typeface="Arial"/>
                <a:cs typeface="Arial"/>
              </a:defRPr>
            </a:lvl8pPr>
            <a:lvl9pPr algn="l">
              <a:defRPr sz="1350" b="1">
                <a:solidFill>
                  <a:srgbClr val="00338D"/>
                </a:solidFill>
                <a:latin typeface="Arial"/>
                <a:ea typeface="Arial"/>
                <a:cs typeface="Arial"/>
              </a:defRPr>
            </a:lvl9pPr>
          </a:lstStyle>
          <a:p xmlns:a="http://schemas.openxmlformats.org/drawingml/2006/main">
            <a:pPr algn="l">
              <a:defRPr sz="1350" b="1">
                <a:solidFill>
                  <a:srgbClr val="00338D"/>
                </a:solidFill>
                <a:latin typeface="Arial"/>
                <a:ea typeface="Arial"/>
                <a:cs typeface="Arial"/>
              </a:defRPr>
            </a:pPr>
            <a:r>
              <a:rPr sz="1350" b="1">
                <a:solidFill>
                  <a:srgbClr val="00338D"/>
                </a:solidFill>
                <a:latin typeface="Arial"/>
                <a:ea typeface="Arial"/>
                <a:cs typeface="Arial"/>
              </a:rPr>
              <a:t>Transaction preparation remains subject to financial, commercial and legal diligence.</a:t>
            </a:r>
          </a:p>
        </p:txBody>
      </p:sp>
    </p:spTree>
    <p:extLst>
      <p:ext uri="{BB962C8B-B14F-4D97-AF65-F5344CB8AC3E}">
        <p14:creationId xmlns:p14="http://schemas.microsoft.com/office/powerpoint/2010/main" val="1635199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2026-10-22T10:36:34.5540000Z</dcterms:created>
  <dcterms:modified xsi:type="dcterms:W3CDTF">2026-10-22T10:36:34.5540000Z</dcterms:modified>
</coreProperties>
</file>