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6e38265fe3f4381" /><Relationship Type="http://schemas.openxmlformats.org/officeDocument/2006/relationships/extended-properties" Target="/docProps/app.xml" Id="Rd8de3db729164d65" /><Relationship Type="http://schemas.openxmlformats.org/officeDocument/2006/relationships/officeDocument" Target="/ppt/presentation.xml" Id="Rd1b2ba1eb6c641a7" /></Relationships>
</file>

<file path=ppt/presentation.xml><?xml version="1.0" encoding="utf-8"?>
<p:presentation xmlns:p="http://schemas.openxmlformats.org/presentationml/2006/main">
  <p:sldMasterIdLst>
    <p:sldMasterId xmlns:r="http://schemas.openxmlformats.org/officeDocument/2006/relationships" id="2147483648" r:id="Ra5fb7880a1314bd2"/>
  </p:sldMasterIdLst>
  <p:notesMasterIdLst>
    <p:notesMasterId xmlns:r="http://schemas.openxmlformats.org/officeDocument/2006/relationships" r:id="R4ec6c707229b471c"/>
  </p:notesMasterIdLst>
  <p:sldIdLst>
    <p:sldId xmlns:r="http://schemas.openxmlformats.org/officeDocument/2006/relationships" id="256" r:id="Rfb14bf8eb76242b5"/>
    <p:sldId xmlns:r="http://schemas.openxmlformats.org/officeDocument/2006/relationships" id="257" r:id="Re0056f22fbf24c18"/>
    <p:sldId xmlns:r="http://schemas.openxmlformats.org/officeDocument/2006/relationships" id="258" r:id="Recc34bc28fc84439"/>
    <p:sldId xmlns:r="http://schemas.openxmlformats.org/officeDocument/2006/relationships" id="259" r:id="R9e9084c23ef24d59"/>
    <p:sldId xmlns:r="http://schemas.openxmlformats.org/officeDocument/2006/relationships" id="260" r:id="R5a21b43e66d14a02"/>
    <p:sldId xmlns:r="http://schemas.openxmlformats.org/officeDocument/2006/relationships" id="261" r:id="Re35e36077b5a4681"/>
    <p:sldId xmlns:r="http://schemas.openxmlformats.org/officeDocument/2006/relationships" id="262" r:id="R1d6826419e024a0d"/>
    <p:sldId xmlns:r="http://schemas.openxmlformats.org/officeDocument/2006/relationships" id="263" r:id="R5cd4e9a359084612"/>
    <p:sldId xmlns:r="http://schemas.openxmlformats.org/officeDocument/2006/relationships" id="264" r:id="R51ce1d70aecf4d89"/>
    <p:sldId xmlns:r="http://schemas.openxmlformats.org/officeDocument/2006/relationships" id="265" r:id="R689785c0ccab4a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950d437385343e9" /><Relationship Type="http://schemas.openxmlformats.org/officeDocument/2006/relationships/slideMaster" Target="/ppt/slideMasters/slideMaster1.xml" Id="Ra5fb7880a1314bd2" /><Relationship Type="http://schemas.openxmlformats.org/officeDocument/2006/relationships/notesMaster" Target="/ppt/notesMasters/notesMaster1.xml" Id="R4ec6c707229b471c" /><Relationship Type="http://schemas.openxmlformats.org/officeDocument/2006/relationships/presProps" Target="/ppt/presProps.xml" Id="Rcb2410a761ec419d" /><Relationship Type="http://schemas.openxmlformats.org/officeDocument/2006/relationships/tableStyles" Target="/ppt/tableStyles.xml" Id="R6df16f6e2f954a63" /><Relationship Type="http://schemas.openxmlformats.org/officeDocument/2006/relationships/slide" Target="/ppt/slides/slide1.xml" Id="Rfb14bf8eb76242b5" /><Relationship Type="http://schemas.openxmlformats.org/officeDocument/2006/relationships/slide" Target="/ppt/slides/slide2.xml" Id="Re0056f22fbf24c18" /><Relationship Type="http://schemas.openxmlformats.org/officeDocument/2006/relationships/slide" Target="/ppt/slides/slide3.xml" Id="Recc34bc28fc84439" /><Relationship Type="http://schemas.openxmlformats.org/officeDocument/2006/relationships/slide" Target="/ppt/slides/slide4.xml" Id="R9e9084c23ef24d59" /><Relationship Type="http://schemas.openxmlformats.org/officeDocument/2006/relationships/slide" Target="/ppt/slides/slide5.xml" Id="R5a21b43e66d14a02" /><Relationship Type="http://schemas.openxmlformats.org/officeDocument/2006/relationships/slide" Target="/ppt/slides/slide6.xml" Id="Re35e36077b5a4681" /><Relationship Type="http://schemas.openxmlformats.org/officeDocument/2006/relationships/slide" Target="/ppt/slides/slide7.xml" Id="R1d6826419e024a0d" /><Relationship Type="http://schemas.openxmlformats.org/officeDocument/2006/relationships/slide" Target="/ppt/slides/slide8.xml" Id="R5cd4e9a359084612" /><Relationship Type="http://schemas.openxmlformats.org/officeDocument/2006/relationships/slide" Target="/ppt/slides/slide9.xml" Id="R51ce1d70aecf4d89" /><Relationship Type="http://schemas.openxmlformats.org/officeDocument/2006/relationships/slide" Target="/ppt/slides/slide10.xml" Id="R689785c0ccab4a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65959ba54441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d0c5e3e03246f9" /><Relationship Type="http://schemas.openxmlformats.org/officeDocument/2006/relationships/notesMaster" Target="/ppt/notesMasters/notesMaster1.xml" Id="R1adba6f796864a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89ff2245b94eee" /><Relationship Type="http://schemas.openxmlformats.org/officeDocument/2006/relationships/notesMaster" Target="/ppt/notesMasters/notesMaster1.xml" Id="R8e6377c865e742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92a0ae151ba4dba" /><Relationship Type="http://schemas.openxmlformats.org/officeDocument/2006/relationships/notesMaster" Target="/ppt/notesMasters/notesMaster1.xml" Id="Re97d942bcb7b43e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b90a15f9ba40de" /><Relationship Type="http://schemas.openxmlformats.org/officeDocument/2006/relationships/notesMaster" Target="/ppt/notesMasters/notesMaster1.xml" Id="Rd0c302f0e9944027"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043ee8f9bf4311" /><Relationship Type="http://schemas.openxmlformats.org/officeDocument/2006/relationships/notesMaster" Target="/ppt/notesMasters/notesMaster1.xml" Id="Ra24744b2aa8b44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a4d576ec5b4652" /><Relationship Type="http://schemas.openxmlformats.org/officeDocument/2006/relationships/notesMaster" Target="/ppt/notesMasters/notesMaster1.xml" Id="R756b1cce035640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cf6e73e1af4f2c" /><Relationship Type="http://schemas.openxmlformats.org/officeDocument/2006/relationships/notesMaster" Target="/ppt/notesMasters/notesMaster1.xml" Id="R29309eef006d4c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70c28dadd34ea0" /><Relationship Type="http://schemas.openxmlformats.org/officeDocument/2006/relationships/notesMaster" Target="/ppt/notesMasters/notesMaster1.xml" Id="Rbcf0a0dc9ce44e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7446ff9e774cc4" /><Relationship Type="http://schemas.openxmlformats.org/officeDocument/2006/relationships/notesMaster" Target="/ppt/notesMasters/notesMaster1.xml" Id="Rb4a3068b7f2446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ac2a01edac04d6d" /><Relationship Type="http://schemas.openxmlformats.org/officeDocument/2006/relationships/notesMaster" Target="/ppt/notesMasters/notesMaster1.xml" Id="Rd919ab60bb4849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BUS: Business and founding [source_supported]</a:t>
            </a:r>
          </a:p>
          <a:p xmlns:a="http://schemas.openxmlformats.org/drawingml/2006/main">
            <a:r>
              <a:t>01_company_brief.docx / paragraph 4 — Northbridge Field Services Ltd was founded in 2012. The UK business provides equipment maintenance and technical field support to industrial and logistics customers. Its headquarters are in Birmingham. The transaction perimeter is the entire standalone UK company.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BUS: Business and founding [source_supported]</a:t>
            </a:r>
          </a:p>
          <a:p xmlns:a="http://schemas.openxmlformats.org/drawingml/2006/main">
            <a:r>
              <a:t>01_company_brief.docx / paragraph 4 — Northbridge Field Services Ltd was founded in 2012. The UK business provides equipment maintenance and technical field support to industrial and logistics customers. Its headquarters are in Birmingham. The transaction perimeter is the entire standalone UK company.</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DEAL: Ownership and proposed sale [source_supported]</a:t>
            </a:r>
          </a:p>
          <a:p xmlns:a="http://schemas.openxmlformats.org/drawingml/2006/main">
            <a:r>
              <a:t>01_company_brief.docx / paragraph 14 — The founder holds 70%, management holds 20% and a seed investor holds 10% of ordinary equity. Shareholders are considering a sale of 70% to 100% of the company. Management rollover, valuation, timing and financing remain to be agreed. No debt, cash or working-capital schedule has been provided.</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a:p xmlns:a="http://schemas.openxmlformats.org/drawingml/2006/main">
            <a:r>
              <a:t/>
            </a:r>
          </a:p>
          <a:p xmlns:a="http://schemas.openxmlformats.org/drawingml/2006/main">
            <a:r>
              <a:t>QOE: Financial diligence evidence unavailable [missing]</a:t>
            </a:r>
          </a:p>
          <a:p xmlns:a="http://schemas.openxmlformats.org/drawingml/2006/main">
            <a:r>
              <a:t>03_management_interview.txt / line 11 — [00:31] CFO: EBITDA is management-reported and unaudited. No normalisation bridge or quality-of-earnings report is available. We have not supplied cash, debt or normalised working capital.</a:t>
            </a:r>
          </a:p>
          <a:p xmlns:a="http://schemas.openxmlformats.org/drawingml/2006/main">
            <a:r>
              <a:t>Limitations: No QoE, cash, debt or working-capital evidence.</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a:p xmlns:a="http://schemas.openxmlformats.org/drawingml/2006/main">
            <a:r>
              <a:t/>
            </a:r>
          </a:p>
          <a:p xmlns:a="http://schemas.openxmlformats.org/drawingml/2006/main">
            <a:r>
              <a:t>MARGINS: {"id": "MARGINS", "formula": "Each period EBITDA / same period revenue", "input_ids": ["FIN23", "FIN24", "FIN25", "FIN26", "FIN27"], "result": [0.14999999999999997, 0.1813953488372093, 0.2, 0.21034482758620687, 0.22023809523809523], "unit": "ratio", "rounding": "Full precision internally; one decimal for GBP million and most percentages"}</a:t>
            </a:r>
          </a:p>
          <a:p xmlns:a="http://schemas.openxmlformats.org/drawingml/2006/main">
            <a:r>
              <a:t/>
            </a:r>
          </a:p>
          <a:p xmlns:a="http://schemas.openxmlformats.org/drawingml/2006/main">
            <a:r>
              <a:t>MIX_SHARE: {"id": "MIX_SHARE", "formula": "ServiceMix!B5:B7 / sum(ServiceMix!B5:B7)", "input_ids": ["MIX"], "result": [0.7, 0.2, 0.1],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FIN23: FY2023 financial statements [source_supported]</a:t>
            </a:r>
          </a:p>
          <a:p xmlns:a="http://schemas.openxmlformats.org/drawingml/2006/main">
            <a:r>
              <a:t>02_management_model.xlsx / PnL!B5 — FY2023A</a:t>
            </a:r>
          </a:p>
          <a:p xmlns:a="http://schemas.openxmlformats.org/drawingml/2006/main">
            <a:r>
              <a:t>02_management_model.xlsx / PnL!B6 — 18</a:t>
            </a:r>
          </a:p>
          <a:p xmlns:a="http://schemas.openxmlformats.org/drawingml/2006/main">
            <a:r>
              <a:t>02_management_model.xlsx / PnL!B7 — -10.8</a:t>
            </a:r>
          </a:p>
          <a:p xmlns:a="http://schemas.openxmlformats.org/drawingml/2006/main">
            <a:r>
              <a:t>02_management_model.xlsx / PnL!B8 — 7.199999999999999</a:t>
            </a:r>
          </a:p>
          <a:p xmlns:a="http://schemas.openxmlformats.org/drawingml/2006/main">
            <a:r>
              <a:t>02_management_model.xlsx / PnL!B9 — -4.5</a:t>
            </a:r>
          </a:p>
          <a:p xmlns:a="http://schemas.openxmlformats.org/drawingml/2006/main">
            <a:r>
              <a:t>02_management_model.xlsx / PnL!B10 — 2.6999999999999993</a:t>
            </a:r>
          </a:p>
          <a:p xmlns:a="http://schemas.openxmlformats.org/drawingml/2006/main">
            <a:r>
              <a:t>02_management_model.xlsx / PnL!B11 — 0.14999999999999997</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FORECAST_BASIS: Forecast bridge unavailable [missing]</a:t>
            </a:r>
          </a:p>
          <a:p xmlns:a="http://schemas.openxmlformats.org/drawingml/2006/main">
            <a:r>
              <a:t>04_cfo_email.eml / line 12 — The model is version 2.0, dated 21 January 2026. The forecast is management's base case. There is no customer-level forecast bridge or recruitment cost schedule yet.</a:t>
            </a:r>
          </a:p>
          <a:p xmlns:a="http://schemas.openxmlformats.org/drawingml/2006/main">
            <a:r>
              <a:t/>
            </a:r>
          </a:p>
          <a:p xmlns:a="http://schemas.openxmlformats.org/drawingml/2006/main">
            <a:r>
              <a:t>GROWTH: Management growth plan [source_supported]</a:t>
            </a:r>
          </a:p>
          <a:p xmlns:a="http://schemas.openxmlformats.org/drawingml/2006/main">
            <a:r>
              <a:t>01_company_brief.docx / paragraph 12 — Management plans to add 20 net field engineers by the end of FY2027, cross-sell scheduled maintenance to repair customers and expand service coverage from existing hubs. The plan assumes sufficient technician recruitment and contract renewals. No signed pipeline or customer-cohort evidence accompanies this briefing.</a:t>
            </a:r>
          </a:p>
          <a:p xmlns:a="http://schemas.openxmlformats.org/drawingml/2006/main">
            <a:r>
              <a:t>03_management_interview.txt / line 10 — [00:28] CEO: Growth depends on technician recruitment, renewals and converting more repair customers to maintenance contracts. We plan 20 net new engineers by FY2027.</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a:p xmlns:a="http://schemas.openxmlformats.org/drawingml/2006/main">
            <a:r>
              <a:t/>
            </a:r>
          </a:p>
          <a:p xmlns:a="http://schemas.openxmlformats.org/drawingml/2006/main">
            <a:r>
              <a:t>CAGR: {"id": "CAGR", "formula": "(FY2025 revenue / FY2023 revenue)^(1/2) - 1", "input_ids": ["FIN23", "FIN25"], "result": 0.17851130197757925, "unit": "ratio", "rounding": "Full precision internally; one decimal for GBP million and most percentages"}</a:t>
            </a:r>
          </a:p>
          <a:p xmlns:a="http://schemas.openxmlformats.org/drawingml/2006/main">
            <a:r>
              <a:t/>
            </a:r>
          </a:p>
          <a:p xmlns:a="http://schemas.openxmlformats.org/drawingml/2006/main">
            <a:r>
              <a:t>MIX_SHARE: {"id": "MIX_SHARE", "formula": "ServiceMix!B5:B7 / sum(ServiceMix!B5:B7)", "input_ids": ["MIX"], "result": [0.7, 0.2, 0.1],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MIX: FY2025 service revenue [source_supported]</a:t>
            </a:r>
          </a:p>
          <a:p xmlns:a="http://schemas.openxmlformats.org/drawingml/2006/main">
            <a:r>
              <a:t>02_management_model.xlsx / ServiceMix!A5 — Scheduled maintenance</a:t>
            </a:r>
          </a:p>
          <a:p xmlns:a="http://schemas.openxmlformats.org/drawingml/2006/main">
            <a:r>
              <a:t>02_management_model.xlsx / ServiceMix!B5 — 17500</a:t>
            </a:r>
          </a:p>
          <a:p xmlns:a="http://schemas.openxmlformats.org/drawingml/2006/main">
            <a:r>
              <a:t>02_management_model.xlsx / ServiceMix!C5 — Annual service contracts</a:t>
            </a:r>
          </a:p>
          <a:p xmlns:a="http://schemas.openxmlformats.org/drawingml/2006/main">
            <a:r>
              <a:t>02_management_model.xlsx / ServiceMix!A6 — Reactive repairs</a:t>
            </a:r>
          </a:p>
          <a:p xmlns:a="http://schemas.openxmlformats.org/drawingml/2006/main">
            <a:r>
              <a:t>02_management_model.xlsx / ServiceMix!B6 — 5000</a:t>
            </a:r>
          </a:p>
          <a:p xmlns:a="http://schemas.openxmlformats.org/drawingml/2006/main">
            <a:r>
              <a:t>02_management_model.xlsx / ServiceMix!C6 — Call-out and materials</a:t>
            </a:r>
          </a:p>
          <a:p xmlns:a="http://schemas.openxmlformats.org/drawingml/2006/main">
            <a:r>
              <a:t>02_management_model.xlsx / ServiceMix!A7 — Installation projects</a:t>
            </a:r>
          </a:p>
          <a:p xmlns:a="http://schemas.openxmlformats.org/drawingml/2006/main">
            <a:r>
              <a:t>02_management_model.xlsx / ServiceMix!B7 — 2500</a:t>
            </a:r>
          </a:p>
          <a:p xmlns:a="http://schemas.openxmlformats.org/drawingml/2006/main">
            <a:r>
              <a:t>02_management_model.xlsx / ServiceMix!C7 — Project-based work</a:t>
            </a:r>
          </a:p>
          <a:p xmlns:a="http://schemas.openxmlformats.org/drawingml/2006/main">
            <a:r>
              <a:t/>
            </a:r>
          </a:p>
          <a:p xmlns:a="http://schemas.openxmlformats.org/drawingml/2006/main">
            <a:r>
              <a:t>SERVICES: Services and contract terms [source_supported]</a:t>
            </a:r>
          </a:p>
          <a:p xmlns:a="http://schemas.openxmlformats.org/drawingml/2006/main">
            <a:r>
              <a:t>01_company_brief.docx / paragraph 6 — The business supplies scheduled maintenance under annual service contracts, reactive repairs and installation projects. Contracts generally run for one to three years and renew by agreement. Scheduled maintenance provides the contracted revenue stream. No assumption should be made that renewals are automatic. Customers include logistics operators, manufacturers and facilities managers.</a:t>
            </a:r>
          </a:p>
          <a:p xmlns:a="http://schemas.openxmlformats.org/drawingml/2006/main">
            <a:r>
              <a:t/>
            </a:r>
          </a:p>
          <a:p xmlns:a="http://schemas.openxmlformats.org/drawingml/2006/main">
            <a:r>
              <a:t>MIX_SHARE: {"id": "MIX_SHARE", "formula": "ServiceMix!B5:B7 / sum(ServiceMix!B5:B7)", "input_ids": ["MIX"], "result": [0.7, 0.2, 0.1], "unit": "ratio", "rounding": "Full precision internally; one decimal for GBP million and most percentages"}</a:t>
            </a:r>
          </a:p>
          <a:p xmlns:a="http://schemas.openxmlformats.org/drawingml/2006/main">
            <a:r>
              <a:t/>
            </a:r>
          </a:p>
          <a:p xmlns:a="http://schemas.openxmlformats.org/drawingml/2006/main">
            <a:r>
              <a:t>NORMALIZE: {"id": "NORMALIZE", "formula": "GBP thousand / 1000", "input_ids": ["MIX", "CUSTOMERS", "UNITS"], "result": {"services_m": [17.5, 5.0, 2.5], "customers_m": [3.0, 2.25, 2.0, 1.75, 1.5, 14.5]}, "unit": "GBP million",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CUSTOMERS: FY2025 customer sales [source_supported]</a:t>
            </a:r>
          </a:p>
          <a:p xmlns:a="http://schemas.openxmlformats.org/drawingml/2006/main">
            <a:r>
              <a:t>02_management_model.xlsx / CustomerSales!A5 — C001</a:t>
            </a:r>
          </a:p>
          <a:p xmlns:a="http://schemas.openxmlformats.org/drawingml/2006/main">
            <a:r>
              <a:t>02_management_model.xlsx / CustomerSales!B5 — Customer A</a:t>
            </a:r>
          </a:p>
          <a:p xmlns:a="http://schemas.openxmlformats.org/drawingml/2006/main">
            <a:r>
              <a:t>02_management_model.xlsx / CustomerSales!C5 — 3000</a:t>
            </a:r>
          </a:p>
          <a:p xmlns:a="http://schemas.openxmlformats.org/drawingml/2006/main">
            <a:r>
              <a:t>02_management_model.xlsx / CustomerSales!A6 — C002</a:t>
            </a:r>
          </a:p>
          <a:p xmlns:a="http://schemas.openxmlformats.org/drawingml/2006/main">
            <a:r>
              <a:t>02_management_model.xlsx / CustomerSales!B6 — Customer B</a:t>
            </a:r>
          </a:p>
          <a:p xmlns:a="http://schemas.openxmlformats.org/drawingml/2006/main">
            <a:r>
              <a:t>02_management_model.xlsx / CustomerSales!C6 — 2250</a:t>
            </a:r>
          </a:p>
          <a:p xmlns:a="http://schemas.openxmlformats.org/drawingml/2006/main">
            <a:r>
              <a:t>02_management_model.xlsx / CustomerSales!A7 — C003</a:t>
            </a:r>
          </a:p>
          <a:p xmlns:a="http://schemas.openxmlformats.org/drawingml/2006/main">
            <a:r>
              <a:t>02_management_model.xlsx / CustomerSales!B7 — Customer C</a:t>
            </a:r>
          </a:p>
          <a:p xmlns:a="http://schemas.openxmlformats.org/drawingml/2006/main">
            <a:r>
              <a:t>02_management_model.xlsx / CustomerSales!C7 — 2000</a:t>
            </a:r>
          </a:p>
          <a:p xmlns:a="http://schemas.openxmlformats.org/drawingml/2006/main">
            <a:r>
              <a:t>02_management_model.xlsx / CustomerSales!A8 — C004</a:t>
            </a:r>
          </a:p>
          <a:p xmlns:a="http://schemas.openxmlformats.org/drawingml/2006/main">
            <a:r>
              <a:t>02_management_model.xlsx / CustomerSales!B8 — Customer D</a:t>
            </a:r>
          </a:p>
          <a:p xmlns:a="http://schemas.openxmlformats.org/drawingml/2006/main">
            <a:r>
              <a:t>02_management_model.xlsx / CustomerSales!C8 — 1750</a:t>
            </a:r>
          </a:p>
          <a:p xmlns:a="http://schemas.openxmlformats.org/drawingml/2006/main">
            <a:r>
              <a:t>02_management_model.xlsx / CustomerSales!A9 — C005</a:t>
            </a:r>
          </a:p>
          <a:p xmlns:a="http://schemas.openxmlformats.org/drawingml/2006/main">
            <a:r>
              <a:t>02_management_model.xlsx / CustomerSales!B9 — Customer E</a:t>
            </a:r>
          </a:p>
          <a:p xmlns:a="http://schemas.openxmlformats.org/drawingml/2006/main">
            <a:r>
              <a:t>02_management_model.xlsx / CustomerSales!C9 — 1500</a:t>
            </a:r>
          </a:p>
          <a:p xmlns:a="http://schemas.openxmlformats.org/drawingml/2006/main">
            <a:r>
              <a:t>02_management_model.xlsx / CustomerSales!A10 — OTHER</a:t>
            </a:r>
          </a:p>
          <a:p xmlns:a="http://schemas.openxmlformats.org/drawingml/2006/main">
            <a:r>
              <a:t>02_management_model.xlsx / CustomerSales!B10 — All other customers (aggregate)</a:t>
            </a:r>
          </a:p>
          <a:p xmlns:a="http://schemas.openxmlformats.org/drawingml/2006/main">
            <a:r>
              <a:t>02_management_model.xlsx / CustomerSales!C10 — 14500</a:t>
            </a:r>
          </a:p>
          <a:p xmlns:a="http://schemas.openxmlformats.org/drawingml/2006/main">
            <a:r>
              <a:t>Limitations: OTHER is an aggregate.</a:t>
            </a:r>
          </a:p>
          <a:p xmlns:a="http://schemas.openxmlformats.org/drawingml/2006/main">
            <a:r>
              <a:t/>
            </a:r>
          </a:p>
          <a:p xmlns:a="http://schemas.openxmlformats.org/drawingml/2006/main">
            <a:r>
              <a:t>RETENTION: Retention estimate lacks defined basis [management_unverified]</a:t>
            </a:r>
          </a:p>
          <a:p xmlns:a="http://schemas.openxmlformats.org/drawingml/2006/main">
            <a:r>
              <a:t>03_management_interview.txt / line 7 — [00:17] CEO: We estimate customer retention at 94% in FY2025, but have not supplied the cohort calculation or defined whether that refers to customers or revenue.</a:t>
            </a:r>
          </a:p>
          <a:p xmlns:a="http://schemas.openxmlformats.org/drawingml/2006/main">
            <a:r>
              <a:t>Limitations: No definition or cohort data; excluded from quantitative investment highlights.</a:t>
            </a:r>
          </a:p>
          <a:p xmlns:a="http://schemas.openxmlformats.org/drawingml/2006/main">
            <a:r>
              <a:t/>
            </a:r>
          </a:p>
          <a:p xmlns:a="http://schemas.openxmlformats.org/drawingml/2006/main">
            <a:r>
              <a:t>LARGEST: {"id": "LARGEST", "formula": "max(CustomerSales!C5:C9) / sum(CustomerSales!C5:C10)", "input_ids": ["CUSTOMERS"], "result": 0.12, "unit": "ratio", "rounding": "Full precision internally; one decimal for GBP million and most percentages"}</a:t>
            </a:r>
          </a:p>
          <a:p xmlns:a="http://schemas.openxmlformats.org/drawingml/2006/main">
            <a:r>
              <a:t/>
            </a:r>
          </a:p>
          <a:p xmlns:a="http://schemas.openxmlformats.org/drawingml/2006/main">
            <a:r>
              <a:t>TOP5: {"id": "TOP5", "formula": "sum(CustomerSales!C5:C9) / sum(CustomerSales!C5:C10)", "input_ids": ["CUSTOMERS"], "result": 0.42,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GROWTH: Management growth plan [source_supported]</a:t>
            </a:r>
          </a:p>
          <a:p xmlns:a="http://schemas.openxmlformats.org/drawingml/2006/main">
            <a:r>
              <a:t>01_company_brief.docx / paragraph 12 — Management plans to add 20 net field engineers by the end of FY2027, cross-sell scheduled maintenance to repair customers and expand service coverage from existing hubs. The plan assumes sufficient technician recruitment and contract renewals. No signed pipeline or customer-cohort evidence accompanies this briefing.</a:t>
            </a:r>
          </a:p>
          <a:p xmlns:a="http://schemas.openxmlformats.org/drawingml/2006/main">
            <a:r>
              <a:t>03_management_interview.txt / line 10 — [00:28] CEO: Growth depends on technician recruitment, renewals and converting more repair customers to maintenance contracts. We plan 20 net new engineers by FY2027.</a:t>
            </a:r>
          </a:p>
          <a:p xmlns:a="http://schemas.openxmlformats.org/drawingml/2006/main">
            <a:r>
              <a:t/>
            </a:r>
          </a:p>
          <a:p xmlns:a="http://schemas.openxmlformats.org/drawingml/2006/main">
            <a:r>
              <a:t>OPS: People, hubs and management [source_supported]</a:t>
            </a:r>
          </a:p>
          <a:p xmlns:a="http://schemas.openxmlformats.org/drawingml/2006/main">
            <a:r>
              <a:t>01_company_brief.docx / paragraph 10 — At 31 December 2025, Northbridge has 120 employees including 85 field engineers. It operates hubs in Birmingham, Manchester and Bristol. Maya Reed is founder and CEO, Daniel Cole is CFO and Aisha Patel is COO. These names and all company details are fictitious. The founder continues to lead major customer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FIN23: FY2023 financial statements [source_supported]</a:t>
            </a:r>
          </a:p>
          <a:p xmlns:a="http://schemas.openxmlformats.org/drawingml/2006/main">
            <a:r>
              <a:t>02_management_model.xlsx / PnL!B5 — FY2023A</a:t>
            </a:r>
          </a:p>
          <a:p xmlns:a="http://schemas.openxmlformats.org/drawingml/2006/main">
            <a:r>
              <a:t>02_management_model.xlsx / PnL!B6 — 18</a:t>
            </a:r>
          </a:p>
          <a:p xmlns:a="http://schemas.openxmlformats.org/drawingml/2006/main">
            <a:r>
              <a:t>02_management_model.xlsx / PnL!B7 — -10.8</a:t>
            </a:r>
          </a:p>
          <a:p xmlns:a="http://schemas.openxmlformats.org/drawingml/2006/main">
            <a:r>
              <a:t>02_management_model.xlsx / PnL!B8 — 7.199999999999999</a:t>
            </a:r>
          </a:p>
          <a:p xmlns:a="http://schemas.openxmlformats.org/drawingml/2006/main">
            <a:r>
              <a:t>02_management_model.xlsx / PnL!B9 — -4.5</a:t>
            </a:r>
          </a:p>
          <a:p xmlns:a="http://schemas.openxmlformats.org/drawingml/2006/main">
            <a:r>
              <a:t>02_management_model.xlsx / PnL!B10 — 2.6999999999999993</a:t>
            </a:r>
          </a:p>
          <a:p xmlns:a="http://schemas.openxmlformats.org/drawingml/2006/main">
            <a:r>
              <a:t>02_management_model.xlsx / PnL!B11 — 0.14999999999999997</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FIN24: FY2024 financial statements [source_supported]</a:t>
            </a:r>
          </a:p>
          <a:p xmlns:a="http://schemas.openxmlformats.org/drawingml/2006/main">
            <a:r>
              <a:t>02_management_model.xlsx / PnL!C5 — FY2024A</a:t>
            </a:r>
          </a:p>
          <a:p xmlns:a="http://schemas.openxmlformats.org/drawingml/2006/main">
            <a:r>
              <a:t>02_management_model.xlsx / PnL!C6 — 21.5</a:t>
            </a:r>
          </a:p>
          <a:p xmlns:a="http://schemas.openxmlformats.org/drawingml/2006/main">
            <a:r>
              <a:t>02_management_model.xlsx / PnL!C7 — -12.7</a:t>
            </a:r>
          </a:p>
          <a:p xmlns:a="http://schemas.openxmlformats.org/drawingml/2006/main">
            <a:r>
              <a:t>02_management_model.xlsx / PnL!C8 — 8.8</a:t>
            </a:r>
          </a:p>
          <a:p xmlns:a="http://schemas.openxmlformats.org/drawingml/2006/main">
            <a:r>
              <a:t>02_management_model.xlsx / PnL!C9 — -4.9</a:t>
            </a:r>
          </a:p>
          <a:p xmlns:a="http://schemas.openxmlformats.org/drawingml/2006/main">
            <a:r>
              <a:t>02_management_model.xlsx / PnL!C10 — 3.9000000000000004</a:t>
            </a:r>
          </a:p>
          <a:p xmlns:a="http://schemas.openxmlformats.org/drawingml/2006/main">
            <a:r>
              <a:t>02_management_model.xlsx / PnL!C11 — 0.1813953488372093</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QOE: Financial diligence evidence unavailable [missing]</a:t>
            </a:r>
          </a:p>
          <a:p xmlns:a="http://schemas.openxmlformats.org/drawingml/2006/main">
            <a:r>
              <a:t>03_management_interview.txt / line 11 — [00:31] CFO: EBITDA is management-reported and unaudited. No normalisation bridge or quality-of-earnings report is available. We have not supplied cash, debt or normalised working capital.</a:t>
            </a:r>
          </a:p>
          <a:p xmlns:a="http://schemas.openxmlformats.org/drawingml/2006/main">
            <a:r>
              <a:t>Limitations: No QoE, cash, debt or working-capital evidence.</a:t>
            </a:r>
          </a:p>
          <a:p xmlns:a="http://schemas.openxmlformats.org/drawingml/2006/main">
            <a:r>
              <a:t/>
            </a:r>
          </a:p>
          <a:p xmlns:a="http://schemas.openxmlformats.org/drawingml/2006/main">
            <a:r>
              <a:t>UNITS: Financial and sales schedule units [source_supported]</a:t>
            </a:r>
          </a:p>
          <a:p xmlns:a="http://schemas.openxmlformats.org/drawingml/2006/main">
            <a:r>
              <a:t>04_cfo_email.eml / line 10 — The P&amp;L tab is in GBP millions. The CustomerSales and ServiceMix tabs are in GBP thousands. They cover FY2025 recognised revenue, excluding VAT, for the same UK company. CustomerSales contains the five largest customers plus one aggregate row for all others. Do not treat that aggregate as a single customer.</a:t>
            </a:r>
          </a:p>
          <a:p xmlns:a="http://schemas.openxmlformats.org/drawingml/2006/main">
            <a:r>
              <a:t/>
            </a:r>
          </a:p>
          <a:p xmlns:a="http://schemas.openxmlformats.org/drawingml/2006/main">
            <a:r>
              <a:t>CAGR: {"id": "CAGR", "formula": "(FY2025 revenue / FY2023 revenue)^(1/2) - 1", "input_ids": ["FIN23", "FIN25"], "result": 0.17851130197757925, "unit": "ratio", "rounding": "Full precision internally; one decimal for GBP million and most percentages"}</a:t>
            </a:r>
          </a:p>
          <a:p xmlns:a="http://schemas.openxmlformats.org/drawingml/2006/main">
            <a:r>
              <a:t/>
            </a:r>
          </a:p>
          <a:p xmlns:a="http://schemas.openxmlformats.org/drawingml/2006/main">
            <a:r>
              <a:t>MARGINS: {"id": "MARGINS", "formula": "Each period EBITDA / same period revenue", "input_ids": ["FIN23", "FIN24", "FIN25", "FIN26", "FIN27"], "result": [0.14999999999999997, 0.1813953488372093, 0.2, 0.21034482758620687, 0.22023809523809523],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FIN25: FY2025 financial statements [provisional_conflict]</a:t>
            </a:r>
          </a:p>
          <a:p xmlns:a="http://schemas.openxmlformats.org/drawingml/2006/main">
            <a:r>
              <a:t>02_management_model.xlsx / PnL!D5 — FY2025A</a:t>
            </a:r>
          </a:p>
          <a:p xmlns:a="http://schemas.openxmlformats.org/drawingml/2006/main">
            <a:r>
              <a:t>02_management_model.xlsx / PnL!D6 — 25</a:t>
            </a:r>
          </a:p>
          <a:p xmlns:a="http://schemas.openxmlformats.org/drawingml/2006/main">
            <a:r>
              <a:t>02_management_model.xlsx / PnL!D7 — -14.5</a:t>
            </a:r>
          </a:p>
          <a:p xmlns:a="http://schemas.openxmlformats.org/drawingml/2006/main">
            <a:r>
              <a:t>02_management_model.xlsx / PnL!D8 — 10.5</a:t>
            </a:r>
          </a:p>
          <a:p xmlns:a="http://schemas.openxmlformats.org/drawingml/2006/main">
            <a:r>
              <a:t>02_management_model.xlsx / PnL!D9 — -5.5</a:t>
            </a:r>
          </a:p>
          <a:p xmlns:a="http://schemas.openxmlformats.org/drawingml/2006/main">
            <a:r>
              <a:t>02_management_model.xlsx / PnL!D10 — 5</a:t>
            </a:r>
          </a:p>
          <a:p xmlns:a="http://schemas.openxmlformats.org/drawingml/2006/main">
            <a:r>
              <a:t>02_management_model.xlsx / PnL!D11 — 0.2</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FIN26: FY2026 financial statements [source_supported]</a:t>
            </a:r>
          </a:p>
          <a:p xmlns:a="http://schemas.openxmlformats.org/drawingml/2006/main">
            <a:r>
              <a:t>02_management_model.xlsx / PnL!E5 — FY2026F</a:t>
            </a:r>
          </a:p>
          <a:p xmlns:a="http://schemas.openxmlformats.org/drawingml/2006/main">
            <a:r>
              <a:t>02_management_model.xlsx / PnL!E6 — 29</a:t>
            </a:r>
          </a:p>
          <a:p xmlns:a="http://schemas.openxmlformats.org/drawingml/2006/main">
            <a:r>
              <a:t>02_management_model.xlsx / PnL!E7 — -16.5</a:t>
            </a:r>
          </a:p>
          <a:p xmlns:a="http://schemas.openxmlformats.org/drawingml/2006/main">
            <a:r>
              <a:t>02_management_model.xlsx / PnL!E8 — 12.5</a:t>
            </a:r>
          </a:p>
          <a:p xmlns:a="http://schemas.openxmlformats.org/drawingml/2006/main">
            <a:r>
              <a:t>02_management_model.xlsx / PnL!E9 — -6.4</a:t>
            </a:r>
          </a:p>
          <a:p xmlns:a="http://schemas.openxmlformats.org/drawingml/2006/main">
            <a:r>
              <a:t>02_management_model.xlsx / PnL!E10 — 6.1</a:t>
            </a:r>
          </a:p>
          <a:p xmlns:a="http://schemas.openxmlformats.org/drawingml/2006/main">
            <a:r>
              <a:t>02_management_model.xlsx / PnL!E11 — 0.21034482758620687</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FIN27: FY2027 financial statements [source_supported]</a:t>
            </a:r>
          </a:p>
          <a:p xmlns:a="http://schemas.openxmlformats.org/drawingml/2006/main">
            <a:r>
              <a:t>02_management_model.xlsx / PnL!F5 — FY2027F</a:t>
            </a:r>
          </a:p>
          <a:p xmlns:a="http://schemas.openxmlformats.org/drawingml/2006/main">
            <a:r>
              <a:t>02_management_model.xlsx / PnL!F6 — 33.6</a:t>
            </a:r>
          </a:p>
          <a:p xmlns:a="http://schemas.openxmlformats.org/drawingml/2006/main">
            <a:r>
              <a:t>02_management_model.xlsx / PnL!F7 — -18.6</a:t>
            </a:r>
          </a:p>
          <a:p xmlns:a="http://schemas.openxmlformats.org/drawingml/2006/main">
            <a:r>
              <a:t>02_management_model.xlsx / PnL!F8 — 15</a:t>
            </a:r>
          </a:p>
          <a:p xmlns:a="http://schemas.openxmlformats.org/drawingml/2006/main">
            <a:r>
              <a:t>02_management_model.xlsx / PnL!F9 — -7.6</a:t>
            </a:r>
          </a:p>
          <a:p xmlns:a="http://schemas.openxmlformats.org/drawingml/2006/main">
            <a:r>
              <a:t>02_management_model.xlsx / PnL!F10 — 7.4</a:t>
            </a:r>
          </a:p>
          <a:p xmlns:a="http://schemas.openxmlformats.org/drawingml/2006/main">
            <a:r>
              <a:t>02_management_model.xlsx / PnL!F11 — 0.22023809523809523</a:t>
            </a:r>
          </a:p>
          <a:p xmlns:a="http://schemas.openxmlformats.org/drawingml/2006/main">
            <a:r>
              <a:t>Limitations: Unaudited management figures; FY2025 revenue conflict remains open.</a:t>
            </a:r>
          </a:p>
          <a:p xmlns:a="http://schemas.openxmlformats.org/drawingml/2006/main">
            <a:r>
              <a:t/>
            </a:r>
          </a:p>
          <a:p xmlns:a="http://schemas.openxmlformats.org/drawingml/2006/main">
            <a:r>
              <a:t>FORECAST_BASIS: Forecast bridge unavailable [missing]</a:t>
            </a:r>
          </a:p>
          <a:p xmlns:a="http://schemas.openxmlformats.org/drawingml/2006/main">
            <a:r>
              <a:t>04_cfo_email.eml / line 12 — The model is version 2.0, dated 21 January 2026. The forecast is management's base case. There is no customer-level forecast bridge or recruitment cost schedule yet.</a:t>
            </a:r>
          </a:p>
          <a:p xmlns:a="http://schemas.openxmlformats.org/drawingml/2006/main">
            <a:r>
              <a:t/>
            </a:r>
          </a:p>
          <a:p xmlns:a="http://schemas.openxmlformats.org/drawingml/2006/main">
            <a:r>
              <a:t>GROWTH: Management growth plan [source_supported]</a:t>
            </a:r>
          </a:p>
          <a:p xmlns:a="http://schemas.openxmlformats.org/drawingml/2006/main">
            <a:r>
              <a:t>01_company_brief.docx / paragraph 12 — Management plans to add 20 net field engineers by the end of FY2027, cross-sell scheduled maintenance to repair customers and expand service coverage from existing hubs. The plan assumes sufficient technician recruitment and contract renewals. No signed pipeline or customer-cohort evidence accompanies this briefing.</a:t>
            </a:r>
          </a:p>
          <a:p xmlns:a="http://schemas.openxmlformats.org/drawingml/2006/main">
            <a:r>
              <a:t>03_management_interview.txt / line 10 — [00:28] CEO: Growth depends on technician recruitment, renewals and converting more repair customers to maintenance contracts. We plan 20 net new engineers by FY2027.</a:t>
            </a:r>
          </a:p>
          <a:p xmlns:a="http://schemas.openxmlformats.org/drawingml/2006/main">
            <a:r>
              <a:t/>
            </a:r>
          </a:p>
          <a:p xmlns:a="http://schemas.openxmlformats.org/drawingml/2006/main">
            <a:r>
              <a:t>MARKET: Market size and share unavailable [missing]</a:t>
            </a:r>
          </a:p>
          <a:p xmlns:a="http://schemas.openxmlformats.org/drawingml/2006/main">
            <a:r>
              <a:t>01_company_brief.docx / paragraph 16 — Management describes the UK equipment-maintenance market as fragmented. No independent market-size study, market-share estimate or competitor benchmarking has been provided.</a:t>
            </a:r>
          </a:p>
          <a:p xmlns:a="http://schemas.openxmlformats.org/drawingml/2006/main">
            <a:r>
              <a:t>Limitations: Fragmentation is a management assertion without independent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BUS: Business and founding [source_supported]</a:t>
            </a:r>
          </a:p>
          <a:p xmlns:a="http://schemas.openxmlformats.org/drawingml/2006/main">
            <a:r>
              <a:t>01_company_brief.docx / paragraph 4 — Northbridge Field Services Ltd was founded in 2012. The UK business provides equipment maintenance and technical field support to industrial and logistics customers. Its headquarters are in Birmingham. The transaction perimeter is the entire standalone UK company.</a:t>
            </a:r>
          </a:p>
          <a:p xmlns:a="http://schemas.openxmlformats.org/drawingml/2006/main">
            <a:r>
              <a:t/>
            </a:r>
          </a:p>
          <a:p xmlns:a="http://schemas.openxmlformats.org/drawingml/2006/main">
            <a:r>
              <a:t>DEAL: Ownership and proposed sale [source_supported]</a:t>
            </a:r>
          </a:p>
          <a:p xmlns:a="http://schemas.openxmlformats.org/drawingml/2006/main">
            <a:r>
              <a:t>01_company_brief.docx / paragraph 14 — The founder holds 70%, management holds 20% and a seed investor holds 10% of ordinary equity. Shareholders are considering a sale of 70% to 100% of the company. Management rollover, valuation, timing and financing remain to be agreed. No debt, cash or working-capital schedule has been provided.</a:t>
            </a:r>
          </a:p>
          <a:p xmlns:a="http://schemas.openxmlformats.org/drawingml/2006/main">
            <a:r>
              <a:t/>
            </a:r>
          </a:p>
          <a:p xmlns:a="http://schemas.openxmlformats.org/drawingml/2006/main">
            <a:r>
              <a:t>QOE: Financial diligence evidence unavailable [missing]</a:t>
            </a:r>
          </a:p>
          <a:p xmlns:a="http://schemas.openxmlformats.org/drawingml/2006/main">
            <a:r>
              <a:t>03_management_interview.txt / line 11 — [00:31] CFO: EBITDA is management-reported and unaudited. No normalisation bridge or quality-of-earnings report is available. We have not supplied cash, debt or normalised working capital.</a:t>
            </a:r>
          </a:p>
          <a:p xmlns:a="http://schemas.openxmlformats.org/drawingml/2006/main">
            <a:r>
              <a:t>Limitations: No QoE, cash, debt or working-capital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TRAINING CASE. All company and financial data are synthetic.</a:t>
            </a:r>
          </a:p>
          <a:p xmlns:a="http://schemas.openxmlformats.org/drawingml/2006/main">
            <a:r>
              <a:t/>
            </a:r>
          </a:p>
          <a:p xmlns:a="http://schemas.openxmlformats.org/drawingml/2006/main">
            <a:r>
              <a:t>CONFLICT: FY2025 revenue difference [provisional_conflict]</a:t>
            </a:r>
          </a:p>
          <a:p xmlns:a="http://schemas.openxmlformats.org/drawingml/2006/main">
            <a:r>
              <a:t>02_management_model.xlsx / PnL!D6 — 25</a:t>
            </a:r>
          </a:p>
          <a:p xmlns:a="http://schemas.openxmlformats.org/drawingml/2006/main">
            <a:r>
              <a:t>01_company_brief.docx / paragraph 8 — The preliminary FY2025 revenue estimate is GBP 26.2 million. This briefing does not provide a reconciliation to the finance model. Financial years end on 31 December. All revenue figures exclude VAT.</a:t>
            </a:r>
          </a:p>
          <a:p xmlns:a="http://schemas.openxmlformats.org/drawingml/2006/main">
            <a:r>
              <a:t>04_cfo_email.eml / line 8 — Please use the attached management model as the provisional basis for the draft. The GBP 1.2m difference against the briefing remains unresolved and must remain visible in the draft. This is not confirmation that the model has been audited.</a:t>
            </a:r>
          </a:p>
          <a:p xmlns:a="http://schemas.openxmlformats.org/drawingml/2006/main">
            <a:r>
              <a:t>Limitations: Use model provisionally under CFO instruction; do not call reconciled.</a:t>
            </a:r>
          </a:p>
          <a:p xmlns:a="http://schemas.openxmlformats.org/drawingml/2006/main">
            <a:r>
              <a:t/>
            </a:r>
          </a:p>
          <a:p xmlns:a="http://schemas.openxmlformats.org/drawingml/2006/main">
            <a:r>
              <a:t>CUSTOMERS: FY2025 customer sales [source_supported]</a:t>
            </a:r>
          </a:p>
          <a:p xmlns:a="http://schemas.openxmlformats.org/drawingml/2006/main">
            <a:r>
              <a:t>02_management_model.xlsx / CustomerSales!A5 — C001</a:t>
            </a:r>
          </a:p>
          <a:p xmlns:a="http://schemas.openxmlformats.org/drawingml/2006/main">
            <a:r>
              <a:t>02_management_model.xlsx / CustomerSales!B5 — Customer A</a:t>
            </a:r>
          </a:p>
          <a:p xmlns:a="http://schemas.openxmlformats.org/drawingml/2006/main">
            <a:r>
              <a:t>02_management_model.xlsx / CustomerSales!C5 — 3000</a:t>
            </a:r>
          </a:p>
          <a:p xmlns:a="http://schemas.openxmlformats.org/drawingml/2006/main">
            <a:r>
              <a:t>02_management_model.xlsx / CustomerSales!A6 — C002</a:t>
            </a:r>
          </a:p>
          <a:p xmlns:a="http://schemas.openxmlformats.org/drawingml/2006/main">
            <a:r>
              <a:t>02_management_model.xlsx / CustomerSales!B6 — Customer B</a:t>
            </a:r>
          </a:p>
          <a:p xmlns:a="http://schemas.openxmlformats.org/drawingml/2006/main">
            <a:r>
              <a:t>02_management_model.xlsx / CustomerSales!C6 — 2250</a:t>
            </a:r>
          </a:p>
          <a:p xmlns:a="http://schemas.openxmlformats.org/drawingml/2006/main">
            <a:r>
              <a:t>02_management_model.xlsx / CustomerSales!A7 — C003</a:t>
            </a:r>
          </a:p>
          <a:p xmlns:a="http://schemas.openxmlformats.org/drawingml/2006/main">
            <a:r>
              <a:t>02_management_model.xlsx / CustomerSales!B7 — Customer C</a:t>
            </a:r>
          </a:p>
          <a:p xmlns:a="http://schemas.openxmlformats.org/drawingml/2006/main">
            <a:r>
              <a:t>02_management_model.xlsx / CustomerSales!C7 — 2000</a:t>
            </a:r>
          </a:p>
          <a:p xmlns:a="http://schemas.openxmlformats.org/drawingml/2006/main">
            <a:r>
              <a:t>02_management_model.xlsx / CustomerSales!A8 — C004</a:t>
            </a:r>
          </a:p>
          <a:p xmlns:a="http://schemas.openxmlformats.org/drawingml/2006/main">
            <a:r>
              <a:t>02_management_model.xlsx / CustomerSales!B8 — Customer D</a:t>
            </a:r>
          </a:p>
          <a:p xmlns:a="http://schemas.openxmlformats.org/drawingml/2006/main">
            <a:r>
              <a:t>02_management_model.xlsx / CustomerSales!C8 — 1750</a:t>
            </a:r>
          </a:p>
          <a:p xmlns:a="http://schemas.openxmlformats.org/drawingml/2006/main">
            <a:r>
              <a:t>02_management_model.xlsx / CustomerSales!A9 — C005</a:t>
            </a:r>
          </a:p>
          <a:p xmlns:a="http://schemas.openxmlformats.org/drawingml/2006/main">
            <a:r>
              <a:t>02_management_model.xlsx / CustomerSales!B9 — Customer E</a:t>
            </a:r>
          </a:p>
          <a:p xmlns:a="http://schemas.openxmlformats.org/drawingml/2006/main">
            <a:r>
              <a:t>02_management_model.xlsx / CustomerSales!C9 — 1500</a:t>
            </a:r>
          </a:p>
          <a:p xmlns:a="http://schemas.openxmlformats.org/drawingml/2006/main">
            <a:r>
              <a:t>02_management_model.xlsx / CustomerSales!A10 — OTHER</a:t>
            </a:r>
          </a:p>
          <a:p xmlns:a="http://schemas.openxmlformats.org/drawingml/2006/main">
            <a:r>
              <a:t>02_management_model.xlsx / CustomerSales!B10 — All other customers (aggregate)</a:t>
            </a:r>
          </a:p>
          <a:p xmlns:a="http://schemas.openxmlformats.org/drawingml/2006/main">
            <a:r>
              <a:t>02_management_model.xlsx / CustomerSales!C10 — 14500</a:t>
            </a:r>
          </a:p>
          <a:p xmlns:a="http://schemas.openxmlformats.org/drawingml/2006/main">
            <a:r>
              <a:t>Limitations: OTHER is an aggregate.</a:t>
            </a:r>
          </a:p>
          <a:p xmlns:a="http://schemas.openxmlformats.org/drawingml/2006/main">
            <a:r>
              <a:t/>
            </a:r>
          </a:p>
          <a:p xmlns:a="http://schemas.openxmlformats.org/drawingml/2006/main">
            <a:r>
              <a:t>FORECAST_BASIS: Forecast bridge unavailable [missing]</a:t>
            </a:r>
          </a:p>
          <a:p xmlns:a="http://schemas.openxmlformats.org/drawingml/2006/main">
            <a:r>
              <a:t>04_cfo_email.eml / line 12 — The model is version 2.0, dated 21 January 2026. The forecast is management's base case. There is no customer-level forecast bridge or recruitment cost schedule yet.</a:t>
            </a:r>
          </a:p>
          <a:p xmlns:a="http://schemas.openxmlformats.org/drawingml/2006/main">
            <a:r>
              <a:t/>
            </a:r>
          </a:p>
          <a:p xmlns:a="http://schemas.openxmlformats.org/drawingml/2006/main">
            <a:r>
              <a:t>GROWTH: Management growth plan [source_supported]</a:t>
            </a:r>
          </a:p>
          <a:p xmlns:a="http://schemas.openxmlformats.org/drawingml/2006/main">
            <a:r>
              <a:t>01_company_brief.docx / paragraph 12 — Management plans to add 20 net field engineers by the end of FY2027, cross-sell scheduled maintenance to repair customers and expand service coverage from existing hubs. The plan assumes sufficient technician recruitment and contract renewals. No signed pipeline or customer-cohort evidence accompanies this briefing.</a:t>
            </a:r>
          </a:p>
          <a:p xmlns:a="http://schemas.openxmlformats.org/drawingml/2006/main">
            <a:r>
              <a:t>03_management_interview.txt / line 10 — [00:28] CEO: Growth depends on technician recruitment, renewals and converting more repair customers to maintenance contracts. We plan 20 net new engineers by FY2027.</a:t>
            </a:r>
          </a:p>
          <a:p xmlns:a="http://schemas.openxmlformats.org/drawingml/2006/main">
            <a:r>
              <a:t/>
            </a:r>
          </a:p>
          <a:p xmlns:a="http://schemas.openxmlformats.org/drawingml/2006/main">
            <a:r>
              <a:t>MARKET: Market size and share unavailable [missing]</a:t>
            </a:r>
          </a:p>
          <a:p xmlns:a="http://schemas.openxmlformats.org/drawingml/2006/main">
            <a:r>
              <a:t>01_company_brief.docx / paragraph 16 — Management describes the UK equipment-maintenance market as fragmented. No independent market-size study, market-share estimate or competitor benchmarking has been provided.</a:t>
            </a:r>
          </a:p>
          <a:p xmlns:a="http://schemas.openxmlformats.org/drawingml/2006/main">
            <a:r>
              <a:t>Limitations: Fragmentation is a management assertion without independent support.</a:t>
            </a:r>
          </a:p>
          <a:p xmlns:a="http://schemas.openxmlformats.org/drawingml/2006/main">
            <a:r>
              <a:t/>
            </a:r>
          </a:p>
          <a:p xmlns:a="http://schemas.openxmlformats.org/drawingml/2006/main">
            <a:r>
              <a:t>QOE: Financial diligence evidence unavailable [missing]</a:t>
            </a:r>
          </a:p>
          <a:p xmlns:a="http://schemas.openxmlformats.org/drawingml/2006/main">
            <a:r>
              <a:t>03_management_interview.txt / line 11 — [00:31] CFO: EBITDA is management-reported and unaudited. No normalisation bridge or quality-of-earnings report is available. We have not supplied cash, debt or normalised working capital.</a:t>
            </a:r>
          </a:p>
          <a:p xmlns:a="http://schemas.openxmlformats.org/drawingml/2006/main">
            <a:r>
              <a:t>Limitations: No QoE, cash, debt or working-capital evidence.</a:t>
            </a:r>
          </a:p>
          <a:p xmlns:a="http://schemas.openxmlformats.org/drawingml/2006/main">
            <a:r>
              <a:t/>
            </a:r>
          </a:p>
          <a:p xmlns:a="http://schemas.openxmlformats.org/drawingml/2006/main">
            <a:r>
              <a:t>RETENTION: Retention estimate lacks defined basis [management_unverified]</a:t>
            </a:r>
          </a:p>
          <a:p xmlns:a="http://schemas.openxmlformats.org/drawingml/2006/main">
            <a:r>
              <a:t>03_management_interview.txt / line 7 — [00:17] CEO: We estimate customer retention at 94% in FY2025, but have not supplied the cohort calculation or defined whether that refers to customers or revenue.</a:t>
            </a:r>
          </a:p>
          <a:p xmlns:a="http://schemas.openxmlformats.org/drawingml/2006/main">
            <a:r>
              <a:t>Limitations: No definition or cohort data; excluded from quantitative investment highlights.</a:t>
            </a:r>
          </a:p>
          <a:p xmlns:a="http://schemas.openxmlformats.org/drawingml/2006/main">
            <a:r>
              <a:t/>
            </a:r>
          </a:p>
          <a:p xmlns:a="http://schemas.openxmlformats.org/drawingml/2006/main">
            <a:r>
              <a:t>TOP5: {"id": "TOP5", "formula": "sum(CustomerSales!C5:C9) / sum(CustomerSales!C5:C10)", "input_ids": ["CUSTOMERS"], "result": 0.42, "unit": "ratio", "rounding": "Full precision internally; one decimal for GBP million and most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7cc6ebfce6247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a1d11c9f1c44d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70ea8176a0b4c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7244a9875f49f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9cb7fd47dd747e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a1a465d5474b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0ACE84-C2DE-48C5-81C2-92C14754A57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5431868-9EA1-4DCC-AA76-BCDC5793650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3019AE-7325-4553-BE38-E473CABFB9F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FEAD24-A45F-4AE0-A5B2-A85DBF6394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755A5FA-D0BC-43DA-8B93-DF9B2555805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732038B-C77F-4194-85CE-028943CB5A0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2BEA388-B622-46C4-9614-8974F9D33A0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B052223-701A-4636-8B05-6D439AE1179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A1CFEE-B832-4827-A884-2910C93D82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E9F1ABC-4F82-48E3-B7FA-864C3291480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dd450c05c144ae" /><Relationship Type="http://schemas.openxmlformats.org/officeDocument/2006/relationships/slideLayout" Target="/ppt/slideLayouts/slideLayout1.xml" Id="R6fa28ba78a154cbe" /><Relationship Type="http://schemas.openxmlformats.org/officeDocument/2006/relationships/slideLayout" Target="/ppt/slideLayouts/slideLayout2.xml" Id="Ra66e2b1a6ef340b2" /><Relationship Type="http://schemas.openxmlformats.org/officeDocument/2006/relationships/slideLayout" Target="/ppt/slideLayouts/slideLayout3.xml" Id="R444879d7c9454aff" /><Relationship Type="http://schemas.openxmlformats.org/officeDocument/2006/relationships/slideLayout" Target="/ppt/slideLayouts/slideLayout4.xml" Id="R0b0e0c6454634122" /><Relationship Type="http://schemas.openxmlformats.org/officeDocument/2006/relationships/slideLayout" Target="/ppt/slideLayouts/slideLayout5.xml" Id="R34f743611f5b4db0" /><Relationship Type="http://schemas.openxmlformats.org/officeDocument/2006/relationships/slideLayout" Target="/ppt/slideLayouts/slideLayout6.xml" Id="R569dd04851384d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a28ba78a154cbe"/>
    <p:sldLayoutId xmlns:r="http://schemas.openxmlformats.org/officeDocument/2006/relationships" id="2147483650" r:id="Ra66e2b1a6ef340b2"/>
    <p:sldLayoutId xmlns:r="http://schemas.openxmlformats.org/officeDocument/2006/relationships" id="2147483651" r:id="R444879d7c9454aff"/>
    <p:sldLayoutId xmlns:r="http://schemas.openxmlformats.org/officeDocument/2006/relationships" id="2147483652" r:id="R0b0e0c6454634122"/>
    <p:sldLayoutId xmlns:r="http://schemas.openxmlformats.org/officeDocument/2006/relationships" id="2147483653" r:id="R34f743611f5b4db0"/>
    <p:sldLayoutId xmlns:r="http://schemas.openxmlformats.org/officeDocument/2006/relationships" id="2147483654" r:id="R569dd04851384d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2faccd460474cc3" /><Relationship Type="http://schemas.openxmlformats.org/officeDocument/2006/relationships/notesSlide" Target="/ppt/notesSlides/notesSlide1.xml" Id="R13633ec480ed43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e05ba0b02dc4f18" /><Relationship Type="http://schemas.openxmlformats.org/officeDocument/2006/relationships/notesSlide" Target="/ppt/notesSlides/notesSlide2.xml" Id="Raffc116db6cf41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76ab11c95c04ae9" /><Relationship Type="http://schemas.openxmlformats.org/officeDocument/2006/relationships/notesSlide" Target="/ppt/notesSlides/notesSlide3.xml" Id="Re1541214aee744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718c22e8ecf4007" /><Relationship Type="http://schemas.openxmlformats.org/officeDocument/2006/relationships/notesSlide" Target="/ppt/notesSlides/notesSlide4.xml" Id="Rcf99ad900c814c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350a5ec06644bec" /><Relationship Type="http://schemas.openxmlformats.org/officeDocument/2006/relationships/chart" Target="/ppt/slides/charts/chart1.xml" Id="R436c5f94c5bc499c" /><Relationship Type="http://schemas.openxmlformats.org/officeDocument/2006/relationships/notesSlide" Target="/ppt/notesSlides/notesSlide5.xml" Id="Rb72f843c5e2244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9556c7d34b74a6b" /><Relationship Type="http://schemas.openxmlformats.org/officeDocument/2006/relationships/notesSlide" Target="/ppt/notesSlides/notesSlide6.xml" Id="R4e62f2c456764c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5b611bdcb464de1" /><Relationship Type="http://schemas.openxmlformats.org/officeDocument/2006/relationships/notesSlide" Target="/ppt/notesSlides/notesSlide7.xml" Id="R4da252a6a8b544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e483bbecbee4cbc" /><Relationship Type="http://schemas.openxmlformats.org/officeDocument/2006/relationships/chart" Target="/ppt/slides/charts/chart2.xml" Id="R2388167247b549ab" /><Relationship Type="http://schemas.openxmlformats.org/officeDocument/2006/relationships/notesSlide" Target="/ppt/notesSlides/notesSlide8.xml" Id="Rda1f06e8e3314d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f16e25573f47e9" /><Relationship Type="http://schemas.openxmlformats.org/officeDocument/2006/relationships/notesSlide" Target="/ppt/notesSlides/notesSlide9.xml" Id="Rdda03e17e30a414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8d07fed39e849b4" /><Relationship Type="http://schemas.openxmlformats.org/officeDocument/2006/relationships/notesSlide" Target="/ppt/notesSlides/notesSlide10.xml" Id="R05bb8f0e460f44c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Share of FY2025 revenue</c:v>
          </c:tx>
          <c:spPr>
            <a:solidFill xmlns:a="http://schemas.openxmlformats.org/drawingml/2006/main">
              <a:srgbClr val="117F79"/>
            </a:solidFill>
          </c:spPr>
          <c:invertIfNegative val="0"/>
          <c:cat>
            <c:strRef>
              <c:f>'Chart Data'!$A$2:$A$6</c:f>
              <c:strCache>
                <c:ptCount val="5"/>
                <c:pt idx="0">
                  <c:v>A</c:v>
                </c:pt>
                <c:pt idx="1">
                  <c:v>B</c:v>
                </c:pt>
                <c:pt idx="2">
                  <c:v>C</c:v>
                </c:pt>
                <c:pt idx="3">
                  <c:v>D</c:v>
                </c:pt>
                <c:pt idx="4">
                  <c:v>E</c:v>
                </c:pt>
              </c:strCache>
            </c:strRef>
          </c:cat>
          <c:val>
            <c:numRef>
              <c:f>'Chart Data'!$B$2:$B$6</c:f>
              <c:numCache>
                <c:formatCode>0.0%</c:formatCode>
                <c:ptCount val="5"/>
                <c:pt idx="0">
                  <c:v>0.12</c:v>
                </c:pt>
                <c:pt idx="1">
                  <c:v>0.09</c:v>
                </c:pt>
                <c:pt idx="2">
                  <c:v>0.08</c:v>
                </c:pt>
                <c:pt idx="3">
                  <c:v>0.07</c:v>
                </c:pt>
                <c:pt idx="4">
                  <c:v>0.06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b="1">
                  <a:solidFill>
                    <a:srgbClr val="132E42"/>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E8"/>
            </a:solidFill>
          </a:ln>
        </c:spPr>
        <c:txPr>
          <a:bodyPr xmlns:a="http://schemas.openxmlformats.org/drawingml/2006/main" anchorCtr="1"/>
          <a:lstStyle xmlns:a="http://schemas.openxmlformats.org/drawingml/2006/main"/>
          <a:p xmlns:a="http://schemas.openxmlformats.org/drawingml/2006/main">
            <a:pPr>
              <a:defRPr sz="1200">
                <a:solidFill>
                  <a:srgbClr val="586D7C"/>
                </a:solidFill>
                <a:latin typeface="Arial"/>
                <a:ea typeface="Arial"/>
                <a:cs typeface="Arial"/>
              </a:defRPr>
            </a:pPr>
          </a:p>
        </c:txPr>
        <c:crossAx val="48672768"/>
      </c:catAx>
      <c:valAx>
        <c:axId val="48672768"/>
        <c:scaling>
          <c:orientation val="minMax"/>
          <c:max val="0.16"/>
          <c:min val="0"/>
        </c:scaling>
        <c:delete val="0"/>
        <c:axPos val="l"/>
        <c:majorGridlines>
          <c:spPr>
            <a:ln xmlns:a="http://schemas.openxmlformats.org/drawingml/2006/main" w="9525">
              <a:solidFill>
                <a:srgbClr val="DCE4E8"/>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586D7C"/>
                </a:solidFill>
                <a:latin typeface="Arial"/>
                <a:ea typeface="Arial"/>
                <a:cs typeface="Arial"/>
              </a:defRPr>
            </a:pPr>
          </a:p>
        </c:txPr>
        <c:crossAx val="48650112"/>
        <c:crossBetween val="between"/>
        <c:majorUnit val="0.04"/>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GBP million</c:v>
          </c:tx>
          <c:spPr>
            <a:solidFill xmlns:a="http://schemas.openxmlformats.org/drawingml/2006/main">
              <a:srgbClr val="117F79"/>
            </a:solidFill>
          </c:spPr>
          <c:invertIfNegative val="0"/>
          <c:cat>
            <c:strRef>
              <c:f>'Chart Data'!$A$2:$A$4</c:f>
              <c:strCache>
                <c:ptCount val="3"/>
                <c:pt idx="0">
                  <c:v>FY2025A</c:v>
                </c:pt>
                <c:pt idx="1">
                  <c:v>FY2026F</c:v>
                </c:pt>
                <c:pt idx="2">
                  <c:v>FY2027F</c:v>
                </c:pt>
              </c:strCache>
            </c:strRef>
          </c:cat>
          <c:val>
            <c:numRef>
              <c:f>'Chart Data'!$B$2:$B$4</c:f>
              <c:numCache>
                <c:formatCode>0.0</c:formatCode>
                <c:ptCount val="3"/>
                <c:pt idx="0">
                  <c:v>25</c:v>
                </c:pt>
                <c:pt idx="1">
                  <c:v>29</c:v>
                </c:pt>
                <c:pt idx="2">
                  <c:v>33.6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b="1">
                  <a:solidFill>
                    <a:srgbClr val="132E42"/>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E8"/>
            </a:solidFill>
          </a:ln>
        </c:spPr>
        <c:txPr>
          <a:bodyPr xmlns:a="http://schemas.openxmlformats.org/drawingml/2006/main" anchorCtr="1"/>
          <a:lstStyle xmlns:a="http://schemas.openxmlformats.org/drawingml/2006/main"/>
          <a:p xmlns:a="http://schemas.openxmlformats.org/drawingml/2006/main">
            <a:pPr>
              <a:defRPr sz="1200">
                <a:solidFill>
                  <a:srgbClr val="586D7C"/>
                </a:solidFill>
                <a:latin typeface="Arial"/>
                <a:ea typeface="Arial"/>
                <a:cs typeface="Arial"/>
              </a:defRPr>
            </a:pPr>
          </a:p>
        </c:txPr>
        <c:crossAx val="48672768"/>
      </c:catAx>
      <c:valAx>
        <c:axId val="48672768"/>
        <c:scaling>
          <c:orientation val="minMax"/>
          <c:max val="40"/>
          <c:min val="0"/>
        </c:scaling>
        <c:delete val="0"/>
        <c:axPos val="l"/>
        <c:majorGridlines>
          <c:spPr>
            <a:ln xmlns:a="http://schemas.openxmlformats.org/drawingml/2006/main" w="9525">
              <a:solidFill>
                <a:srgbClr val="DCE4E8"/>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586D7C"/>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32E42"/>
        </a:solidFill>
      </p:bgPr>
    </p:bg>
    <p:spTree>
      <p:nvGrpSpPr>
        <p:cNvPr id="1" name=""/>
        <p:cNvGrpSpPr/>
        <p:nvPr/>
      </p:nvGrpSpPr>
      <p:grpSpPr>
        <a:xfrm xmlns:a="http://schemas.openxmlformats.org/drawingml/2006/main"/>
      </p:grpSpPr>
      <p:sp>
        <p:nvSpPr>
          <p:cNvPr id="7" name="cover-label">
            <a:extLst xmlns:a="http://schemas.openxmlformats.org/drawingml/2006/main">
              <a:ext uri="{FF2B5EF4-FFF2-40B4-BE49-F238E27FC236}">
                <a16:creationId xmlns:a16="http://schemas.microsoft.com/office/drawing/2014/main" id="{3B932AE4-6FF3-4734-88B3-62FEFF5A618C}"/>
              </a:ext>
            </a:extLst>
          </p:cNvPr>
          <p:cNvSpPr>
            <a:spLocks xmlns:a="http://schemas.openxmlformats.org/drawingml/2006/main" noGrp="1"/>
          </p:cNvSpPr>
          <p:nvPr/>
        </p:nvSpPr>
        <p:spPr>
          <a:xfrm xmlns:a="http://schemas.openxmlformats.org/drawingml/2006/main">
            <a:off x="666750" y="5238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1">
                <a:solidFill>
                  <a:srgbClr val="83D3C6"/>
                </a:solidFill>
                <a:latin typeface="Arial"/>
                <a:ea typeface="Arial"/>
                <a:cs typeface="Arial"/>
              </a:defRPr>
            </a:defPPr>
            <a:lvl1pPr algn="l">
              <a:defRPr sz="1350" b="1">
                <a:solidFill>
                  <a:srgbClr val="83D3C6"/>
                </a:solidFill>
                <a:latin typeface="Arial"/>
                <a:ea typeface="Arial"/>
                <a:cs typeface="Arial"/>
              </a:defRPr>
            </a:lvl1pPr>
            <a:lvl2pPr algn="l">
              <a:defRPr sz="1350" b="1">
                <a:solidFill>
                  <a:srgbClr val="83D3C6"/>
                </a:solidFill>
                <a:latin typeface="Arial"/>
                <a:ea typeface="Arial"/>
                <a:cs typeface="Arial"/>
              </a:defRPr>
            </a:lvl2pPr>
            <a:lvl3pPr algn="l">
              <a:defRPr sz="1350" b="1">
                <a:solidFill>
                  <a:srgbClr val="83D3C6"/>
                </a:solidFill>
                <a:latin typeface="Arial"/>
                <a:ea typeface="Arial"/>
                <a:cs typeface="Arial"/>
              </a:defRPr>
            </a:lvl3pPr>
            <a:lvl4pPr algn="l">
              <a:defRPr sz="1350" b="1">
                <a:solidFill>
                  <a:srgbClr val="83D3C6"/>
                </a:solidFill>
                <a:latin typeface="Arial"/>
                <a:ea typeface="Arial"/>
                <a:cs typeface="Arial"/>
              </a:defRPr>
            </a:lvl4pPr>
            <a:lvl5pPr algn="l">
              <a:defRPr sz="1350" b="1">
                <a:solidFill>
                  <a:srgbClr val="83D3C6"/>
                </a:solidFill>
                <a:latin typeface="Arial"/>
                <a:ea typeface="Arial"/>
                <a:cs typeface="Arial"/>
              </a:defRPr>
            </a:lvl5pPr>
            <a:lvl6pPr algn="l">
              <a:defRPr sz="1350" b="1">
                <a:solidFill>
                  <a:srgbClr val="83D3C6"/>
                </a:solidFill>
                <a:latin typeface="Arial"/>
                <a:ea typeface="Arial"/>
                <a:cs typeface="Arial"/>
              </a:defRPr>
            </a:lvl6pPr>
            <a:lvl7pPr algn="l">
              <a:defRPr sz="1350" b="1">
                <a:solidFill>
                  <a:srgbClr val="83D3C6"/>
                </a:solidFill>
                <a:latin typeface="Arial"/>
                <a:ea typeface="Arial"/>
                <a:cs typeface="Arial"/>
              </a:defRPr>
            </a:lvl7pPr>
            <a:lvl8pPr algn="l">
              <a:defRPr sz="1350" b="1">
                <a:solidFill>
                  <a:srgbClr val="83D3C6"/>
                </a:solidFill>
                <a:latin typeface="Arial"/>
                <a:ea typeface="Arial"/>
                <a:cs typeface="Arial"/>
              </a:defRPr>
            </a:lvl8pPr>
            <a:lvl9pPr algn="l">
              <a:defRPr sz="1350" b="1">
                <a:solidFill>
                  <a:srgbClr val="83D3C6"/>
                </a:solidFill>
                <a:latin typeface="Arial"/>
                <a:ea typeface="Arial"/>
                <a:cs typeface="Arial"/>
              </a:defRPr>
            </a:lvl9pPr>
          </a:lstStyle>
          <a:p xmlns:a="http://schemas.openxmlformats.org/drawingml/2006/main">
            <a:pPr algn="l">
              <a:defRPr sz="1350" b="1">
                <a:solidFill>
                  <a:srgbClr val="83D3C6"/>
                </a:solidFill>
                <a:latin typeface="Arial"/>
                <a:ea typeface="Arial"/>
                <a:cs typeface="Arial"/>
              </a:defRPr>
            </a:pPr>
            <a:r>
              <a:rPr sz="1350" b="1">
                <a:solidFill>
                  <a:srgbClr val="83D3C6"/>
                </a:solidFill>
                <a:latin typeface="Arial"/>
                <a:ea typeface="Arial"/>
                <a:cs typeface="Arial"/>
              </a:rPr>
              <a:t>FICTIONAL TRANSACTION CASE</a:t>
            </a:r>
          </a:p>
        </p:txBody>
      </p:sp>
      <p:sp>
        <p:nvSpPr>
          <p:cNvPr id="2" name="cover-title">
            <a:extLst xmlns:a="http://schemas.openxmlformats.org/drawingml/2006/main">
              <a:ext uri="{FF2B5EF4-FFF2-40B4-BE49-F238E27FC236}">
                <a16:creationId xmlns:a16="http://schemas.microsoft.com/office/drawing/2014/main" id="{658EDB9C-C913-49D7-A994-46C43E20EE42}"/>
              </a:ext>
            </a:extLst>
          </p:cNvPr>
          <p:cNvSpPr>
            <a:spLocks xmlns:a="http://schemas.openxmlformats.org/drawingml/2006/main" noGrp="1"/>
          </p:cNvSpPr>
          <p:nvPr/>
        </p:nvSpPr>
        <p:spPr>
          <a:xfrm xmlns:a="http://schemas.openxmlformats.org/drawingml/2006/main">
            <a:off x="666750" y="17145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FFFFFF"/>
                </a:solidFill>
                <a:latin typeface="Arial"/>
                <a:ea typeface="Arial"/>
                <a:cs typeface="Arial"/>
              </a:defRPr>
            </a:defPPr>
            <a:lvl1pPr algn="l">
              <a:defRPr sz="5100" b="1">
                <a:solidFill>
                  <a:srgbClr val="FFFFFF"/>
                </a:solidFill>
                <a:latin typeface="Arial"/>
                <a:ea typeface="Arial"/>
                <a:cs typeface="Arial"/>
              </a:defRPr>
            </a:lvl1pPr>
            <a:lvl2pPr algn="l">
              <a:defRPr sz="5100" b="1">
                <a:solidFill>
                  <a:srgbClr val="FFFFFF"/>
                </a:solidFill>
                <a:latin typeface="Arial"/>
                <a:ea typeface="Arial"/>
                <a:cs typeface="Arial"/>
              </a:defRPr>
            </a:lvl2pPr>
            <a:lvl3pPr algn="l">
              <a:defRPr sz="5100" b="1">
                <a:solidFill>
                  <a:srgbClr val="FFFFFF"/>
                </a:solidFill>
                <a:latin typeface="Arial"/>
                <a:ea typeface="Arial"/>
                <a:cs typeface="Arial"/>
              </a:defRPr>
            </a:lvl3pPr>
            <a:lvl4pPr algn="l">
              <a:defRPr sz="5100" b="1">
                <a:solidFill>
                  <a:srgbClr val="FFFFFF"/>
                </a:solidFill>
                <a:latin typeface="Arial"/>
                <a:ea typeface="Arial"/>
                <a:cs typeface="Arial"/>
              </a:defRPr>
            </a:lvl4pPr>
            <a:lvl5pPr algn="l">
              <a:defRPr sz="5100" b="1">
                <a:solidFill>
                  <a:srgbClr val="FFFFFF"/>
                </a:solidFill>
                <a:latin typeface="Arial"/>
                <a:ea typeface="Arial"/>
                <a:cs typeface="Arial"/>
              </a:defRPr>
            </a:lvl5pPr>
            <a:lvl6pPr algn="l">
              <a:defRPr sz="5100" b="1">
                <a:solidFill>
                  <a:srgbClr val="FFFFFF"/>
                </a:solidFill>
                <a:latin typeface="Arial"/>
                <a:ea typeface="Arial"/>
                <a:cs typeface="Arial"/>
              </a:defRPr>
            </a:lvl6pPr>
            <a:lvl7pPr algn="l">
              <a:defRPr sz="5100" b="1">
                <a:solidFill>
                  <a:srgbClr val="FFFFFF"/>
                </a:solidFill>
                <a:latin typeface="Arial"/>
                <a:ea typeface="Arial"/>
                <a:cs typeface="Arial"/>
              </a:defRPr>
            </a:lvl7pPr>
            <a:lvl8pPr algn="l">
              <a:defRPr sz="5100" b="1">
                <a:solidFill>
                  <a:srgbClr val="FFFFFF"/>
                </a:solidFill>
                <a:latin typeface="Arial"/>
                <a:ea typeface="Arial"/>
                <a:cs typeface="Arial"/>
              </a:defRPr>
            </a:lvl8pPr>
            <a:lvl9pPr algn="l">
              <a:defRPr sz="5100" b="1">
                <a:solidFill>
                  <a:srgbClr val="FFFFFF"/>
                </a:solidFill>
                <a:latin typeface="Arial"/>
                <a:ea typeface="Arial"/>
                <a:cs typeface="Arial"/>
              </a:defRPr>
            </a:lvl9pPr>
          </a:lstStyle>
          <a:p xmlns:a="http://schemas.openxmlformats.org/drawingml/2006/main">
            <a:pPr algn="l">
              <a:defRPr sz="5100" b="1">
                <a:solidFill>
                  <a:srgbClr val="FFFFFF"/>
                </a:solidFill>
                <a:latin typeface="Arial"/>
                <a:ea typeface="Arial"/>
                <a:cs typeface="Arial"/>
              </a:defRPr>
            </a:pPr>
            <a:r>
              <a:rPr sz="5100" b="1">
                <a:solidFill>
                  <a:srgbClr val="FFFFFF"/>
                </a:solidFill>
                <a:latin typeface="Arial"/>
                <a:ea typeface="Arial"/>
                <a:cs typeface="Arial"/>
              </a:rPr>
              <a:t>Project Northbridge</a:t>
            </a:r>
          </a:p>
        </p:txBody>
      </p:sp>
      <p:sp>
        <p:nvSpPr>
          <p:cNvPr id="3" name="cover-subtitle">
            <a:extLst xmlns:a="http://schemas.openxmlformats.org/drawingml/2006/main">
              <a:ext uri="{FF2B5EF4-FFF2-40B4-BE49-F238E27FC236}">
                <a16:creationId xmlns:a16="http://schemas.microsoft.com/office/drawing/2014/main" id="{F9B31D1B-38C2-4A9D-AC50-5FA6A82A716A}"/>
              </a:ext>
            </a:extLst>
          </p:cNvPr>
          <p:cNvSpPr>
            <a:spLocks xmlns:a="http://schemas.openxmlformats.org/drawingml/2006/main" noGrp="1"/>
          </p:cNvSpPr>
          <p:nvPr/>
        </p:nvSpPr>
        <p:spPr>
          <a:xfrm xmlns:a="http://schemas.openxmlformats.org/drawingml/2006/main">
            <a:off x="704850" y="2952750"/>
            <a:ext cx="1000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FFFFFF"/>
                </a:solidFill>
                <a:latin typeface="Arial"/>
                <a:ea typeface="Arial"/>
                <a:cs typeface="Arial"/>
              </a:defRPr>
            </a:defPPr>
            <a:lvl1pPr algn="l">
              <a:defRPr sz="2850" b="0">
                <a:solidFill>
                  <a:srgbClr val="FFFFFF"/>
                </a:solidFill>
                <a:latin typeface="Arial"/>
                <a:ea typeface="Arial"/>
                <a:cs typeface="Arial"/>
              </a:defRPr>
            </a:lvl1pPr>
            <a:lvl2pPr algn="l">
              <a:defRPr sz="2850" b="0">
                <a:solidFill>
                  <a:srgbClr val="FFFFFF"/>
                </a:solidFill>
                <a:latin typeface="Arial"/>
                <a:ea typeface="Arial"/>
                <a:cs typeface="Arial"/>
              </a:defRPr>
            </a:lvl2pPr>
            <a:lvl3pPr algn="l">
              <a:defRPr sz="2850" b="0">
                <a:solidFill>
                  <a:srgbClr val="FFFFFF"/>
                </a:solidFill>
                <a:latin typeface="Arial"/>
                <a:ea typeface="Arial"/>
                <a:cs typeface="Arial"/>
              </a:defRPr>
            </a:lvl3pPr>
            <a:lvl4pPr algn="l">
              <a:defRPr sz="2850" b="0">
                <a:solidFill>
                  <a:srgbClr val="FFFFFF"/>
                </a:solidFill>
                <a:latin typeface="Arial"/>
                <a:ea typeface="Arial"/>
                <a:cs typeface="Arial"/>
              </a:defRPr>
            </a:lvl4pPr>
            <a:lvl5pPr algn="l">
              <a:defRPr sz="2850" b="0">
                <a:solidFill>
                  <a:srgbClr val="FFFFFF"/>
                </a:solidFill>
                <a:latin typeface="Arial"/>
                <a:ea typeface="Arial"/>
                <a:cs typeface="Arial"/>
              </a:defRPr>
            </a:lvl5pPr>
            <a:lvl6pPr algn="l">
              <a:defRPr sz="2850" b="0">
                <a:solidFill>
                  <a:srgbClr val="FFFFFF"/>
                </a:solidFill>
                <a:latin typeface="Arial"/>
                <a:ea typeface="Arial"/>
                <a:cs typeface="Arial"/>
              </a:defRPr>
            </a:lvl6pPr>
            <a:lvl7pPr algn="l">
              <a:defRPr sz="2850" b="0">
                <a:solidFill>
                  <a:srgbClr val="FFFFFF"/>
                </a:solidFill>
                <a:latin typeface="Arial"/>
                <a:ea typeface="Arial"/>
                <a:cs typeface="Arial"/>
              </a:defRPr>
            </a:lvl7pPr>
            <a:lvl8pPr algn="l">
              <a:defRPr sz="2850" b="0">
                <a:solidFill>
                  <a:srgbClr val="FFFFFF"/>
                </a:solidFill>
                <a:latin typeface="Arial"/>
                <a:ea typeface="Arial"/>
                <a:cs typeface="Arial"/>
              </a:defRPr>
            </a:lvl8pPr>
            <a:lvl9pPr algn="l">
              <a:defRPr sz="2850" b="0">
                <a:solidFill>
                  <a:srgbClr val="FFFFFF"/>
                </a:solidFill>
                <a:latin typeface="Arial"/>
                <a:ea typeface="Arial"/>
                <a:cs typeface="Arial"/>
              </a:defRPr>
            </a:lvl9pPr>
          </a:lstStyle>
          <a:p xmlns:a="http://schemas.openxmlformats.org/drawingml/2006/main">
            <a:pPr algn="l">
              <a:defRPr sz="2850" b="0">
                <a:solidFill>
                  <a:srgbClr val="FFFFFF"/>
                </a:solidFill>
                <a:latin typeface="Arial"/>
                <a:ea typeface="Arial"/>
                <a:cs typeface="Arial"/>
              </a:defRPr>
            </a:pPr>
            <a:r>
              <a:rPr sz="2850" b="0">
                <a:solidFill>
                  <a:srgbClr val="FFFFFF"/>
                </a:solidFill>
                <a:latin typeface="Arial"/>
                <a:ea typeface="Arial"/>
                <a:cs typeface="Arial"/>
              </a:rPr>
              <a:t>Information Memorandum</a:t>
            </a:r>
          </a:p>
        </p:txBody>
      </p:sp>
      <p:sp>
        <p:nvSpPr>
          <p:cNvPr id="4" name="cover-company">
            <a:extLst xmlns:a="http://schemas.openxmlformats.org/drawingml/2006/main">
              <a:ext uri="{FF2B5EF4-FFF2-40B4-BE49-F238E27FC236}">
                <a16:creationId xmlns:a16="http://schemas.microsoft.com/office/drawing/2014/main" id="{56DDD692-001F-48E7-9F5B-088C94F2A937}"/>
              </a:ext>
            </a:extLst>
          </p:cNvPr>
          <p:cNvSpPr>
            <a:spLocks xmlns:a="http://schemas.openxmlformats.org/drawingml/2006/main" noGrp="1"/>
          </p:cNvSpPr>
          <p:nvPr/>
        </p:nvSpPr>
        <p:spPr>
          <a:xfrm xmlns:a="http://schemas.openxmlformats.org/drawingml/2006/main">
            <a:off x="704850" y="3810000"/>
            <a:ext cx="9906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FD0D9"/>
                </a:solidFill>
                <a:latin typeface="Arial"/>
                <a:ea typeface="Arial"/>
                <a:cs typeface="Arial"/>
              </a:defRPr>
            </a:defPPr>
            <a:lvl1pPr algn="l">
              <a:defRPr sz="1875" b="0">
                <a:solidFill>
                  <a:srgbClr val="BFD0D9"/>
                </a:solidFill>
                <a:latin typeface="Arial"/>
                <a:ea typeface="Arial"/>
                <a:cs typeface="Arial"/>
              </a:defRPr>
            </a:lvl1pPr>
            <a:lvl2pPr algn="l">
              <a:defRPr sz="1875" b="0">
                <a:solidFill>
                  <a:srgbClr val="BFD0D9"/>
                </a:solidFill>
                <a:latin typeface="Arial"/>
                <a:ea typeface="Arial"/>
                <a:cs typeface="Arial"/>
              </a:defRPr>
            </a:lvl2pPr>
            <a:lvl3pPr algn="l">
              <a:defRPr sz="1875" b="0">
                <a:solidFill>
                  <a:srgbClr val="BFD0D9"/>
                </a:solidFill>
                <a:latin typeface="Arial"/>
                <a:ea typeface="Arial"/>
                <a:cs typeface="Arial"/>
              </a:defRPr>
            </a:lvl3pPr>
            <a:lvl4pPr algn="l">
              <a:defRPr sz="1875" b="0">
                <a:solidFill>
                  <a:srgbClr val="BFD0D9"/>
                </a:solidFill>
                <a:latin typeface="Arial"/>
                <a:ea typeface="Arial"/>
                <a:cs typeface="Arial"/>
              </a:defRPr>
            </a:lvl4pPr>
            <a:lvl5pPr algn="l">
              <a:defRPr sz="1875" b="0">
                <a:solidFill>
                  <a:srgbClr val="BFD0D9"/>
                </a:solidFill>
                <a:latin typeface="Arial"/>
                <a:ea typeface="Arial"/>
                <a:cs typeface="Arial"/>
              </a:defRPr>
            </a:lvl5pPr>
            <a:lvl6pPr algn="l">
              <a:defRPr sz="1875" b="0">
                <a:solidFill>
                  <a:srgbClr val="BFD0D9"/>
                </a:solidFill>
                <a:latin typeface="Arial"/>
                <a:ea typeface="Arial"/>
                <a:cs typeface="Arial"/>
              </a:defRPr>
            </a:lvl6pPr>
            <a:lvl7pPr algn="l">
              <a:defRPr sz="1875" b="0">
                <a:solidFill>
                  <a:srgbClr val="BFD0D9"/>
                </a:solidFill>
                <a:latin typeface="Arial"/>
                <a:ea typeface="Arial"/>
                <a:cs typeface="Arial"/>
              </a:defRPr>
            </a:lvl7pPr>
            <a:lvl8pPr algn="l">
              <a:defRPr sz="1875" b="0">
                <a:solidFill>
                  <a:srgbClr val="BFD0D9"/>
                </a:solidFill>
                <a:latin typeface="Arial"/>
                <a:ea typeface="Arial"/>
                <a:cs typeface="Arial"/>
              </a:defRPr>
            </a:lvl8pPr>
            <a:lvl9pPr algn="l">
              <a:defRPr sz="1875" b="0">
                <a:solidFill>
                  <a:srgbClr val="BFD0D9"/>
                </a:solidFill>
                <a:latin typeface="Arial"/>
                <a:ea typeface="Arial"/>
                <a:cs typeface="Arial"/>
              </a:defRPr>
            </a:lvl9pPr>
          </a:lstStyle>
          <a:p xmlns:a="http://schemas.openxmlformats.org/drawingml/2006/main">
            <a:pPr algn="l">
              <a:defRPr sz="1875" b="0">
                <a:solidFill>
                  <a:srgbClr val="BFD0D9"/>
                </a:solidFill>
                <a:latin typeface="Arial"/>
                <a:ea typeface="Arial"/>
                <a:cs typeface="Arial"/>
              </a:defRPr>
            </a:pPr>
            <a:r>
              <a:rPr sz="1875" b="0">
                <a:solidFill>
                  <a:srgbClr val="BFD0D9"/>
                </a:solidFill>
                <a:latin typeface="Arial"/>
                <a:ea typeface="Arial"/>
                <a:cs typeface="Arial"/>
              </a:rPr>
              <a:t>Northbridge Field Services Ltd</a:t>
            </a:r>
          </a:p>
          <a:p xmlns:a="http://schemas.openxmlformats.org/drawingml/2006/main">
            <a:pPr algn="l">
              <a:defRPr sz="1875" b="0">
                <a:solidFill>
                  <a:srgbClr val="BFD0D9"/>
                </a:solidFill>
                <a:latin typeface="Arial"/>
                <a:ea typeface="Arial"/>
                <a:cs typeface="Arial"/>
              </a:defRPr>
            </a:pPr>
            <a:r>
              <a:rPr sz="1875" b="0">
                <a:solidFill>
                  <a:srgbClr val="BFD0D9"/>
                </a:solidFill>
                <a:latin typeface="Arial"/>
                <a:ea typeface="Arial"/>
                <a:cs typeface="Arial"/>
              </a:rPr>
              <a:t>UK equipment maintenance and technical field support</a:t>
            </a:r>
          </a:p>
        </p:txBody>
      </p:sp>
      <p:sp>
        <p:nvSpPr>
          <p:cNvPr id="5" name="cover-date">
            <a:extLst xmlns:a="http://schemas.openxmlformats.org/drawingml/2006/main">
              <a:ext uri="{FF2B5EF4-FFF2-40B4-BE49-F238E27FC236}">
                <a16:creationId xmlns:a16="http://schemas.microsoft.com/office/drawing/2014/main" id="{031397CE-F01E-4EE5-8DEE-583A9BA67739}"/>
              </a:ext>
            </a:extLst>
          </p:cNvPr>
          <p:cNvSpPr>
            <a:spLocks xmlns:a="http://schemas.openxmlformats.org/drawingml/2006/main" noGrp="1"/>
          </p:cNvSpPr>
          <p:nvPr/>
        </p:nvSpPr>
        <p:spPr>
          <a:xfrm xmlns:a="http://schemas.openxmlformats.org/drawingml/2006/main">
            <a:off x="704850" y="5429250"/>
            <a:ext cx="1000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FD0D9"/>
                </a:solidFill>
                <a:latin typeface="Arial"/>
                <a:ea typeface="Arial"/>
                <a:cs typeface="Arial"/>
              </a:defRPr>
            </a:defPPr>
            <a:lvl1pPr algn="l">
              <a:defRPr sz="1500" b="0">
                <a:solidFill>
                  <a:srgbClr val="BFD0D9"/>
                </a:solidFill>
                <a:latin typeface="Arial"/>
                <a:ea typeface="Arial"/>
                <a:cs typeface="Arial"/>
              </a:defRPr>
            </a:lvl1pPr>
            <a:lvl2pPr algn="l">
              <a:defRPr sz="1500" b="0">
                <a:solidFill>
                  <a:srgbClr val="BFD0D9"/>
                </a:solidFill>
                <a:latin typeface="Arial"/>
                <a:ea typeface="Arial"/>
                <a:cs typeface="Arial"/>
              </a:defRPr>
            </a:lvl2pPr>
            <a:lvl3pPr algn="l">
              <a:defRPr sz="1500" b="0">
                <a:solidFill>
                  <a:srgbClr val="BFD0D9"/>
                </a:solidFill>
                <a:latin typeface="Arial"/>
                <a:ea typeface="Arial"/>
                <a:cs typeface="Arial"/>
              </a:defRPr>
            </a:lvl3pPr>
            <a:lvl4pPr algn="l">
              <a:defRPr sz="1500" b="0">
                <a:solidFill>
                  <a:srgbClr val="BFD0D9"/>
                </a:solidFill>
                <a:latin typeface="Arial"/>
                <a:ea typeface="Arial"/>
                <a:cs typeface="Arial"/>
              </a:defRPr>
            </a:lvl4pPr>
            <a:lvl5pPr algn="l">
              <a:defRPr sz="1500" b="0">
                <a:solidFill>
                  <a:srgbClr val="BFD0D9"/>
                </a:solidFill>
                <a:latin typeface="Arial"/>
                <a:ea typeface="Arial"/>
                <a:cs typeface="Arial"/>
              </a:defRPr>
            </a:lvl5pPr>
            <a:lvl6pPr algn="l">
              <a:defRPr sz="1500" b="0">
                <a:solidFill>
                  <a:srgbClr val="BFD0D9"/>
                </a:solidFill>
                <a:latin typeface="Arial"/>
                <a:ea typeface="Arial"/>
                <a:cs typeface="Arial"/>
              </a:defRPr>
            </a:lvl6pPr>
            <a:lvl7pPr algn="l">
              <a:defRPr sz="1500" b="0">
                <a:solidFill>
                  <a:srgbClr val="BFD0D9"/>
                </a:solidFill>
                <a:latin typeface="Arial"/>
                <a:ea typeface="Arial"/>
                <a:cs typeface="Arial"/>
              </a:defRPr>
            </a:lvl7pPr>
            <a:lvl8pPr algn="l">
              <a:defRPr sz="1500" b="0">
                <a:solidFill>
                  <a:srgbClr val="BFD0D9"/>
                </a:solidFill>
                <a:latin typeface="Arial"/>
                <a:ea typeface="Arial"/>
                <a:cs typeface="Arial"/>
              </a:defRPr>
            </a:lvl8pPr>
            <a:lvl9pPr algn="l">
              <a:defRPr sz="1500" b="0">
                <a:solidFill>
                  <a:srgbClr val="BFD0D9"/>
                </a:solidFill>
                <a:latin typeface="Arial"/>
                <a:ea typeface="Arial"/>
                <a:cs typeface="Arial"/>
              </a:defRPr>
            </a:lvl9pPr>
          </a:lstStyle>
          <a:p xmlns:a="http://schemas.openxmlformats.org/drawingml/2006/main">
            <a:pPr algn="l">
              <a:defRPr sz="1500" b="0">
                <a:solidFill>
                  <a:srgbClr val="BFD0D9"/>
                </a:solidFill>
                <a:latin typeface="Arial"/>
                <a:ea typeface="Arial"/>
                <a:cs typeface="Arial"/>
              </a:defRPr>
            </a:pPr>
            <a:r>
              <a:rPr sz="1500" b="0">
                <a:solidFill>
                  <a:srgbClr val="BFD0D9"/>
                </a:solidFill>
                <a:latin typeface="Arial"/>
                <a:ea typeface="Arial"/>
                <a:cs typeface="Arial"/>
              </a:rPr>
              <a:t>January 2026</a:t>
            </a:r>
          </a:p>
          <a:p xmlns:a="http://schemas.openxmlformats.org/drawingml/2006/main">
            <a:pPr algn="l">
              <a:defRPr sz="1500" b="0">
                <a:solidFill>
                  <a:srgbClr val="BFD0D9"/>
                </a:solidFill>
                <a:latin typeface="Arial"/>
                <a:ea typeface="Arial"/>
                <a:cs typeface="Arial"/>
              </a:defRPr>
            </a:pPr>
            <a:r>
              <a:rPr sz="1500" b="0">
                <a:solidFill>
                  <a:srgbClr val="BFD0D9"/>
                </a:solidFill>
                <a:latin typeface="Arial"/>
                <a:ea typeface="Arial"/>
                <a:cs typeface="Arial"/>
              </a:rPr>
              <a:t>Draft for discussion</a:t>
            </a:r>
          </a:p>
        </p:txBody>
      </p:sp>
      <p:sp>
        <p:nvSpPr>
          <p:cNvPr id="6" name="cover-fiction">
            <a:extLst xmlns:a="http://schemas.openxmlformats.org/drawingml/2006/main">
              <a:ext uri="{FF2B5EF4-FFF2-40B4-BE49-F238E27FC236}">
                <a16:creationId xmlns:a16="http://schemas.microsoft.com/office/drawing/2014/main" id="{BFEC7828-D2E3-4E79-A824-6CC2DE83AC26}"/>
              </a:ext>
            </a:extLst>
          </p:cNvPr>
          <p:cNvSpPr>
            <a:spLocks xmlns:a="http://schemas.openxmlformats.org/drawingml/2006/main" noGrp="1"/>
          </p:cNvSpPr>
          <p:nvPr/>
        </p:nvSpPr>
        <p:spPr>
          <a:xfrm xmlns:a="http://schemas.openxmlformats.org/drawingml/2006/main">
            <a:off x="704850" y="642937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BFD0D9"/>
                </a:solidFill>
                <a:latin typeface="Arial"/>
                <a:ea typeface="Arial"/>
                <a:cs typeface="Arial"/>
              </a:defRPr>
            </a:defPPr>
            <a:lvl1pPr algn="l">
              <a:defRPr sz="1050" b="0">
                <a:solidFill>
                  <a:srgbClr val="BFD0D9"/>
                </a:solidFill>
                <a:latin typeface="Arial"/>
                <a:ea typeface="Arial"/>
                <a:cs typeface="Arial"/>
              </a:defRPr>
            </a:lvl1pPr>
            <a:lvl2pPr algn="l">
              <a:defRPr sz="1050" b="0">
                <a:solidFill>
                  <a:srgbClr val="BFD0D9"/>
                </a:solidFill>
                <a:latin typeface="Arial"/>
                <a:ea typeface="Arial"/>
                <a:cs typeface="Arial"/>
              </a:defRPr>
            </a:lvl2pPr>
            <a:lvl3pPr algn="l">
              <a:defRPr sz="1050" b="0">
                <a:solidFill>
                  <a:srgbClr val="BFD0D9"/>
                </a:solidFill>
                <a:latin typeface="Arial"/>
                <a:ea typeface="Arial"/>
                <a:cs typeface="Arial"/>
              </a:defRPr>
            </a:lvl3pPr>
            <a:lvl4pPr algn="l">
              <a:defRPr sz="1050" b="0">
                <a:solidFill>
                  <a:srgbClr val="BFD0D9"/>
                </a:solidFill>
                <a:latin typeface="Arial"/>
                <a:ea typeface="Arial"/>
                <a:cs typeface="Arial"/>
              </a:defRPr>
            </a:lvl4pPr>
            <a:lvl5pPr algn="l">
              <a:defRPr sz="1050" b="0">
                <a:solidFill>
                  <a:srgbClr val="BFD0D9"/>
                </a:solidFill>
                <a:latin typeface="Arial"/>
                <a:ea typeface="Arial"/>
                <a:cs typeface="Arial"/>
              </a:defRPr>
            </a:lvl5pPr>
            <a:lvl6pPr algn="l">
              <a:defRPr sz="1050" b="0">
                <a:solidFill>
                  <a:srgbClr val="BFD0D9"/>
                </a:solidFill>
                <a:latin typeface="Arial"/>
                <a:ea typeface="Arial"/>
                <a:cs typeface="Arial"/>
              </a:defRPr>
            </a:lvl6pPr>
            <a:lvl7pPr algn="l">
              <a:defRPr sz="1050" b="0">
                <a:solidFill>
                  <a:srgbClr val="BFD0D9"/>
                </a:solidFill>
                <a:latin typeface="Arial"/>
                <a:ea typeface="Arial"/>
                <a:cs typeface="Arial"/>
              </a:defRPr>
            </a:lvl7pPr>
            <a:lvl8pPr algn="l">
              <a:defRPr sz="1050" b="0">
                <a:solidFill>
                  <a:srgbClr val="BFD0D9"/>
                </a:solidFill>
                <a:latin typeface="Arial"/>
                <a:ea typeface="Arial"/>
                <a:cs typeface="Arial"/>
              </a:defRPr>
            </a:lvl8pPr>
            <a:lvl9pPr algn="l">
              <a:defRPr sz="1050" b="0">
                <a:solidFill>
                  <a:srgbClr val="BFD0D9"/>
                </a:solidFill>
                <a:latin typeface="Arial"/>
                <a:ea typeface="Arial"/>
                <a:cs typeface="Arial"/>
              </a:defRPr>
            </a:lvl9pPr>
          </a:lstStyle>
          <a:p xmlns:a="http://schemas.openxmlformats.org/drawingml/2006/main">
            <a:pPr algn="l">
              <a:defRPr sz="1050" b="0">
                <a:solidFill>
                  <a:srgbClr val="BFD0D9"/>
                </a:solidFill>
                <a:latin typeface="Arial"/>
                <a:ea typeface="Arial"/>
                <a:cs typeface="Arial"/>
              </a:defRPr>
            </a:pPr>
            <a:r>
              <a:rPr sz="1050" b="0">
                <a:solidFill>
                  <a:srgbClr val="BFD0D9"/>
                </a:solidFill>
                <a:latin typeface="Arial"/>
                <a:ea typeface="Arial"/>
                <a:cs typeface="Arial"/>
              </a:rPr>
              <a:t>All companies, people and financial data in this case are fictional.</a:t>
            </a:r>
          </a:p>
        </p:txBody>
      </p:sp>
    </p:spTree>
    <p:extLst>
      <p:ext uri="{BB962C8B-B14F-4D97-AF65-F5344CB8AC3E}">
        <p14:creationId xmlns:p14="http://schemas.microsoft.com/office/powerpoint/2010/main" val="14089991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2-section">
            <a:extLst xmlns:a="http://schemas.openxmlformats.org/drawingml/2006/main">
              <a:ext uri="{FF2B5EF4-FFF2-40B4-BE49-F238E27FC236}">
                <a16:creationId xmlns:a16="http://schemas.microsoft.com/office/drawing/2014/main" id="{812F85F2-23C9-4A87-989C-5940200B1C80}"/>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OVERVIEW</a:t>
            </a:r>
          </a:p>
        </p:txBody>
      </p:sp>
      <p:sp>
        <p:nvSpPr>
          <p:cNvPr id="2" name="s2-title">
            <a:extLst xmlns:a="http://schemas.openxmlformats.org/drawingml/2006/main">
              <a:ext uri="{FF2B5EF4-FFF2-40B4-BE49-F238E27FC236}">
                <a16:creationId xmlns:a16="http://schemas.microsoft.com/office/drawing/2014/main" id="{1A70E4D6-8EA6-40CE-81C2-5AA2E9BEFF4F}"/>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Executive summary</a:t>
            </a:r>
          </a:p>
        </p:txBody>
      </p:sp>
      <p:sp>
        <p:nvSpPr>
          <p:cNvPr id="3" name="s2-header-rule">
            <a:extLst xmlns:a="http://schemas.openxmlformats.org/drawingml/2006/main">
              <a:ext uri="{FF2B5EF4-FFF2-40B4-BE49-F238E27FC236}">
                <a16:creationId xmlns:a16="http://schemas.microsoft.com/office/drawing/2014/main" id="{108CA3CC-D437-4FBD-A885-AAB3B4EEB443}"/>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2-footer">
            <a:extLst xmlns:a="http://schemas.openxmlformats.org/drawingml/2006/main">
              <a:ext uri="{FF2B5EF4-FFF2-40B4-BE49-F238E27FC236}">
                <a16:creationId xmlns:a16="http://schemas.microsoft.com/office/drawing/2014/main" id="{7FB3971B-DCEF-4CC1-87E4-237BF4B70EA5}"/>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2-page">
            <a:extLst xmlns:a="http://schemas.openxmlformats.org/drawingml/2006/main">
              <a:ext uri="{FF2B5EF4-FFF2-40B4-BE49-F238E27FC236}">
                <a16:creationId xmlns:a16="http://schemas.microsoft.com/office/drawing/2014/main" id="{DCBBA26A-E731-4616-A246-CCF1AF4BBB0A}"/>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02</a:t>
            </a:r>
          </a:p>
        </p:txBody>
      </p:sp>
      <p:sp>
        <p:nvSpPr>
          <p:cNvPr id="6" name="s2-kpi0">
            <a:extLst xmlns:a="http://schemas.openxmlformats.org/drawingml/2006/main">
              <a:ext uri="{FF2B5EF4-FFF2-40B4-BE49-F238E27FC236}">
                <a16:creationId xmlns:a16="http://schemas.microsoft.com/office/drawing/2014/main" id="{448B3730-EAB2-44D7-8513-A2E5C34FCD61}"/>
              </a:ext>
            </a:extLst>
          </p:cNvPr>
          <p:cNvSpPr>
            <a:spLocks xmlns:a="http://schemas.openxmlformats.org/drawingml/2006/main" noGrp="1"/>
          </p:cNvSpPr>
          <p:nvPr/>
        </p:nvSpPr>
        <p:spPr>
          <a:xfrm xmlns:a="http://schemas.openxmlformats.org/drawingml/2006/main">
            <a:off x="571500" y="1828800"/>
            <a:ext cx="2619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17F79"/>
                </a:solidFill>
                <a:latin typeface="Arial"/>
                <a:ea typeface="Arial"/>
                <a:cs typeface="Arial"/>
              </a:defRPr>
            </a:defPPr>
            <a:lvl1pPr algn="l">
              <a:defRPr sz="3600" b="1">
                <a:solidFill>
                  <a:srgbClr val="117F79"/>
                </a:solidFill>
                <a:latin typeface="Arial"/>
                <a:ea typeface="Arial"/>
                <a:cs typeface="Arial"/>
              </a:defRPr>
            </a:lvl1pPr>
            <a:lvl2pPr algn="l">
              <a:defRPr sz="3600" b="1">
                <a:solidFill>
                  <a:srgbClr val="117F79"/>
                </a:solidFill>
                <a:latin typeface="Arial"/>
                <a:ea typeface="Arial"/>
                <a:cs typeface="Arial"/>
              </a:defRPr>
            </a:lvl2pPr>
            <a:lvl3pPr algn="l">
              <a:defRPr sz="3600" b="1">
                <a:solidFill>
                  <a:srgbClr val="117F79"/>
                </a:solidFill>
                <a:latin typeface="Arial"/>
                <a:ea typeface="Arial"/>
                <a:cs typeface="Arial"/>
              </a:defRPr>
            </a:lvl3pPr>
            <a:lvl4pPr algn="l">
              <a:defRPr sz="3600" b="1">
                <a:solidFill>
                  <a:srgbClr val="117F79"/>
                </a:solidFill>
                <a:latin typeface="Arial"/>
                <a:ea typeface="Arial"/>
                <a:cs typeface="Arial"/>
              </a:defRPr>
            </a:lvl4pPr>
            <a:lvl5pPr algn="l">
              <a:defRPr sz="3600" b="1">
                <a:solidFill>
                  <a:srgbClr val="117F79"/>
                </a:solidFill>
                <a:latin typeface="Arial"/>
                <a:ea typeface="Arial"/>
                <a:cs typeface="Arial"/>
              </a:defRPr>
            </a:lvl5pPr>
            <a:lvl6pPr algn="l">
              <a:defRPr sz="3600" b="1">
                <a:solidFill>
                  <a:srgbClr val="117F79"/>
                </a:solidFill>
                <a:latin typeface="Arial"/>
                <a:ea typeface="Arial"/>
                <a:cs typeface="Arial"/>
              </a:defRPr>
            </a:lvl6pPr>
            <a:lvl7pPr algn="l">
              <a:defRPr sz="3600" b="1">
                <a:solidFill>
                  <a:srgbClr val="117F79"/>
                </a:solidFill>
                <a:latin typeface="Arial"/>
                <a:ea typeface="Arial"/>
                <a:cs typeface="Arial"/>
              </a:defRPr>
            </a:lvl7pPr>
            <a:lvl8pPr algn="l">
              <a:defRPr sz="3600" b="1">
                <a:solidFill>
                  <a:srgbClr val="117F79"/>
                </a:solidFill>
                <a:latin typeface="Arial"/>
                <a:ea typeface="Arial"/>
                <a:cs typeface="Arial"/>
              </a:defRPr>
            </a:lvl8pPr>
            <a:lvl9pPr algn="l">
              <a:defRPr sz="3600" b="1">
                <a:solidFill>
                  <a:srgbClr val="117F79"/>
                </a:solidFill>
                <a:latin typeface="Arial"/>
                <a:ea typeface="Arial"/>
                <a:cs typeface="Arial"/>
              </a:defRPr>
            </a:lvl9pPr>
          </a:lstStyle>
          <a:p xmlns:a="http://schemas.openxmlformats.org/drawingml/2006/main">
            <a:pPr algn="l">
              <a:defRPr sz="3600" b="1">
                <a:solidFill>
                  <a:srgbClr val="117F79"/>
                </a:solidFill>
                <a:latin typeface="Arial"/>
                <a:ea typeface="Arial"/>
                <a:cs typeface="Arial"/>
              </a:defRPr>
            </a:pPr>
            <a:r>
              <a:rPr sz="3600" b="1">
                <a:solidFill>
                  <a:srgbClr val="117F79"/>
                </a:solidFill>
                <a:latin typeface="Arial"/>
                <a:ea typeface="Arial"/>
                <a:cs typeface="Arial"/>
              </a:rPr>
              <a:t>£25.0m</a:t>
            </a:r>
          </a:p>
        </p:txBody>
      </p:sp>
      <p:sp>
        <p:nvSpPr>
          <p:cNvPr id="7" name="s2-label0">
            <a:extLst xmlns:a="http://schemas.openxmlformats.org/drawingml/2006/main">
              <a:ext uri="{FF2B5EF4-FFF2-40B4-BE49-F238E27FC236}">
                <a16:creationId xmlns:a16="http://schemas.microsoft.com/office/drawing/2014/main" id="{0A49DCEA-44C1-4026-9237-EFE25D793569}"/>
              </a:ext>
            </a:extLst>
          </p:cNvPr>
          <p:cNvSpPr>
            <a:spLocks xmlns:a="http://schemas.openxmlformats.org/drawingml/2006/main" noGrp="1"/>
          </p:cNvSpPr>
          <p:nvPr/>
        </p:nvSpPr>
        <p:spPr>
          <a:xfrm xmlns:a="http://schemas.openxmlformats.org/drawingml/2006/main">
            <a:off x="571500" y="25431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6D7C"/>
                </a:solidFill>
                <a:latin typeface="Arial"/>
                <a:ea typeface="Arial"/>
                <a:cs typeface="Arial"/>
              </a:defRPr>
            </a:defPPr>
            <a:lvl1pPr algn="l">
              <a:defRPr sz="1500" b="0">
                <a:solidFill>
                  <a:srgbClr val="586D7C"/>
                </a:solidFill>
                <a:latin typeface="Arial"/>
                <a:ea typeface="Arial"/>
                <a:cs typeface="Arial"/>
              </a:defRPr>
            </a:lvl1pPr>
            <a:lvl2pPr algn="l">
              <a:defRPr sz="1500" b="0">
                <a:solidFill>
                  <a:srgbClr val="586D7C"/>
                </a:solidFill>
                <a:latin typeface="Arial"/>
                <a:ea typeface="Arial"/>
                <a:cs typeface="Arial"/>
              </a:defRPr>
            </a:lvl2pPr>
            <a:lvl3pPr algn="l">
              <a:defRPr sz="1500" b="0">
                <a:solidFill>
                  <a:srgbClr val="586D7C"/>
                </a:solidFill>
                <a:latin typeface="Arial"/>
                <a:ea typeface="Arial"/>
                <a:cs typeface="Arial"/>
              </a:defRPr>
            </a:lvl3pPr>
            <a:lvl4pPr algn="l">
              <a:defRPr sz="1500" b="0">
                <a:solidFill>
                  <a:srgbClr val="586D7C"/>
                </a:solidFill>
                <a:latin typeface="Arial"/>
                <a:ea typeface="Arial"/>
                <a:cs typeface="Arial"/>
              </a:defRPr>
            </a:lvl4pPr>
            <a:lvl5pPr algn="l">
              <a:defRPr sz="1500" b="0">
                <a:solidFill>
                  <a:srgbClr val="586D7C"/>
                </a:solidFill>
                <a:latin typeface="Arial"/>
                <a:ea typeface="Arial"/>
                <a:cs typeface="Arial"/>
              </a:defRPr>
            </a:lvl5pPr>
            <a:lvl6pPr algn="l">
              <a:defRPr sz="1500" b="0">
                <a:solidFill>
                  <a:srgbClr val="586D7C"/>
                </a:solidFill>
                <a:latin typeface="Arial"/>
                <a:ea typeface="Arial"/>
                <a:cs typeface="Arial"/>
              </a:defRPr>
            </a:lvl6pPr>
            <a:lvl7pPr algn="l">
              <a:defRPr sz="1500" b="0">
                <a:solidFill>
                  <a:srgbClr val="586D7C"/>
                </a:solidFill>
                <a:latin typeface="Arial"/>
                <a:ea typeface="Arial"/>
                <a:cs typeface="Arial"/>
              </a:defRPr>
            </a:lvl7pPr>
            <a:lvl8pPr algn="l">
              <a:defRPr sz="1500" b="0">
                <a:solidFill>
                  <a:srgbClr val="586D7C"/>
                </a:solidFill>
                <a:latin typeface="Arial"/>
                <a:ea typeface="Arial"/>
                <a:cs typeface="Arial"/>
              </a:defRPr>
            </a:lvl8pPr>
            <a:lvl9pPr algn="l">
              <a:defRPr sz="1500" b="0">
                <a:solidFill>
                  <a:srgbClr val="586D7C"/>
                </a:solidFill>
                <a:latin typeface="Arial"/>
                <a:ea typeface="Arial"/>
                <a:cs typeface="Arial"/>
              </a:defRPr>
            </a:lvl9pPr>
          </a:lstStyle>
          <a:p xmlns:a="http://schemas.openxmlformats.org/drawingml/2006/main">
            <a:pPr algn="l">
              <a:defRPr sz="1500" b="0">
                <a:solidFill>
                  <a:srgbClr val="586D7C"/>
                </a:solidFill>
                <a:latin typeface="Arial"/>
                <a:ea typeface="Arial"/>
                <a:cs typeface="Arial"/>
              </a:defRPr>
            </a:pPr>
            <a:r>
              <a:rPr sz="1500" b="0">
                <a:solidFill>
                  <a:srgbClr val="586D7C"/>
                </a:solidFill>
                <a:latin typeface="Arial"/>
                <a:ea typeface="Arial"/>
                <a:cs typeface="Arial"/>
              </a:rPr>
              <a:t>FY2025 revenue</a:t>
            </a:r>
          </a:p>
        </p:txBody>
      </p:sp>
      <p:sp>
        <p:nvSpPr>
          <p:cNvPr id="8" name="s2-kpi1">
            <a:extLst xmlns:a="http://schemas.openxmlformats.org/drawingml/2006/main">
              <a:ext uri="{FF2B5EF4-FFF2-40B4-BE49-F238E27FC236}">
                <a16:creationId xmlns:a16="http://schemas.microsoft.com/office/drawing/2014/main" id="{2AECD2FC-30FE-4719-A404-8CE91F496172}"/>
              </a:ext>
            </a:extLst>
          </p:cNvPr>
          <p:cNvSpPr>
            <a:spLocks xmlns:a="http://schemas.openxmlformats.org/drawingml/2006/main" noGrp="1"/>
          </p:cNvSpPr>
          <p:nvPr/>
        </p:nvSpPr>
        <p:spPr>
          <a:xfrm xmlns:a="http://schemas.openxmlformats.org/drawingml/2006/main">
            <a:off x="3381375" y="1828800"/>
            <a:ext cx="2619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17F79"/>
                </a:solidFill>
                <a:latin typeface="Arial"/>
                <a:ea typeface="Arial"/>
                <a:cs typeface="Arial"/>
              </a:defRPr>
            </a:defPPr>
            <a:lvl1pPr algn="l">
              <a:defRPr sz="3600" b="1">
                <a:solidFill>
                  <a:srgbClr val="117F79"/>
                </a:solidFill>
                <a:latin typeface="Arial"/>
                <a:ea typeface="Arial"/>
                <a:cs typeface="Arial"/>
              </a:defRPr>
            </a:lvl1pPr>
            <a:lvl2pPr algn="l">
              <a:defRPr sz="3600" b="1">
                <a:solidFill>
                  <a:srgbClr val="117F79"/>
                </a:solidFill>
                <a:latin typeface="Arial"/>
                <a:ea typeface="Arial"/>
                <a:cs typeface="Arial"/>
              </a:defRPr>
            </a:lvl2pPr>
            <a:lvl3pPr algn="l">
              <a:defRPr sz="3600" b="1">
                <a:solidFill>
                  <a:srgbClr val="117F79"/>
                </a:solidFill>
                <a:latin typeface="Arial"/>
                <a:ea typeface="Arial"/>
                <a:cs typeface="Arial"/>
              </a:defRPr>
            </a:lvl3pPr>
            <a:lvl4pPr algn="l">
              <a:defRPr sz="3600" b="1">
                <a:solidFill>
                  <a:srgbClr val="117F79"/>
                </a:solidFill>
                <a:latin typeface="Arial"/>
                <a:ea typeface="Arial"/>
                <a:cs typeface="Arial"/>
              </a:defRPr>
            </a:lvl4pPr>
            <a:lvl5pPr algn="l">
              <a:defRPr sz="3600" b="1">
                <a:solidFill>
                  <a:srgbClr val="117F79"/>
                </a:solidFill>
                <a:latin typeface="Arial"/>
                <a:ea typeface="Arial"/>
                <a:cs typeface="Arial"/>
              </a:defRPr>
            </a:lvl5pPr>
            <a:lvl6pPr algn="l">
              <a:defRPr sz="3600" b="1">
                <a:solidFill>
                  <a:srgbClr val="117F79"/>
                </a:solidFill>
                <a:latin typeface="Arial"/>
                <a:ea typeface="Arial"/>
                <a:cs typeface="Arial"/>
              </a:defRPr>
            </a:lvl6pPr>
            <a:lvl7pPr algn="l">
              <a:defRPr sz="3600" b="1">
                <a:solidFill>
                  <a:srgbClr val="117F79"/>
                </a:solidFill>
                <a:latin typeface="Arial"/>
                <a:ea typeface="Arial"/>
                <a:cs typeface="Arial"/>
              </a:defRPr>
            </a:lvl7pPr>
            <a:lvl8pPr algn="l">
              <a:defRPr sz="3600" b="1">
                <a:solidFill>
                  <a:srgbClr val="117F79"/>
                </a:solidFill>
                <a:latin typeface="Arial"/>
                <a:ea typeface="Arial"/>
                <a:cs typeface="Arial"/>
              </a:defRPr>
            </a:lvl8pPr>
            <a:lvl9pPr algn="l">
              <a:defRPr sz="3600" b="1">
                <a:solidFill>
                  <a:srgbClr val="117F79"/>
                </a:solidFill>
                <a:latin typeface="Arial"/>
                <a:ea typeface="Arial"/>
                <a:cs typeface="Arial"/>
              </a:defRPr>
            </a:lvl9pPr>
          </a:lstStyle>
          <a:p xmlns:a="http://schemas.openxmlformats.org/drawingml/2006/main">
            <a:pPr algn="l">
              <a:defRPr sz="3600" b="1">
                <a:solidFill>
                  <a:srgbClr val="117F79"/>
                </a:solidFill>
                <a:latin typeface="Arial"/>
                <a:ea typeface="Arial"/>
                <a:cs typeface="Arial"/>
              </a:defRPr>
            </a:pPr>
            <a:r>
              <a:rPr sz="3600" b="1">
                <a:solidFill>
                  <a:srgbClr val="117F79"/>
                </a:solidFill>
                <a:latin typeface="Arial"/>
                <a:ea typeface="Arial"/>
                <a:cs typeface="Arial"/>
              </a:rPr>
              <a:t>£5.0m</a:t>
            </a:r>
          </a:p>
        </p:txBody>
      </p:sp>
      <p:sp>
        <p:nvSpPr>
          <p:cNvPr id="9" name="s2-label1">
            <a:extLst xmlns:a="http://schemas.openxmlformats.org/drawingml/2006/main">
              <a:ext uri="{FF2B5EF4-FFF2-40B4-BE49-F238E27FC236}">
                <a16:creationId xmlns:a16="http://schemas.microsoft.com/office/drawing/2014/main" id="{243C1B4E-2740-4D74-8112-ABEC236E7713}"/>
              </a:ext>
            </a:extLst>
          </p:cNvPr>
          <p:cNvSpPr>
            <a:spLocks xmlns:a="http://schemas.openxmlformats.org/drawingml/2006/main" noGrp="1"/>
          </p:cNvSpPr>
          <p:nvPr/>
        </p:nvSpPr>
        <p:spPr>
          <a:xfrm xmlns:a="http://schemas.openxmlformats.org/drawingml/2006/main">
            <a:off x="3381375" y="25431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6D7C"/>
                </a:solidFill>
                <a:latin typeface="Arial"/>
                <a:ea typeface="Arial"/>
                <a:cs typeface="Arial"/>
              </a:defRPr>
            </a:defPPr>
            <a:lvl1pPr algn="l">
              <a:defRPr sz="1500" b="0">
                <a:solidFill>
                  <a:srgbClr val="586D7C"/>
                </a:solidFill>
                <a:latin typeface="Arial"/>
                <a:ea typeface="Arial"/>
                <a:cs typeface="Arial"/>
              </a:defRPr>
            </a:lvl1pPr>
            <a:lvl2pPr algn="l">
              <a:defRPr sz="1500" b="0">
                <a:solidFill>
                  <a:srgbClr val="586D7C"/>
                </a:solidFill>
                <a:latin typeface="Arial"/>
                <a:ea typeface="Arial"/>
                <a:cs typeface="Arial"/>
              </a:defRPr>
            </a:lvl2pPr>
            <a:lvl3pPr algn="l">
              <a:defRPr sz="1500" b="0">
                <a:solidFill>
                  <a:srgbClr val="586D7C"/>
                </a:solidFill>
                <a:latin typeface="Arial"/>
                <a:ea typeface="Arial"/>
                <a:cs typeface="Arial"/>
              </a:defRPr>
            </a:lvl3pPr>
            <a:lvl4pPr algn="l">
              <a:defRPr sz="1500" b="0">
                <a:solidFill>
                  <a:srgbClr val="586D7C"/>
                </a:solidFill>
                <a:latin typeface="Arial"/>
                <a:ea typeface="Arial"/>
                <a:cs typeface="Arial"/>
              </a:defRPr>
            </a:lvl4pPr>
            <a:lvl5pPr algn="l">
              <a:defRPr sz="1500" b="0">
                <a:solidFill>
                  <a:srgbClr val="586D7C"/>
                </a:solidFill>
                <a:latin typeface="Arial"/>
                <a:ea typeface="Arial"/>
                <a:cs typeface="Arial"/>
              </a:defRPr>
            </a:lvl5pPr>
            <a:lvl6pPr algn="l">
              <a:defRPr sz="1500" b="0">
                <a:solidFill>
                  <a:srgbClr val="586D7C"/>
                </a:solidFill>
                <a:latin typeface="Arial"/>
                <a:ea typeface="Arial"/>
                <a:cs typeface="Arial"/>
              </a:defRPr>
            </a:lvl6pPr>
            <a:lvl7pPr algn="l">
              <a:defRPr sz="1500" b="0">
                <a:solidFill>
                  <a:srgbClr val="586D7C"/>
                </a:solidFill>
                <a:latin typeface="Arial"/>
                <a:ea typeface="Arial"/>
                <a:cs typeface="Arial"/>
              </a:defRPr>
            </a:lvl7pPr>
            <a:lvl8pPr algn="l">
              <a:defRPr sz="1500" b="0">
                <a:solidFill>
                  <a:srgbClr val="586D7C"/>
                </a:solidFill>
                <a:latin typeface="Arial"/>
                <a:ea typeface="Arial"/>
                <a:cs typeface="Arial"/>
              </a:defRPr>
            </a:lvl8pPr>
            <a:lvl9pPr algn="l">
              <a:defRPr sz="1500" b="0">
                <a:solidFill>
                  <a:srgbClr val="586D7C"/>
                </a:solidFill>
                <a:latin typeface="Arial"/>
                <a:ea typeface="Arial"/>
                <a:cs typeface="Arial"/>
              </a:defRPr>
            </a:lvl9pPr>
          </a:lstStyle>
          <a:p xmlns:a="http://schemas.openxmlformats.org/drawingml/2006/main">
            <a:pPr algn="l">
              <a:defRPr sz="1500" b="0">
                <a:solidFill>
                  <a:srgbClr val="586D7C"/>
                </a:solidFill>
                <a:latin typeface="Arial"/>
                <a:ea typeface="Arial"/>
                <a:cs typeface="Arial"/>
              </a:defRPr>
            </a:pPr>
            <a:r>
              <a:rPr sz="1500" b="0">
                <a:solidFill>
                  <a:srgbClr val="586D7C"/>
                </a:solidFill>
                <a:latin typeface="Arial"/>
                <a:ea typeface="Arial"/>
                <a:cs typeface="Arial"/>
              </a:rPr>
              <a:t>FY2025 EBITDA</a:t>
            </a:r>
          </a:p>
        </p:txBody>
      </p:sp>
      <p:sp>
        <p:nvSpPr>
          <p:cNvPr id="10" name="s2-kpi2">
            <a:extLst xmlns:a="http://schemas.openxmlformats.org/drawingml/2006/main">
              <a:ext uri="{FF2B5EF4-FFF2-40B4-BE49-F238E27FC236}">
                <a16:creationId xmlns:a16="http://schemas.microsoft.com/office/drawing/2014/main" id="{66F6F13D-017E-4EF1-9985-CCF7FFDC63C4}"/>
              </a:ext>
            </a:extLst>
          </p:cNvPr>
          <p:cNvSpPr>
            <a:spLocks xmlns:a="http://schemas.openxmlformats.org/drawingml/2006/main" noGrp="1"/>
          </p:cNvSpPr>
          <p:nvPr/>
        </p:nvSpPr>
        <p:spPr>
          <a:xfrm xmlns:a="http://schemas.openxmlformats.org/drawingml/2006/main">
            <a:off x="6191250" y="1828800"/>
            <a:ext cx="2619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17F79"/>
                </a:solidFill>
                <a:latin typeface="Arial"/>
                <a:ea typeface="Arial"/>
                <a:cs typeface="Arial"/>
              </a:defRPr>
            </a:defPPr>
            <a:lvl1pPr algn="l">
              <a:defRPr sz="3600" b="1">
                <a:solidFill>
                  <a:srgbClr val="117F79"/>
                </a:solidFill>
                <a:latin typeface="Arial"/>
                <a:ea typeface="Arial"/>
                <a:cs typeface="Arial"/>
              </a:defRPr>
            </a:lvl1pPr>
            <a:lvl2pPr algn="l">
              <a:defRPr sz="3600" b="1">
                <a:solidFill>
                  <a:srgbClr val="117F79"/>
                </a:solidFill>
                <a:latin typeface="Arial"/>
                <a:ea typeface="Arial"/>
                <a:cs typeface="Arial"/>
              </a:defRPr>
            </a:lvl2pPr>
            <a:lvl3pPr algn="l">
              <a:defRPr sz="3600" b="1">
                <a:solidFill>
                  <a:srgbClr val="117F79"/>
                </a:solidFill>
                <a:latin typeface="Arial"/>
                <a:ea typeface="Arial"/>
                <a:cs typeface="Arial"/>
              </a:defRPr>
            </a:lvl3pPr>
            <a:lvl4pPr algn="l">
              <a:defRPr sz="3600" b="1">
                <a:solidFill>
                  <a:srgbClr val="117F79"/>
                </a:solidFill>
                <a:latin typeface="Arial"/>
                <a:ea typeface="Arial"/>
                <a:cs typeface="Arial"/>
              </a:defRPr>
            </a:lvl4pPr>
            <a:lvl5pPr algn="l">
              <a:defRPr sz="3600" b="1">
                <a:solidFill>
                  <a:srgbClr val="117F79"/>
                </a:solidFill>
                <a:latin typeface="Arial"/>
                <a:ea typeface="Arial"/>
                <a:cs typeface="Arial"/>
              </a:defRPr>
            </a:lvl5pPr>
            <a:lvl6pPr algn="l">
              <a:defRPr sz="3600" b="1">
                <a:solidFill>
                  <a:srgbClr val="117F79"/>
                </a:solidFill>
                <a:latin typeface="Arial"/>
                <a:ea typeface="Arial"/>
                <a:cs typeface="Arial"/>
              </a:defRPr>
            </a:lvl6pPr>
            <a:lvl7pPr algn="l">
              <a:defRPr sz="3600" b="1">
                <a:solidFill>
                  <a:srgbClr val="117F79"/>
                </a:solidFill>
                <a:latin typeface="Arial"/>
                <a:ea typeface="Arial"/>
                <a:cs typeface="Arial"/>
              </a:defRPr>
            </a:lvl7pPr>
            <a:lvl8pPr algn="l">
              <a:defRPr sz="3600" b="1">
                <a:solidFill>
                  <a:srgbClr val="117F79"/>
                </a:solidFill>
                <a:latin typeface="Arial"/>
                <a:ea typeface="Arial"/>
                <a:cs typeface="Arial"/>
              </a:defRPr>
            </a:lvl8pPr>
            <a:lvl9pPr algn="l">
              <a:defRPr sz="3600" b="1">
                <a:solidFill>
                  <a:srgbClr val="117F79"/>
                </a:solidFill>
                <a:latin typeface="Arial"/>
                <a:ea typeface="Arial"/>
                <a:cs typeface="Arial"/>
              </a:defRPr>
            </a:lvl9pPr>
          </a:lstStyle>
          <a:p xmlns:a="http://schemas.openxmlformats.org/drawingml/2006/main">
            <a:pPr algn="l">
              <a:defRPr sz="3600" b="1">
                <a:solidFill>
                  <a:srgbClr val="117F79"/>
                </a:solidFill>
                <a:latin typeface="Arial"/>
                <a:ea typeface="Arial"/>
                <a:cs typeface="Arial"/>
              </a:defRPr>
            </a:pPr>
            <a:r>
              <a:rPr sz="3600" b="1">
                <a:solidFill>
                  <a:srgbClr val="117F79"/>
                </a:solidFill>
                <a:latin typeface="Arial"/>
                <a:ea typeface="Arial"/>
                <a:cs typeface="Arial"/>
              </a:rPr>
              <a:t>20%</a:t>
            </a:r>
          </a:p>
        </p:txBody>
      </p:sp>
      <p:sp>
        <p:nvSpPr>
          <p:cNvPr id="11" name="s2-label2">
            <a:extLst xmlns:a="http://schemas.openxmlformats.org/drawingml/2006/main">
              <a:ext uri="{FF2B5EF4-FFF2-40B4-BE49-F238E27FC236}">
                <a16:creationId xmlns:a16="http://schemas.microsoft.com/office/drawing/2014/main" id="{E7D8806A-DBEE-4FC8-B46B-699335F22811}"/>
              </a:ext>
            </a:extLst>
          </p:cNvPr>
          <p:cNvSpPr>
            <a:spLocks xmlns:a="http://schemas.openxmlformats.org/drawingml/2006/main" noGrp="1"/>
          </p:cNvSpPr>
          <p:nvPr/>
        </p:nvSpPr>
        <p:spPr>
          <a:xfrm xmlns:a="http://schemas.openxmlformats.org/drawingml/2006/main">
            <a:off x="6191250" y="25431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6D7C"/>
                </a:solidFill>
                <a:latin typeface="Arial"/>
                <a:ea typeface="Arial"/>
                <a:cs typeface="Arial"/>
              </a:defRPr>
            </a:defPPr>
            <a:lvl1pPr algn="l">
              <a:defRPr sz="1500" b="0">
                <a:solidFill>
                  <a:srgbClr val="586D7C"/>
                </a:solidFill>
                <a:latin typeface="Arial"/>
                <a:ea typeface="Arial"/>
                <a:cs typeface="Arial"/>
              </a:defRPr>
            </a:lvl1pPr>
            <a:lvl2pPr algn="l">
              <a:defRPr sz="1500" b="0">
                <a:solidFill>
                  <a:srgbClr val="586D7C"/>
                </a:solidFill>
                <a:latin typeface="Arial"/>
                <a:ea typeface="Arial"/>
                <a:cs typeface="Arial"/>
              </a:defRPr>
            </a:lvl2pPr>
            <a:lvl3pPr algn="l">
              <a:defRPr sz="1500" b="0">
                <a:solidFill>
                  <a:srgbClr val="586D7C"/>
                </a:solidFill>
                <a:latin typeface="Arial"/>
                <a:ea typeface="Arial"/>
                <a:cs typeface="Arial"/>
              </a:defRPr>
            </a:lvl3pPr>
            <a:lvl4pPr algn="l">
              <a:defRPr sz="1500" b="0">
                <a:solidFill>
                  <a:srgbClr val="586D7C"/>
                </a:solidFill>
                <a:latin typeface="Arial"/>
                <a:ea typeface="Arial"/>
                <a:cs typeface="Arial"/>
              </a:defRPr>
            </a:lvl4pPr>
            <a:lvl5pPr algn="l">
              <a:defRPr sz="1500" b="0">
                <a:solidFill>
                  <a:srgbClr val="586D7C"/>
                </a:solidFill>
                <a:latin typeface="Arial"/>
                <a:ea typeface="Arial"/>
                <a:cs typeface="Arial"/>
              </a:defRPr>
            </a:lvl5pPr>
            <a:lvl6pPr algn="l">
              <a:defRPr sz="1500" b="0">
                <a:solidFill>
                  <a:srgbClr val="586D7C"/>
                </a:solidFill>
                <a:latin typeface="Arial"/>
                <a:ea typeface="Arial"/>
                <a:cs typeface="Arial"/>
              </a:defRPr>
            </a:lvl6pPr>
            <a:lvl7pPr algn="l">
              <a:defRPr sz="1500" b="0">
                <a:solidFill>
                  <a:srgbClr val="586D7C"/>
                </a:solidFill>
                <a:latin typeface="Arial"/>
                <a:ea typeface="Arial"/>
                <a:cs typeface="Arial"/>
              </a:defRPr>
            </a:lvl7pPr>
            <a:lvl8pPr algn="l">
              <a:defRPr sz="1500" b="0">
                <a:solidFill>
                  <a:srgbClr val="586D7C"/>
                </a:solidFill>
                <a:latin typeface="Arial"/>
                <a:ea typeface="Arial"/>
                <a:cs typeface="Arial"/>
              </a:defRPr>
            </a:lvl8pPr>
            <a:lvl9pPr algn="l">
              <a:defRPr sz="1500" b="0">
                <a:solidFill>
                  <a:srgbClr val="586D7C"/>
                </a:solidFill>
                <a:latin typeface="Arial"/>
                <a:ea typeface="Arial"/>
                <a:cs typeface="Arial"/>
              </a:defRPr>
            </a:lvl9pPr>
          </a:lstStyle>
          <a:p xmlns:a="http://schemas.openxmlformats.org/drawingml/2006/main">
            <a:pPr algn="l">
              <a:defRPr sz="1500" b="0">
                <a:solidFill>
                  <a:srgbClr val="586D7C"/>
                </a:solidFill>
                <a:latin typeface="Arial"/>
                <a:ea typeface="Arial"/>
                <a:cs typeface="Arial"/>
              </a:defRPr>
            </a:pPr>
            <a:r>
              <a:rPr sz="1500" b="0">
                <a:solidFill>
                  <a:srgbClr val="586D7C"/>
                </a:solidFill>
                <a:latin typeface="Arial"/>
                <a:ea typeface="Arial"/>
                <a:cs typeface="Arial"/>
              </a:rPr>
              <a:t>FY2025 EBITDA margin</a:t>
            </a:r>
          </a:p>
        </p:txBody>
      </p:sp>
      <p:sp>
        <p:nvSpPr>
          <p:cNvPr id="12" name="s2-kpi3">
            <a:extLst xmlns:a="http://schemas.openxmlformats.org/drawingml/2006/main">
              <a:ext uri="{FF2B5EF4-FFF2-40B4-BE49-F238E27FC236}">
                <a16:creationId xmlns:a16="http://schemas.microsoft.com/office/drawing/2014/main" id="{CC1B96BC-027B-4DC8-952C-A8765A653B4F}"/>
              </a:ext>
            </a:extLst>
          </p:cNvPr>
          <p:cNvSpPr>
            <a:spLocks xmlns:a="http://schemas.openxmlformats.org/drawingml/2006/main" noGrp="1"/>
          </p:cNvSpPr>
          <p:nvPr/>
        </p:nvSpPr>
        <p:spPr>
          <a:xfrm xmlns:a="http://schemas.openxmlformats.org/drawingml/2006/main">
            <a:off x="9001125" y="1828800"/>
            <a:ext cx="2619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17F79"/>
                </a:solidFill>
                <a:latin typeface="Arial"/>
                <a:ea typeface="Arial"/>
                <a:cs typeface="Arial"/>
              </a:defRPr>
            </a:defPPr>
            <a:lvl1pPr algn="l">
              <a:defRPr sz="3600" b="1">
                <a:solidFill>
                  <a:srgbClr val="117F79"/>
                </a:solidFill>
                <a:latin typeface="Arial"/>
                <a:ea typeface="Arial"/>
                <a:cs typeface="Arial"/>
              </a:defRPr>
            </a:lvl1pPr>
            <a:lvl2pPr algn="l">
              <a:defRPr sz="3600" b="1">
                <a:solidFill>
                  <a:srgbClr val="117F79"/>
                </a:solidFill>
                <a:latin typeface="Arial"/>
                <a:ea typeface="Arial"/>
                <a:cs typeface="Arial"/>
              </a:defRPr>
            </a:lvl2pPr>
            <a:lvl3pPr algn="l">
              <a:defRPr sz="3600" b="1">
                <a:solidFill>
                  <a:srgbClr val="117F79"/>
                </a:solidFill>
                <a:latin typeface="Arial"/>
                <a:ea typeface="Arial"/>
                <a:cs typeface="Arial"/>
              </a:defRPr>
            </a:lvl3pPr>
            <a:lvl4pPr algn="l">
              <a:defRPr sz="3600" b="1">
                <a:solidFill>
                  <a:srgbClr val="117F79"/>
                </a:solidFill>
                <a:latin typeface="Arial"/>
                <a:ea typeface="Arial"/>
                <a:cs typeface="Arial"/>
              </a:defRPr>
            </a:lvl4pPr>
            <a:lvl5pPr algn="l">
              <a:defRPr sz="3600" b="1">
                <a:solidFill>
                  <a:srgbClr val="117F79"/>
                </a:solidFill>
                <a:latin typeface="Arial"/>
                <a:ea typeface="Arial"/>
                <a:cs typeface="Arial"/>
              </a:defRPr>
            </a:lvl5pPr>
            <a:lvl6pPr algn="l">
              <a:defRPr sz="3600" b="1">
                <a:solidFill>
                  <a:srgbClr val="117F79"/>
                </a:solidFill>
                <a:latin typeface="Arial"/>
                <a:ea typeface="Arial"/>
                <a:cs typeface="Arial"/>
              </a:defRPr>
            </a:lvl6pPr>
            <a:lvl7pPr algn="l">
              <a:defRPr sz="3600" b="1">
                <a:solidFill>
                  <a:srgbClr val="117F79"/>
                </a:solidFill>
                <a:latin typeface="Arial"/>
                <a:ea typeface="Arial"/>
                <a:cs typeface="Arial"/>
              </a:defRPr>
            </a:lvl7pPr>
            <a:lvl8pPr algn="l">
              <a:defRPr sz="3600" b="1">
                <a:solidFill>
                  <a:srgbClr val="117F79"/>
                </a:solidFill>
                <a:latin typeface="Arial"/>
                <a:ea typeface="Arial"/>
                <a:cs typeface="Arial"/>
              </a:defRPr>
            </a:lvl8pPr>
            <a:lvl9pPr algn="l">
              <a:defRPr sz="3600" b="1">
                <a:solidFill>
                  <a:srgbClr val="117F79"/>
                </a:solidFill>
                <a:latin typeface="Arial"/>
                <a:ea typeface="Arial"/>
                <a:cs typeface="Arial"/>
              </a:defRPr>
            </a:lvl9pPr>
          </a:lstStyle>
          <a:p xmlns:a="http://schemas.openxmlformats.org/drawingml/2006/main">
            <a:pPr algn="l">
              <a:defRPr sz="3600" b="1">
                <a:solidFill>
                  <a:srgbClr val="117F79"/>
                </a:solidFill>
                <a:latin typeface="Arial"/>
                <a:ea typeface="Arial"/>
                <a:cs typeface="Arial"/>
              </a:defRPr>
            </a:pPr>
            <a:r>
              <a:rPr sz="3600" b="1">
                <a:solidFill>
                  <a:srgbClr val="117F79"/>
                </a:solidFill>
                <a:latin typeface="Arial"/>
                <a:ea typeface="Arial"/>
                <a:cs typeface="Arial"/>
              </a:rPr>
              <a:t>70%</a:t>
            </a:r>
          </a:p>
        </p:txBody>
      </p:sp>
      <p:sp>
        <p:nvSpPr>
          <p:cNvPr id="13" name="s2-label3">
            <a:extLst xmlns:a="http://schemas.openxmlformats.org/drawingml/2006/main">
              <a:ext uri="{FF2B5EF4-FFF2-40B4-BE49-F238E27FC236}">
                <a16:creationId xmlns:a16="http://schemas.microsoft.com/office/drawing/2014/main" id="{302848DB-7772-4D7E-BF86-4F718B460DCD}"/>
              </a:ext>
            </a:extLst>
          </p:cNvPr>
          <p:cNvSpPr>
            <a:spLocks xmlns:a="http://schemas.openxmlformats.org/drawingml/2006/main" noGrp="1"/>
          </p:cNvSpPr>
          <p:nvPr/>
        </p:nvSpPr>
        <p:spPr>
          <a:xfrm xmlns:a="http://schemas.openxmlformats.org/drawingml/2006/main">
            <a:off x="9001125" y="2543175"/>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6D7C"/>
                </a:solidFill>
                <a:latin typeface="Arial"/>
                <a:ea typeface="Arial"/>
                <a:cs typeface="Arial"/>
              </a:defRPr>
            </a:defPPr>
            <a:lvl1pPr algn="l">
              <a:defRPr sz="1500" b="0">
                <a:solidFill>
                  <a:srgbClr val="586D7C"/>
                </a:solidFill>
                <a:latin typeface="Arial"/>
                <a:ea typeface="Arial"/>
                <a:cs typeface="Arial"/>
              </a:defRPr>
            </a:lvl1pPr>
            <a:lvl2pPr algn="l">
              <a:defRPr sz="1500" b="0">
                <a:solidFill>
                  <a:srgbClr val="586D7C"/>
                </a:solidFill>
                <a:latin typeface="Arial"/>
                <a:ea typeface="Arial"/>
                <a:cs typeface="Arial"/>
              </a:defRPr>
            </a:lvl2pPr>
            <a:lvl3pPr algn="l">
              <a:defRPr sz="1500" b="0">
                <a:solidFill>
                  <a:srgbClr val="586D7C"/>
                </a:solidFill>
                <a:latin typeface="Arial"/>
                <a:ea typeface="Arial"/>
                <a:cs typeface="Arial"/>
              </a:defRPr>
            </a:lvl3pPr>
            <a:lvl4pPr algn="l">
              <a:defRPr sz="1500" b="0">
                <a:solidFill>
                  <a:srgbClr val="586D7C"/>
                </a:solidFill>
                <a:latin typeface="Arial"/>
                <a:ea typeface="Arial"/>
                <a:cs typeface="Arial"/>
              </a:defRPr>
            </a:lvl4pPr>
            <a:lvl5pPr algn="l">
              <a:defRPr sz="1500" b="0">
                <a:solidFill>
                  <a:srgbClr val="586D7C"/>
                </a:solidFill>
                <a:latin typeface="Arial"/>
                <a:ea typeface="Arial"/>
                <a:cs typeface="Arial"/>
              </a:defRPr>
            </a:lvl5pPr>
            <a:lvl6pPr algn="l">
              <a:defRPr sz="1500" b="0">
                <a:solidFill>
                  <a:srgbClr val="586D7C"/>
                </a:solidFill>
                <a:latin typeface="Arial"/>
                <a:ea typeface="Arial"/>
                <a:cs typeface="Arial"/>
              </a:defRPr>
            </a:lvl6pPr>
            <a:lvl7pPr algn="l">
              <a:defRPr sz="1500" b="0">
                <a:solidFill>
                  <a:srgbClr val="586D7C"/>
                </a:solidFill>
                <a:latin typeface="Arial"/>
                <a:ea typeface="Arial"/>
                <a:cs typeface="Arial"/>
              </a:defRPr>
            </a:lvl7pPr>
            <a:lvl8pPr algn="l">
              <a:defRPr sz="1500" b="0">
                <a:solidFill>
                  <a:srgbClr val="586D7C"/>
                </a:solidFill>
                <a:latin typeface="Arial"/>
                <a:ea typeface="Arial"/>
                <a:cs typeface="Arial"/>
              </a:defRPr>
            </a:lvl8pPr>
            <a:lvl9pPr algn="l">
              <a:defRPr sz="1500" b="0">
                <a:solidFill>
                  <a:srgbClr val="586D7C"/>
                </a:solidFill>
                <a:latin typeface="Arial"/>
                <a:ea typeface="Arial"/>
                <a:cs typeface="Arial"/>
              </a:defRPr>
            </a:lvl9pPr>
          </a:lstStyle>
          <a:p xmlns:a="http://schemas.openxmlformats.org/drawingml/2006/main">
            <a:pPr algn="l">
              <a:defRPr sz="1500" b="0">
                <a:solidFill>
                  <a:srgbClr val="586D7C"/>
                </a:solidFill>
                <a:latin typeface="Arial"/>
                <a:ea typeface="Arial"/>
                <a:cs typeface="Arial"/>
              </a:defRPr>
            </a:pPr>
            <a:r>
              <a:rPr sz="1500" b="0">
                <a:solidFill>
                  <a:srgbClr val="586D7C"/>
                </a:solidFill>
                <a:latin typeface="Arial"/>
                <a:ea typeface="Arial"/>
                <a:cs typeface="Arial"/>
              </a:rPr>
              <a:t>Maintenance revenue share</a:t>
            </a:r>
          </a:p>
        </p:txBody>
      </p:sp>
      <p:sp>
        <p:nvSpPr>
          <p:cNvPr id="14" name="s2-midrule">
            <a:extLst xmlns:a="http://schemas.openxmlformats.org/drawingml/2006/main">
              <a:ext uri="{FF2B5EF4-FFF2-40B4-BE49-F238E27FC236}">
                <a16:creationId xmlns:a16="http://schemas.microsoft.com/office/drawing/2014/main" id="{75DF2BD9-5C5C-456B-98F1-91ED4074492E}"/>
              </a:ext>
            </a:extLst>
          </p:cNvPr>
          <p:cNvSpPr>
            <a:spLocks xmlns:a="http://schemas.openxmlformats.org/drawingml/2006/main" noGrp="1"/>
          </p:cNvSpPr>
          <p:nvPr/>
        </p:nvSpPr>
        <p:spPr>
          <a:xfrm xmlns:a="http://schemas.openxmlformats.org/drawingml/2006/main">
            <a:off x="571500" y="32194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15" name="s2-business">
            <a:extLst xmlns:a="http://schemas.openxmlformats.org/drawingml/2006/main">
              <a:ext uri="{FF2B5EF4-FFF2-40B4-BE49-F238E27FC236}">
                <a16:creationId xmlns:a16="http://schemas.microsoft.com/office/drawing/2014/main" id="{06F1609E-65CE-4EEC-8116-2069763DB448}"/>
              </a:ext>
            </a:extLst>
          </p:cNvPr>
          <p:cNvSpPr>
            <a:spLocks xmlns:a="http://schemas.openxmlformats.org/drawingml/2006/main" noGrp="1"/>
          </p:cNvSpPr>
          <p:nvPr/>
        </p:nvSpPr>
        <p:spPr>
          <a:xfrm xmlns:a="http://schemas.openxmlformats.org/drawingml/2006/main">
            <a:off x="571500" y="3543300"/>
            <a:ext cx="65722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32E42"/>
                </a:solidFill>
                <a:latin typeface="Arial"/>
                <a:ea typeface="Arial"/>
                <a:cs typeface="Arial"/>
              </a:defRPr>
            </a:defPPr>
            <a:lvl1pPr algn="l">
              <a:defRPr sz="1875" b="0">
                <a:solidFill>
                  <a:srgbClr val="132E42"/>
                </a:solidFill>
                <a:latin typeface="Arial"/>
                <a:ea typeface="Arial"/>
                <a:cs typeface="Arial"/>
              </a:defRPr>
            </a:lvl1pPr>
            <a:lvl2pPr algn="l">
              <a:defRPr sz="1875" b="0">
                <a:solidFill>
                  <a:srgbClr val="132E42"/>
                </a:solidFill>
                <a:latin typeface="Arial"/>
                <a:ea typeface="Arial"/>
                <a:cs typeface="Arial"/>
              </a:defRPr>
            </a:lvl2pPr>
            <a:lvl3pPr algn="l">
              <a:defRPr sz="1875" b="0">
                <a:solidFill>
                  <a:srgbClr val="132E42"/>
                </a:solidFill>
                <a:latin typeface="Arial"/>
                <a:ea typeface="Arial"/>
                <a:cs typeface="Arial"/>
              </a:defRPr>
            </a:lvl3pPr>
            <a:lvl4pPr algn="l">
              <a:defRPr sz="1875" b="0">
                <a:solidFill>
                  <a:srgbClr val="132E42"/>
                </a:solidFill>
                <a:latin typeface="Arial"/>
                <a:ea typeface="Arial"/>
                <a:cs typeface="Arial"/>
              </a:defRPr>
            </a:lvl4pPr>
            <a:lvl5pPr algn="l">
              <a:defRPr sz="1875" b="0">
                <a:solidFill>
                  <a:srgbClr val="132E42"/>
                </a:solidFill>
                <a:latin typeface="Arial"/>
                <a:ea typeface="Arial"/>
                <a:cs typeface="Arial"/>
              </a:defRPr>
            </a:lvl5pPr>
            <a:lvl6pPr algn="l">
              <a:defRPr sz="1875" b="0">
                <a:solidFill>
                  <a:srgbClr val="132E42"/>
                </a:solidFill>
                <a:latin typeface="Arial"/>
                <a:ea typeface="Arial"/>
                <a:cs typeface="Arial"/>
              </a:defRPr>
            </a:lvl6pPr>
            <a:lvl7pPr algn="l">
              <a:defRPr sz="1875" b="0">
                <a:solidFill>
                  <a:srgbClr val="132E42"/>
                </a:solidFill>
                <a:latin typeface="Arial"/>
                <a:ea typeface="Arial"/>
                <a:cs typeface="Arial"/>
              </a:defRPr>
            </a:lvl7pPr>
            <a:lvl8pPr algn="l">
              <a:defRPr sz="1875" b="0">
                <a:solidFill>
                  <a:srgbClr val="132E42"/>
                </a:solidFill>
                <a:latin typeface="Arial"/>
                <a:ea typeface="Arial"/>
                <a:cs typeface="Arial"/>
              </a:defRPr>
            </a:lvl8pPr>
            <a:lvl9pPr algn="l">
              <a:defRPr sz="1875" b="0">
                <a:solidFill>
                  <a:srgbClr val="132E42"/>
                </a:solidFill>
                <a:latin typeface="Arial"/>
                <a:ea typeface="Arial"/>
                <a:cs typeface="Arial"/>
              </a:defRPr>
            </a:lvl9pPr>
          </a:lstStyle>
          <a:p xmlns:a="http://schemas.openxmlformats.org/drawingml/2006/main">
            <a:pPr algn="l">
              <a:defRPr sz="1875" b="0">
                <a:solidFill>
                  <a:srgbClr val="132E42"/>
                </a:solidFill>
                <a:latin typeface="Arial"/>
                <a:ea typeface="Arial"/>
                <a:cs typeface="Arial"/>
              </a:defRPr>
            </a:pPr>
            <a:r>
              <a:rPr sz="1875" b="0">
                <a:solidFill>
                  <a:srgbClr val="132E42"/>
                </a:solidFill>
                <a:latin typeface="Arial"/>
                <a:ea typeface="Arial"/>
                <a:cs typeface="Arial"/>
              </a:rPr>
              <a:t>UK provider of scheduled maintenance, reactive repairs and installation projects.</a:t>
            </a:r>
          </a:p>
          <a:p xmlns:a="http://schemas.openxmlformats.org/drawingml/2006/main">
            <a:r>
              <a:t/>
            </a:r>
          </a:p>
          <a:p xmlns:a="http://schemas.openxmlformats.org/drawingml/2006/main">
            <a:pPr algn="l">
              <a:defRPr sz="1875" b="0">
                <a:solidFill>
                  <a:srgbClr val="132E42"/>
                </a:solidFill>
                <a:latin typeface="Arial"/>
                <a:ea typeface="Arial"/>
                <a:cs typeface="Arial"/>
              </a:defRPr>
            </a:pPr>
            <a:r>
              <a:rPr sz="1875" b="0">
                <a:solidFill>
                  <a:srgbClr val="132E42"/>
                </a:solidFill>
                <a:latin typeface="Arial"/>
                <a:ea typeface="Arial"/>
                <a:cs typeface="Arial"/>
              </a:rPr>
              <a:t>Founded in 2012, the company operates from three hubs with 85 field engineers.</a:t>
            </a:r>
          </a:p>
        </p:txBody>
      </p:sp>
      <p:sp>
        <p:nvSpPr>
          <p:cNvPr id="16" name="s2-sale">
            <a:extLst xmlns:a="http://schemas.openxmlformats.org/drawingml/2006/main">
              <a:ext uri="{FF2B5EF4-FFF2-40B4-BE49-F238E27FC236}">
                <a16:creationId xmlns:a16="http://schemas.microsoft.com/office/drawing/2014/main" id="{2D6B063E-F72C-4844-AA9E-439A03FE9D8B}"/>
              </a:ext>
            </a:extLst>
          </p:cNvPr>
          <p:cNvSpPr>
            <a:spLocks xmlns:a="http://schemas.openxmlformats.org/drawingml/2006/main" noGrp="1"/>
          </p:cNvSpPr>
          <p:nvPr/>
        </p:nvSpPr>
        <p:spPr>
          <a:xfrm xmlns:a="http://schemas.openxmlformats.org/drawingml/2006/main">
            <a:off x="7810500" y="35433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E42"/>
                </a:solidFill>
                <a:latin typeface="Arial"/>
                <a:ea typeface="Arial"/>
                <a:cs typeface="Arial"/>
              </a:defRPr>
            </a:defPPr>
            <a:lvl1pPr algn="l">
              <a:defRPr sz="2025" b="1">
                <a:solidFill>
                  <a:srgbClr val="132E42"/>
                </a:solidFill>
                <a:latin typeface="Arial"/>
                <a:ea typeface="Arial"/>
                <a:cs typeface="Arial"/>
              </a:defRPr>
            </a:lvl1pPr>
            <a:lvl2pPr algn="l">
              <a:defRPr sz="2025" b="1">
                <a:solidFill>
                  <a:srgbClr val="132E42"/>
                </a:solidFill>
                <a:latin typeface="Arial"/>
                <a:ea typeface="Arial"/>
                <a:cs typeface="Arial"/>
              </a:defRPr>
            </a:lvl2pPr>
            <a:lvl3pPr algn="l">
              <a:defRPr sz="2025" b="1">
                <a:solidFill>
                  <a:srgbClr val="132E42"/>
                </a:solidFill>
                <a:latin typeface="Arial"/>
                <a:ea typeface="Arial"/>
                <a:cs typeface="Arial"/>
              </a:defRPr>
            </a:lvl3pPr>
            <a:lvl4pPr algn="l">
              <a:defRPr sz="2025" b="1">
                <a:solidFill>
                  <a:srgbClr val="132E42"/>
                </a:solidFill>
                <a:latin typeface="Arial"/>
                <a:ea typeface="Arial"/>
                <a:cs typeface="Arial"/>
              </a:defRPr>
            </a:lvl4pPr>
            <a:lvl5pPr algn="l">
              <a:defRPr sz="2025" b="1">
                <a:solidFill>
                  <a:srgbClr val="132E42"/>
                </a:solidFill>
                <a:latin typeface="Arial"/>
                <a:ea typeface="Arial"/>
                <a:cs typeface="Arial"/>
              </a:defRPr>
            </a:lvl5pPr>
            <a:lvl6pPr algn="l">
              <a:defRPr sz="2025" b="1">
                <a:solidFill>
                  <a:srgbClr val="132E42"/>
                </a:solidFill>
                <a:latin typeface="Arial"/>
                <a:ea typeface="Arial"/>
                <a:cs typeface="Arial"/>
              </a:defRPr>
            </a:lvl6pPr>
            <a:lvl7pPr algn="l">
              <a:defRPr sz="2025" b="1">
                <a:solidFill>
                  <a:srgbClr val="132E42"/>
                </a:solidFill>
                <a:latin typeface="Arial"/>
                <a:ea typeface="Arial"/>
                <a:cs typeface="Arial"/>
              </a:defRPr>
            </a:lvl7pPr>
            <a:lvl8pPr algn="l">
              <a:defRPr sz="2025" b="1">
                <a:solidFill>
                  <a:srgbClr val="132E42"/>
                </a:solidFill>
                <a:latin typeface="Arial"/>
                <a:ea typeface="Arial"/>
                <a:cs typeface="Arial"/>
              </a:defRPr>
            </a:lvl8pPr>
            <a:lvl9pPr algn="l">
              <a:defRPr sz="2025" b="1">
                <a:solidFill>
                  <a:srgbClr val="132E42"/>
                </a:solidFill>
                <a:latin typeface="Arial"/>
                <a:ea typeface="Arial"/>
                <a:cs typeface="Arial"/>
              </a:defRPr>
            </a:lvl9pPr>
          </a:lstStyle>
          <a:p xmlns:a="http://schemas.openxmlformats.org/drawingml/2006/main">
            <a:pPr algn="l">
              <a:defRPr sz="2025" b="1">
                <a:solidFill>
                  <a:srgbClr val="132E42"/>
                </a:solidFill>
                <a:latin typeface="Arial"/>
                <a:ea typeface="Arial"/>
                <a:cs typeface="Arial"/>
              </a:defRPr>
            </a:pPr>
            <a:r>
              <a:rPr sz="2025" b="1">
                <a:solidFill>
                  <a:srgbClr val="132E42"/>
                </a:solidFill>
                <a:latin typeface="Arial"/>
                <a:ea typeface="Arial"/>
                <a:cs typeface="Arial"/>
              </a:rPr>
              <a:t>Proposed majority sale</a:t>
            </a:r>
          </a:p>
        </p:txBody>
      </p:sp>
      <p:sp>
        <p:nvSpPr>
          <p:cNvPr id="17" name="s2-sale-detail">
            <a:extLst xmlns:a="http://schemas.openxmlformats.org/drawingml/2006/main">
              <a:ext uri="{FF2B5EF4-FFF2-40B4-BE49-F238E27FC236}">
                <a16:creationId xmlns:a16="http://schemas.microsoft.com/office/drawing/2014/main" id="{68372F8E-2DBF-4CFC-A834-0D03EBE37866}"/>
              </a:ext>
            </a:extLst>
          </p:cNvPr>
          <p:cNvSpPr>
            <a:spLocks xmlns:a="http://schemas.openxmlformats.org/drawingml/2006/main" noGrp="1"/>
          </p:cNvSpPr>
          <p:nvPr/>
        </p:nvSpPr>
        <p:spPr>
          <a:xfrm xmlns:a="http://schemas.openxmlformats.org/drawingml/2006/main">
            <a:off x="7810500" y="4095750"/>
            <a:ext cx="37147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32E42"/>
                </a:solidFill>
                <a:latin typeface="Arial"/>
                <a:ea typeface="Arial"/>
                <a:cs typeface="Arial"/>
              </a:defRPr>
            </a:defPPr>
            <a:lvl1pPr algn="l">
              <a:defRPr sz="1800" b="0">
                <a:solidFill>
                  <a:srgbClr val="132E42"/>
                </a:solidFill>
                <a:latin typeface="Arial"/>
                <a:ea typeface="Arial"/>
                <a:cs typeface="Arial"/>
              </a:defRPr>
            </a:lvl1pPr>
            <a:lvl2pPr algn="l">
              <a:defRPr sz="1800" b="0">
                <a:solidFill>
                  <a:srgbClr val="132E42"/>
                </a:solidFill>
                <a:latin typeface="Arial"/>
                <a:ea typeface="Arial"/>
                <a:cs typeface="Arial"/>
              </a:defRPr>
            </a:lvl2pPr>
            <a:lvl3pPr algn="l">
              <a:defRPr sz="1800" b="0">
                <a:solidFill>
                  <a:srgbClr val="132E42"/>
                </a:solidFill>
                <a:latin typeface="Arial"/>
                <a:ea typeface="Arial"/>
                <a:cs typeface="Arial"/>
              </a:defRPr>
            </a:lvl3pPr>
            <a:lvl4pPr algn="l">
              <a:defRPr sz="1800" b="0">
                <a:solidFill>
                  <a:srgbClr val="132E42"/>
                </a:solidFill>
                <a:latin typeface="Arial"/>
                <a:ea typeface="Arial"/>
                <a:cs typeface="Arial"/>
              </a:defRPr>
            </a:lvl4pPr>
            <a:lvl5pPr algn="l">
              <a:defRPr sz="1800" b="0">
                <a:solidFill>
                  <a:srgbClr val="132E42"/>
                </a:solidFill>
                <a:latin typeface="Arial"/>
                <a:ea typeface="Arial"/>
                <a:cs typeface="Arial"/>
              </a:defRPr>
            </a:lvl5pPr>
            <a:lvl6pPr algn="l">
              <a:defRPr sz="1800" b="0">
                <a:solidFill>
                  <a:srgbClr val="132E42"/>
                </a:solidFill>
                <a:latin typeface="Arial"/>
                <a:ea typeface="Arial"/>
                <a:cs typeface="Arial"/>
              </a:defRPr>
            </a:lvl6pPr>
            <a:lvl7pPr algn="l">
              <a:defRPr sz="1800" b="0">
                <a:solidFill>
                  <a:srgbClr val="132E42"/>
                </a:solidFill>
                <a:latin typeface="Arial"/>
                <a:ea typeface="Arial"/>
                <a:cs typeface="Arial"/>
              </a:defRPr>
            </a:lvl7pPr>
            <a:lvl8pPr algn="l">
              <a:defRPr sz="1800" b="0">
                <a:solidFill>
                  <a:srgbClr val="132E42"/>
                </a:solidFill>
                <a:latin typeface="Arial"/>
                <a:ea typeface="Arial"/>
                <a:cs typeface="Arial"/>
              </a:defRPr>
            </a:lvl8pPr>
            <a:lvl9pPr algn="l">
              <a:defRPr sz="1800" b="0">
                <a:solidFill>
                  <a:srgbClr val="132E42"/>
                </a:solidFill>
                <a:latin typeface="Arial"/>
                <a:ea typeface="Arial"/>
                <a:cs typeface="Arial"/>
              </a:defRPr>
            </a:lvl9pPr>
          </a:lstStyle>
          <a:p xmlns:a="http://schemas.openxmlformats.org/drawingml/2006/main">
            <a:pPr algn="l">
              <a:defRPr sz="1800" b="0">
                <a:solidFill>
                  <a:srgbClr val="132E42"/>
                </a:solidFill>
                <a:latin typeface="Arial"/>
                <a:ea typeface="Arial"/>
                <a:cs typeface="Arial"/>
              </a:defRPr>
            </a:pPr>
            <a:r>
              <a:rPr sz="1800" b="0">
                <a:solidFill>
                  <a:srgbClr val="132E42"/>
                </a:solidFill>
                <a:latin typeface="Arial"/>
                <a:ea typeface="Arial"/>
                <a:cs typeface="Arial"/>
              </a:rPr>
              <a:t>Shareholders are considering a sale of 70% to 100%. Management rollover remains to be agreed.</a:t>
            </a:r>
          </a:p>
        </p:txBody>
      </p:sp>
      <p:sp>
        <p:nvSpPr>
          <p:cNvPr id="18" name="s2-caveat">
            <a:extLst xmlns:a="http://schemas.openxmlformats.org/drawingml/2006/main">
              <a:ext uri="{FF2B5EF4-FFF2-40B4-BE49-F238E27FC236}">
                <a16:creationId xmlns:a16="http://schemas.microsoft.com/office/drawing/2014/main" id="{6B4EC485-D6F9-4674-AD86-1358A14D1F9D}"/>
              </a:ext>
            </a:extLst>
          </p:cNvPr>
          <p:cNvSpPr>
            <a:spLocks xmlns:a="http://schemas.openxmlformats.org/drawingml/2006/main" noGrp="1"/>
          </p:cNvSpPr>
          <p:nvPr/>
        </p:nvSpPr>
        <p:spPr>
          <a:xfrm xmlns:a="http://schemas.openxmlformats.org/drawingml/2006/main">
            <a:off x="571500" y="5619750"/>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99621B"/>
                </a:solidFill>
                <a:latin typeface="Arial"/>
                <a:ea typeface="Arial"/>
                <a:cs typeface="Arial"/>
              </a:defRPr>
            </a:defPPr>
            <a:lvl1pPr algn="l">
              <a:defRPr sz="1350" b="0">
                <a:solidFill>
                  <a:srgbClr val="99621B"/>
                </a:solidFill>
                <a:latin typeface="Arial"/>
                <a:ea typeface="Arial"/>
                <a:cs typeface="Arial"/>
              </a:defRPr>
            </a:lvl1pPr>
            <a:lvl2pPr algn="l">
              <a:defRPr sz="1350" b="0">
                <a:solidFill>
                  <a:srgbClr val="99621B"/>
                </a:solidFill>
                <a:latin typeface="Arial"/>
                <a:ea typeface="Arial"/>
                <a:cs typeface="Arial"/>
              </a:defRPr>
            </a:lvl2pPr>
            <a:lvl3pPr algn="l">
              <a:defRPr sz="1350" b="0">
                <a:solidFill>
                  <a:srgbClr val="99621B"/>
                </a:solidFill>
                <a:latin typeface="Arial"/>
                <a:ea typeface="Arial"/>
                <a:cs typeface="Arial"/>
              </a:defRPr>
            </a:lvl3pPr>
            <a:lvl4pPr algn="l">
              <a:defRPr sz="1350" b="0">
                <a:solidFill>
                  <a:srgbClr val="99621B"/>
                </a:solidFill>
                <a:latin typeface="Arial"/>
                <a:ea typeface="Arial"/>
                <a:cs typeface="Arial"/>
              </a:defRPr>
            </a:lvl4pPr>
            <a:lvl5pPr algn="l">
              <a:defRPr sz="1350" b="0">
                <a:solidFill>
                  <a:srgbClr val="99621B"/>
                </a:solidFill>
                <a:latin typeface="Arial"/>
                <a:ea typeface="Arial"/>
                <a:cs typeface="Arial"/>
              </a:defRPr>
            </a:lvl5pPr>
            <a:lvl6pPr algn="l">
              <a:defRPr sz="1350" b="0">
                <a:solidFill>
                  <a:srgbClr val="99621B"/>
                </a:solidFill>
                <a:latin typeface="Arial"/>
                <a:ea typeface="Arial"/>
                <a:cs typeface="Arial"/>
              </a:defRPr>
            </a:lvl6pPr>
            <a:lvl7pPr algn="l">
              <a:defRPr sz="1350" b="0">
                <a:solidFill>
                  <a:srgbClr val="99621B"/>
                </a:solidFill>
                <a:latin typeface="Arial"/>
                <a:ea typeface="Arial"/>
                <a:cs typeface="Arial"/>
              </a:defRPr>
            </a:lvl7pPr>
            <a:lvl8pPr algn="l">
              <a:defRPr sz="1350" b="0">
                <a:solidFill>
                  <a:srgbClr val="99621B"/>
                </a:solidFill>
                <a:latin typeface="Arial"/>
                <a:ea typeface="Arial"/>
                <a:cs typeface="Arial"/>
              </a:defRPr>
            </a:lvl8pPr>
            <a:lvl9pPr algn="l">
              <a:defRPr sz="1350" b="0">
                <a:solidFill>
                  <a:srgbClr val="99621B"/>
                </a:solidFill>
                <a:latin typeface="Arial"/>
                <a:ea typeface="Arial"/>
                <a:cs typeface="Arial"/>
              </a:defRPr>
            </a:lvl9pPr>
          </a:lstStyle>
          <a:p xmlns:a="http://schemas.openxmlformats.org/drawingml/2006/main">
            <a:pPr algn="l">
              <a:defRPr sz="1350" b="0">
                <a:solidFill>
                  <a:srgbClr val="99621B"/>
                </a:solidFill>
                <a:latin typeface="Arial"/>
                <a:ea typeface="Arial"/>
                <a:cs typeface="Arial"/>
              </a:defRPr>
            </a:pPr>
            <a:r>
              <a:rPr sz="1350" b="0">
                <a:solidFill>
                  <a:srgbClr val="99621B"/>
                </a:solidFill>
                <a:latin typeface="Arial"/>
                <a:ea typeface="Arial"/>
                <a:cs typeface="Arial"/>
              </a:rPr>
              <a:t>Provisional revenue basis: the model shows £25.0m versus £26.2m in the earlier briefing.</a:t>
            </a:r>
          </a:p>
          <a:p xmlns:a="http://schemas.openxmlformats.org/drawingml/2006/main">
            <a:pPr algn="l">
              <a:defRPr sz="1350" b="0">
                <a:solidFill>
                  <a:srgbClr val="99621B"/>
                </a:solidFill>
                <a:latin typeface="Arial"/>
                <a:ea typeface="Arial"/>
                <a:cs typeface="Arial"/>
              </a:defRPr>
            </a:pPr>
            <a:r>
              <a:rPr sz="1350" b="0">
                <a:solidFill>
                  <a:srgbClr val="99621B"/>
                </a:solidFill>
                <a:latin typeface="Arial"/>
                <a:ea typeface="Arial"/>
                <a:cs typeface="Arial"/>
              </a:rPr>
              <a:t>The difference remains unresolved. EBITDA is management-reported and unaudited.</a:t>
            </a:r>
          </a:p>
        </p:txBody>
      </p:sp>
    </p:spTree>
    <p:extLst>
      <p:ext uri="{BB962C8B-B14F-4D97-AF65-F5344CB8AC3E}">
        <p14:creationId xmlns:p14="http://schemas.microsoft.com/office/powerpoint/2010/main" val="3105864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s3-section">
            <a:extLst xmlns:a="http://schemas.openxmlformats.org/drawingml/2006/main">
              <a:ext uri="{FF2B5EF4-FFF2-40B4-BE49-F238E27FC236}">
                <a16:creationId xmlns:a16="http://schemas.microsoft.com/office/drawing/2014/main" id="{2F8C3EB4-5FFC-4685-94B7-018E5B5D02CF}"/>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INVESTMENT CASE</a:t>
            </a:r>
          </a:p>
        </p:txBody>
      </p:sp>
      <p:sp>
        <p:nvSpPr>
          <p:cNvPr id="2" name="s3-title">
            <a:extLst xmlns:a="http://schemas.openxmlformats.org/drawingml/2006/main">
              <a:ext uri="{FF2B5EF4-FFF2-40B4-BE49-F238E27FC236}">
                <a16:creationId xmlns:a16="http://schemas.microsoft.com/office/drawing/2014/main" id="{E86EA1DC-1CA8-42FC-93CA-941C4092C02C}"/>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Investment highlights</a:t>
            </a:r>
          </a:p>
        </p:txBody>
      </p:sp>
      <p:sp>
        <p:nvSpPr>
          <p:cNvPr id="3" name="s3-header-rule">
            <a:extLst xmlns:a="http://schemas.openxmlformats.org/drawingml/2006/main">
              <a:ext uri="{FF2B5EF4-FFF2-40B4-BE49-F238E27FC236}">
                <a16:creationId xmlns:a16="http://schemas.microsoft.com/office/drawing/2014/main" id="{42088E98-0D54-4005-BA35-57AB365B4396}"/>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3-footer">
            <a:extLst xmlns:a="http://schemas.openxmlformats.org/drawingml/2006/main">
              <a:ext uri="{FF2B5EF4-FFF2-40B4-BE49-F238E27FC236}">
                <a16:creationId xmlns:a16="http://schemas.microsoft.com/office/drawing/2014/main" id="{EDE798CB-1DB9-4085-BBF1-C592D29C52C8}"/>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3-page">
            <a:extLst xmlns:a="http://schemas.openxmlformats.org/drawingml/2006/main">
              <a:ext uri="{FF2B5EF4-FFF2-40B4-BE49-F238E27FC236}">
                <a16:creationId xmlns:a16="http://schemas.microsoft.com/office/drawing/2014/main" id="{D191A248-88CA-4D8E-9CFE-04126D26A0C6}"/>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03</a:t>
            </a:r>
          </a:p>
        </p:txBody>
      </p:sp>
      <p:sp>
        <p:nvSpPr>
          <p:cNvPr id="6" name="s3-num0">
            <a:extLst xmlns:a="http://schemas.openxmlformats.org/drawingml/2006/main">
              <a:ext uri="{FF2B5EF4-FFF2-40B4-BE49-F238E27FC236}">
                <a16:creationId xmlns:a16="http://schemas.microsoft.com/office/drawing/2014/main" id="{645CD1A9-7E45-46B5-A8E1-A9C9A114E88A}"/>
              </a:ext>
            </a:extLst>
          </p:cNvPr>
          <p:cNvSpPr>
            <a:spLocks xmlns:a="http://schemas.openxmlformats.org/drawingml/2006/main" noGrp="1"/>
          </p:cNvSpPr>
          <p:nvPr/>
        </p:nvSpPr>
        <p:spPr>
          <a:xfrm xmlns:a="http://schemas.openxmlformats.org/drawingml/2006/main">
            <a:off x="571500" y="1762125"/>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17F79"/>
                </a:solidFill>
                <a:latin typeface="Arial"/>
                <a:ea typeface="Arial"/>
                <a:cs typeface="Arial"/>
              </a:defRPr>
            </a:defPPr>
            <a:lvl1pPr algn="l">
              <a:defRPr sz="2250" b="1">
                <a:solidFill>
                  <a:srgbClr val="117F79"/>
                </a:solidFill>
                <a:latin typeface="Arial"/>
                <a:ea typeface="Arial"/>
                <a:cs typeface="Arial"/>
              </a:defRPr>
            </a:lvl1pPr>
            <a:lvl2pPr algn="l">
              <a:defRPr sz="2250" b="1">
                <a:solidFill>
                  <a:srgbClr val="117F79"/>
                </a:solidFill>
                <a:latin typeface="Arial"/>
                <a:ea typeface="Arial"/>
                <a:cs typeface="Arial"/>
              </a:defRPr>
            </a:lvl2pPr>
            <a:lvl3pPr algn="l">
              <a:defRPr sz="2250" b="1">
                <a:solidFill>
                  <a:srgbClr val="117F79"/>
                </a:solidFill>
                <a:latin typeface="Arial"/>
                <a:ea typeface="Arial"/>
                <a:cs typeface="Arial"/>
              </a:defRPr>
            </a:lvl3pPr>
            <a:lvl4pPr algn="l">
              <a:defRPr sz="2250" b="1">
                <a:solidFill>
                  <a:srgbClr val="117F79"/>
                </a:solidFill>
                <a:latin typeface="Arial"/>
                <a:ea typeface="Arial"/>
                <a:cs typeface="Arial"/>
              </a:defRPr>
            </a:lvl4pPr>
            <a:lvl5pPr algn="l">
              <a:defRPr sz="2250" b="1">
                <a:solidFill>
                  <a:srgbClr val="117F79"/>
                </a:solidFill>
                <a:latin typeface="Arial"/>
                <a:ea typeface="Arial"/>
                <a:cs typeface="Arial"/>
              </a:defRPr>
            </a:lvl5pPr>
            <a:lvl6pPr algn="l">
              <a:defRPr sz="2250" b="1">
                <a:solidFill>
                  <a:srgbClr val="117F79"/>
                </a:solidFill>
                <a:latin typeface="Arial"/>
                <a:ea typeface="Arial"/>
                <a:cs typeface="Arial"/>
              </a:defRPr>
            </a:lvl6pPr>
            <a:lvl7pPr algn="l">
              <a:defRPr sz="2250" b="1">
                <a:solidFill>
                  <a:srgbClr val="117F79"/>
                </a:solidFill>
                <a:latin typeface="Arial"/>
                <a:ea typeface="Arial"/>
                <a:cs typeface="Arial"/>
              </a:defRPr>
            </a:lvl7pPr>
            <a:lvl8pPr algn="l">
              <a:defRPr sz="2250" b="1">
                <a:solidFill>
                  <a:srgbClr val="117F79"/>
                </a:solidFill>
                <a:latin typeface="Arial"/>
                <a:ea typeface="Arial"/>
                <a:cs typeface="Arial"/>
              </a:defRPr>
            </a:lvl8pPr>
            <a:lvl9pPr algn="l">
              <a:defRPr sz="2250" b="1">
                <a:solidFill>
                  <a:srgbClr val="117F79"/>
                </a:solidFill>
                <a:latin typeface="Arial"/>
                <a:ea typeface="Arial"/>
                <a:cs typeface="Arial"/>
              </a:defRPr>
            </a:lvl9pPr>
          </a:lstStyle>
          <a:p xmlns:a="http://schemas.openxmlformats.org/drawingml/2006/main">
            <a:pPr algn="l">
              <a:defRPr sz="2250" b="1">
                <a:solidFill>
                  <a:srgbClr val="117F79"/>
                </a:solidFill>
                <a:latin typeface="Arial"/>
                <a:ea typeface="Arial"/>
                <a:cs typeface="Arial"/>
              </a:defRPr>
            </a:pPr>
            <a:r>
              <a:rPr sz="2250" b="1">
                <a:solidFill>
                  <a:srgbClr val="117F79"/>
                </a:solidFill>
                <a:latin typeface="Arial"/>
                <a:ea typeface="Arial"/>
                <a:cs typeface="Arial"/>
              </a:rPr>
              <a:t>01</a:t>
            </a:r>
          </a:p>
        </p:txBody>
      </p:sp>
      <p:sp>
        <p:nvSpPr>
          <p:cNvPr id="7" name="s3-head0">
            <a:extLst xmlns:a="http://schemas.openxmlformats.org/drawingml/2006/main">
              <a:ext uri="{FF2B5EF4-FFF2-40B4-BE49-F238E27FC236}">
                <a16:creationId xmlns:a16="http://schemas.microsoft.com/office/drawing/2014/main" id="{29C1B622-8839-4579-87A5-3C0EC50B9D14}"/>
              </a:ext>
            </a:extLst>
          </p:cNvPr>
          <p:cNvSpPr>
            <a:spLocks xmlns:a="http://schemas.openxmlformats.org/drawingml/2006/main" noGrp="1"/>
          </p:cNvSpPr>
          <p:nvPr/>
        </p:nvSpPr>
        <p:spPr>
          <a:xfrm xmlns:a="http://schemas.openxmlformats.org/drawingml/2006/main">
            <a:off x="1333500" y="1762125"/>
            <a:ext cx="3476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32E42"/>
                </a:solidFill>
                <a:latin typeface="Arial"/>
                <a:ea typeface="Arial"/>
                <a:cs typeface="Arial"/>
              </a:defRPr>
            </a:defPPr>
            <a:lvl1pPr algn="l">
              <a:defRPr sz="1875" b="1">
                <a:solidFill>
                  <a:srgbClr val="132E42"/>
                </a:solidFill>
                <a:latin typeface="Arial"/>
                <a:ea typeface="Arial"/>
                <a:cs typeface="Arial"/>
              </a:defRPr>
            </a:lvl1pPr>
            <a:lvl2pPr algn="l">
              <a:defRPr sz="1875" b="1">
                <a:solidFill>
                  <a:srgbClr val="132E42"/>
                </a:solidFill>
                <a:latin typeface="Arial"/>
                <a:ea typeface="Arial"/>
                <a:cs typeface="Arial"/>
              </a:defRPr>
            </a:lvl2pPr>
            <a:lvl3pPr algn="l">
              <a:defRPr sz="1875" b="1">
                <a:solidFill>
                  <a:srgbClr val="132E42"/>
                </a:solidFill>
                <a:latin typeface="Arial"/>
                <a:ea typeface="Arial"/>
                <a:cs typeface="Arial"/>
              </a:defRPr>
            </a:lvl3pPr>
            <a:lvl4pPr algn="l">
              <a:defRPr sz="1875" b="1">
                <a:solidFill>
                  <a:srgbClr val="132E42"/>
                </a:solidFill>
                <a:latin typeface="Arial"/>
                <a:ea typeface="Arial"/>
                <a:cs typeface="Arial"/>
              </a:defRPr>
            </a:lvl4pPr>
            <a:lvl5pPr algn="l">
              <a:defRPr sz="1875" b="1">
                <a:solidFill>
                  <a:srgbClr val="132E42"/>
                </a:solidFill>
                <a:latin typeface="Arial"/>
                <a:ea typeface="Arial"/>
                <a:cs typeface="Arial"/>
              </a:defRPr>
            </a:lvl5pPr>
            <a:lvl6pPr algn="l">
              <a:defRPr sz="1875" b="1">
                <a:solidFill>
                  <a:srgbClr val="132E42"/>
                </a:solidFill>
                <a:latin typeface="Arial"/>
                <a:ea typeface="Arial"/>
                <a:cs typeface="Arial"/>
              </a:defRPr>
            </a:lvl6pPr>
            <a:lvl7pPr algn="l">
              <a:defRPr sz="1875" b="1">
                <a:solidFill>
                  <a:srgbClr val="132E42"/>
                </a:solidFill>
                <a:latin typeface="Arial"/>
                <a:ea typeface="Arial"/>
                <a:cs typeface="Arial"/>
              </a:defRPr>
            </a:lvl7pPr>
            <a:lvl8pPr algn="l">
              <a:defRPr sz="1875" b="1">
                <a:solidFill>
                  <a:srgbClr val="132E42"/>
                </a:solidFill>
                <a:latin typeface="Arial"/>
                <a:ea typeface="Arial"/>
                <a:cs typeface="Arial"/>
              </a:defRPr>
            </a:lvl8pPr>
            <a:lvl9pPr algn="l">
              <a:defRPr sz="1875" b="1">
                <a:solidFill>
                  <a:srgbClr val="132E42"/>
                </a:solidFill>
                <a:latin typeface="Arial"/>
                <a:ea typeface="Arial"/>
                <a:cs typeface="Arial"/>
              </a:defRPr>
            </a:lvl9pPr>
          </a:lstStyle>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Contracted maintenance activity</a:t>
            </a:r>
          </a:p>
        </p:txBody>
      </p:sp>
      <p:sp>
        <p:nvSpPr>
          <p:cNvPr id="8" name="s3-body0">
            <a:extLst xmlns:a="http://schemas.openxmlformats.org/drawingml/2006/main">
              <a:ext uri="{FF2B5EF4-FFF2-40B4-BE49-F238E27FC236}">
                <a16:creationId xmlns:a16="http://schemas.microsoft.com/office/drawing/2014/main" id="{8AEC3C7B-EF5F-437A-B574-539A39CB1A98}"/>
              </a:ext>
            </a:extLst>
          </p:cNvPr>
          <p:cNvSpPr>
            <a:spLocks xmlns:a="http://schemas.openxmlformats.org/drawingml/2006/main" noGrp="1"/>
          </p:cNvSpPr>
          <p:nvPr/>
        </p:nvSpPr>
        <p:spPr>
          <a:xfrm xmlns:a="http://schemas.openxmlformats.org/drawingml/2006/main">
            <a:off x="5095875" y="1762125"/>
            <a:ext cx="652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Scheduled maintenance contributes 70% of FY2025 revenue. Contracts generally run for one to three years, with renewal by agreement.</a:t>
            </a:r>
          </a:p>
        </p:txBody>
      </p:sp>
      <p:sp>
        <p:nvSpPr>
          <p:cNvPr id="9" name="s3-rule0">
            <a:extLst xmlns:a="http://schemas.openxmlformats.org/drawingml/2006/main">
              <a:ext uri="{FF2B5EF4-FFF2-40B4-BE49-F238E27FC236}">
                <a16:creationId xmlns:a16="http://schemas.microsoft.com/office/drawing/2014/main" id="{FA83BAD5-7F8F-4FBA-8B9F-134B818BF3E7}"/>
              </a:ext>
            </a:extLst>
          </p:cNvPr>
          <p:cNvSpPr>
            <a:spLocks xmlns:a="http://schemas.openxmlformats.org/drawingml/2006/main" noGrp="1"/>
          </p:cNvSpPr>
          <p:nvPr/>
        </p:nvSpPr>
        <p:spPr>
          <a:xfrm xmlns:a="http://schemas.openxmlformats.org/drawingml/2006/main">
            <a:off x="1333500" y="2676525"/>
            <a:ext cx="10287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10" name="s3-num1">
            <a:extLst xmlns:a="http://schemas.openxmlformats.org/drawingml/2006/main">
              <a:ext uri="{FF2B5EF4-FFF2-40B4-BE49-F238E27FC236}">
                <a16:creationId xmlns:a16="http://schemas.microsoft.com/office/drawing/2014/main" id="{CB8D4DEC-3049-4E81-A895-96A97C30C51D}"/>
              </a:ext>
            </a:extLst>
          </p:cNvPr>
          <p:cNvSpPr>
            <a:spLocks xmlns:a="http://schemas.openxmlformats.org/drawingml/2006/main" noGrp="1"/>
          </p:cNvSpPr>
          <p:nvPr/>
        </p:nvSpPr>
        <p:spPr>
          <a:xfrm xmlns:a="http://schemas.openxmlformats.org/drawingml/2006/main">
            <a:off x="571500" y="2828925"/>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17F79"/>
                </a:solidFill>
                <a:latin typeface="Arial"/>
                <a:ea typeface="Arial"/>
                <a:cs typeface="Arial"/>
              </a:defRPr>
            </a:defPPr>
            <a:lvl1pPr algn="l">
              <a:defRPr sz="2250" b="1">
                <a:solidFill>
                  <a:srgbClr val="117F79"/>
                </a:solidFill>
                <a:latin typeface="Arial"/>
                <a:ea typeface="Arial"/>
                <a:cs typeface="Arial"/>
              </a:defRPr>
            </a:lvl1pPr>
            <a:lvl2pPr algn="l">
              <a:defRPr sz="2250" b="1">
                <a:solidFill>
                  <a:srgbClr val="117F79"/>
                </a:solidFill>
                <a:latin typeface="Arial"/>
                <a:ea typeface="Arial"/>
                <a:cs typeface="Arial"/>
              </a:defRPr>
            </a:lvl2pPr>
            <a:lvl3pPr algn="l">
              <a:defRPr sz="2250" b="1">
                <a:solidFill>
                  <a:srgbClr val="117F79"/>
                </a:solidFill>
                <a:latin typeface="Arial"/>
                <a:ea typeface="Arial"/>
                <a:cs typeface="Arial"/>
              </a:defRPr>
            </a:lvl3pPr>
            <a:lvl4pPr algn="l">
              <a:defRPr sz="2250" b="1">
                <a:solidFill>
                  <a:srgbClr val="117F79"/>
                </a:solidFill>
                <a:latin typeface="Arial"/>
                <a:ea typeface="Arial"/>
                <a:cs typeface="Arial"/>
              </a:defRPr>
            </a:lvl4pPr>
            <a:lvl5pPr algn="l">
              <a:defRPr sz="2250" b="1">
                <a:solidFill>
                  <a:srgbClr val="117F79"/>
                </a:solidFill>
                <a:latin typeface="Arial"/>
                <a:ea typeface="Arial"/>
                <a:cs typeface="Arial"/>
              </a:defRPr>
            </a:lvl5pPr>
            <a:lvl6pPr algn="l">
              <a:defRPr sz="2250" b="1">
                <a:solidFill>
                  <a:srgbClr val="117F79"/>
                </a:solidFill>
                <a:latin typeface="Arial"/>
                <a:ea typeface="Arial"/>
                <a:cs typeface="Arial"/>
              </a:defRPr>
            </a:lvl6pPr>
            <a:lvl7pPr algn="l">
              <a:defRPr sz="2250" b="1">
                <a:solidFill>
                  <a:srgbClr val="117F79"/>
                </a:solidFill>
                <a:latin typeface="Arial"/>
                <a:ea typeface="Arial"/>
                <a:cs typeface="Arial"/>
              </a:defRPr>
            </a:lvl7pPr>
            <a:lvl8pPr algn="l">
              <a:defRPr sz="2250" b="1">
                <a:solidFill>
                  <a:srgbClr val="117F79"/>
                </a:solidFill>
                <a:latin typeface="Arial"/>
                <a:ea typeface="Arial"/>
                <a:cs typeface="Arial"/>
              </a:defRPr>
            </a:lvl8pPr>
            <a:lvl9pPr algn="l">
              <a:defRPr sz="2250" b="1">
                <a:solidFill>
                  <a:srgbClr val="117F79"/>
                </a:solidFill>
                <a:latin typeface="Arial"/>
                <a:ea typeface="Arial"/>
                <a:cs typeface="Arial"/>
              </a:defRPr>
            </a:lvl9pPr>
          </a:lstStyle>
          <a:p xmlns:a="http://schemas.openxmlformats.org/drawingml/2006/main">
            <a:pPr algn="l">
              <a:defRPr sz="2250" b="1">
                <a:solidFill>
                  <a:srgbClr val="117F79"/>
                </a:solidFill>
                <a:latin typeface="Arial"/>
                <a:ea typeface="Arial"/>
                <a:cs typeface="Arial"/>
              </a:defRPr>
            </a:pPr>
            <a:r>
              <a:rPr sz="2250" b="1">
                <a:solidFill>
                  <a:srgbClr val="117F79"/>
                </a:solidFill>
                <a:latin typeface="Arial"/>
                <a:ea typeface="Arial"/>
                <a:cs typeface="Arial"/>
              </a:rPr>
              <a:t>02</a:t>
            </a:r>
          </a:p>
        </p:txBody>
      </p:sp>
      <p:sp>
        <p:nvSpPr>
          <p:cNvPr id="11" name="s3-head1">
            <a:extLst xmlns:a="http://schemas.openxmlformats.org/drawingml/2006/main">
              <a:ext uri="{FF2B5EF4-FFF2-40B4-BE49-F238E27FC236}">
                <a16:creationId xmlns:a16="http://schemas.microsoft.com/office/drawing/2014/main" id="{AEA40957-FEA1-4F89-AF84-84265D02B296}"/>
              </a:ext>
            </a:extLst>
          </p:cNvPr>
          <p:cNvSpPr>
            <a:spLocks xmlns:a="http://schemas.openxmlformats.org/drawingml/2006/main" noGrp="1"/>
          </p:cNvSpPr>
          <p:nvPr/>
        </p:nvSpPr>
        <p:spPr>
          <a:xfrm xmlns:a="http://schemas.openxmlformats.org/drawingml/2006/main">
            <a:off x="1333500" y="2828925"/>
            <a:ext cx="3476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32E42"/>
                </a:solidFill>
                <a:latin typeface="Arial"/>
                <a:ea typeface="Arial"/>
                <a:cs typeface="Arial"/>
              </a:defRPr>
            </a:defPPr>
            <a:lvl1pPr algn="l">
              <a:defRPr sz="1875" b="1">
                <a:solidFill>
                  <a:srgbClr val="132E42"/>
                </a:solidFill>
                <a:latin typeface="Arial"/>
                <a:ea typeface="Arial"/>
                <a:cs typeface="Arial"/>
              </a:defRPr>
            </a:lvl1pPr>
            <a:lvl2pPr algn="l">
              <a:defRPr sz="1875" b="1">
                <a:solidFill>
                  <a:srgbClr val="132E42"/>
                </a:solidFill>
                <a:latin typeface="Arial"/>
                <a:ea typeface="Arial"/>
                <a:cs typeface="Arial"/>
              </a:defRPr>
            </a:lvl2pPr>
            <a:lvl3pPr algn="l">
              <a:defRPr sz="1875" b="1">
                <a:solidFill>
                  <a:srgbClr val="132E42"/>
                </a:solidFill>
                <a:latin typeface="Arial"/>
                <a:ea typeface="Arial"/>
                <a:cs typeface="Arial"/>
              </a:defRPr>
            </a:lvl3pPr>
            <a:lvl4pPr algn="l">
              <a:defRPr sz="1875" b="1">
                <a:solidFill>
                  <a:srgbClr val="132E42"/>
                </a:solidFill>
                <a:latin typeface="Arial"/>
                <a:ea typeface="Arial"/>
                <a:cs typeface="Arial"/>
              </a:defRPr>
            </a:lvl4pPr>
            <a:lvl5pPr algn="l">
              <a:defRPr sz="1875" b="1">
                <a:solidFill>
                  <a:srgbClr val="132E42"/>
                </a:solidFill>
                <a:latin typeface="Arial"/>
                <a:ea typeface="Arial"/>
                <a:cs typeface="Arial"/>
              </a:defRPr>
            </a:lvl5pPr>
            <a:lvl6pPr algn="l">
              <a:defRPr sz="1875" b="1">
                <a:solidFill>
                  <a:srgbClr val="132E42"/>
                </a:solidFill>
                <a:latin typeface="Arial"/>
                <a:ea typeface="Arial"/>
                <a:cs typeface="Arial"/>
              </a:defRPr>
            </a:lvl6pPr>
            <a:lvl7pPr algn="l">
              <a:defRPr sz="1875" b="1">
                <a:solidFill>
                  <a:srgbClr val="132E42"/>
                </a:solidFill>
                <a:latin typeface="Arial"/>
                <a:ea typeface="Arial"/>
                <a:cs typeface="Arial"/>
              </a:defRPr>
            </a:lvl7pPr>
            <a:lvl8pPr algn="l">
              <a:defRPr sz="1875" b="1">
                <a:solidFill>
                  <a:srgbClr val="132E42"/>
                </a:solidFill>
                <a:latin typeface="Arial"/>
                <a:ea typeface="Arial"/>
                <a:cs typeface="Arial"/>
              </a:defRPr>
            </a:lvl8pPr>
            <a:lvl9pPr algn="l">
              <a:defRPr sz="1875" b="1">
                <a:solidFill>
                  <a:srgbClr val="132E42"/>
                </a:solidFill>
                <a:latin typeface="Arial"/>
                <a:ea typeface="Arial"/>
                <a:cs typeface="Arial"/>
              </a:defRPr>
            </a:lvl9pPr>
          </a:lstStyle>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Historical revenue</a:t>
            </a:r>
          </a:p>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growth</a:t>
            </a:r>
          </a:p>
        </p:txBody>
      </p:sp>
      <p:sp>
        <p:nvSpPr>
          <p:cNvPr id="12" name="s3-body1">
            <a:extLst xmlns:a="http://schemas.openxmlformats.org/drawingml/2006/main">
              <a:ext uri="{FF2B5EF4-FFF2-40B4-BE49-F238E27FC236}">
                <a16:creationId xmlns:a16="http://schemas.microsoft.com/office/drawing/2014/main" id="{3699365F-8A71-4E0E-BB76-43BD244FF32D}"/>
              </a:ext>
            </a:extLst>
          </p:cNvPr>
          <p:cNvSpPr>
            <a:spLocks xmlns:a="http://schemas.openxmlformats.org/drawingml/2006/main" noGrp="1"/>
          </p:cNvSpPr>
          <p:nvPr/>
        </p:nvSpPr>
        <p:spPr>
          <a:xfrm xmlns:a="http://schemas.openxmlformats.org/drawingml/2006/main">
            <a:off x="5095875" y="2828925"/>
            <a:ext cx="652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Revenue increased from £18.0m in FY2023 to a provisional £25.0m in FY2025, a 17.9% CAGR.</a:t>
            </a:r>
          </a:p>
        </p:txBody>
      </p:sp>
      <p:sp>
        <p:nvSpPr>
          <p:cNvPr id="13" name="s3-rule1">
            <a:extLst xmlns:a="http://schemas.openxmlformats.org/drawingml/2006/main">
              <a:ext uri="{FF2B5EF4-FFF2-40B4-BE49-F238E27FC236}">
                <a16:creationId xmlns:a16="http://schemas.microsoft.com/office/drawing/2014/main" id="{020B7008-6EFC-45C1-BCD1-3112DC7B598D}"/>
              </a:ext>
            </a:extLst>
          </p:cNvPr>
          <p:cNvSpPr>
            <a:spLocks xmlns:a="http://schemas.openxmlformats.org/drawingml/2006/main" noGrp="1"/>
          </p:cNvSpPr>
          <p:nvPr/>
        </p:nvSpPr>
        <p:spPr>
          <a:xfrm xmlns:a="http://schemas.openxmlformats.org/drawingml/2006/main">
            <a:off x="1333500" y="3743325"/>
            <a:ext cx="10287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14" name="s3-num2">
            <a:extLst xmlns:a="http://schemas.openxmlformats.org/drawingml/2006/main">
              <a:ext uri="{FF2B5EF4-FFF2-40B4-BE49-F238E27FC236}">
                <a16:creationId xmlns:a16="http://schemas.microsoft.com/office/drawing/2014/main" id="{12B702CC-90D4-4DEB-99CA-3F5AAB344CD5}"/>
              </a:ext>
            </a:extLst>
          </p:cNvPr>
          <p:cNvSpPr>
            <a:spLocks xmlns:a="http://schemas.openxmlformats.org/drawingml/2006/main" noGrp="1"/>
          </p:cNvSpPr>
          <p:nvPr/>
        </p:nvSpPr>
        <p:spPr>
          <a:xfrm xmlns:a="http://schemas.openxmlformats.org/drawingml/2006/main">
            <a:off x="571500" y="3895725"/>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17F79"/>
                </a:solidFill>
                <a:latin typeface="Arial"/>
                <a:ea typeface="Arial"/>
                <a:cs typeface="Arial"/>
              </a:defRPr>
            </a:defPPr>
            <a:lvl1pPr algn="l">
              <a:defRPr sz="2250" b="1">
                <a:solidFill>
                  <a:srgbClr val="117F79"/>
                </a:solidFill>
                <a:latin typeface="Arial"/>
                <a:ea typeface="Arial"/>
                <a:cs typeface="Arial"/>
              </a:defRPr>
            </a:lvl1pPr>
            <a:lvl2pPr algn="l">
              <a:defRPr sz="2250" b="1">
                <a:solidFill>
                  <a:srgbClr val="117F79"/>
                </a:solidFill>
                <a:latin typeface="Arial"/>
                <a:ea typeface="Arial"/>
                <a:cs typeface="Arial"/>
              </a:defRPr>
            </a:lvl2pPr>
            <a:lvl3pPr algn="l">
              <a:defRPr sz="2250" b="1">
                <a:solidFill>
                  <a:srgbClr val="117F79"/>
                </a:solidFill>
                <a:latin typeface="Arial"/>
                <a:ea typeface="Arial"/>
                <a:cs typeface="Arial"/>
              </a:defRPr>
            </a:lvl3pPr>
            <a:lvl4pPr algn="l">
              <a:defRPr sz="2250" b="1">
                <a:solidFill>
                  <a:srgbClr val="117F79"/>
                </a:solidFill>
                <a:latin typeface="Arial"/>
                <a:ea typeface="Arial"/>
                <a:cs typeface="Arial"/>
              </a:defRPr>
            </a:lvl4pPr>
            <a:lvl5pPr algn="l">
              <a:defRPr sz="2250" b="1">
                <a:solidFill>
                  <a:srgbClr val="117F79"/>
                </a:solidFill>
                <a:latin typeface="Arial"/>
                <a:ea typeface="Arial"/>
                <a:cs typeface="Arial"/>
              </a:defRPr>
            </a:lvl5pPr>
            <a:lvl6pPr algn="l">
              <a:defRPr sz="2250" b="1">
                <a:solidFill>
                  <a:srgbClr val="117F79"/>
                </a:solidFill>
                <a:latin typeface="Arial"/>
                <a:ea typeface="Arial"/>
                <a:cs typeface="Arial"/>
              </a:defRPr>
            </a:lvl6pPr>
            <a:lvl7pPr algn="l">
              <a:defRPr sz="2250" b="1">
                <a:solidFill>
                  <a:srgbClr val="117F79"/>
                </a:solidFill>
                <a:latin typeface="Arial"/>
                <a:ea typeface="Arial"/>
                <a:cs typeface="Arial"/>
              </a:defRPr>
            </a:lvl7pPr>
            <a:lvl8pPr algn="l">
              <a:defRPr sz="2250" b="1">
                <a:solidFill>
                  <a:srgbClr val="117F79"/>
                </a:solidFill>
                <a:latin typeface="Arial"/>
                <a:ea typeface="Arial"/>
                <a:cs typeface="Arial"/>
              </a:defRPr>
            </a:lvl8pPr>
            <a:lvl9pPr algn="l">
              <a:defRPr sz="2250" b="1">
                <a:solidFill>
                  <a:srgbClr val="117F79"/>
                </a:solidFill>
                <a:latin typeface="Arial"/>
                <a:ea typeface="Arial"/>
                <a:cs typeface="Arial"/>
              </a:defRPr>
            </a:lvl9pPr>
          </a:lstStyle>
          <a:p xmlns:a="http://schemas.openxmlformats.org/drawingml/2006/main">
            <a:pPr algn="l">
              <a:defRPr sz="2250" b="1">
                <a:solidFill>
                  <a:srgbClr val="117F79"/>
                </a:solidFill>
                <a:latin typeface="Arial"/>
                <a:ea typeface="Arial"/>
                <a:cs typeface="Arial"/>
              </a:defRPr>
            </a:pPr>
            <a:r>
              <a:rPr sz="2250" b="1">
                <a:solidFill>
                  <a:srgbClr val="117F79"/>
                </a:solidFill>
                <a:latin typeface="Arial"/>
                <a:ea typeface="Arial"/>
                <a:cs typeface="Arial"/>
              </a:rPr>
              <a:t>03</a:t>
            </a:r>
          </a:p>
        </p:txBody>
      </p:sp>
      <p:sp>
        <p:nvSpPr>
          <p:cNvPr id="15" name="s3-head2">
            <a:extLst xmlns:a="http://schemas.openxmlformats.org/drawingml/2006/main">
              <a:ext uri="{FF2B5EF4-FFF2-40B4-BE49-F238E27FC236}">
                <a16:creationId xmlns:a16="http://schemas.microsoft.com/office/drawing/2014/main" id="{ACC6E800-D5C6-4EE9-9E10-DF067E4D0648}"/>
              </a:ext>
            </a:extLst>
          </p:cNvPr>
          <p:cNvSpPr>
            <a:spLocks xmlns:a="http://schemas.openxmlformats.org/drawingml/2006/main" noGrp="1"/>
          </p:cNvSpPr>
          <p:nvPr/>
        </p:nvSpPr>
        <p:spPr>
          <a:xfrm xmlns:a="http://schemas.openxmlformats.org/drawingml/2006/main">
            <a:off x="1333500" y="3895725"/>
            <a:ext cx="3476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32E42"/>
                </a:solidFill>
                <a:latin typeface="Arial"/>
                <a:ea typeface="Arial"/>
                <a:cs typeface="Arial"/>
              </a:defRPr>
            </a:defPPr>
            <a:lvl1pPr algn="l">
              <a:defRPr sz="1875" b="1">
                <a:solidFill>
                  <a:srgbClr val="132E42"/>
                </a:solidFill>
                <a:latin typeface="Arial"/>
                <a:ea typeface="Arial"/>
                <a:cs typeface="Arial"/>
              </a:defRPr>
            </a:lvl1pPr>
            <a:lvl2pPr algn="l">
              <a:defRPr sz="1875" b="1">
                <a:solidFill>
                  <a:srgbClr val="132E42"/>
                </a:solidFill>
                <a:latin typeface="Arial"/>
                <a:ea typeface="Arial"/>
                <a:cs typeface="Arial"/>
              </a:defRPr>
            </a:lvl2pPr>
            <a:lvl3pPr algn="l">
              <a:defRPr sz="1875" b="1">
                <a:solidFill>
                  <a:srgbClr val="132E42"/>
                </a:solidFill>
                <a:latin typeface="Arial"/>
                <a:ea typeface="Arial"/>
                <a:cs typeface="Arial"/>
              </a:defRPr>
            </a:lvl3pPr>
            <a:lvl4pPr algn="l">
              <a:defRPr sz="1875" b="1">
                <a:solidFill>
                  <a:srgbClr val="132E42"/>
                </a:solidFill>
                <a:latin typeface="Arial"/>
                <a:ea typeface="Arial"/>
                <a:cs typeface="Arial"/>
              </a:defRPr>
            </a:lvl4pPr>
            <a:lvl5pPr algn="l">
              <a:defRPr sz="1875" b="1">
                <a:solidFill>
                  <a:srgbClr val="132E42"/>
                </a:solidFill>
                <a:latin typeface="Arial"/>
                <a:ea typeface="Arial"/>
                <a:cs typeface="Arial"/>
              </a:defRPr>
            </a:lvl5pPr>
            <a:lvl6pPr algn="l">
              <a:defRPr sz="1875" b="1">
                <a:solidFill>
                  <a:srgbClr val="132E42"/>
                </a:solidFill>
                <a:latin typeface="Arial"/>
                <a:ea typeface="Arial"/>
                <a:cs typeface="Arial"/>
              </a:defRPr>
            </a:lvl6pPr>
            <a:lvl7pPr algn="l">
              <a:defRPr sz="1875" b="1">
                <a:solidFill>
                  <a:srgbClr val="132E42"/>
                </a:solidFill>
                <a:latin typeface="Arial"/>
                <a:ea typeface="Arial"/>
                <a:cs typeface="Arial"/>
              </a:defRPr>
            </a:lvl7pPr>
            <a:lvl8pPr algn="l">
              <a:defRPr sz="1875" b="1">
                <a:solidFill>
                  <a:srgbClr val="132E42"/>
                </a:solidFill>
                <a:latin typeface="Arial"/>
                <a:ea typeface="Arial"/>
                <a:cs typeface="Arial"/>
              </a:defRPr>
            </a:lvl8pPr>
            <a:lvl9pPr algn="l">
              <a:defRPr sz="1875" b="1">
                <a:solidFill>
                  <a:srgbClr val="132E42"/>
                </a:solidFill>
                <a:latin typeface="Arial"/>
                <a:ea typeface="Arial"/>
                <a:cs typeface="Arial"/>
              </a:defRPr>
            </a:lvl9pPr>
          </a:lstStyle>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Technical delivery</a:t>
            </a:r>
          </a:p>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capacity</a:t>
            </a:r>
          </a:p>
        </p:txBody>
      </p:sp>
      <p:sp>
        <p:nvSpPr>
          <p:cNvPr id="16" name="s3-body2">
            <a:extLst xmlns:a="http://schemas.openxmlformats.org/drawingml/2006/main">
              <a:ext uri="{FF2B5EF4-FFF2-40B4-BE49-F238E27FC236}">
                <a16:creationId xmlns:a16="http://schemas.microsoft.com/office/drawing/2014/main" id="{FE68DC27-425A-432A-9FCB-704E6B544634}"/>
              </a:ext>
            </a:extLst>
          </p:cNvPr>
          <p:cNvSpPr>
            <a:spLocks xmlns:a="http://schemas.openxmlformats.org/drawingml/2006/main" noGrp="1"/>
          </p:cNvSpPr>
          <p:nvPr/>
        </p:nvSpPr>
        <p:spPr>
          <a:xfrm xmlns:a="http://schemas.openxmlformats.org/drawingml/2006/main">
            <a:off x="5095875" y="3895725"/>
            <a:ext cx="652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85 field engineers support delivery from Birmingham, Manchester and Bristol. Total year-end headcount is 120.</a:t>
            </a:r>
          </a:p>
        </p:txBody>
      </p:sp>
      <p:sp>
        <p:nvSpPr>
          <p:cNvPr id="17" name="s3-rule2">
            <a:extLst xmlns:a="http://schemas.openxmlformats.org/drawingml/2006/main">
              <a:ext uri="{FF2B5EF4-FFF2-40B4-BE49-F238E27FC236}">
                <a16:creationId xmlns:a16="http://schemas.microsoft.com/office/drawing/2014/main" id="{A70D369C-BE18-4AF9-B17D-056A77BFD096}"/>
              </a:ext>
            </a:extLst>
          </p:cNvPr>
          <p:cNvSpPr>
            <a:spLocks xmlns:a="http://schemas.openxmlformats.org/drawingml/2006/main" noGrp="1"/>
          </p:cNvSpPr>
          <p:nvPr/>
        </p:nvSpPr>
        <p:spPr>
          <a:xfrm xmlns:a="http://schemas.openxmlformats.org/drawingml/2006/main">
            <a:off x="1333500" y="4810125"/>
            <a:ext cx="10287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18" name="s3-num3">
            <a:extLst xmlns:a="http://schemas.openxmlformats.org/drawingml/2006/main">
              <a:ext uri="{FF2B5EF4-FFF2-40B4-BE49-F238E27FC236}">
                <a16:creationId xmlns:a16="http://schemas.microsoft.com/office/drawing/2014/main" id="{2EBFAC3F-C87B-4209-B5E5-987842C71F5A}"/>
              </a:ext>
            </a:extLst>
          </p:cNvPr>
          <p:cNvSpPr>
            <a:spLocks xmlns:a="http://schemas.openxmlformats.org/drawingml/2006/main" noGrp="1"/>
          </p:cNvSpPr>
          <p:nvPr/>
        </p:nvSpPr>
        <p:spPr>
          <a:xfrm xmlns:a="http://schemas.openxmlformats.org/drawingml/2006/main">
            <a:off x="571500" y="4962525"/>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17F79"/>
                </a:solidFill>
                <a:latin typeface="Arial"/>
                <a:ea typeface="Arial"/>
                <a:cs typeface="Arial"/>
              </a:defRPr>
            </a:defPPr>
            <a:lvl1pPr algn="l">
              <a:defRPr sz="2250" b="1">
                <a:solidFill>
                  <a:srgbClr val="117F79"/>
                </a:solidFill>
                <a:latin typeface="Arial"/>
                <a:ea typeface="Arial"/>
                <a:cs typeface="Arial"/>
              </a:defRPr>
            </a:lvl1pPr>
            <a:lvl2pPr algn="l">
              <a:defRPr sz="2250" b="1">
                <a:solidFill>
                  <a:srgbClr val="117F79"/>
                </a:solidFill>
                <a:latin typeface="Arial"/>
                <a:ea typeface="Arial"/>
                <a:cs typeface="Arial"/>
              </a:defRPr>
            </a:lvl2pPr>
            <a:lvl3pPr algn="l">
              <a:defRPr sz="2250" b="1">
                <a:solidFill>
                  <a:srgbClr val="117F79"/>
                </a:solidFill>
                <a:latin typeface="Arial"/>
                <a:ea typeface="Arial"/>
                <a:cs typeface="Arial"/>
              </a:defRPr>
            </a:lvl3pPr>
            <a:lvl4pPr algn="l">
              <a:defRPr sz="2250" b="1">
                <a:solidFill>
                  <a:srgbClr val="117F79"/>
                </a:solidFill>
                <a:latin typeface="Arial"/>
                <a:ea typeface="Arial"/>
                <a:cs typeface="Arial"/>
              </a:defRPr>
            </a:lvl4pPr>
            <a:lvl5pPr algn="l">
              <a:defRPr sz="2250" b="1">
                <a:solidFill>
                  <a:srgbClr val="117F79"/>
                </a:solidFill>
                <a:latin typeface="Arial"/>
                <a:ea typeface="Arial"/>
                <a:cs typeface="Arial"/>
              </a:defRPr>
            </a:lvl5pPr>
            <a:lvl6pPr algn="l">
              <a:defRPr sz="2250" b="1">
                <a:solidFill>
                  <a:srgbClr val="117F79"/>
                </a:solidFill>
                <a:latin typeface="Arial"/>
                <a:ea typeface="Arial"/>
                <a:cs typeface="Arial"/>
              </a:defRPr>
            </a:lvl6pPr>
            <a:lvl7pPr algn="l">
              <a:defRPr sz="2250" b="1">
                <a:solidFill>
                  <a:srgbClr val="117F79"/>
                </a:solidFill>
                <a:latin typeface="Arial"/>
                <a:ea typeface="Arial"/>
                <a:cs typeface="Arial"/>
              </a:defRPr>
            </a:lvl7pPr>
            <a:lvl8pPr algn="l">
              <a:defRPr sz="2250" b="1">
                <a:solidFill>
                  <a:srgbClr val="117F79"/>
                </a:solidFill>
                <a:latin typeface="Arial"/>
                <a:ea typeface="Arial"/>
                <a:cs typeface="Arial"/>
              </a:defRPr>
            </a:lvl8pPr>
            <a:lvl9pPr algn="l">
              <a:defRPr sz="2250" b="1">
                <a:solidFill>
                  <a:srgbClr val="117F79"/>
                </a:solidFill>
                <a:latin typeface="Arial"/>
                <a:ea typeface="Arial"/>
                <a:cs typeface="Arial"/>
              </a:defRPr>
            </a:lvl9pPr>
          </a:lstStyle>
          <a:p xmlns:a="http://schemas.openxmlformats.org/drawingml/2006/main">
            <a:pPr algn="l">
              <a:defRPr sz="2250" b="1">
                <a:solidFill>
                  <a:srgbClr val="117F79"/>
                </a:solidFill>
                <a:latin typeface="Arial"/>
                <a:ea typeface="Arial"/>
                <a:cs typeface="Arial"/>
              </a:defRPr>
            </a:pPr>
            <a:r>
              <a:rPr sz="2250" b="1">
                <a:solidFill>
                  <a:srgbClr val="117F79"/>
                </a:solidFill>
                <a:latin typeface="Arial"/>
                <a:ea typeface="Arial"/>
                <a:cs typeface="Arial"/>
              </a:rPr>
              <a:t>04</a:t>
            </a:r>
          </a:p>
        </p:txBody>
      </p:sp>
      <p:sp>
        <p:nvSpPr>
          <p:cNvPr id="19" name="s3-head3">
            <a:extLst xmlns:a="http://schemas.openxmlformats.org/drawingml/2006/main">
              <a:ext uri="{FF2B5EF4-FFF2-40B4-BE49-F238E27FC236}">
                <a16:creationId xmlns:a16="http://schemas.microsoft.com/office/drawing/2014/main" id="{10C69457-D9C5-43E1-82E2-043F6E332B0A}"/>
              </a:ext>
            </a:extLst>
          </p:cNvPr>
          <p:cNvSpPr>
            <a:spLocks xmlns:a="http://schemas.openxmlformats.org/drawingml/2006/main" noGrp="1"/>
          </p:cNvSpPr>
          <p:nvPr/>
        </p:nvSpPr>
        <p:spPr>
          <a:xfrm xmlns:a="http://schemas.openxmlformats.org/drawingml/2006/main">
            <a:off x="1333500" y="4962525"/>
            <a:ext cx="34766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32E42"/>
                </a:solidFill>
                <a:latin typeface="Arial"/>
                <a:ea typeface="Arial"/>
                <a:cs typeface="Arial"/>
              </a:defRPr>
            </a:defPPr>
            <a:lvl1pPr algn="l">
              <a:defRPr sz="1875" b="1">
                <a:solidFill>
                  <a:srgbClr val="132E42"/>
                </a:solidFill>
                <a:latin typeface="Arial"/>
                <a:ea typeface="Arial"/>
                <a:cs typeface="Arial"/>
              </a:defRPr>
            </a:lvl1pPr>
            <a:lvl2pPr algn="l">
              <a:defRPr sz="1875" b="1">
                <a:solidFill>
                  <a:srgbClr val="132E42"/>
                </a:solidFill>
                <a:latin typeface="Arial"/>
                <a:ea typeface="Arial"/>
                <a:cs typeface="Arial"/>
              </a:defRPr>
            </a:lvl2pPr>
            <a:lvl3pPr algn="l">
              <a:defRPr sz="1875" b="1">
                <a:solidFill>
                  <a:srgbClr val="132E42"/>
                </a:solidFill>
                <a:latin typeface="Arial"/>
                <a:ea typeface="Arial"/>
                <a:cs typeface="Arial"/>
              </a:defRPr>
            </a:lvl3pPr>
            <a:lvl4pPr algn="l">
              <a:defRPr sz="1875" b="1">
                <a:solidFill>
                  <a:srgbClr val="132E42"/>
                </a:solidFill>
                <a:latin typeface="Arial"/>
                <a:ea typeface="Arial"/>
                <a:cs typeface="Arial"/>
              </a:defRPr>
            </a:lvl4pPr>
            <a:lvl5pPr algn="l">
              <a:defRPr sz="1875" b="1">
                <a:solidFill>
                  <a:srgbClr val="132E42"/>
                </a:solidFill>
                <a:latin typeface="Arial"/>
                <a:ea typeface="Arial"/>
                <a:cs typeface="Arial"/>
              </a:defRPr>
            </a:lvl5pPr>
            <a:lvl6pPr algn="l">
              <a:defRPr sz="1875" b="1">
                <a:solidFill>
                  <a:srgbClr val="132E42"/>
                </a:solidFill>
                <a:latin typeface="Arial"/>
                <a:ea typeface="Arial"/>
                <a:cs typeface="Arial"/>
              </a:defRPr>
            </a:lvl6pPr>
            <a:lvl7pPr algn="l">
              <a:defRPr sz="1875" b="1">
                <a:solidFill>
                  <a:srgbClr val="132E42"/>
                </a:solidFill>
                <a:latin typeface="Arial"/>
                <a:ea typeface="Arial"/>
                <a:cs typeface="Arial"/>
              </a:defRPr>
            </a:lvl7pPr>
            <a:lvl8pPr algn="l">
              <a:defRPr sz="1875" b="1">
                <a:solidFill>
                  <a:srgbClr val="132E42"/>
                </a:solidFill>
                <a:latin typeface="Arial"/>
                <a:ea typeface="Arial"/>
                <a:cs typeface="Arial"/>
              </a:defRPr>
            </a:lvl8pPr>
            <a:lvl9pPr algn="l">
              <a:defRPr sz="1875" b="1">
                <a:solidFill>
                  <a:srgbClr val="132E42"/>
                </a:solidFill>
                <a:latin typeface="Arial"/>
                <a:ea typeface="Arial"/>
                <a:cs typeface="Arial"/>
              </a:defRPr>
            </a:lvl9pPr>
          </a:lstStyle>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Identified expansion</a:t>
            </a:r>
          </a:p>
          <a:p xmlns:a="http://schemas.openxmlformats.org/drawingml/2006/main">
            <a:pPr algn="l">
              <a:defRPr sz="1875" b="1">
                <a:solidFill>
                  <a:srgbClr val="132E42"/>
                </a:solidFill>
                <a:latin typeface="Arial"/>
                <a:ea typeface="Arial"/>
                <a:cs typeface="Arial"/>
              </a:defRPr>
            </a:pPr>
            <a:r>
              <a:rPr sz="1875" b="1">
                <a:solidFill>
                  <a:srgbClr val="132E42"/>
                </a:solidFill>
                <a:latin typeface="Arial"/>
                <a:ea typeface="Arial"/>
                <a:cs typeface="Arial"/>
              </a:rPr>
              <a:t>priorities</a:t>
            </a:r>
          </a:p>
        </p:txBody>
      </p:sp>
      <p:sp>
        <p:nvSpPr>
          <p:cNvPr id="20" name="s3-body3">
            <a:extLst xmlns:a="http://schemas.openxmlformats.org/drawingml/2006/main">
              <a:ext uri="{FF2B5EF4-FFF2-40B4-BE49-F238E27FC236}">
                <a16:creationId xmlns:a16="http://schemas.microsoft.com/office/drawing/2014/main" id="{2E4ADC5D-68AD-4045-B55C-C10FBC3A70E7}"/>
              </a:ext>
            </a:extLst>
          </p:cNvPr>
          <p:cNvSpPr>
            <a:spLocks xmlns:a="http://schemas.openxmlformats.org/drawingml/2006/main" noGrp="1"/>
          </p:cNvSpPr>
          <p:nvPr/>
        </p:nvSpPr>
        <p:spPr>
          <a:xfrm xmlns:a="http://schemas.openxmlformats.org/drawingml/2006/main">
            <a:off x="5095875" y="4962525"/>
            <a:ext cx="652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Management plans to add 20 net engineers by FY2027 and cross-sell maintenance to repair customers. Execution depends on hiring and renewals.</a:t>
            </a:r>
          </a:p>
        </p:txBody>
      </p:sp>
      <p:sp>
        <p:nvSpPr>
          <p:cNvPr id="21" name="s3-caveat">
            <a:extLst xmlns:a="http://schemas.openxmlformats.org/drawingml/2006/main">
              <a:ext uri="{FF2B5EF4-FFF2-40B4-BE49-F238E27FC236}">
                <a16:creationId xmlns:a16="http://schemas.microsoft.com/office/drawing/2014/main" id="{0D169B47-8677-40AC-8BF1-D70AE4A5F15A}"/>
              </a:ext>
            </a:extLst>
          </p:cNvPr>
          <p:cNvSpPr>
            <a:spLocks xmlns:a="http://schemas.openxmlformats.org/drawingml/2006/main" noGrp="1"/>
          </p:cNvSpPr>
          <p:nvPr/>
        </p:nvSpPr>
        <p:spPr>
          <a:xfrm xmlns:a="http://schemas.openxmlformats.org/drawingml/2006/main">
            <a:off x="571500" y="6076950"/>
            <a:ext cx="1104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99621B"/>
                </a:solidFill>
                <a:latin typeface="Arial"/>
                <a:ea typeface="Arial"/>
                <a:cs typeface="Arial"/>
              </a:defRPr>
            </a:defPPr>
            <a:lvl1pPr algn="l">
              <a:defRPr sz="1275" b="0">
                <a:solidFill>
                  <a:srgbClr val="99621B"/>
                </a:solidFill>
                <a:latin typeface="Arial"/>
                <a:ea typeface="Arial"/>
                <a:cs typeface="Arial"/>
              </a:defRPr>
            </a:lvl1pPr>
            <a:lvl2pPr algn="l">
              <a:defRPr sz="1275" b="0">
                <a:solidFill>
                  <a:srgbClr val="99621B"/>
                </a:solidFill>
                <a:latin typeface="Arial"/>
                <a:ea typeface="Arial"/>
                <a:cs typeface="Arial"/>
              </a:defRPr>
            </a:lvl2pPr>
            <a:lvl3pPr algn="l">
              <a:defRPr sz="1275" b="0">
                <a:solidFill>
                  <a:srgbClr val="99621B"/>
                </a:solidFill>
                <a:latin typeface="Arial"/>
                <a:ea typeface="Arial"/>
                <a:cs typeface="Arial"/>
              </a:defRPr>
            </a:lvl3pPr>
            <a:lvl4pPr algn="l">
              <a:defRPr sz="1275" b="0">
                <a:solidFill>
                  <a:srgbClr val="99621B"/>
                </a:solidFill>
                <a:latin typeface="Arial"/>
                <a:ea typeface="Arial"/>
                <a:cs typeface="Arial"/>
              </a:defRPr>
            </a:lvl4pPr>
            <a:lvl5pPr algn="l">
              <a:defRPr sz="1275" b="0">
                <a:solidFill>
                  <a:srgbClr val="99621B"/>
                </a:solidFill>
                <a:latin typeface="Arial"/>
                <a:ea typeface="Arial"/>
                <a:cs typeface="Arial"/>
              </a:defRPr>
            </a:lvl5pPr>
            <a:lvl6pPr algn="l">
              <a:defRPr sz="1275" b="0">
                <a:solidFill>
                  <a:srgbClr val="99621B"/>
                </a:solidFill>
                <a:latin typeface="Arial"/>
                <a:ea typeface="Arial"/>
                <a:cs typeface="Arial"/>
              </a:defRPr>
            </a:lvl6pPr>
            <a:lvl7pPr algn="l">
              <a:defRPr sz="1275" b="0">
                <a:solidFill>
                  <a:srgbClr val="99621B"/>
                </a:solidFill>
                <a:latin typeface="Arial"/>
                <a:ea typeface="Arial"/>
                <a:cs typeface="Arial"/>
              </a:defRPr>
            </a:lvl7pPr>
            <a:lvl8pPr algn="l">
              <a:defRPr sz="1275" b="0">
                <a:solidFill>
                  <a:srgbClr val="99621B"/>
                </a:solidFill>
                <a:latin typeface="Arial"/>
                <a:ea typeface="Arial"/>
                <a:cs typeface="Arial"/>
              </a:defRPr>
            </a:lvl8pPr>
            <a:lvl9pPr algn="l">
              <a:defRPr sz="1275" b="0">
                <a:solidFill>
                  <a:srgbClr val="99621B"/>
                </a:solidFill>
                <a:latin typeface="Arial"/>
                <a:ea typeface="Arial"/>
                <a:cs typeface="Arial"/>
              </a:defRPr>
            </a:lvl9pPr>
          </a:lstStyle>
          <a:p xmlns:a="http://schemas.openxmlformats.org/drawingml/2006/main">
            <a:pPr algn="l">
              <a:defRPr sz="1275" b="0">
                <a:solidFill>
                  <a:srgbClr val="99621B"/>
                </a:solidFill>
                <a:latin typeface="Arial"/>
                <a:ea typeface="Arial"/>
                <a:cs typeface="Arial"/>
              </a:defRPr>
            </a:pPr>
            <a:r>
              <a:rPr sz="1275" b="0">
                <a:solidFill>
                  <a:srgbClr val="99621B"/>
                </a:solidFill>
                <a:latin typeface="Arial"/>
                <a:ea typeface="Arial"/>
                <a:cs typeface="Arial"/>
              </a:rPr>
              <a:t>Revenue remains provisional. The growth plan is a management forecast, not contracted backlog.</a:t>
            </a:r>
          </a:p>
        </p:txBody>
      </p:sp>
    </p:spTree>
    <p:extLst>
      <p:ext uri="{BB962C8B-B14F-4D97-AF65-F5344CB8AC3E}">
        <p14:creationId xmlns:p14="http://schemas.microsoft.com/office/powerpoint/2010/main" val="5536319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4-section">
            <a:extLst xmlns:a="http://schemas.openxmlformats.org/drawingml/2006/main">
              <a:ext uri="{FF2B5EF4-FFF2-40B4-BE49-F238E27FC236}">
                <a16:creationId xmlns:a16="http://schemas.microsoft.com/office/drawing/2014/main" id="{74C47EF4-C05F-42B2-8A5F-4DC93DCE28F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SERVICES</a:t>
            </a:r>
          </a:p>
        </p:txBody>
      </p:sp>
      <p:sp>
        <p:nvSpPr>
          <p:cNvPr id="2" name="s4-title">
            <a:extLst xmlns:a="http://schemas.openxmlformats.org/drawingml/2006/main">
              <a:ext uri="{FF2B5EF4-FFF2-40B4-BE49-F238E27FC236}">
                <a16:creationId xmlns:a16="http://schemas.microsoft.com/office/drawing/2014/main" id="{9CB93E2E-AA73-4574-AF90-8A449B886E2D}"/>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Business and revenue mix</a:t>
            </a:r>
          </a:p>
        </p:txBody>
      </p:sp>
      <p:sp>
        <p:nvSpPr>
          <p:cNvPr id="3" name="s4-header-rule">
            <a:extLst xmlns:a="http://schemas.openxmlformats.org/drawingml/2006/main">
              <a:ext uri="{FF2B5EF4-FFF2-40B4-BE49-F238E27FC236}">
                <a16:creationId xmlns:a16="http://schemas.microsoft.com/office/drawing/2014/main" id="{DAED941C-38F7-46D8-86C1-FB7AAB9B00C4}"/>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4-footer">
            <a:extLst xmlns:a="http://schemas.openxmlformats.org/drawingml/2006/main">
              <a:ext uri="{FF2B5EF4-FFF2-40B4-BE49-F238E27FC236}">
                <a16:creationId xmlns:a16="http://schemas.microsoft.com/office/drawing/2014/main" id="{75A9759B-A622-4F45-9996-BC62CF954477}"/>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4-page">
            <a:extLst xmlns:a="http://schemas.openxmlformats.org/drawingml/2006/main">
              <a:ext uri="{FF2B5EF4-FFF2-40B4-BE49-F238E27FC236}">
                <a16:creationId xmlns:a16="http://schemas.microsoft.com/office/drawing/2014/main" id="{38076498-4D6A-473E-9667-A4E26BDDD356}"/>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04</a:t>
            </a:r>
          </a:p>
        </p:txBody>
      </p:sp>
      <p:sp>
        <p:nvSpPr>
          <p:cNvPr id="6" name="s4-intro">
            <a:extLst xmlns:a="http://schemas.openxmlformats.org/drawingml/2006/main">
              <a:ext uri="{FF2B5EF4-FFF2-40B4-BE49-F238E27FC236}">
                <a16:creationId xmlns:a16="http://schemas.microsoft.com/office/drawing/2014/main" id="{697AD4A2-805A-4079-94F1-CCA3EB60CB78}"/>
              </a:ext>
            </a:extLst>
          </p:cNvPr>
          <p:cNvSpPr>
            <a:spLocks xmlns:a="http://schemas.openxmlformats.org/drawingml/2006/main" noGrp="1"/>
          </p:cNvSpPr>
          <p:nvPr/>
        </p:nvSpPr>
        <p:spPr>
          <a:xfrm xmlns:a="http://schemas.openxmlformats.org/drawingml/2006/main">
            <a:off x="571500" y="17240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32E42"/>
                </a:solidFill>
                <a:latin typeface="Arial"/>
                <a:ea typeface="Arial"/>
                <a:cs typeface="Arial"/>
              </a:defRPr>
            </a:defPPr>
            <a:lvl1pPr algn="l">
              <a:defRPr sz="1875" b="0">
                <a:solidFill>
                  <a:srgbClr val="132E42"/>
                </a:solidFill>
                <a:latin typeface="Arial"/>
                <a:ea typeface="Arial"/>
                <a:cs typeface="Arial"/>
              </a:defRPr>
            </a:lvl1pPr>
            <a:lvl2pPr algn="l">
              <a:defRPr sz="1875" b="0">
                <a:solidFill>
                  <a:srgbClr val="132E42"/>
                </a:solidFill>
                <a:latin typeface="Arial"/>
                <a:ea typeface="Arial"/>
                <a:cs typeface="Arial"/>
              </a:defRPr>
            </a:lvl2pPr>
            <a:lvl3pPr algn="l">
              <a:defRPr sz="1875" b="0">
                <a:solidFill>
                  <a:srgbClr val="132E42"/>
                </a:solidFill>
                <a:latin typeface="Arial"/>
                <a:ea typeface="Arial"/>
                <a:cs typeface="Arial"/>
              </a:defRPr>
            </a:lvl3pPr>
            <a:lvl4pPr algn="l">
              <a:defRPr sz="1875" b="0">
                <a:solidFill>
                  <a:srgbClr val="132E42"/>
                </a:solidFill>
                <a:latin typeface="Arial"/>
                <a:ea typeface="Arial"/>
                <a:cs typeface="Arial"/>
              </a:defRPr>
            </a:lvl4pPr>
            <a:lvl5pPr algn="l">
              <a:defRPr sz="1875" b="0">
                <a:solidFill>
                  <a:srgbClr val="132E42"/>
                </a:solidFill>
                <a:latin typeface="Arial"/>
                <a:ea typeface="Arial"/>
                <a:cs typeface="Arial"/>
              </a:defRPr>
            </a:lvl5pPr>
            <a:lvl6pPr algn="l">
              <a:defRPr sz="1875" b="0">
                <a:solidFill>
                  <a:srgbClr val="132E42"/>
                </a:solidFill>
                <a:latin typeface="Arial"/>
                <a:ea typeface="Arial"/>
                <a:cs typeface="Arial"/>
              </a:defRPr>
            </a:lvl6pPr>
            <a:lvl7pPr algn="l">
              <a:defRPr sz="1875" b="0">
                <a:solidFill>
                  <a:srgbClr val="132E42"/>
                </a:solidFill>
                <a:latin typeface="Arial"/>
                <a:ea typeface="Arial"/>
                <a:cs typeface="Arial"/>
              </a:defRPr>
            </a:lvl7pPr>
            <a:lvl8pPr algn="l">
              <a:defRPr sz="1875" b="0">
                <a:solidFill>
                  <a:srgbClr val="132E42"/>
                </a:solidFill>
                <a:latin typeface="Arial"/>
                <a:ea typeface="Arial"/>
                <a:cs typeface="Arial"/>
              </a:defRPr>
            </a:lvl8pPr>
            <a:lvl9pPr algn="l">
              <a:defRPr sz="1875" b="0">
                <a:solidFill>
                  <a:srgbClr val="132E42"/>
                </a:solidFill>
                <a:latin typeface="Arial"/>
                <a:ea typeface="Arial"/>
                <a:cs typeface="Arial"/>
              </a:defRPr>
            </a:lvl9pPr>
          </a:lstStyle>
          <a:p xmlns:a="http://schemas.openxmlformats.org/drawingml/2006/main">
            <a:pPr algn="l">
              <a:defRPr sz="1875" b="0">
                <a:solidFill>
                  <a:srgbClr val="132E42"/>
                </a:solidFill>
                <a:latin typeface="Arial"/>
                <a:ea typeface="Arial"/>
                <a:cs typeface="Arial"/>
              </a:defRPr>
            </a:pPr>
            <a:r>
              <a:rPr sz="1875" b="0">
                <a:solidFill>
                  <a:srgbClr val="132E42"/>
                </a:solidFill>
                <a:latin typeface="Arial"/>
                <a:ea typeface="Arial"/>
                <a:cs typeface="Arial"/>
              </a:rPr>
              <a:t>Scheduled maintenance accounts for most revenue, supported by repairs and project work.</a:t>
            </a:r>
          </a:p>
        </p:txBody>
      </p:sp>
      <p:graphicFrame>
        <p:nvGraphicFramePr>
          <p:cNvPr id="7" name="">
            <a:extLst xmlns:a="http://schemas.openxmlformats.org/drawingml/2006/main">
              <a:ext uri="{FF2B5EF4-FFF2-40B4-BE49-F238E27FC236}">
                <a16:creationId xmlns:a16="http://schemas.microsoft.com/office/drawing/2014/main" id="{AB33BA15-A73F-4DCB-9798-4845B6068A87}"/>
              </a:ext>
            </a:extLst>
          </p:cNvPr>
          <p:cNvGraphicFramePr/>
          <p:nvPr/>
        </p:nvGraphicFramePr>
        <p:xfrm>
          <a:off xmlns:a="http://schemas.openxmlformats.org/drawingml/2006/main" x="571500" y="2524125"/>
          <a:ext xmlns:a="http://schemas.openxmlformats.org/drawingml/2006/main" cx="11049000" cy="2333625"/>
        </p:xfrm>
        <a:graphic xmlns:a="http://schemas.openxmlformats.org/drawingml/2006/main">
          <a:graphicData uri="http://schemas.openxmlformats.org/drawingml/2006/table">
            <a:tbl>
              <a:tblPr/>
              <a:tblGrid>
                <a:gridCol w="4174133"/>
                <a:gridCol w="1841401"/>
                <a:gridCol w="1350367"/>
                <a:gridCol w="3683099"/>
              </a:tblGrid>
              <a:tr h="579140">
                <a:tc>
                  <a:txBody>
                    <a:bodyPr lIns="114300" tIns="76200" rIns="114300" bIns="76200">
                      <a:noAutofit/>
                    </a:bodyPr>
                    <a:lstStyle/>
                    <a:p>
                      <a:r>
                        <a:rPr sz="1650" b="1">
                          <a:solidFill>
                            <a:srgbClr val="FFFFFF"/>
                          </a:solidFill>
                          <a:latin typeface="Arial"/>
                          <a:ea typeface="Arial"/>
                          <a:cs typeface="Arial"/>
                        </a:rPr>
                        <a:t>Service</a:t>
                      </a:r>
                    </a:p>
                  </a:txBody>
                  <a:tcPr marL="91440" marR="91440" marT="45720" marB="45720" anchor="ctr">
                    <a:lnL w="9525">
                      <a:solidFill>
                        <a:srgbClr val="DCE4E8"/>
                      </a:solidFill>
                      <a:prstDash val="solid"/>
                    </a:lnL>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FY2025 £m</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Share</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Commercial basis</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r>
              <a:tr h="583704">
                <a:tc>
                  <a:txBody>
                    <a:bodyPr lIns="114300" tIns="76200" rIns="114300" bIns="76200">
                      <a:noAutofit/>
                    </a:bodyPr>
                    <a:lstStyle/>
                    <a:p>
                      <a:r>
                        <a:rPr sz="1650" b="0">
                          <a:solidFill>
                            <a:srgbClr val="132E42"/>
                          </a:solidFill>
                          <a:latin typeface="Arial"/>
                          <a:ea typeface="Arial"/>
                          <a:cs typeface="Arial"/>
                        </a:rPr>
                        <a:t>Scheduled maintenance</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17.5</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70%</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Annual service contracts</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583704">
                <a:tc>
                  <a:txBody>
                    <a:bodyPr lIns="114300" tIns="76200" rIns="114300" bIns="76200">
                      <a:noAutofit/>
                    </a:bodyPr>
                    <a:lstStyle/>
                    <a:p>
                      <a:r>
                        <a:rPr sz="1650" b="0">
                          <a:solidFill>
                            <a:srgbClr val="132E42"/>
                          </a:solidFill>
                          <a:latin typeface="Arial"/>
                          <a:ea typeface="Arial"/>
                          <a:cs typeface="Arial"/>
                        </a:rPr>
                        <a:t>Reactive repairs</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5.0</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20%</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Call-out and materials</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583902">
                <a:tc>
                  <a:txBody>
                    <a:bodyPr lIns="114300" tIns="76200" rIns="114300" bIns="76200">
                      <a:noAutofit/>
                    </a:bodyPr>
                    <a:lstStyle/>
                    <a:p>
                      <a:r>
                        <a:rPr sz="1650" b="0">
                          <a:solidFill>
                            <a:srgbClr val="132E42"/>
                          </a:solidFill>
                          <a:latin typeface="Arial"/>
                          <a:ea typeface="Arial"/>
                          <a:cs typeface="Arial"/>
                        </a:rPr>
                        <a:t>Installation projects</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2.5</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10%</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Project-based work</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bl>
          </a:graphicData>
        </a:graphic>
      </p:graphicFrame>
      <p:sp>
        <p:nvSpPr>
          <p:cNvPr id="8" name="s4-contract">
            <a:extLst xmlns:a="http://schemas.openxmlformats.org/drawingml/2006/main">
              <a:ext uri="{FF2B5EF4-FFF2-40B4-BE49-F238E27FC236}">
                <a16:creationId xmlns:a16="http://schemas.microsoft.com/office/drawing/2014/main" id="{4963AB56-3373-4CC7-928B-F79353F56345}"/>
              </a:ext>
            </a:extLst>
          </p:cNvPr>
          <p:cNvSpPr>
            <a:spLocks xmlns:a="http://schemas.openxmlformats.org/drawingml/2006/main" noGrp="1"/>
          </p:cNvSpPr>
          <p:nvPr/>
        </p:nvSpPr>
        <p:spPr>
          <a:xfrm xmlns:a="http://schemas.openxmlformats.org/drawingml/2006/main">
            <a:off x="571500" y="5248275"/>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Contract term</a:t>
            </a:r>
          </a:p>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Typically one to three years, with renewal by agreement.</a:t>
            </a:r>
          </a:p>
        </p:txBody>
      </p:sp>
      <p:sp>
        <p:nvSpPr>
          <p:cNvPr id="9" name="s4-customer">
            <a:extLst xmlns:a="http://schemas.openxmlformats.org/drawingml/2006/main">
              <a:ext uri="{FF2B5EF4-FFF2-40B4-BE49-F238E27FC236}">
                <a16:creationId xmlns:a16="http://schemas.microsoft.com/office/drawing/2014/main" id="{05BD4227-EBC9-4C54-A6A2-A3E082C8E853}"/>
              </a:ext>
            </a:extLst>
          </p:cNvPr>
          <p:cNvSpPr>
            <a:spLocks xmlns:a="http://schemas.openxmlformats.org/drawingml/2006/main" noGrp="1"/>
          </p:cNvSpPr>
          <p:nvPr/>
        </p:nvSpPr>
        <p:spPr>
          <a:xfrm xmlns:a="http://schemas.openxmlformats.org/drawingml/2006/main">
            <a:off x="6667500" y="5248275"/>
            <a:ext cx="495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Customer applications</a:t>
            </a:r>
          </a:p>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Industrial sites, logistics operations and facilities management.</a:t>
            </a:r>
          </a:p>
        </p:txBody>
      </p:sp>
    </p:spTree>
    <p:extLst>
      <p:ext uri="{BB962C8B-B14F-4D97-AF65-F5344CB8AC3E}">
        <p14:creationId xmlns:p14="http://schemas.microsoft.com/office/powerpoint/2010/main" val="8457633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5-section">
            <a:extLst xmlns:a="http://schemas.openxmlformats.org/drawingml/2006/main">
              <a:ext uri="{FF2B5EF4-FFF2-40B4-BE49-F238E27FC236}">
                <a16:creationId xmlns:a16="http://schemas.microsoft.com/office/drawing/2014/main" id="{91AB279E-84C5-42C6-AB64-369D70B7942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CUSTOMERS</a:t>
            </a:r>
          </a:p>
        </p:txBody>
      </p:sp>
      <p:sp>
        <p:nvSpPr>
          <p:cNvPr id="2" name="s5-title">
            <a:extLst xmlns:a="http://schemas.openxmlformats.org/drawingml/2006/main">
              <a:ext uri="{FF2B5EF4-FFF2-40B4-BE49-F238E27FC236}">
                <a16:creationId xmlns:a16="http://schemas.microsoft.com/office/drawing/2014/main" id="{B55C5BC1-1710-4C75-B92F-EF86D162E600}"/>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Customer concentration</a:t>
            </a:r>
          </a:p>
        </p:txBody>
      </p:sp>
      <p:sp>
        <p:nvSpPr>
          <p:cNvPr id="3" name="s5-header-rule">
            <a:extLst xmlns:a="http://schemas.openxmlformats.org/drawingml/2006/main">
              <a:ext uri="{FF2B5EF4-FFF2-40B4-BE49-F238E27FC236}">
                <a16:creationId xmlns:a16="http://schemas.microsoft.com/office/drawing/2014/main" id="{8133C3B6-BDCE-47F0-AB7F-B072038BA009}"/>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5-footer">
            <a:extLst xmlns:a="http://schemas.openxmlformats.org/drawingml/2006/main">
              <a:ext uri="{FF2B5EF4-FFF2-40B4-BE49-F238E27FC236}">
                <a16:creationId xmlns:a16="http://schemas.microsoft.com/office/drawing/2014/main" id="{1248A75E-9DA2-4015-9D2D-DFBA25BBD4BB}"/>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5-page">
            <a:extLst xmlns:a="http://schemas.openxmlformats.org/drawingml/2006/main">
              <a:ext uri="{FF2B5EF4-FFF2-40B4-BE49-F238E27FC236}">
                <a16:creationId xmlns:a16="http://schemas.microsoft.com/office/drawing/2014/main" id="{4BAC2AE0-F632-4FD2-9014-B7619EA3FB6F}"/>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05</a:t>
            </a:r>
          </a:p>
        </p:txBody>
      </p:sp>
      <p:sp>
        <p:nvSpPr>
          <p:cNvPr id="6" name="s5-chart-title">
            <a:extLst xmlns:a="http://schemas.openxmlformats.org/drawingml/2006/main">
              <a:ext uri="{FF2B5EF4-FFF2-40B4-BE49-F238E27FC236}">
                <a16:creationId xmlns:a16="http://schemas.microsoft.com/office/drawing/2014/main" id="{4BF5CF43-DDAA-4A0E-9B0D-A5ED9C36E274}"/>
              </a:ext>
            </a:extLst>
          </p:cNvPr>
          <p:cNvSpPr>
            <a:spLocks xmlns:a="http://schemas.openxmlformats.org/drawingml/2006/main" noGrp="1"/>
          </p:cNvSpPr>
          <p:nvPr/>
        </p:nvSpPr>
        <p:spPr>
          <a:xfrm xmlns:a="http://schemas.openxmlformats.org/drawingml/2006/main">
            <a:off x="571500" y="1714500"/>
            <a:ext cx="666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32E42"/>
                </a:solidFill>
                <a:latin typeface="Arial"/>
                <a:ea typeface="Arial"/>
                <a:cs typeface="Arial"/>
              </a:defRPr>
            </a:defPPr>
            <a:lvl1pPr algn="l">
              <a:defRPr sz="1725" b="1">
                <a:solidFill>
                  <a:srgbClr val="132E42"/>
                </a:solidFill>
                <a:latin typeface="Arial"/>
                <a:ea typeface="Arial"/>
                <a:cs typeface="Arial"/>
              </a:defRPr>
            </a:lvl1pPr>
            <a:lvl2pPr algn="l">
              <a:defRPr sz="1725" b="1">
                <a:solidFill>
                  <a:srgbClr val="132E42"/>
                </a:solidFill>
                <a:latin typeface="Arial"/>
                <a:ea typeface="Arial"/>
                <a:cs typeface="Arial"/>
              </a:defRPr>
            </a:lvl2pPr>
            <a:lvl3pPr algn="l">
              <a:defRPr sz="1725" b="1">
                <a:solidFill>
                  <a:srgbClr val="132E42"/>
                </a:solidFill>
                <a:latin typeface="Arial"/>
                <a:ea typeface="Arial"/>
                <a:cs typeface="Arial"/>
              </a:defRPr>
            </a:lvl3pPr>
            <a:lvl4pPr algn="l">
              <a:defRPr sz="1725" b="1">
                <a:solidFill>
                  <a:srgbClr val="132E42"/>
                </a:solidFill>
                <a:latin typeface="Arial"/>
                <a:ea typeface="Arial"/>
                <a:cs typeface="Arial"/>
              </a:defRPr>
            </a:lvl4pPr>
            <a:lvl5pPr algn="l">
              <a:defRPr sz="1725" b="1">
                <a:solidFill>
                  <a:srgbClr val="132E42"/>
                </a:solidFill>
                <a:latin typeface="Arial"/>
                <a:ea typeface="Arial"/>
                <a:cs typeface="Arial"/>
              </a:defRPr>
            </a:lvl5pPr>
            <a:lvl6pPr algn="l">
              <a:defRPr sz="1725" b="1">
                <a:solidFill>
                  <a:srgbClr val="132E42"/>
                </a:solidFill>
                <a:latin typeface="Arial"/>
                <a:ea typeface="Arial"/>
                <a:cs typeface="Arial"/>
              </a:defRPr>
            </a:lvl6pPr>
            <a:lvl7pPr algn="l">
              <a:defRPr sz="1725" b="1">
                <a:solidFill>
                  <a:srgbClr val="132E42"/>
                </a:solidFill>
                <a:latin typeface="Arial"/>
                <a:ea typeface="Arial"/>
                <a:cs typeface="Arial"/>
              </a:defRPr>
            </a:lvl7pPr>
            <a:lvl8pPr algn="l">
              <a:defRPr sz="1725" b="1">
                <a:solidFill>
                  <a:srgbClr val="132E42"/>
                </a:solidFill>
                <a:latin typeface="Arial"/>
                <a:ea typeface="Arial"/>
                <a:cs typeface="Arial"/>
              </a:defRPr>
            </a:lvl8pPr>
            <a:lvl9pPr algn="l">
              <a:defRPr sz="1725" b="1">
                <a:solidFill>
                  <a:srgbClr val="132E42"/>
                </a:solidFill>
                <a:latin typeface="Arial"/>
                <a:ea typeface="Arial"/>
                <a:cs typeface="Arial"/>
              </a:defRPr>
            </a:lvl9pPr>
          </a:lstStyle>
          <a:p xmlns:a="http://schemas.openxmlformats.org/drawingml/2006/main">
            <a:pPr algn="l">
              <a:defRPr sz="1725" b="1">
                <a:solidFill>
                  <a:srgbClr val="132E42"/>
                </a:solidFill>
                <a:latin typeface="Arial"/>
                <a:ea typeface="Arial"/>
                <a:cs typeface="Arial"/>
              </a:defRPr>
            </a:pPr>
            <a:r>
              <a:rPr sz="1725" b="1">
                <a:solidFill>
                  <a:srgbClr val="132E42"/>
                </a:solidFill>
                <a:latin typeface="Arial"/>
                <a:ea typeface="Arial"/>
                <a:cs typeface="Arial"/>
              </a:rPr>
              <a:t>FY2025 share of revenue by largest customer</a:t>
            </a:r>
          </a:p>
        </p:txBody>
      </p:sp>
      <p:graphicFrame>
        <p:nvGraphicFramePr>
          <p:cNvPr id="7" name="Chart">
            <a:extLst xmlns:a="http://schemas.openxmlformats.org/drawingml/2006/main">
              <a:ext uri="{FF2B5EF4-FFF2-40B4-BE49-F238E27FC236}">
                <a16:creationId xmlns:a16="http://schemas.microsoft.com/office/drawing/2014/main" id="{5E470881-3CBF-494F-A394-711513388484}"/>
              </a:ext>
            </a:extLst>
          </p:cNvPr>
          <p:cNvGraphicFramePr/>
          <p:nvPr/>
        </p:nvGraphicFramePr>
        <p:xfrm>
          <a:off xmlns:a="http://schemas.openxmlformats.org/drawingml/2006/main" x="571500" y="2228850"/>
          <a:ext xmlns:a="http://schemas.openxmlformats.org/drawingml/2006/main" cx="6905625" cy="3381375"/>
        </p:xfrm>
        <a:graphic xmlns:a="http://schemas.openxmlformats.org/drawingml/2006/main">
          <a:graphicData uri="http://schemas.openxmlformats.org/drawingml/2006/chart">
            <c:chart xmlns:r="http://schemas.openxmlformats.org/officeDocument/2006/relationships" xmlns:c="http://schemas.openxmlformats.org/drawingml/2006/chart" r:id="R436c5f94c5bc499c"/>
          </a:graphicData>
        </a:graphic>
      </p:graphicFrame>
      <p:sp>
        <p:nvSpPr>
          <p:cNvPr id="8" name="s5-top">
            <a:extLst xmlns:a="http://schemas.openxmlformats.org/drawingml/2006/main">
              <a:ext uri="{FF2B5EF4-FFF2-40B4-BE49-F238E27FC236}">
                <a16:creationId xmlns:a16="http://schemas.microsoft.com/office/drawing/2014/main" id="{AF7690AA-2A52-408C-9E2D-9568375D9FB2}"/>
              </a:ext>
            </a:extLst>
          </p:cNvPr>
          <p:cNvSpPr>
            <a:spLocks xmlns:a="http://schemas.openxmlformats.org/drawingml/2006/main" noGrp="1"/>
          </p:cNvSpPr>
          <p:nvPr/>
        </p:nvSpPr>
        <p:spPr>
          <a:xfrm xmlns:a="http://schemas.openxmlformats.org/drawingml/2006/main">
            <a:off x="8096250" y="1952625"/>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117F79"/>
                </a:solidFill>
                <a:latin typeface="Arial"/>
                <a:ea typeface="Arial"/>
                <a:cs typeface="Arial"/>
              </a:defRPr>
            </a:defPPr>
            <a:lvl1pPr algn="l">
              <a:defRPr sz="4050" b="1">
                <a:solidFill>
                  <a:srgbClr val="117F79"/>
                </a:solidFill>
                <a:latin typeface="Arial"/>
                <a:ea typeface="Arial"/>
                <a:cs typeface="Arial"/>
              </a:defRPr>
            </a:lvl1pPr>
            <a:lvl2pPr algn="l">
              <a:defRPr sz="4050" b="1">
                <a:solidFill>
                  <a:srgbClr val="117F79"/>
                </a:solidFill>
                <a:latin typeface="Arial"/>
                <a:ea typeface="Arial"/>
                <a:cs typeface="Arial"/>
              </a:defRPr>
            </a:lvl2pPr>
            <a:lvl3pPr algn="l">
              <a:defRPr sz="4050" b="1">
                <a:solidFill>
                  <a:srgbClr val="117F79"/>
                </a:solidFill>
                <a:latin typeface="Arial"/>
                <a:ea typeface="Arial"/>
                <a:cs typeface="Arial"/>
              </a:defRPr>
            </a:lvl3pPr>
            <a:lvl4pPr algn="l">
              <a:defRPr sz="4050" b="1">
                <a:solidFill>
                  <a:srgbClr val="117F79"/>
                </a:solidFill>
                <a:latin typeface="Arial"/>
                <a:ea typeface="Arial"/>
                <a:cs typeface="Arial"/>
              </a:defRPr>
            </a:lvl4pPr>
            <a:lvl5pPr algn="l">
              <a:defRPr sz="4050" b="1">
                <a:solidFill>
                  <a:srgbClr val="117F79"/>
                </a:solidFill>
                <a:latin typeface="Arial"/>
                <a:ea typeface="Arial"/>
                <a:cs typeface="Arial"/>
              </a:defRPr>
            </a:lvl5pPr>
            <a:lvl6pPr algn="l">
              <a:defRPr sz="4050" b="1">
                <a:solidFill>
                  <a:srgbClr val="117F79"/>
                </a:solidFill>
                <a:latin typeface="Arial"/>
                <a:ea typeface="Arial"/>
                <a:cs typeface="Arial"/>
              </a:defRPr>
            </a:lvl6pPr>
            <a:lvl7pPr algn="l">
              <a:defRPr sz="4050" b="1">
                <a:solidFill>
                  <a:srgbClr val="117F79"/>
                </a:solidFill>
                <a:latin typeface="Arial"/>
                <a:ea typeface="Arial"/>
                <a:cs typeface="Arial"/>
              </a:defRPr>
            </a:lvl7pPr>
            <a:lvl8pPr algn="l">
              <a:defRPr sz="4050" b="1">
                <a:solidFill>
                  <a:srgbClr val="117F79"/>
                </a:solidFill>
                <a:latin typeface="Arial"/>
                <a:ea typeface="Arial"/>
                <a:cs typeface="Arial"/>
              </a:defRPr>
            </a:lvl8pPr>
            <a:lvl9pPr algn="l">
              <a:defRPr sz="4050" b="1">
                <a:solidFill>
                  <a:srgbClr val="117F79"/>
                </a:solidFill>
                <a:latin typeface="Arial"/>
                <a:ea typeface="Arial"/>
                <a:cs typeface="Arial"/>
              </a:defRPr>
            </a:lvl9pPr>
          </a:lstStyle>
          <a:p xmlns:a="http://schemas.openxmlformats.org/drawingml/2006/main">
            <a:pPr algn="l">
              <a:defRPr sz="4050" b="1">
                <a:solidFill>
                  <a:srgbClr val="117F79"/>
                </a:solidFill>
                <a:latin typeface="Arial"/>
                <a:ea typeface="Arial"/>
                <a:cs typeface="Arial"/>
              </a:defRPr>
            </a:pPr>
            <a:r>
              <a:rPr sz="4050" b="1">
                <a:solidFill>
                  <a:srgbClr val="117F79"/>
                </a:solidFill>
                <a:latin typeface="Arial"/>
                <a:ea typeface="Arial"/>
                <a:cs typeface="Arial"/>
              </a:rPr>
              <a:t>42%</a:t>
            </a:r>
          </a:p>
        </p:txBody>
      </p:sp>
      <p:sp>
        <p:nvSpPr>
          <p:cNvPr id="9" name="s5-top-label">
            <a:extLst xmlns:a="http://schemas.openxmlformats.org/drawingml/2006/main">
              <a:ext uri="{FF2B5EF4-FFF2-40B4-BE49-F238E27FC236}">
                <a16:creationId xmlns:a16="http://schemas.microsoft.com/office/drawing/2014/main" id="{329F9B9C-6966-4CE9-99C4-A0D911826BCD}"/>
              </a:ext>
            </a:extLst>
          </p:cNvPr>
          <p:cNvSpPr>
            <a:spLocks xmlns:a="http://schemas.openxmlformats.org/drawingml/2006/main" noGrp="1"/>
          </p:cNvSpPr>
          <p:nvPr/>
        </p:nvSpPr>
        <p:spPr>
          <a:xfrm xmlns:a="http://schemas.openxmlformats.org/drawingml/2006/main">
            <a:off x="8096250" y="266700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32E42"/>
                </a:solidFill>
                <a:latin typeface="Arial"/>
                <a:ea typeface="Arial"/>
                <a:cs typeface="Arial"/>
              </a:defRPr>
            </a:defPPr>
            <a:lvl1pPr algn="l">
              <a:defRPr sz="1800" b="0">
                <a:solidFill>
                  <a:srgbClr val="132E42"/>
                </a:solidFill>
                <a:latin typeface="Arial"/>
                <a:ea typeface="Arial"/>
                <a:cs typeface="Arial"/>
              </a:defRPr>
            </a:lvl1pPr>
            <a:lvl2pPr algn="l">
              <a:defRPr sz="1800" b="0">
                <a:solidFill>
                  <a:srgbClr val="132E42"/>
                </a:solidFill>
                <a:latin typeface="Arial"/>
                <a:ea typeface="Arial"/>
                <a:cs typeface="Arial"/>
              </a:defRPr>
            </a:lvl2pPr>
            <a:lvl3pPr algn="l">
              <a:defRPr sz="1800" b="0">
                <a:solidFill>
                  <a:srgbClr val="132E42"/>
                </a:solidFill>
                <a:latin typeface="Arial"/>
                <a:ea typeface="Arial"/>
                <a:cs typeface="Arial"/>
              </a:defRPr>
            </a:lvl3pPr>
            <a:lvl4pPr algn="l">
              <a:defRPr sz="1800" b="0">
                <a:solidFill>
                  <a:srgbClr val="132E42"/>
                </a:solidFill>
                <a:latin typeface="Arial"/>
                <a:ea typeface="Arial"/>
                <a:cs typeface="Arial"/>
              </a:defRPr>
            </a:lvl4pPr>
            <a:lvl5pPr algn="l">
              <a:defRPr sz="1800" b="0">
                <a:solidFill>
                  <a:srgbClr val="132E42"/>
                </a:solidFill>
                <a:latin typeface="Arial"/>
                <a:ea typeface="Arial"/>
                <a:cs typeface="Arial"/>
              </a:defRPr>
            </a:lvl5pPr>
            <a:lvl6pPr algn="l">
              <a:defRPr sz="1800" b="0">
                <a:solidFill>
                  <a:srgbClr val="132E42"/>
                </a:solidFill>
                <a:latin typeface="Arial"/>
                <a:ea typeface="Arial"/>
                <a:cs typeface="Arial"/>
              </a:defRPr>
            </a:lvl6pPr>
            <a:lvl7pPr algn="l">
              <a:defRPr sz="1800" b="0">
                <a:solidFill>
                  <a:srgbClr val="132E42"/>
                </a:solidFill>
                <a:latin typeface="Arial"/>
                <a:ea typeface="Arial"/>
                <a:cs typeface="Arial"/>
              </a:defRPr>
            </a:lvl7pPr>
            <a:lvl8pPr algn="l">
              <a:defRPr sz="1800" b="0">
                <a:solidFill>
                  <a:srgbClr val="132E42"/>
                </a:solidFill>
                <a:latin typeface="Arial"/>
                <a:ea typeface="Arial"/>
                <a:cs typeface="Arial"/>
              </a:defRPr>
            </a:lvl8pPr>
            <a:lvl9pPr algn="l">
              <a:defRPr sz="1800" b="0">
                <a:solidFill>
                  <a:srgbClr val="132E42"/>
                </a:solidFill>
                <a:latin typeface="Arial"/>
                <a:ea typeface="Arial"/>
                <a:cs typeface="Arial"/>
              </a:defRPr>
            </a:lvl9pPr>
          </a:lstStyle>
          <a:p xmlns:a="http://schemas.openxmlformats.org/drawingml/2006/main">
            <a:pPr algn="l">
              <a:defRPr sz="1800" b="0">
                <a:solidFill>
                  <a:srgbClr val="132E42"/>
                </a:solidFill>
                <a:latin typeface="Arial"/>
                <a:ea typeface="Arial"/>
                <a:cs typeface="Arial"/>
              </a:defRPr>
            </a:pPr>
            <a:r>
              <a:rPr sz="1800" b="0">
                <a:solidFill>
                  <a:srgbClr val="132E42"/>
                </a:solidFill>
                <a:latin typeface="Arial"/>
                <a:ea typeface="Arial"/>
                <a:cs typeface="Arial"/>
              </a:rPr>
              <a:t>Top five customers</a:t>
            </a:r>
          </a:p>
        </p:txBody>
      </p:sp>
      <p:sp>
        <p:nvSpPr>
          <p:cNvPr id="10" name="s5-largest">
            <a:extLst xmlns:a="http://schemas.openxmlformats.org/drawingml/2006/main">
              <a:ext uri="{FF2B5EF4-FFF2-40B4-BE49-F238E27FC236}">
                <a16:creationId xmlns:a16="http://schemas.microsoft.com/office/drawing/2014/main" id="{F05B0051-227B-4B84-A4FB-4FF9C18C1643}"/>
              </a:ext>
            </a:extLst>
          </p:cNvPr>
          <p:cNvSpPr>
            <a:spLocks xmlns:a="http://schemas.openxmlformats.org/drawingml/2006/main" noGrp="1"/>
          </p:cNvSpPr>
          <p:nvPr/>
        </p:nvSpPr>
        <p:spPr>
          <a:xfrm xmlns:a="http://schemas.openxmlformats.org/drawingml/2006/main">
            <a:off x="8096250" y="342900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117F79"/>
                </a:solidFill>
                <a:latin typeface="Arial"/>
                <a:ea typeface="Arial"/>
                <a:cs typeface="Arial"/>
              </a:defRPr>
            </a:defPPr>
            <a:lvl1pPr algn="l">
              <a:defRPr sz="4050" b="1">
                <a:solidFill>
                  <a:srgbClr val="117F79"/>
                </a:solidFill>
                <a:latin typeface="Arial"/>
                <a:ea typeface="Arial"/>
                <a:cs typeface="Arial"/>
              </a:defRPr>
            </a:lvl1pPr>
            <a:lvl2pPr algn="l">
              <a:defRPr sz="4050" b="1">
                <a:solidFill>
                  <a:srgbClr val="117F79"/>
                </a:solidFill>
                <a:latin typeface="Arial"/>
                <a:ea typeface="Arial"/>
                <a:cs typeface="Arial"/>
              </a:defRPr>
            </a:lvl2pPr>
            <a:lvl3pPr algn="l">
              <a:defRPr sz="4050" b="1">
                <a:solidFill>
                  <a:srgbClr val="117F79"/>
                </a:solidFill>
                <a:latin typeface="Arial"/>
                <a:ea typeface="Arial"/>
                <a:cs typeface="Arial"/>
              </a:defRPr>
            </a:lvl3pPr>
            <a:lvl4pPr algn="l">
              <a:defRPr sz="4050" b="1">
                <a:solidFill>
                  <a:srgbClr val="117F79"/>
                </a:solidFill>
                <a:latin typeface="Arial"/>
                <a:ea typeface="Arial"/>
                <a:cs typeface="Arial"/>
              </a:defRPr>
            </a:lvl4pPr>
            <a:lvl5pPr algn="l">
              <a:defRPr sz="4050" b="1">
                <a:solidFill>
                  <a:srgbClr val="117F79"/>
                </a:solidFill>
                <a:latin typeface="Arial"/>
                <a:ea typeface="Arial"/>
                <a:cs typeface="Arial"/>
              </a:defRPr>
            </a:lvl5pPr>
            <a:lvl6pPr algn="l">
              <a:defRPr sz="4050" b="1">
                <a:solidFill>
                  <a:srgbClr val="117F79"/>
                </a:solidFill>
                <a:latin typeface="Arial"/>
                <a:ea typeface="Arial"/>
                <a:cs typeface="Arial"/>
              </a:defRPr>
            </a:lvl6pPr>
            <a:lvl7pPr algn="l">
              <a:defRPr sz="4050" b="1">
                <a:solidFill>
                  <a:srgbClr val="117F79"/>
                </a:solidFill>
                <a:latin typeface="Arial"/>
                <a:ea typeface="Arial"/>
                <a:cs typeface="Arial"/>
              </a:defRPr>
            </a:lvl7pPr>
            <a:lvl8pPr algn="l">
              <a:defRPr sz="4050" b="1">
                <a:solidFill>
                  <a:srgbClr val="117F79"/>
                </a:solidFill>
                <a:latin typeface="Arial"/>
                <a:ea typeface="Arial"/>
                <a:cs typeface="Arial"/>
              </a:defRPr>
            </a:lvl8pPr>
            <a:lvl9pPr algn="l">
              <a:defRPr sz="4050" b="1">
                <a:solidFill>
                  <a:srgbClr val="117F79"/>
                </a:solidFill>
                <a:latin typeface="Arial"/>
                <a:ea typeface="Arial"/>
                <a:cs typeface="Arial"/>
              </a:defRPr>
            </a:lvl9pPr>
          </a:lstStyle>
          <a:p xmlns:a="http://schemas.openxmlformats.org/drawingml/2006/main">
            <a:pPr algn="l">
              <a:defRPr sz="4050" b="1">
                <a:solidFill>
                  <a:srgbClr val="117F79"/>
                </a:solidFill>
                <a:latin typeface="Arial"/>
                <a:ea typeface="Arial"/>
                <a:cs typeface="Arial"/>
              </a:defRPr>
            </a:pPr>
            <a:r>
              <a:rPr sz="4050" b="1">
                <a:solidFill>
                  <a:srgbClr val="117F79"/>
                </a:solidFill>
                <a:latin typeface="Arial"/>
                <a:ea typeface="Arial"/>
                <a:cs typeface="Arial"/>
              </a:rPr>
              <a:t>12%</a:t>
            </a:r>
          </a:p>
        </p:txBody>
      </p:sp>
      <p:sp>
        <p:nvSpPr>
          <p:cNvPr id="11" name="s5-largest-label">
            <a:extLst xmlns:a="http://schemas.openxmlformats.org/drawingml/2006/main">
              <a:ext uri="{FF2B5EF4-FFF2-40B4-BE49-F238E27FC236}">
                <a16:creationId xmlns:a16="http://schemas.microsoft.com/office/drawing/2014/main" id="{23C7C6D1-3063-49CB-9180-7360FE5E09FF}"/>
              </a:ext>
            </a:extLst>
          </p:cNvPr>
          <p:cNvSpPr>
            <a:spLocks xmlns:a="http://schemas.openxmlformats.org/drawingml/2006/main" noGrp="1"/>
          </p:cNvSpPr>
          <p:nvPr/>
        </p:nvSpPr>
        <p:spPr>
          <a:xfrm xmlns:a="http://schemas.openxmlformats.org/drawingml/2006/main">
            <a:off x="8096250" y="41433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32E42"/>
                </a:solidFill>
                <a:latin typeface="Arial"/>
                <a:ea typeface="Arial"/>
                <a:cs typeface="Arial"/>
              </a:defRPr>
            </a:defPPr>
            <a:lvl1pPr algn="l">
              <a:defRPr sz="1800" b="0">
                <a:solidFill>
                  <a:srgbClr val="132E42"/>
                </a:solidFill>
                <a:latin typeface="Arial"/>
                <a:ea typeface="Arial"/>
                <a:cs typeface="Arial"/>
              </a:defRPr>
            </a:lvl1pPr>
            <a:lvl2pPr algn="l">
              <a:defRPr sz="1800" b="0">
                <a:solidFill>
                  <a:srgbClr val="132E42"/>
                </a:solidFill>
                <a:latin typeface="Arial"/>
                <a:ea typeface="Arial"/>
                <a:cs typeface="Arial"/>
              </a:defRPr>
            </a:lvl2pPr>
            <a:lvl3pPr algn="l">
              <a:defRPr sz="1800" b="0">
                <a:solidFill>
                  <a:srgbClr val="132E42"/>
                </a:solidFill>
                <a:latin typeface="Arial"/>
                <a:ea typeface="Arial"/>
                <a:cs typeface="Arial"/>
              </a:defRPr>
            </a:lvl3pPr>
            <a:lvl4pPr algn="l">
              <a:defRPr sz="1800" b="0">
                <a:solidFill>
                  <a:srgbClr val="132E42"/>
                </a:solidFill>
                <a:latin typeface="Arial"/>
                <a:ea typeface="Arial"/>
                <a:cs typeface="Arial"/>
              </a:defRPr>
            </a:lvl4pPr>
            <a:lvl5pPr algn="l">
              <a:defRPr sz="1800" b="0">
                <a:solidFill>
                  <a:srgbClr val="132E42"/>
                </a:solidFill>
                <a:latin typeface="Arial"/>
                <a:ea typeface="Arial"/>
                <a:cs typeface="Arial"/>
              </a:defRPr>
            </a:lvl5pPr>
            <a:lvl6pPr algn="l">
              <a:defRPr sz="1800" b="0">
                <a:solidFill>
                  <a:srgbClr val="132E42"/>
                </a:solidFill>
                <a:latin typeface="Arial"/>
                <a:ea typeface="Arial"/>
                <a:cs typeface="Arial"/>
              </a:defRPr>
            </a:lvl6pPr>
            <a:lvl7pPr algn="l">
              <a:defRPr sz="1800" b="0">
                <a:solidFill>
                  <a:srgbClr val="132E42"/>
                </a:solidFill>
                <a:latin typeface="Arial"/>
                <a:ea typeface="Arial"/>
                <a:cs typeface="Arial"/>
              </a:defRPr>
            </a:lvl7pPr>
            <a:lvl8pPr algn="l">
              <a:defRPr sz="1800" b="0">
                <a:solidFill>
                  <a:srgbClr val="132E42"/>
                </a:solidFill>
                <a:latin typeface="Arial"/>
                <a:ea typeface="Arial"/>
                <a:cs typeface="Arial"/>
              </a:defRPr>
            </a:lvl8pPr>
            <a:lvl9pPr algn="l">
              <a:defRPr sz="1800" b="0">
                <a:solidFill>
                  <a:srgbClr val="132E42"/>
                </a:solidFill>
                <a:latin typeface="Arial"/>
                <a:ea typeface="Arial"/>
                <a:cs typeface="Arial"/>
              </a:defRPr>
            </a:lvl9pPr>
          </a:lstStyle>
          <a:p xmlns:a="http://schemas.openxmlformats.org/drawingml/2006/main">
            <a:pPr algn="l">
              <a:defRPr sz="1800" b="0">
                <a:solidFill>
                  <a:srgbClr val="132E42"/>
                </a:solidFill>
                <a:latin typeface="Arial"/>
                <a:ea typeface="Arial"/>
                <a:cs typeface="Arial"/>
              </a:defRPr>
            </a:pPr>
            <a:r>
              <a:rPr sz="1800" b="0">
                <a:solidFill>
                  <a:srgbClr val="132E42"/>
                </a:solidFill>
                <a:latin typeface="Arial"/>
                <a:ea typeface="Arial"/>
                <a:cs typeface="Arial"/>
              </a:rPr>
              <a:t>Largest customer</a:t>
            </a:r>
          </a:p>
        </p:txBody>
      </p:sp>
      <p:sp>
        <p:nvSpPr>
          <p:cNvPr id="12" name="s5-caveat">
            <a:extLst xmlns:a="http://schemas.openxmlformats.org/drawingml/2006/main">
              <a:ext uri="{FF2B5EF4-FFF2-40B4-BE49-F238E27FC236}">
                <a16:creationId xmlns:a16="http://schemas.microsoft.com/office/drawing/2014/main" id="{B45256AB-F6F5-406F-9457-128A966C57D1}"/>
              </a:ext>
            </a:extLst>
          </p:cNvPr>
          <p:cNvSpPr>
            <a:spLocks xmlns:a="http://schemas.openxmlformats.org/drawingml/2006/main" noGrp="1"/>
          </p:cNvSpPr>
          <p:nvPr/>
        </p:nvSpPr>
        <p:spPr>
          <a:xfrm xmlns:a="http://schemas.openxmlformats.org/drawingml/2006/main">
            <a:off x="571500" y="5791200"/>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99621B"/>
                </a:solidFill>
                <a:latin typeface="Arial"/>
                <a:ea typeface="Arial"/>
                <a:cs typeface="Arial"/>
              </a:defRPr>
            </a:defPPr>
            <a:lvl1pPr algn="l">
              <a:defRPr sz="1350" b="0">
                <a:solidFill>
                  <a:srgbClr val="99621B"/>
                </a:solidFill>
                <a:latin typeface="Arial"/>
                <a:ea typeface="Arial"/>
                <a:cs typeface="Arial"/>
              </a:defRPr>
            </a:lvl1pPr>
            <a:lvl2pPr algn="l">
              <a:defRPr sz="1350" b="0">
                <a:solidFill>
                  <a:srgbClr val="99621B"/>
                </a:solidFill>
                <a:latin typeface="Arial"/>
                <a:ea typeface="Arial"/>
                <a:cs typeface="Arial"/>
              </a:defRPr>
            </a:lvl2pPr>
            <a:lvl3pPr algn="l">
              <a:defRPr sz="1350" b="0">
                <a:solidFill>
                  <a:srgbClr val="99621B"/>
                </a:solidFill>
                <a:latin typeface="Arial"/>
                <a:ea typeface="Arial"/>
                <a:cs typeface="Arial"/>
              </a:defRPr>
            </a:lvl3pPr>
            <a:lvl4pPr algn="l">
              <a:defRPr sz="1350" b="0">
                <a:solidFill>
                  <a:srgbClr val="99621B"/>
                </a:solidFill>
                <a:latin typeface="Arial"/>
                <a:ea typeface="Arial"/>
                <a:cs typeface="Arial"/>
              </a:defRPr>
            </a:lvl4pPr>
            <a:lvl5pPr algn="l">
              <a:defRPr sz="1350" b="0">
                <a:solidFill>
                  <a:srgbClr val="99621B"/>
                </a:solidFill>
                <a:latin typeface="Arial"/>
                <a:ea typeface="Arial"/>
                <a:cs typeface="Arial"/>
              </a:defRPr>
            </a:lvl5pPr>
            <a:lvl6pPr algn="l">
              <a:defRPr sz="1350" b="0">
                <a:solidFill>
                  <a:srgbClr val="99621B"/>
                </a:solidFill>
                <a:latin typeface="Arial"/>
                <a:ea typeface="Arial"/>
                <a:cs typeface="Arial"/>
              </a:defRPr>
            </a:lvl6pPr>
            <a:lvl7pPr algn="l">
              <a:defRPr sz="1350" b="0">
                <a:solidFill>
                  <a:srgbClr val="99621B"/>
                </a:solidFill>
                <a:latin typeface="Arial"/>
                <a:ea typeface="Arial"/>
                <a:cs typeface="Arial"/>
              </a:defRPr>
            </a:lvl7pPr>
            <a:lvl8pPr algn="l">
              <a:defRPr sz="1350" b="0">
                <a:solidFill>
                  <a:srgbClr val="99621B"/>
                </a:solidFill>
                <a:latin typeface="Arial"/>
                <a:ea typeface="Arial"/>
                <a:cs typeface="Arial"/>
              </a:defRPr>
            </a:lvl8pPr>
            <a:lvl9pPr algn="l">
              <a:defRPr sz="1350" b="0">
                <a:solidFill>
                  <a:srgbClr val="99621B"/>
                </a:solidFill>
                <a:latin typeface="Arial"/>
                <a:ea typeface="Arial"/>
                <a:cs typeface="Arial"/>
              </a:defRPr>
            </a:lvl9pPr>
          </a:lstStyle>
          <a:p xmlns:a="http://schemas.openxmlformats.org/drawingml/2006/main">
            <a:pPr algn="l">
              <a:defRPr sz="1350" b="0">
                <a:solidFill>
                  <a:srgbClr val="99621B"/>
                </a:solidFill>
                <a:latin typeface="Arial"/>
                <a:ea typeface="Arial"/>
                <a:cs typeface="Arial"/>
              </a:defRPr>
            </a:pPr>
            <a:r>
              <a:rPr sz="1350" b="0">
                <a:solidFill>
                  <a:srgbClr val="99621B"/>
                </a:solidFill>
                <a:latin typeface="Arial"/>
                <a:ea typeface="Arial"/>
                <a:cs typeface="Arial"/>
              </a:rPr>
              <a:t>The remaining 58% comprises multiple customers. The management retention estimate lacks</a:t>
            </a:r>
          </a:p>
          <a:p xmlns:a="http://schemas.openxmlformats.org/drawingml/2006/main">
            <a:pPr algn="l">
              <a:defRPr sz="1350" b="0">
                <a:solidFill>
                  <a:srgbClr val="99621B"/>
                </a:solidFill>
                <a:latin typeface="Arial"/>
                <a:ea typeface="Arial"/>
                <a:cs typeface="Arial"/>
              </a:defRPr>
            </a:pPr>
            <a:r>
              <a:rPr sz="1350" b="0">
                <a:solidFill>
                  <a:srgbClr val="99621B"/>
                </a:solidFill>
                <a:latin typeface="Arial"/>
                <a:ea typeface="Arial"/>
                <a:cs typeface="Arial"/>
              </a:rPr>
              <a:t>a defined basis and cohort data, so no verified retention metric is presented.</a:t>
            </a:r>
          </a:p>
        </p:txBody>
      </p:sp>
    </p:spTree>
    <p:extLst>
      <p:ext uri="{BB962C8B-B14F-4D97-AF65-F5344CB8AC3E}">
        <p14:creationId xmlns:p14="http://schemas.microsoft.com/office/powerpoint/2010/main" val="160402780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s6-section">
            <a:extLst xmlns:a="http://schemas.openxmlformats.org/drawingml/2006/main">
              <a:ext uri="{FF2B5EF4-FFF2-40B4-BE49-F238E27FC236}">
                <a16:creationId xmlns:a16="http://schemas.microsoft.com/office/drawing/2014/main" id="{231EF946-8E58-4236-9581-D0712D7BB68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OPERATING MODEL</a:t>
            </a:r>
          </a:p>
        </p:txBody>
      </p:sp>
      <p:sp>
        <p:nvSpPr>
          <p:cNvPr id="2" name="s6-title">
            <a:extLst xmlns:a="http://schemas.openxmlformats.org/drawingml/2006/main">
              <a:ext uri="{FF2B5EF4-FFF2-40B4-BE49-F238E27FC236}">
                <a16:creationId xmlns:a16="http://schemas.microsoft.com/office/drawing/2014/main" id="{F6B7DFC2-DC40-49E3-8C4A-1D183C48DF13}"/>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Operations and management</a:t>
            </a:r>
          </a:p>
        </p:txBody>
      </p:sp>
      <p:sp>
        <p:nvSpPr>
          <p:cNvPr id="3" name="s6-header-rule">
            <a:extLst xmlns:a="http://schemas.openxmlformats.org/drawingml/2006/main">
              <a:ext uri="{FF2B5EF4-FFF2-40B4-BE49-F238E27FC236}">
                <a16:creationId xmlns:a16="http://schemas.microsoft.com/office/drawing/2014/main" id="{F93D5A43-A537-4E65-80B5-3E245EB0D020}"/>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6-footer">
            <a:extLst xmlns:a="http://schemas.openxmlformats.org/drawingml/2006/main">
              <a:ext uri="{FF2B5EF4-FFF2-40B4-BE49-F238E27FC236}">
                <a16:creationId xmlns:a16="http://schemas.microsoft.com/office/drawing/2014/main" id="{54F7AC9E-6F57-4080-A172-FCEF76613A25}"/>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6-page">
            <a:extLst xmlns:a="http://schemas.openxmlformats.org/drawingml/2006/main">
              <a:ext uri="{FF2B5EF4-FFF2-40B4-BE49-F238E27FC236}">
                <a16:creationId xmlns:a16="http://schemas.microsoft.com/office/drawing/2014/main" id="{1AA69D23-21AA-487F-9B00-5477BBCB9D8D}"/>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06</a:t>
            </a:r>
          </a:p>
        </p:txBody>
      </p:sp>
      <p:sp>
        <p:nvSpPr>
          <p:cNvPr id="6" name="s6-count">
            <a:extLst xmlns:a="http://schemas.openxmlformats.org/drawingml/2006/main">
              <a:ext uri="{FF2B5EF4-FFF2-40B4-BE49-F238E27FC236}">
                <a16:creationId xmlns:a16="http://schemas.microsoft.com/office/drawing/2014/main" id="{54CF58FD-4207-4F5D-B219-03EB828E046F}"/>
              </a:ext>
            </a:extLst>
          </p:cNvPr>
          <p:cNvSpPr>
            <a:spLocks xmlns:a="http://schemas.openxmlformats.org/drawingml/2006/main" noGrp="1"/>
          </p:cNvSpPr>
          <p:nvPr/>
        </p:nvSpPr>
        <p:spPr>
          <a:xfrm xmlns:a="http://schemas.openxmlformats.org/drawingml/2006/main">
            <a:off x="571500" y="1762125"/>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17F79"/>
                </a:solidFill>
                <a:latin typeface="Arial"/>
                <a:ea typeface="Arial"/>
                <a:cs typeface="Arial"/>
              </a:defRPr>
            </a:defPPr>
            <a:lvl1pPr algn="l">
              <a:defRPr sz="3300" b="1">
                <a:solidFill>
                  <a:srgbClr val="117F79"/>
                </a:solidFill>
                <a:latin typeface="Arial"/>
                <a:ea typeface="Arial"/>
                <a:cs typeface="Arial"/>
              </a:defRPr>
            </a:lvl1pPr>
            <a:lvl2pPr algn="l">
              <a:defRPr sz="3300" b="1">
                <a:solidFill>
                  <a:srgbClr val="117F79"/>
                </a:solidFill>
                <a:latin typeface="Arial"/>
                <a:ea typeface="Arial"/>
                <a:cs typeface="Arial"/>
              </a:defRPr>
            </a:lvl2pPr>
            <a:lvl3pPr algn="l">
              <a:defRPr sz="3300" b="1">
                <a:solidFill>
                  <a:srgbClr val="117F79"/>
                </a:solidFill>
                <a:latin typeface="Arial"/>
                <a:ea typeface="Arial"/>
                <a:cs typeface="Arial"/>
              </a:defRPr>
            </a:lvl3pPr>
            <a:lvl4pPr algn="l">
              <a:defRPr sz="3300" b="1">
                <a:solidFill>
                  <a:srgbClr val="117F79"/>
                </a:solidFill>
                <a:latin typeface="Arial"/>
                <a:ea typeface="Arial"/>
                <a:cs typeface="Arial"/>
              </a:defRPr>
            </a:lvl4pPr>
            <a:lvl5pPr algn="l">
              <a:defRPr sz="3300" b="1">
                <a:solidFill>
                  <a:srgbClr val="117F79"/>
                </a:solidFill>
                <a:latin typeface="Arial"/>
                <a:ea typeface="Arial"/>
                <a:cs typeface="Arial"/>
              </a:defRPr>
            </a:lvl5pPr>
            <a:lvl6pPr algn="l">
              <a:defRPr sz="3300" b="1">
                <a:solidFill>
                  <a:srgbClr val="117F79"/>
                </a:solidFill>
                <a:latin typeface="Arial"/>
                <a:ea typeface="Arial"/>
                <a:cs typeface="Arial"/>
              </a:defRPr>
            </a:lvl6pPr>
            <a:lvl7pPr algn="l">
              <a:defRPr sz="3300" b="1">
                <a:solidFill>
                  <a:srgbClr val="117F79"/>
                </a:solidFill>
                <a:latin typeface="Arial"/>
                <a:ea typeface="Arial"/>
                <a:cs typeface="Arial"/>
              </a:defRPr>
            </a:lvl7pPr>
            <a:lvl8pPr algn="l">
              <a:defRPr sz="3300" b="1">
                <a:solidFill>
                  <a:srgbClr val="117F79"/>
                </a:solidFill>
                <a:latin typeface="Arial"/>
                <a:ea typeface="Arial"/>
                <a:cs typeface="Arial"/>
              </a:defRPr>
            </a:lvl8pPr>
            <a:lvl9pPr algn="l">
              <a:defRPr sz="3300" b="1">
                <a:solidFill>
                  <a:srgbClr val="117F79"/>
                </a:solidFill>
                <a:latin typeface="Arial"/>
                <a:ea typeface="Arial"/>
                <a:cs typeface="Arial"/>
              </a:defRPr>
            </a:lvl9pPr>
          </a:lstStyle>
          <a:p xmlns:a="http://schemas.openxmlformats.org/drawingml/2006/main">
            <a:pPr algn="l">
              <a:defRPr sz="3300" b="1">
                <a:solidFill>
                  <a:srgbClr val="117F79"/>
                </a:solidFill>
                <a:latin typeface="Arial"/>
                <a:ea typeface="Arial"/>
                <a:cs typeface="Arial"/>
              </a:defRPr>
            </a:pPr>
            <a:r>
              <a:rPr sz="3300" b="1">
                <a:solidFill>
                  <a:srgbClr val="117F79"/>
                </a:solidFill>
                <a:latin typeface="Arial"/>
                <a:ea typeface="Arial"/>
                <a:cs typeface="Arial"/>
              </a:rPr>
              <a:t>120 employees</a:t>
            </a:r>
          </a:p>
        </p:txBody>
      </p:sp>
      <p:sp>
        <p:nvSpPr>
          <p:cNvPr id="7" name="s6-engineers">
            <a:extLst xmlns:a="http://schemas.openxmlformats.org/drawingml/2006/main">
              <a:ext uri="{FF2B5EF4-FFF2-40B4-BE49-F238E27FC236}">
                <a16:creationId xmlns:a16="http://schemas.microsoft.com/office/drawing/2014/main" id="{3F222DEA-2E81-4D4F-B216-815F8462D72E}"/>
              </a:ext>
            </a:extLst>
          </p:cNvPr>
          <p:cNvSpPr>
            <a:spLocks xmlns:a="http://schemas.openxmlformats.org/drawingml/2006/main" noGrp="1"/>
          </p:cNvSpPr>
          <p:nvPr/>
        </p:nvSpPr>
        <p:spPr>
          <a:xfrm xmlns:a="http://schemas.openxmlformats.org/drawingml/2006/main">
            <a:off x="571500" y="261937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32E42"/>
                </a:solidFill>
                <a:latin typeface="Arial"/>
                <a:ea typeface="Arial"/>
                <a:cs typeface="Arial"/>
              </a:defRPr>
            </a:defPPr>
            <a:lvl1pPr algn="l">
              <a:defRPr sz="1950" b="0">
                <a:solidFill>
                  <a:srgbClr val="132E42"/>
                </a:solidFill>
                <a:latin typeface="Arial"/>
                <a:ea typeface="Arial"/>
                <a:cs typeface="Arial"/>
              </a:defRPr>
            </a:lvl1pPr>
            <a:lvl2pPr algn="l">
              <a:defRPr sz="1950" b="0">
                <a:solidFill>
                  <a:srgbClr val="132E42"/>
                </a:solidFill>
                <a:latin typeface="Arial"/>
                <a:ea typeface="Arial"/>
                <a:cs typeface="Arial"/>
              </a:defRPr>
            </a:lvl2pPr>
            <a:lvl3pPr algn="l">
              <a:defRPr sz="1950" b="0">
                <a:solidFill>
                  <a:srgbClr val="132E42"/>
                </a:solidFill>
                <a:latin typeface="Arial"/>
                <a:ea typeface="Arial"/>
                <a:cs typeface="Arial"/>
              </a:defRPr>
            </a:lvl3pPr>
            <a:lvl4pPr algn="l">
              <a:defRPr sz="1950" b="0">
                <a:solidFill>
                  <a:srgbClr val="132E42"/>
                </a:solidFill>
                <a:latin typeface="Arial"/>
                <a:ea typeface="Arial"/>
                <a:cs typeface="Arial"/>
              </a:defRPr>
            </a:lvl4pPr>
            <a:lvl5pPr algn="l">
              <a:defRPr sz="1950" b="0">
                <a:solidFill>
                  <a:srgbClr val="132E42"/>
                </a:solidFill>
                <a:latin typeface="Arial"/>
                <a:ea typeface="Arial"/>
                <a:cs typeface="Arial"/>
              </a:defRPr>
            </a:lvl5pPr>
            <a:lvl6pPr algn="l">
              <a:defRPr sz="1950" b="0">
                <a:solidFill>
                  <a:srgbClr val="132E42"/>
                </a:solidFill>
                <a:latin typeface="Arial"/>
                <a:ea typeface="Arial"/>
                <a:cs typeface="Arial"/>
              </a:defRPr>
            </a:lvl6pPr>
            <a:lvl7pPr algn="l">
              <a:defRPr sz="1950" b="0">
                <a:solidFill>
                  <a:srgbClr val="132E42"/>
                </a:solidFill>
                <a:latin typeface="Arial"/>
                <a:ea typeface="Arial"/>
                <a:cs typeface="Arial"/>
              </a:defRPr>
            </a:lvl7pPr>
            <a:lvl8pPr algn="l">
              <a:defRPr sz="1950" b="0">
                <a:solidFill>
                  <a:srgbClr val="132E42"/>
                </a:solidFill>
                <a:latin typeface="Arial"/>
                <a:ea typeface="Arial"/>
                <a:cs typeface="Arial"/>
              </a:defRPr>
            </a:lvl8pPr>
            <a:lvl9pPr algn="l">
              <a:defRPr sz="1950" b="0">
                <a:solidFill>
                  <a:srgbClr val="132E42"/>
                </a:solidFill>
                <a:latin typeface="Arial"/>
                <a:ea typeface="Arial"/>
                <a:cs typeface="Arial"/>
              </a:defRPr>
            </a:lvl9pPr>
          </a:lstStyle>
          <a:p xmlns:a="http://schemas.openxmlformats.org/drawingml/2006/main">
            <a:pPr algn="l">
              <a:defRPr sz="1950" b="0">
                <a:solidFill>
                  <a:srgbClr val="132E42"/>
                </a:solidFill>
                <a:latin typeface="Arial"/>
                <a:ea typeface="Arial"/>
                <a:cs typeface="Arial"/>
              </a:defRPr>
            </a:pPr>
            <a:r>
              <a:rPr sz="1950" b="0">
                <a:solidFill>
                  <a:srgbClr val="132E42"/>
                </a:solidFill>
                <a:latin typeface="Arial"/>
                <a:ea typeface="Arial"/>
                <a:cs typeface="Arial"/>
              </a:rPr>
              <a:t>Including 85 field engineers</a:t>
            </a:r>
          </a:p>
        </p:txBody>
      </p:sp>
      <p:sp>
        <p:nvSpPr>
          <p:cNvPr id="8" name="s6-hubs-head">
            <a:extLst xmlns:a="http://schemas.openxmlformats.org/drawingml/2006/main">
              <a:ext uri="{FF2B5EF4-FFF2-40B4-BE49-F238E27FC236}">
                <a16:creationId xmlns:a16="http://schemas.microsoft.com/office/drawing/2014/main" id="{35C0A9D9-FE0E-4972-8D64-8F35E4D5F551}"/>
              </a:ext>
            </a:extLst>
          </p:cNvPr>
          <p:cNvSpPr>
            <a:spLocks xmlns:a="http://schemas.openxmlformats.org/drawingml/2006/main" noGrp="1"/>
          </p:cNvSpPr>
          <p:nvPr/>
        </p:nvSpPr>
        <p:spPr>
          <a:xfrm xmlns:a="http://schemas.openxmlformats.org/drawingml/2006/main">
            <a:off x="571500" y="34766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E42"/>
                </a:solidFill>
                <a:latin typeface="Arial"/>
                <a:ea typeface="Arial"/>
                <a:cs typeface="Arial"/>
              </a:defRPr>
            </a:defPPr>
            <a:lvl1pPr algn="l">
              <a:defRPr sz="2025" b="1">
                <a:solidFill>
                  <a:srgbClr val="132E42"/>
                </a:solidFill>
                <a:latin typeface="Arial"/>
                <a:ea typeface="Arial"/>
                <a:cs typeface="Arial"/>
              </a:defRPr>
            </a:lvl1pPr>
            <a:lvl2pPr algn="l">
              <a:defRPr sz="2025" b="1">
                <a:solidFill>
                  <a:srgbClr val="132E42"/>
                </a:solidFill>
                <a:latin typeface="Arial"/>
                <a:ea typeface="Arial"/>
                <a:cs typeface="Arial"/>
              </a:defRPr>
            </a:lvl2pPr>
            <a:lvl3pPr algn="l">
              <a:defRPr sz="2025" b="1">
                <a:solidFill>
                  <a:srgbClr val="132E42"/>
                </a:solidFill>
                <a:latin typeface="Arial"/>
                <a:ea typeface="Arial"/>
                <a:cs typeface="Arial"/>
              </a:defRPr>
            </a:lvl3pPr>
            <a:lvl4pPr algn="l">
              <a:defRPr sz="2025" b="1">
                <a:solidFill>
                  <a:srgbClr val="132E42"/>
                </a:solidFill>
                <a:latin typeface="Arial"/>
                <a:ea typeface="Arial"/>
                <a:cs typeface="Arial"/>
              </a:defRPr>
            </a:lvl4pPr>
            <a:lvl5pPr algn="l">
              <a:defRPr sz="2025" b="1">
                <a:solidFill>
                  <a:srgbClr val="132E42"/>
                </a:solidFill>
                <a:latin typeface="Arial"/>
                <a:ea typeface="Arial"/>
                <a:cs typeface="Arial"/>
              </a:defRPr>
            </a:lvl5pPr>
            <a:lvl6pPr algn="l">
              <a:defRPr sz="2025" b="1">
                <a:solidFill>
                  <a:srgbClr val="132E42"/>
                </a:solidFill>
                <a:latin typeface="Arial"/>
                <a:ea typeface="Arial"/>
                <a:cs typeface="Arial"/>
              </a:defRPr>
            </a:lvl6pPr>
            <a:lvl7pPr algn="l">
              <a:defRPr sz="2025" b="1">
                <a:solidFill>
                  <a:srgbClr val="132E42"/>
                </a:solidFill>
                <a:latin typeface="Arial"/>
                <a:ea typeface="Arial"/>
                <a:cs typeface="Arial"/>
              </a:defRPr>
            </a:lvl7pPr>
            <a:lvl8pPr algn="l">
              <a:defRPr sz="2025" b="1">
                <a:solidFill>
                  <a:srgbClr val="132E42"/>
                </a:solidFill>
                <a:latin typeface="Arial"/>
                <a:ea typeface="Arial"/>
                <a:cs typeface="Arial"/>
              </a:defRPr>
            </a:lvl8pPr>
            <a:lvl9pPr algn="l">
              <a:defRPr sz="2025" b="1">
                <a:solidFill>
                  <a:srgbClr val="132E42"/>
                </a:solidFill>
                <a:latin typeface="Arial"/>
                <a:ea typeface="Arial"/>
                <a:cs typeface="Arial"/>
              </a:defRPr>
            </a:lvl9pPr>
          </a:lstStyle>
          <a:p xmlns:a="http://schemas.openxmlformats.org/drawingml/2006/main">
            <a:pPr algn="l">
              <a:defRPr sz="2025" b="1">
                <a:solidFill>
                  <a:srgbClr val="132E42"/>
                </a:solidFill>
                <a:latin typeface="Arial"/>
                <a:ea typeface="Arial"/>
                <a:cs typeface="Arial"/>
              </a:defRPr>
            </a:pPr>
            <a:r>
              <a:rPr sz="2025" b="1">
                <a:solidFill>
                  <a:srgbClr val="132E42"/>
                </a:solidFill>
                <a:latin typeface="Arial"/>
                <a:ea typeface="Arial"/>
                <a:cs typeface="Arial"/>
              </a:rPr>
              <a:t>Three operating hubs</a:t>
            </a:r>
          </a:p>
        </p:txBody>
      </p:sp>
      <p:sp>
        <p:nvSpPr>
          <p:cNvPr id="9" name="s6-hubs">
            <a:extLst xmlns:a="http://schemas.openxmlformats.org/drawingml/2006/main">
              <a:ext uri="{FF2B5EF4-FFF2-40B4-BE49-F238E27FC236}">
                <a16:creationId xmlns:a16="http://schemas.microsoft.com/office/drawing/2014/main" id="{BFA66AA3-24B4-494D-BEFC-74700C051463}"/>
              </a:ext>
            </a:extLst>
          </p:cNvPr>
          <p:cNvSpPr>
            <a:spLocks xmlns:a="http://schemas.openxmlformats.org/drawingml/2006/main" noGrp="1"/>
          </p:cNvSpPr>
          <p:nvPr/>
        </p:nvSpPr>
        <p:spPr>
          <a:xfrm xmlns:a="http://schemas.openxmlformats.org/drawingml/2006/main">
            <a:off x="571500" y="404812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32E42"/>
                </a:solidFill>
                <a:latin typeface="Arial"/>
                <a:ea typeface="Arial"/>
                <a:cs typeface="Arial"/>
              </a:defRPr>
            </a:defPPr>
            <a:lvl1pPr algn="l">
              <a:defRPr sz="1950" b="0">
                <a:solidFill>
                  <a:srgbClr val="132E42"/>
                </a:solidFill>
                <a:latin typeface="Arial"/>
                <a:ea typeface="Arial"/>
                <a:cs typeface="Arial"/>
              </a:defRPr>
            </a:lvl1pPr>
            <a:lvl2pPr algn="l">
              <a:defRPr sz="1950" b="0">
                <a:solidFill>
                  <a:srgbClr val="132E42"/>
                </a:solidFill>
                <a:latin typeface="Arial"/>
                <a:ea typeface="Arial"/>
                <a:cs typeface="Arial"/>
              </a:defRPr>
            </a:lvl2pPr>
            <a:lvl3pPr algn="l">
              <a:defRPr sz="1950" b="0">
                <a:solidFill>
                  <a:srgbClr val="132E42"/>
                </a:solidFill>
                <a:latin typeface="Arial"/>
                <a:ea typeface="Arial"/>
                <a:cs typeface="Arial"/>
              </a:defRPr>
            </a:lvl3pPr>
            <a:lvl4pPr algn="l">
              <a:defRPr sz="1950" b="0">
                <a:solidFill>
                  <a:srgbClr val="132E42"/>
                </a:solidFill>
                <a:latin typeface="Arial"/>
                <a:ea typeface="Arial"/>
                <a:cs typeface="Arial"/>
              </a:defRPr>
            </a:lvl4pPr>
            <a:lvl5pPr algn="l">
              <a:defRPr sz="1950" b="0">
                <a:solidFill>
                  <a:srgbClr val="132E42"/>
                </a:solidFill>
                <a:latin typeface="Arial"/>
                <a:ea typeface="Arial"/>
                <a:cs typeface="Arial"/>
              </a:defRPr>
            </a:lvl5pPr>
            <a:lvl6pPr algn="l">
              <a:defRPr sz="1950" b="0">
                <a:solidFill>
                  <a:srgbClr val="132E42"/>
                </a:solidFill>
                <a:latin typeface="Arial"/>
                <a:ea typeface="Arial"/>
                <a:cs typeface="Arial"/>
              </a:defRPr>
            </a:lvl6pPr>
            <a:lvl7pPr algn="l">
              <a:defRPr sz="1950" b="0">
                <a:solidFill>
                  <a:srgbClr val="132E42"/>
                </a:solidFill>
                <a:latin typeface="Arial"/>
                <a:ea typeface="Arial"/>
                <a:cs typeface="Arial"/>
              </a:defRPr>
            </a:lvl7pPr>
            <a:lvl8pPr algn="l">
              <a:defRPr sz="1950" b="0">
                <a:solidFill>
                  <a:srgbClr val="132E42"/>
                </a:solidFill>
                <a:latin typeface="Arial"/>
                <a:ea typeface="Arial"/>
                <a:cs typeface="Arial"/>
              </a:defRPr>
            </a:lvl8pPr>
            <a:lvl9pPr algn="l">
              <a:defRPr sz="1950" b="0">
                <a:solidFill>
                  <a:srgbClr val="132E42"/>
                </a:solidFill>
                <a:latin typeface="Arial"/>
                <a:ea typeface="Arial"/>
                <a:cs typeface="Arial"/>
              </a:defRPr>
            </a:lvl9pPr>
          </a:lstStyle>
          <a:p xmlns:a="http://schemas.openxmlformats.org/drawingml/2006/main">
            <a:pPr algn="l">
              <a:defRPr sz="1950" b="0">
                <a:solidFill>
                  <a:srgbClr val="132E42"/>
                </a:solidFill>
                <a:latin typeface="Arial"/>
                <a:ea typeface="Arial"/>
                <a:cs typeface="Arial"/>
              </a:defRPr>
            </a:pPr>
            <a:r>
              <a:rPr sz="1950" b="0">
                <a:solidFill>
                  <a:srgbClr val="132E42"/>
                </a:solidFill>
                <a:latin typeface="Arial"/>
                <a:ea typeface="Arial"/>
                <a:cs typeface="Arial"/>
              </a:rPr>
              <a:t>Birmingham</a:t>
            </a:r>
          </a:p>
          <a:p xmlns:a="http://schemas.openxmlformats.org/drawingml/2006/main">
            <a:pPr algn="l">
              <a:defRPr sz="1950" b="0">
                <a:solidFill>
                  <a:srgbClr val="132E42"/>
                </a:solidFill>
                <a:latin typeface="Arial"/>
                <a:ea typeface="Arial"/>
                <a:cs typeface="Arial"/>
              </a:defRPr>
            </a:pPr>
            <a:r>
              <a:rPr sz="1950" b="0">
                <a:solidFill>
                  <a:srgbClr val="132E42"/>
                </a:solidFill>
                <a:latin typeface="Arial"/>
                <a:ea typeface="Arial"/>
                <a:cs typeface="Arial"/>
              </a:rPr>
              <a:t>Manchester</a:t>
            </a:r>
          </a:p>
          <a:p xmlns:a="http://schemas.openxmlformats.org/drawingml/2006/main">
            <a:pPr algn="l">
              <a:defRPr sz="1950" b="0">
                <a:solidFill>
                  <a:srgbClr val="132E42"/>
                </a:solidFill>
                <a:latin typeface="Arial"/>
                <a:ea typeface="Arial"/>
                <a:cs typeface="Arial"/>
              </a:defRPr>
            </a:pPr>
            <a:r>
              <a:rPr sz="1950" b="0">
                <a:solidFill>
                  <a:srgbClr val="132E42"/>
                </a:solidFill>
                <a:latin typeface="Arial"/>
                <a:ea typeface="Arial"/>
                <a:cs typeface="Arial"/>
              </a:rPr>
              <a:t>Bristol</a:t>
            </a:r>
          </a:p>
        </p:txBody>
      </p:sp>
      <p:graphicFrame>
        <p:nvGraphicFramePr>
          <p:cNvPr id="10" name="">
            <a:extLst xmlns:a="http://schemas.openxmlformats.org/drawingml/2006/main">
              <a:ext uri="{FF2B5EF4-FFF2-40B4-BE49-F238E27FC236}">
                <a16:creationId xmlns:a16="http://schemas.microsoft.com/office/drawing/2014/main" id="{231952F9-0679-4736-A21F-97780DC667A3}"/>
              </a:ext>
            </a:extLst>
          </p:cNvPr>
          <p:cNvGraphicFramePr/>
          <p:nvPr/>
        </p:nvGraphicFramePr>
        <p:xfrm>
          <a:off xmlns:a="http://schemas.openxmlformats.org/drawingml/2006/main" x="6191250" y="1809750"/>
          <a:ext xmlns:a="http://schemas.openxmlformats.org/drawingml/2006/main" cx="5429250" cy="2333625"/>
        </p:xfrm>
        <a:graphic xmlns:a="http://schemas.openxmlformats.org/drawingml/2006/main">
          <a:graphicData uri="http://schemas.openxmlformats.org/drawingml/2006/table">
            <a:tbl>
              <a:tblPr/>
              <a:tblGrid>
                <a:gridCol w="2488406"/>
                <a:gridCol w="2940844"/>
              </a:tblGrid>
              <a:tr h="579140">
                <a:tc>
                  <a:txBody>
                    <a:bodyPr lIns="114300" tIns="76200" rIns="114300" bIns="76200">
                      <a:noAutofit/>
                    </a:bodyPr>
                    <a:lstStyle/>
                    <a:p>
                      <a:r>
                        <a:rPr sz="1650" b="1">
                          <a:solidFill>
                            <a:srgbClr val="FFFFFF"/>
                          </a:solidFill>
                          <a:latin typeface="Arial"/>
                          <a:ea typeface="Arial"/>
                          <a:cs typeface="Arial"/>
                        </a:rPr>
                        <a:t>Management</a:t>
                      </a:r>
                    </a:p>
                  </a:txBody>
                  <a:tcPr marL="91440" marR="91440" marT="45720" marB="45720" anchor="ctr">
                    <a:lnL w="9525">
                      <a:solidFill>
                        <a:srgbClr val="DCE4E8"/>
                      </a:solidFill>
                      <a:prstDash val="solid"/>
                    </a:lnL>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Role</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r>
              <a:tr h="583704">
                <a:tc>
                  <a:txBody>
                    <a:bodyPr lIns="114300" tIns="76200" rIns="114300" bIns="76200">
                      <a:noAutofit/>
                    </a:bodyPr>
                    <a:lstStyle/>
                    <a:p>
                      <a:r>
                        <a:rPr sz="1650" b="0">
                          <a:solidFill>
                            <a:srgbClr val="132E42"/>
                          </a:solidFill>
                          <a:latin typeface="Arial"/>
                          <a:ea typeface="Arial"/>
                          <a:cs typeface="Arial"/>
                        </a:rPr>
                        <a:t>Maya Reed</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Founder and CEO</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583704">
                <a:tc>
                  <a:txBody>
                    <a:bodyPr lIns="114300" tIns="76200" rIns="114300" bIns="76200">
                      <a:noAutofit/>
                    </a:bodyPr>
                    <a:lstStyle/>
                    <a:p>
                      <a:r>
                        <a:rPr sz="1650" b="0">
                          <a:solidFill>
                            <a:srgbClr val="132E42"/>
                          </a:solidFill>
                          <a:latin typeface="Arial"/>
                          <a:ea typeface="Arial"/>
                          <a:cs typeface="Arial"/>
                        </a:rPr>
                        <a:t>Daniel Cole</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CFO</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583902">
                <a:tc>
                  <a:txBody>
                    <a:bodyPr lIns="114300" tIns="76200" rIns="114300" bIns="76200">
                      <a:noAutofit/>
                    </a:bodyPr>
                    <a:lstStyle/>
                    <a:p>
                      <a:r>
                        <a:rPr sz="1650" b="0">
                          <a:solidFill>
                            <a:srgbClr val="132E42"/>
                          </a:solidFill>
                          <a:latin typeface="Arial"/>
                          <a:ea typeface="Arial"/>
                          <a:cs typeface="Arial"/>
                        </a:rPr>
                        <a:t>Aisha Patel</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COO</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bl>
          </a:graphicData>
        </a:graphic>
      </p:graphicFrame>
      <p:sp>
        <p:nvSpPr>
          <p:cNvPr id="11" name="s6-dependency">
            <a:extLst xmlns:a="http://schemas.openxmlformats.org/drawingml/2006/main">
              <a:ext uri="{FF2B5EF4-FFF2-40B4-BE49-F238E27FC236}">
                <a16:creationId xmlns:a16="http://schemas.microsoft.com/office/drawing/2014/main" id="{D2152E6C-5BBD-40AE-A9C6-7B8ADD9CED9B}"/>
              </a:ext>
            </a:extLst>
          </p:cNvPr>
          <p:cNvSpPr>
            <a:spLocks xmlns:a="http://schemas.openxmlformats.org/drawingml/2006/main" noGrp="1"/>
          </p:cNvSpPr>
          <p:nvPr/>
        </p:nvSpPr>
        <p:spPr>
          <a:xfrm xmlns:a="http://schemas.openxmlformats.org/drawingml/2006/main">
            <a:off x="6191250" y="4619625"/>
            <a:ext cx="5429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The founder leads major customer relationships. Management plans 20 net engineer hires by FY2027. Recruitment and relationship continuity require diligence.</a:t>
            </a:r>
          </a:p>
        </p:txBody>
      </p:sp>
      <p:sp>
        <p:nvSpPr>
          <p:cNvPr id="12" name="s6-date">
            <a:extLst xmlns:a="http://schemas.openxmlformats.org/drawingml/2006/main">
              <a:ext uri="{FF2B5EF4-FFF2-40B4-BE49-F238E27FC236}">
                <a16:creationId xmlns:a16="http://schemas.microsoft.com/office/drawing/2014/main" id="{C63C26B8-2244-469B-93E9-F545FDCB51CA}"/>
              </a:ext>
            </a:extLst>
          </p:cNvPr>
          <p:cNvSpPr>
            <a:spLocks xmlns:a="http://schemas.openxmlformats.org/drawingml/2006/main" noGrp="1"/>
          </p:cNvSpPr>
          <p:nvPr/>
        </p:nvSpPr>
        <p:spPr>
          <a:xfrm xmlns:a="http://schemas.openxmlformats.org/drawingml/2006/main">
            <a:off x="571500" y="6010275"/>
            <a:ext cx="1104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86D7C"/>
                </a:solidFill>
                <a:latin typeface="Arial"/>
                <a:ea typeface="Arial"/>
                <a:cs typeface="Arial"/>
              </a:defRPr>
            </a:defPPr>
            <a:lvl1pPr algn="l">
              <a:defRPr sz="1275" b="0">
                <a:solidFill>
                  <a:srgbClr val="586D7C"/>
                </a:solidFill>
                <a:latin typeface="Arial"/>
                <a:ea typeface="Arial"/>
                <a:cs typeface="Arial"/>
              </a:defRPr>
            </a:lvl1pPr>
            <a:lvl2pPr algn="l">
              <a:defRPr sz="1275" b="0">
                <a:solidFill>
                  <a:srgbClr val="586D7C"/>
                </a:solidFill>
                <a:latin typeface="Arial"/>
                <a:ea typeface="Arial"/>
                <a:cs typeface="Arial"/>
              </a:defRPr>
            </a:lvl2pPr>
            <a:lvl3pPr algn="l">
              <a:defRPr sz="1275" b="0">
                <a:solidFill>
                  <a:srgbClr val="586D7C"/>
                </a:solidFill>
                <a:latin typeface="Arial"/>
                <a:ea typeface="Arial"/>
                <a:cs typeface="Arial"/>
              </a:defRPr>
            </a:lvl3pPr>
            <a:lvl4pPr algn="l">
              <a:defRPr sz="1275" b="0">
                <a:solidFill>
                  <a:srgbClr val="586D7C"/>
                </a:solidFill>
                <a:latin typeface="Arial"/>
                <a:ea typeface="Arial"/>
                <a:cs typeface="Arial"/>
              </a:defRPr>
            </a:lvl4pPr>
            <a:lvl5pPr algn="l">
              <a:defRPr sz="1275" b="0">
                <a:solidFill>
                  <a:srgbClr val="586D7C"/>
                </a:solidFill>
                <a:latin typeface="Arial"/>
                <a:ea typeface="Arial"/>
                <a:cs typeface="Arial"/>
              </a:defRPr>
            </a:lvl5pPr>
            <a:lvl6pPr algn="l">
              <a:defRPr sz="1275" b="0">
                <a:solidFill>
                  <a:srgbClr val="586D7C"/>
                </a:solidFill>
                <a:latin typeface="Arial"/>
                <a:ea typeface="Arial"/>
                <a:cs typeface="Arial"/>
              </a:defRPr>
            </a:lvl6pPr>
            <a:lvl7pPr algn="l">
              <a:defRPr sz="1275" b="0">
                <a:solidFill>
                  <a:srgbClr val="586D7C"/>
                </a:solidFill>
                <a:latin typeface="Arial"/>
                <a:ea typeface="Arial"/>
                <a:cs typeface="Arial"/>
              </a:defRPr>
            </a:lvl7pPr>
            <a:lvl8pPr algn="l">
              <a:defRPr sz="1275" b="0">
                <a:solidFill>
                  <a:srgbClr val="586D7C"/>
                </a:solidFill>
                <a:latin typeface="Arial"/>
                <a:ea typeface="Arial"/>
                <a:cs typeface="Arial"/>
              </a:defRPr>
            </a:lvl8pPr>
            <a:lvl9pPr algn="l">
              <a:defRPr sz="1275" b="0">
                <a:solidFill>
                  <a:srgbClr val="586D7C"/>
                </a:solidFill>
                <a:latin typeface="Arial"/>
                <a:ea typeface="Arial"/>
                <a:cs typeface="Arial"/>
              </a:defRPr>
            </a:lvl9pPr>
          </a:lstStyle>
          <a:p xmlns:a="http://schemas.openxmlformats.org/drawingml/2006/main">
            <a:pPr algn="l">
              <a:defRPr sz="1275" b="0">
                <a:solidFill>
                  <a:srgbClr val="586D7C"/>
                </a:solidFill>
                <a:latin typeface="Arial"/>
                <a:ea typeface="Arial"/>
                <a:cs typeface="Arial"/>
              </a:defRPr>
            </a:pPr>
            <a:r>
              <a:rPr sz="1275" b="0">
                <a:solidFill>
                  <a:srgbClr val="586D7C"/>
                </a:solidFill>
                <a:latin typeface="Arial"/>
                <a:ea typeface="Arial"/>
                <a:cs typeface="Arial"/>
              </a:rPr>
              <a:t>Headcount as at 31 December 2025. Management information.</a:t>
            </a:r>
          </a:p>
        </p:txBody>
      </p:sp>
    </p:spTree>
    <p:extLst>
      <p:ext uri="{BB962C8B-B14F-4D97-AF65-F5344CB8AC3E}">
        <p14:creationId xmlns:p14="http://schemas.microsoft.com/office/powerpoint/2010/main" val="20925040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7-section">
            <a:extLst xmlns:a="http://schemas.openxmlformats.org/drawingml/2006/main">
              <a:ext uri="{FF2B5EF4-FFF2-40B4-BE49-F238E27FC236}">
                <a16:creationId xmlns:a16="http://schemas.microsoft.com/office/drawing/2014/main" id="{971DFFF8-50CA-4BB1-AF27-CB0CF30A76E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FINANCIALS</a:t>
            </a:r>
          </a:p>
        </p:txBody>
      </p:sp>
      <p:sp>
        <p:nvSpPr>
          <p:cNvPr id="2" name="s7-title">
            <a:extLst xmlns:a="http://schemas.openxmlformats.org/drawingml/2006/main">
              <a:ext uri="{FF2B5EF4-FFF2-40B4-BE49-F238E27FC236}">
                <a16:creationId xmlns:a16="http://schemas.microsoft.com/office/drawing/2014/main" id="{C8A3D1DC-3653-49F4-A350-845A458BA471}"/>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Historical financial performance</a:t>
            </a:r>
          </a:p>
        </p:txBody>
      </p:sp>
      <p:sp>
        <p:nvSpPr>
          <p:cNvPr id="3" name="s7-header-rule">
            <a:extLst xmlns:a="http://schemas.openxmlformats.org/drawingml/2006/main">
              <a:ext uri="{FF2B5EF4-FFF2-40B4-BE49-F238E27FC236}">
                <a16:creationId xmlns:a16="http://schemas.microsoft.com/office/drawing/2014/main" id="{EE61E4D2-EA1B-408E-AFED-9FEE1149A99C}"/>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7-footer">
            <a:extLst xmlns:a="http://schemas.openxmlformats.org/drawingml/2006/main">
              <a:ext uri="{FF2B5EF4-FFF2-40B4-BE49-F238E27FC236}">
                <a16:creationId xmlns:a16="http://schemas.microsoft.com/office/drawing/2014/main" id="{27E0C385-FE3C-4F67-8ABF-0BE408F6A139}"/>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7-page">
            <a:extLst xmlns:a="http://schemas.openxmlformats.org/drawingml/2006/main">
              <a:ext uri="{FF2B5EF4-FFF2-40B4-BE49-F238E27FC236}">
                <a16:creationId xmlns:a16="http://schemas.microsoft.com/office/drawing/2014/main" id="{6B280A25-DCEB-48CA-9B9A-3B0BA3ED6BAA}"/>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07</a:t>
            </a:r>
          </a:p>
        </p:txBody>
      </p:sp>
      <p:sp>
        <p:nvSpPr>
          <p:cNvPr id="6" name="s7-unit">
            <a:extLst xmlns:a="http://schemas.openxmlformats.org/drawingml/2006/main">
              <a:ext uri="{FF2B5EF4-FFF2-40B4-BE49-F238E27FC236}">
                <a16:creationId xmlns:a16="http://schemas.microsoft.com/office/drawing/2014/main" id="{579CDAFB-1A51-4C8B-B0BE-B2F2A36F3FF9}"/>
              </a:ext>
            </a:extLst>
          </p:cNvPr>
          <p:cNvSpPr>
            <a:spLocks xmlns:a="http://schemas.openxmlformats.org/drawingml/2006/main" noGrp="1"/>
          </p:cNvSpPr>
          <p:nvPr/>
        </p:nvSpPr>
        <p:spPr>
          <a:xfrm xmlns:a="http://schemas.openxmlformats.org/drawingml/2006/main">
            <a:off x="571500" y="171450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86D7C"/>
                </a:solidFill>
                <a:latin typeface="Arial"/>
                <a:ea typeface="Arial"/>
                <a:cs typeface="Arial"/>
              </a:defRPr>
            </a:defPPr>
            <a:lvl1pPr algn="l">
              <a:defRPr sz="1500" b="0">
                <a:solidFill>
                  <a:srgbClr val="586D7C"/>
                </a:solidFill>
                <a:latin typeface="Arial"/>
                <a:ea typeface="Arial"/>
                <a:cs typeface="Arial"/>
              </a:defRPr>
            </a:lvl1pPr>
            <a:lvl2pPr algn="l">
              <a:defRPr sz="1500" b="0">
                <a:solidFill>
                  <a:srgbClr val="586D7C"/>
                </a:solidFill>
                <a:latin typeface="Arial"/>
                <a:ea typeface="Arial"/>
                <a:cs typeface="Arial"/>
              </a:defRPr>
            </a:lvl2pPr>
            <a:lvl3pPr algn="l">
              <a:defRPr sz="1500" b="0">
                <a:solidFill>
                  <a:srgbClr val="586D7C"/>
                </a:solidFill>
                <a:latin typeface="Arial"/>
                <a:ea typeface="Arial"/>
                <a:cs typeface="Arial"/>
              </a:defRPr>
            </a:lvl3pPr>
            <a:lvl4pPr algn="l">
              <a:defRPr sz="1500" b="0">
                <a:solidFill>
                  <a:srgbClr val="586D7C"/>
                </a:solidFill>
                <a:latin typeface="Arial"/>
                <a:ea typeface="Arial"/>
                <a:cs typeface="Arial"/>
              </a:defRPr>
            </a:lvl4pPr>
            <a:lvl5pPr algn="l">
              <a:defRPr sz="1500" b="0">
                <a:solidFill>
                  <a:srgbClr val="586D7C"/>
                </a:solidFill>
                <a:latin typeface="Arial"/>
                <a:ea typeface="Arial"/>
                <a:cs typeface="Arial"/>
              </a:defRPr>
            </a:lvl5pPr>
            <a:lvl6pPr algn="l">
              <a:defRPr sz="1500" b="0">
                <a:solidFill>
                  <a:srgbClr val="586D7C"/>
                </a:solidFill>
                <a:latin typeface="Arial"/>
                <a:ea typeface="Arial"/>
                <a:cs typeface="Arial"/>
              </a:defRPr>
            </a:lvl6pPr>
            <a:lvl7pPr algn="l">
              <a:defRPr sz="1500" b="0">
                <a:solidFill>
                  <a:srgbClr val="586D7C"/>
                </a:solidFill>
                <a:latin typeface="Arial"/>
                <a:ea typeface="Arial"/>
                <a:cs typeface="Arial"/>
              </a:defRPr>
            </a:lvl7pPr>
            <a:lvl8pPr algn="l">
              <a:defRPr sz="1500" b="0">
                <a:solidFill>
                  <a:srgbClr val="586D7C"/>
                </a:solidFill>
                <a:latin typeface="Arial"/>
                <a:ea typeface="Arial"/>
                <a:cs typeface="Arial"/>
              </a:defRPr>
            </a:lvl8pPr>
            <a:lvl9pPr algn="l">
              <a:defRPr sz="1500" b="0">
                <a:solidFill>
                  <a:srgbClr val="586D7C"/>
                </a:solidFill>
                <a:latin typeface="Arial"/>
                <a:ea typeface="Arial"/>
                <a:cs typeface="Arial"/>
              </a:defRPr>
            </a:lvl9pPr>
          </a:lstStyle>
          <a:p xmlns:a="http://schemas.openxmlformats.org/drawingml/2006/main">
            <a:pPr algn="l">
              <a:defRPr sz="1500" b="0">
                <a:solidFill>
                  <a:srgbClr val="586D7C"/>
                </a:solidFill>
                <a:latin typeface="Arial"/>
                <a:ea typeface="Arial"/>
                <a:cs typeface="Arial"/>
              </a:defRPr>
            </a:pPr>
            <a:r>
              <a:rPr sz="1500" b="0">
                <a:solidFill>
                  <a:srgbClr val="586D7C"/>
                </a:solidFill>
                <a:latin typeface="Arial"/>
                <a:ea typeface="Arial"/>
                <a:cs typeface="Arial"/>
              </a:rPr>
              <a:t>GBP million unless stated. Year ending 31 December. Management actuals.</a:t>
            </a:r>
          </a:p>
        </p:txBody>
      </p:sp>
      <p:graphicFrame>
        <p:nvGraphicFramePr>
          <p:cNvPr id="7" name="">
            <a:extLst xmlns:a="http://schemas.openxmlformats.org/drawingml/2006/main">
              <a:ext uri="{FF2B5EF4-FFF2-40B4-BE49-F238E27FC236}">
                <a16:creationId xmlns:a16="http://schemas.microsoft.com/office/drawing/2014/main" id="{09E9AD8F-0F69-4141-8850-10D0A0E31E04}"/>
              </a:ext>
            </a:extLst>
          </p:cNvPr>
          <p:cNvGraphicFramePr/>
          <p:nvPr/>
        </p:nvGraphicFramePr>
        <p:xfrm>
          <a:off xmlns:a="http://schemas.openxmlformats.org/drawingml/2006/main" x="571500" y="2190750"/>
          <a:ext xmlns:a="http://schemas.openxmlformats.org/drawingml/2006/main" cx="8001000" cy="3219450"/>
        </p:xfrm>
        <a:graphic xmlns:a="http://schemas.openxmlformats.org/drawingml/2006/main">
          <a:graphicData uri="http://schemas.openxmlformats.org/drawingml/2006/table">
            <a:tbl>
              <a:tblPr/>
              <a:tblGrid>
                <a:gridCol w="3200400"/>
                <a:gridCol w="1600200"/>
                <a:gridCol w="1600200"/>
                <a:gridCol w="1600200"/>
              </a:tblGrid>
              <a:tr h="456307">
                <a:tc>
                  <a:txBody>
                    <a:bodyPr lIns="114300" tIns="76200" rIns="114300" bIns="76200">
                      <a:noAutofit/>
                    </a:bodyPr>
                    <a:lstStyle/>
                    <a:p>
                      <a:r>
                        <a:rPr sz="1650" b="1">
                          <a:solidFill>
                            <a:srgbClr val="FFFFFF"/>
                          </a:solidFill>
                          <a:latin typeface="Arial"/>
                          <a:ea typeface="Arial"/>
                          <a:cs typeface="Arial"/>
                        </a:rPr>
                        <a:t/>
                      </a:r>
                    </a:p>
                  </a:txBody>
                  <a:tcPr marL="91440" marR="91440" marT="45720" marB="45720" anchor="ctr">
                    <a:lnL w="9525">
                      <a:solidFill>
                        <a:srgbClr val="DCE4E8"/>
                      </a:solidFill>
                      <a:prstDash val="solid"/>
                    </a:lnL>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FY2023A</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FY2024A</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650" b="1">
                          <a:solidFill>
                            <a:srgbClr val="FFFFFF"/>
                          </a:solidFill>
                          <a:latin typeface="Arial"/>
                          <a:ea typeface="Arial"/>
                          <a:cs typeface="Arial"/>
                        </a:rPr>
                        <a:t>FY2025A</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r>
              <a:tr h="459978">
                <a:tc>
                  <a:txBody>
                    <a:bodyPr lIns="114300" tIns="76200" rIns="114300" bIns="76200">
                      <a:noAutofit/>
                    </a:bodyPr>
                    <a:lstStyle/>
                    <a:p>
                      <a:r>
                        <a:rPr sz="1650" b="0">
                          <a:solidFill>
                            <a:srgbClr val="132E42"/>
                          </a:solidFill>
                          <a:latin typeface="Arial"/>
                          <a:ea typeface="Arial"/>
                          <a:cs typeface="Arial"/>
                        </a:rPr>
                        <a:t>Revenue</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18.0</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21.5</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25.0</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459978">
                <a:tc>
                  <a:txBody>
                    <a:bodyPr lIns="114300" tIns="76200" rIns="114300" bIns="76200">
                      <a:noAutofit/>
                    </a:bodyPr>
                    <a:lstStyle/>
                    <a:p>
                      <a:r>
                        <a:rPr sz="1650" b="0">
                          <a:solidFill>
                            <a:srgbClr val="132E42"/>
                          </a:solidFill>
                          <a:latin typeface="Arial"/>
                          <a:ea typeface="Arial"/>
                          <a:cs typeface="Arial"/>
                        </a:rPr>
                        <a:t>Cost of services</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(10.8)</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(12.7)</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(14.5)</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459978">
                <a:tc>
                  <a:txBody>
                    <a:bodyPr lIns="114300" tIns="76200" rIns="114300" bIns="76200">
                      <a:noAutofit/>
                    </a:bodyPr>
                    <a:lstStyle/>
                    <a:p>
                      <a:r>
                        <a:rPr sz="1650" b="0">
                          <a:solidFill>
                            <a:srgbClr val="132E42"/>
                          </a:solidFill>
                          <a:latin typeface="Arial"/>
                          <a:ea typeface="Arial"/>
                          <a:cs typeface="Arial"/>
                        </a:rPr>
                        <a:t>Gross profit</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7.2</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8.8</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10.5</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459978">
                <a:tc>
                  <a:txBody>
                    <a:bodyPr lIns="114300" tIns="76200" rIns="114300" bIns="76200">
                      <a:noAutofit/>
                    </a:bodyPr>
                    <a:lstStyle/>
                    <a:p>
                      <a:r>
                        <a:rPr sz="1650" b="0">
                          <a:solidFill>
                            <a:srgbClr val="132E42"/>
                          </a:solidFill>
                          <a:latin typeface="Arial"/>
                          <a:ea typeface="Arial"/>
                          <a:cs typeface="Arial"/>
                        </a:rPr>
                        <a:t>Operating expenses</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(4.5)</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(4.9)</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(5.5)</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459978">
                <a:tc>
                  <a:txBody>
                    <a:bodyPr lIns="114300" tIns="76200" rIns="114300" bIns="76200">
                      <a:noAutofit/>
                    </a:bodyPr>
                    <a:lstStyle/>
                    <a:p>
                      <a:r>
                        <a:rPr sz="1650" b="0">
                          <a:solidFill>
                            <a:srgbClr val="132E42"/>
                          </a:solidFill>
                          <a:latin typeface="Arial"/>
                          <a:ea typeface="Arial"/>
                          <a:cs typeface="Arial"/>
                        </a:rPr>
                        <a:t>EBITDA</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2.7</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3.9</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650" b="0">
                          <a:solidFill>
                            <a:srgbClr val="132E42"/>
                          </a:solidFill>
                          <a:latin typeface="Arial"/>
                          <a:ea typeface="Arial"/>
                          <a:cs typeface="Arial"/>
                        </a:rPr>
                        <a:t>5.0</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460077">
                <a:tc>
                  <a:txBody>
                    <a:bodyPr lIns="114300" tIns="76200" rIns="114300" bIns="76200">
                      <a:noAutofit/>
                    </a:bodyPr>
                    <a:lstStyle/>
                    <a:p>
                      <a:r>
                        <a:rPr sz="1650" b="0">
                          <a:solidFill>
                            <a:srgbClr val="132E42"/>
                          </a:solidFill>
                          <a:latin typeface="Arial"/>
                          <a:ea typeface="Arial"/>
                          <a:cs typeface="Arial"/>
                        </a:rPr>
                        <a:t>EBITDA margin</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15.0%</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18.1%</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650" b="0">
                          <a:solidFill>
                            <a:srgbClr val="132E42"/>
                          </a:solidFill>
                          <a:latin typeface="Arial"/>
                          <a:ea typeface="Arial"/>
                          <a:cs typeface="Arial"/>
                        </a:rPr>
                        <a:t>20.0%</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bl>
          </a:graphicData>
        </a:graphic>
      </p:graphicFrame>
      <p:sp>
        <p:nvSpPr>
          <p:cNvPr id="8" name="s7-cagr">
            <a:extLst xmlns:a="http://schemas.openxmlformats.org/drawingml/2006/main">
              <a:ext uri="{FF2B5EF4-FFF2-40B4-BE49-F238E27FC236}">
                <a16:creationId xmlns:a16="http://schemas.microsoft.com/office/drawing/2014/main" id="{71FFE6C8-7CB4-4A22-B6E6-8461FFF47001}"/>
              </a:ext>
            </a:extLst>
          </p:cNvPr>
          <p:cNvSpPr>
            <a:spLocks xmlns:a="http://schemas.openxmlformats.org/drawingml/2006/main" noGrp="1"/>
          </p:cNvSpPr>
          <p:nvPr/>
        </p:nvSpPr>
        <p:spPr>
          <a:xfrm xmlns:a="http://schemas.openxmlformats.org/drawingml/2006/main">
            <a:off x="9144000" y="2362200"/>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825" b="1">
                <a:solidFill>
                  <a:srgbClr val="117F79"/>
                </a:solidFill>
                <a:latin typeface="Arial"/>
                <a:ea typeface="Arial"/>
                <a:cs typeface="Arial"/>
              </a:defRPr>
            </a:defPPr>
            <a:lvl1pPr algn="l">
              <a:defRPr sz="3825" b="1">
                <a:solidFill>
                  <a:srgbClr val="117F79"/>
                </a:solidFill>
                <a:latin typeface="Arial"/>
                <a:ea typeface="Arial"/>
                <a:cs typeface="Arial"/>
              </a:defRPr>
            </a:lvl1pPr>
            <a:lvl2pPr algn="l">
              <a:defRPr sz="3825" b="1">
                <a:solidFill>
                  <a:srgbClr val="117F79"/>
                </a:solidFill>
                <a:latin typeface="Arial"/>
                <a:ea typeface="Arial"/>
                <a:cs typeface="Arial"/>
              </a:defRPr>
            </a:lvl2pPr>
            <a:lvl3pPr algn="l">
              <a:defRPr sz="3825" b="1">
                <a:solidFill>
                  <a:srgbClr val="117F79"/>
                </a:solidFill>
                <a:latin typeface="Arial"/>
                <a:ea typeface="Arial"/>
                <a:cs typeface="Arial"/>
              </a:defRPr>
            </a:lvl3pPr>
            <a:lvl4pPr algn="l">
              <a:defRPr sz="3825" b="1">
                <a:solidFill>
                  <a:srgbClr val="117F79"/>
                </a:solidFill>
                <a:latin typeface="Arial"/>
                <a:ea typeface="Arial"/>
                <a:cs typeface="Arial"/>
              </a:defRPr>
            </a:lvl4pPr>
            <a:lvl5pPr algn="l">
              <a:defRPr sz="3825" b="1">
                <a:solidFill>
                  <a:srgbClr val="117F79"/>
                </a:solidFill>
                <a:latin typeface="Arial"/>
                <a:ea typeface="Arial"/>
                <a:cs typeface="Arial"/>
              </a:defRPr>
            </a:lvl5pPr>
            <a:lvl6pPr algn="l">
              <a:defRPr sz="3825" b="1">
                <a:solidFill>
                  <a:srgbClr val="117F79"/>
                </a:solidFill>
                <a:latin typeface="Arial"/>
                <a:ea typeface="Arial"/>
                <a:cs typeface="Arial"/>
              </a:defRPr>
            </a:lvl6pPr>
            <a:lvl7pPr algn="l">
              <a:defRPr sz="3825" b="1">
                <a:solidFill>
                  <a:srgbClr val="117F79"/>
                </a:solidFill>
                <a:latin typeface="Arial"/>
                <a:ea typeface="Arial"/>
                <a:cs typeface="Arial"/>
              </a:defRPr>
            </a:lvl7pPr>
            <a:lvl8pPr algn="l">
              <a:defRPr sz="3825" b="1">
                <a:solidFill>
                  <a:srgbClr val="117F79"/>
                </a:solidFill>
                <a:latin typeface="Arial"/>
                <a:ea typeface="Arial"/>
                <a:cs typeface="Arial"/>
              </a:defRPr>
            </a:lvl8pPr>
            <a:lvl9pPr algn="l">
              <a:defRPr sz="3825" b="1">
                <a:solidFill>
                  <a:srgbClr val="117F79"/>
                </a:solidFill>
                <a:latin typeface="Arial"/>
                <a:ea typeface="Arial"/>
                <a:cs typeface="Arial"/>
              </a:defRPr>
            </a:lvl9pPr>
          </a:lstStyle>
          <a:p xmlns:a="http://schemas.openxmlformats.org/drawingml/2006/main">
            <a:pPr algn="l">
              <a:defRPr sz="3825" b="1">
                <a:solidFill>
                  <a:srgbClr val="117F79"/>
                </a:solidFill>
                <a:latin typeface="Arial"/>
                <a:ea typeface="Arial"/>
                <a:cs typeface="Arial"/>
              </a:defRPr>
            </a:pPr>
            <a:r>
              <a:rPr sz="3825" b="1">
                <a:solidFill>
                  <a:srgbClr val="117F79"/>
                </a:solidFill>
                <a:latin typeface="Arial"/>
                <a:ea typeface="Arial"/>
                <a:cs typeface="Arial"/>
              </a:rPr>
              <a:t>17.9%</a:t>
            </a:r>
          </a:p>
        </p:txBody>
      </p:sp>
      <p:sp>
        <p:nvSpPr>
          <p:cNvPr id="9" name="s7-cagr-label">
            <a:extLst xmlns:a="http://schemas.openxmlformats.org/drawingml/2006/main">
              <a:ext uri="{FF2B5EF4-FFF2-40B4-BE49-F238E27FC236}">
                <a16:creationId xmlns:a16="http://schemas.microsoft.com/office/drawing/2014/main" id="{5F6B13C7-9C3E-43DC-9D1A-7CFCD79F88C9}"/>
              </a:ext>
            </a:extLst>
          </p:cNvPr>
          <p:cNvSpPr>
            <a:spLocks xmlns:a="http://schemas.openxmlformats.org/drawingml/2006/main" noGrp="1"/>
          </p:cNvSpPr>
          <p:nvPr/>
        </p:nvSpPr>
        <p:spPr>
          <a:xfrm xmlns:a="http://schemas.openxmlformats.org/drawingml/2006/main">
            <a:off x="9144000" y="3143250"/>
            <a:ext cx="2381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FY2023–FY2025</a:t>
            </a:r>
          </a:p>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revenue CAGR</a:t>
            </a:r>
          </a:p>
        </p:txBody>
      </p:sp>
      <p:sp>
        <p:nvSpPr>
          <p:cNvPr id="10" name="s7-margin">
            <a:extLst xmlns:a="http://schemas.openxmlformats.org/drawingml/2006/main">
              <a:ext uri="{FF2B5EF4-FFF2-40B4-BE49-F238E27FC236}">
                <a16:creationId xmlns:a16="http://schemas.microsoft.com/office/drawing/2014/main" id="{A6F3DBD9-82BA-4B0B-80FA-836C85FB25BC}"/>
              </a:ext>
            </a:extLst>
          </p:cNvPr>
          <p:cNvSpPr>
            <a:spLocks xmlns:a="http://schemas.openxmlformats.org/drawingml/2006/main" noGrp="1"/>
          </p:cNvSpPr>
          <p:nvPr/>
        </p:nvSpPr>
        <p:spPr>
          <a:xfrm xmlns:a="http://schemas.openxmlformats.org/drawingml/2006/main">
            <a:off x="9144000" y="4171950"/>
            <a:ext cx="238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17F79"/>
                </a:solidFill>
                <a:latin typeface="Arial"/>
                <a:ea typeface="Arial"/>
                <a:cs typeface="Arial"/>
              </a:defRPr>
            </a:defPPr>
            <a:lvl1pPr algn="l">
              <a:defRPr sz="2100" b="1">
                <a:solidFill>
                  <a:srgbClr val="117F79"/>
                </a:solidFill>
                <a:latin typeface="Arial"/>
                <a:ea typeface="Arial"/>
                <a:cs typeface="Arial"/>
              </a:defRPr>
            </a:lvl1pPr>
            <a:lvl2pPr algn="l">
              <a:defRPr sz="2100" b="1">
                <a:solidFill>
                  <a:srgbClr val="117F79"/>
                </a:solidFill>
                <a:latin typeface="Arial"/>
                <a:ea typeface="Arial"/>
                <a:cs typeface="Arial"/>
              </a:defRPr>
            </a:lvl2pPr>
            <a:lvl3pPr algn="l">
              <a:defRPr sz="2100" b="1">
                <a:solidFill>
                  <a:srgbClr val="117F79"/>
                </a:solidFill>
                <a:latin typeface="Arial"/>
                <a:ea typeface="Arial"/>
                <a:cs typeface="Arial"/>
              </a:defRPr>
            </a:lvl3pPr>
            <a:lvl4pPr algn="l">
              <a:defRPr sz="2100" b="1">
                <a:solidFill>
                  <a:srgbClr val="117F79"/>
                </a:solidFill>
                <a:latin typeface="Arial"/>
                <a:ea typeface="Arial"/>
                <a:cs typeface="Arial"/>
              </a:defRPr>
            </a:lvl4pPr>
            <a:lvl5pPr algn="l">
              <a:defRPr sz="2100" b="1">
                <a:solidFill>
                  <a:srgbClr val="117F79"/>
                </a:solidFill>
                <a:latin typeface="Arial"/>
                <a:ea typeface="Arial"/>
                <a:cs typeface="Arial"/>
              </a:defRPr>
            </a:lvl5pPr>
            <a:lvl6pPr algn="l">
              <a:defRPr sz="2100" b="1">
                <a:solidFill>
                  <a:srgbClr val="117F79"/>
                </a:solidFill>
                <a:latin typeface="Arial"/>
                <a:ea typeface="Arial"/>
                <a:cs typeface="Arial"/>
              </a:defRPr>
            </a:lvl6pPr>
            <a:lvl7pPr algn="l">
              <a:defRPr sz="2100" b="1">
                <a:solidFill>
                  <a:srgbClr val="117F79"/>
                </a:solidFill>
                <a:latin typeface="Arial"/>
                <a:ea typeface="Arial"/>
                <a:cs typeface="Arial"/>
              </a:defRPr>
            </a:lvl7pPr>
            <a:lvl8pPr algn="l">
              <a:defRPr sz="2100" b="1">
                <a:solidFill>
                  <a:srgbClr val="117F79"/>
                </a:solidFill>
                <a:latin typeface="Arial"/>
                <a:ea typeface="Arial"/>
                <a:cs typeface="Arial"/>
              </a:defRPr>
            </a:lvl8pPr>
            <a:lvl9pPr algn="l">
              <a:defRPr sz="2100" b="1">
                <a:solidFill>
                  <a:srgbClr val="117F79"/>
                </a:solidFill>
                <a:latin typeface="Arial"/>
                <a:ea typeface="Arial"/>
                <a:cs typeface="Arial"/>
              </a:defRPr>
            </a:lvl9pPr>
          </a:lstStyle>
          <a:p xmlns:a="http://schemas.openxmlformats.org/drawingml/2006/main">
            <a:pPr algn="l">
              <a:defRPr sz="2100" b="1">
                <a:solidFill>
                  <a:srgbClr val="117F79"/>
                </a:solidFill>
                <a:latin typeface="Arial"/>
                <a:ea typeface="Arial"/>
                <a:cs typeface="Arial"/>
              </a:defRPr>
            </a:pPr>
            <a:r>
              <a:rPr sz="2100" b="1">
                <a:solidFill>
                  <a:srgbClr val="117F79"/>
                </a:solidFill>
                <a:latin typeface="Arial"/>
                <a:ea typeface="Arial"/>
                <a:cs typeface="Arial"/>
              </a:rPr>
              <a:t>20.0%</a:t>
            </a:r>
          </a:p>
          <a:p xmlns:a="http://schemas.openxmlformats.org/drawingml/2006/main">
            <a:pPr algn="l">
              <a:defRPr sz="2100" b="1">
                <a:solidFill>
                  <a:srgbClr val="117F79"/>
                </a:solidFill>
                <a:latin typeface="Arial"/>
                <a:ea typeface="Arial"/>
                <a:cs typeface="Arial"/>
              </a:defRPr>
            </a:pPr>
            <a:r>
              <a:rPr sz="2100" b="1">
                <a:solidFill>
                  <a:srgbClr val="117F79"/>
                </a:solidFill>
                <a:latin typeface="Arial"/>
                <a:ea typeface="Arial"/>
                <a:cs typeface="Arial"/>
              </a:rPr>
              <a:t>FY2025 margin</a:t>
            </a:r>
          </a:p>
        </p:txBody>
      </p:sp>
      <p:sp>
        <p:nvSpPr>
          <p:cNvPr id="11" name="s7-caveat">
            <a:extLst xmlns:a="http://schemas.openxmlformats.org/drawingml/2006/main">
              <a:ext uri="{FF2B5EF4-FFF2-40B4-BE49-F238E27FC236}">
                <a16:creationId xmlns:a16="http://schemas.microsoft.com/office/drawing/2014/main" id="{7FBDAF1C-3097-4DAB-92FF-0E43D3D35C04}"/>
              </a:ext>
            </a:extLst>
          </p:cNvPr>
          <p:cNvSpPr>
            <a:spLocks xmlns:a="http://schemas.openxmlformats.org/drawingml/2006/main" noGrp="1"/>
          </p:cNvSpPr>
          <p:nvPr/>
        </p:nvSpPr>
        <p:spPr>
          <a:xfrm xmlns:a="http://schemas.openxmlformats.org/drawingml/2006/main">
            <a:off x="571500" y="5695950"/>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99621B"/>
                </a:solidFill>
                <a:latin typeface="Arial"/>
                <a:ea typeface="Arial"/>
                <a:cs typeface="Arial"/>
              </a:defRPr>
            </a:defPPr>
            <a:lvl1pPr algn="l">
              <a:defRPr sz="1350" b="0">
                <a:solidFill>
                  <a:srgbClr val="99621B"/>
                </a:solidFill>
                <a:latin typeface="Arial"/>
                <a:ea typeface="Arial"/>
                <a:cs typeface="Arial"/>
              </a:defRPr>
            </a:lvl1pPr>
            <a:lvl2pPr algn="l">
              <a:defRPr sz="1350" b="0">
                <a:solidFill>
                  <a:srgbClr val="99621B"/>
                </a:solidFill>
                <a:latin typeface="Arial"/>
                <a:ea typeface="Arial"/>
                <a:cs typeface="Arial"/>
              </a:defRPr>
            </a:lvl2pPr>
            <a:lvl3pPr algn="l">
              <a:defRPr sz="1350" b="0">
                <a:solidFill>
                  <a:srgbClr val="99621B"/>
                </a:solidFill>
                <a:latin typeface="Arial"/>
                <a:ea typeface="Arial"/>
                <a:cs typeface="Arial"/>
              </a:defRPr>
            </a:lvl3pPr>
            <a:lvl4pPr algn="l">
              <a:defRPr sz="1350" b="0">
                <a:solidFill>
                  <a:srgbClr val="99621B"/>
                </a:solidFill>
                <a:latin typeface="Arial"/>
                <a:ea typeface="Arial"/>
                <a:cs typeface="Arial"/>
              </a:defRPr>
            </a:lvl4pPr>
            <a:lvl5pPr algn="l">
              <a:defRPr sz="1350" b="0">
                <a:solidFill>
                  <a:srgbClr val="99621B"/>
                </a:solidFill>
                <a:latin typeface="Arial"/>
                <a:ea typeface="Arial"/>
                <a:cs typeface="Arial"/>
              </a:defRPr>
            </a:lvl5pPr>
            <a:lvl6pPr algn="l">
              <a:defRPr sz="1350" b="0">
                <a:solidFill>
                  <a:srgbClr val="99621B"/>
                </a:solidFill>
                <a:latin typeface="Arial"/>
                <a:ea typeface="Arial"/>
                <a:cs typeface="Arial"/>
              </a:defRPr>
            </a:lvl6pPr>
            <a:lvl7pPr algn="l">
              <a:defRPr sz="1350" b="0">
                <a:solidFill>
                  <a:srgbClr val="99621B"/>
                </a:solidFill>
                <a:latin typeface="Arial"/>
                <a:ea typeface="Arial"/>
                <a:cs typeface="Arial"/>
              </a:defRPr>
            </a:lvl7pPr>
            <a:lvl8pPr algn="l">
              <a:defRPr sz="1350" b="0">
                <a:solidFill>
                  <a:srgbClr val="99621B"/>
                </a:solidFill>
                <a:latin typeface="Arial"/>
                <a:ea typeface="Arial"/>
                <a:cs typeface="Arial"/>
              </a:defRPr>
            </a:lvl8pPr>
            <a:lvl9pPr algn="l">
              <a:defRPr sz="1350" b="0">
                <a:solidFill>
                  <a:srgbClr val="99621B"/>
                </a:solidFill>
                <a:latin typeface="Arial"/>
                <a:ea typeface="Arial"/>
                <a:cs typeface="Arial"/>
              </a:defRPr>
            </a:lvl9pPr>
          </a:lstStyle>
          <a:p xmlns:a="http://schemas.openxmlformats.org/drawingml/2006/main">
            <a:pPr algn="l">
              <a:defRPr sz="1350" b="0">
                <a:solidFill>
                  <a:srgbClr val="99621B"/>
                </a:solidFill>
                <a:latin typeface="Arial"/>
                <a:ea typeface="Arial"/>
                <a:cs typeface="Arial"/>
              </a:defRPr>
            </a:pPr>
            <a:r>
              <a:rPr sz="1350" b="0">
                <a:solidFill>
                  <a:srgbClr val="99621B"/>
                </a:solidFill>
                <a:latin typeface="Arial"/>
                <a:ea typeface="Arial"/>
                <a:cs typeface="Arial"/>
              </a:rPr>
              <a:t>FY2025 revenue is provisional: £25.0m model versus £26.2m briefing.</a:t>
            </a:r>
          </a:p>
          <a:p xmlns:a="http://schemas.openxmlformats.org/drawingml/2006/main">
            <a:pPr algn="l">
              <a:defRPr sz="1350" b="0">
                <a:solidFill>
                  <a:srgbClr val="99621B"/>
                </a:solidFill>
                <a:latin typeface="Arial"/>
                <a:ea typeface="Arial"/>
                <a:cs typeface="Arial"/>
              </a:defRPr>
            </a:pPr>
            <a:r>
              <a:rPr sz="1350" b="0">
                <a:solidFill>
                  <a:srgbClr val="99621B"/>
                </a:solidFill>
                <a:latin typeface="Arial"/>
                <a:ea typeface="Arial"/>
                <a:cs typeface="Arial"/>
              </a:rPr>
              <a:t>Management EBITDA is unaudited. No normalisation bridge or QoE report is available.</a:t>
            </a:r>
          </a:p>
        </p:txBody>
      </p:sp>
    </p:spTree>
    <p:extLst>
      <p:ext uri="{BB962C8B-B14F-4D97-AF65-F5344CB8AC3E}">
        <p14:creationId xmlns:p14="http://schemas.microsoft.com/office/powerpoint/2010/main" val="403303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8-section">
            <a:extLst xmlns:a="http://schemas.openxmlformats.org/drawingml/2006/main">
              <a:ext uri="{FF2B5EF4-FFF2-40B4-BE49-F238E27FC236}">
                <a16:creationId xmlns:a16="http://schemas.microsoft.com/office/drawing/2014/main" id="{3AD604B8-58EF-447E-8448-11DE5F9F37A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OUTLOOK</a:t>
            </a:r>
          </a:p>
        </p:txBody>
      </p:sp>
      <p:sp>
        <p:nvSpPr>
          <p:cNvPr id="2" name="s8-title">
            <a:extLst xmlns:a="http://schemas.openxmlformats.org/drawingml/2006/main">
              <a:ext uri="{FF2B5EF4-FFF2-40B4-BE49-F238E27FC236}">
                <a16:creationId xmlns:a16="http://schemas.microsoft.com/office/drawing/2014/main" id="{FBA643E3-3569-4F80-A6BC-B1FCFC2FD4B6}"/>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Growth plan and management outlook</a:t>
            </a:r>
          </a:p>
        </p:txBody>
      </p:sp>
      <p:sp>
        <p:nvSpPr>
          <p:cNvPr id="3" name="s8-header-rule">
            <a:extLst xmlns:a="http://schemas.openxmlformats.org/drawingml/2006/main">
              <a:ext uri="{FF2B5EF4-FFF2-40B4-BE49-F238E27FC236}">
                <a16:creationId xmlns:a16="http://schemas.microsoft.com/office/drawing/2014/main" id="{AD72CCEC-6540-4699-8FC9-DC2E95A1280C}"/>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8-footer">
            <a:extLst xmlns:a="http://schemas.openxmlformats.org/drawingml/2006/main">
              <a:ext uri="{FF2B5EF4-FFF2-40B4-BE49-F238E27FC236}">
                <a16:creationId xmlns:a16="http://schemas.microsoft.com/office/drawing/2014/main" id="{FB76A0A2-32A0-4082-B839-4839CF995E51}"/>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8-page">
            <a:extLst xmlns:a="http://schemas.openxmlformats.org/drawingml/2006/main">
              <a:ext uri="{FF2B5EF4-FFF2-40B4-BE49-F238E27FC236}">
                <a16:creationId xmlns:a16="http://schemas.microsoft.com/office/drawing/2014/main" id="{5742A5B4-C859-439B-AEE8-A5388DD091D9}"/>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08</a:t>
            </a:r>
          </a:p>
        </p:txBody>
      </p:sp>
      <p:sp>
        <p:nvSpPr>
          <p:cNvPr id="6" name="s8-chart-head">
            <a:extLst xmlns:a="http://schemas.openxmlformats.org/drawingml/2006/main">
              <a:ext uri="{FF2B5EF4-FFF2-40B4-BE49-F238E27FC236}">
                <a16:creationId xmlns:a16="http://schemas.microsoft.com/office/drawing/2014/main" id="{A0422B32-87CC-48CE-B43C-AEAC342E0D0C}"/>
              </a:ext>
            </a:extLst>
          </p:cNvPr>
          <p:cNvSpPr>
            <a:spLocks xmlns:a="http://schemas.openxmlformats.org/drawingml/2006/main" noGrp="1"/>
          </p:cNvSpPr>
          <p:nvPr/>
        </p:nvSpPr>
        <p:spPr>
          <a:xfrm xmlns:a="http://schemas.openxmlformats.org/drawingml/2006/main">
            <a:off x="571500" y="171450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32E42"/>
                </a:solidFill>
                <a:latin typeface="Arial"/>
                <a:ea typeface="Arial"/>
                <a:cs typeface="Arial"/>
              </a:defRPr>
            </a:defPPr>
            <a:lvl1pPr algn="l">
              <a:defRPr sz="1725" b="1">
                <a:solidFill>
                  <a:srgbClr val="132E42"/>
                </a:solidFill>
                <a:latin typeface="Arial"/>
                <a:ea typeface="Arial"/>
                <a:cs typeface="Arial"/>
              </a:defRPr>
            </a:lvl1pPr>
            <a:lvl2pPr algn="l">
              <a:defRPr sz="1725" b="1">
                <a:solidFill>
                  <a:srgbClr val="132E42"/>
                </a:solidFill>
                <a:latin typeface="Arial"/>
                <a:ea typeface="Arial"/>
                <a:cs typeface="Arial"/>
              </a:defRPr>
            </a:lvl2pPr>
            <a:lvl3pPr algn="l">
              <a:defRPr sz="1725" b="1">
                <a:solidFill>
                  <a:srgbClr val="132E42"/>
                </a:solidFill>
                <a:latin typeface="Arial"/>
                <a:ea typeface="Arial"/>
                <a:cs typeface="Arial"/>
              </a:defRPr>
            </a:lvl3pPr>
            <a:lvl4pPr algn="l">
              <a:defRPr sz="1725" b="1">
                <a:solidFill>
                  <a:srgbClr val="132E42"/>
                </a:solidFill>
                <a:latin typeface="Arial"/>
                <a:ea typeface="Arial"/>
                <a:cs typeface="Arial"/>
              </a:defRPr>
            </a:lvl4pPr>
            <a:lvl5pPr algn="l">
              <a:defRPr sz="1725" b="1">
                <a:solidFill>
                  <a:srgbClr val="132E42"/>
                </a:solidFill>
                <a:latin typeface="Arial"/>
                <a:ea typeface="Arial"/>
                <a:cs typeface="Arial"/>
              </a:defRPr>
            </a:lvl5pPr>
            <a:lvl6pPr algn="l">
              <a:defRPr sz="1725" b="1">
                <a:solidFill>
                  <a:srgbClr val="132E42"/>
                </a:solidFill>
                <a:latin typeface="Arial"/>
                <a:ea typeface="Arial"/>
                <a:cs typeface="Arial"/>
              </a:defRPr>
            </a:lvl6pPr>
            <a:lvl7pPr algn="l">
              <a:defRPr sz="1725" b="1">
                <a:solidFill>
                  <a:srgbClr val="132E42"/>
                </a:solidFill>
                <a:latin typeface="Arial"/>
                <a:ea typeface="Arial"/>
                <a:cs typeface="Arial"/>
              </a:defRPr>
            </a:lvl7pPr>
            <a:lvl8pPr algn="l">
              <a:defRPr sz="1725" b="1">
                <a:solidFill>
                  <a:srgbClr val="132E42"/>
                </a:solidFill>
                <a:latin typeface="Arial"/>
                <a:ea typeface="Arial"/>
                <a:cs typeface="Arial"/>
              </a:defRPr>
            </a:lvl8pPr>
            <a:lvl9pPr algn="l">
              <a:defRPr sz="1725" b="1">
                <a:solidFill>
                  <a:srgbClr val="132E42"/>
                </a:solidFill>
                <a:latin typeface="Arial"/>
                <a:ea typeface="Arial"/>
                <a:cs typeface="Arial"/>
              </a:defRPr>
            </a:lvl9pPr>
          </a:lstStyle>
          <a:p xmlns:a="http://schemas.openxmlformats.org/drawingml/2006/main">
            <a:pPr algn="l">
              <a:defRPr sz="1725" b="1">
                <a:solidFill>
                  <a:srgbClr val="132E42"/>
                </a:solidFill>
                <a:latin typeface="Arial"/>
                <a:ea typeface="Arial"/>
                <a:cs typeface="Arial"/>
              </a:defRPr>
            </a:pPr>
            <a:r>
              <a:rPr sz="1725" b="1">
                <a:solidFill>
                  <a:srgbClr val="132E42"/>
                </a:solidFill>
                <a:latin typeface="Arial"/>
                <a:ea typeface="Arial"/>
                <a:cs typeface="Arial"/>
              </a:rPr>
              <a:t>Revenue (£m), management base case</a:t>
            </a:r>
          </a:p>
        </p:txBody>
      </p:sp>
      <p:graphicFrame>
        <p:nvGraphicFramePr>
          <p:cNvPr id="7" name="Chart">
            <a:extLst xmlns:a="http://schemas.openxmlformats.org/drawingml/2006/main">
              <a:ext uri="{FF2B5EF4-FFF2-40B4-BE49-F238E27FC236}">
                <a16:creationId xmlns:a16="http://schemas.microsoft.com/office/drawing/2014/main" id="{E5275C14-02E0-4A92-8633-729DDA41803E}"/>
              </a:ext>
            </a:extLst>
          </p:cNvPr>
          <p:cNvGraphicFramePr/>
          <p:nvPr/>
        </p:nvGraphicFramePr>
        <p:xfrm>
          <a:off xmlns:a="http://schemas.openxmlformats.org/drawingml/2006/main" x="571500" y="2190750"/>
          <a:ext xmlns:a="http://schemas.openxmlformats.org/drawingml/2006/main" cx="6572250" cy="2857500"/>
        </p:xfrm>
        <a:graphic xmlns:a="http://schemas.openxmlformats.org/drawingml/2006/main">
          <a:graphicData uri="http://schemas.openxmlformats.org/drawingml/2006/chart">
            <c:chart xmlns:r="http://schemas.openxmlformats.org/officeDocument/2006/relationships" xmlns:c="http://schemas.openxmlformats.org/drawingml/2006/chart" r:id="R2388167247b549ab"/>
          </a:graphicData>
        </a:graphic>
      </p:graphicFrame>
      <p:graphicFrame>
        <p:nvGraphicFramePr>
          <p:cNvPr id="8" name="">
            <a:extLst xmlns:a="http://schemas.openxmlformats.org/drawingml/2006/main">
              <a:ext uri="{FF2B5EF4-FFF2-40B4-BE49-F238E27FC236}">
                <a16:creationId xmlns:a16="http://schemas.microsoft.com/office/drawing/2014/main" id="{4D5E7E70-EC96-4992-B7C9-142EB443C2E7}"/>
              </a:ext>
            </a:extLst>
          </p:cNvPr>
          <p:cNvGraphicFramePr/>
          <p:nvPr/>
        </p:nvGraphicFramePr>
        <p:xfrm>
          <a:off xmlns:a="http://schemas.openxmlformats.org/drawingml/2006/main" x="571500" y="5238750"/>
          <a:ext xmlns:a="http://schemas.openxmlformats.org/drawingml/2006/main" cx="6572250" cy="904875"/>
        </p:xfrm>
        <a:graphic xmlns:a="http://schemas.openxmlformats.org/drawingml/2006/main">
          <a:graphicData uri="http://schemas.openxmlformats.org/drawingml/2006/table">
            <a:tbl>
              <a:tblPr/>
              <a:tblGrid>
                <a:gridCol w="2921000"/>
                <a:gridCol w="1217017"/>
                <a:gridCol w="1217017"/>
                <a:gridCol w="1217216"/>
              </a:tblGrid>
              <a:tr h="448965">
                <a:tc>
                  <a:txBody>
                    <a:bodyPr lIns="114300" tIns="76200" rIns="114300" bIns="76200">
                      <a:noAutofit/>
                    </a:bodyPr>
                    <a:lstStyle/>
                    <a:p>
                      <a:r>
                        <a:rPr sz="1500" b="1">
                          <a:solidFill>
                            <a:srgbClr val="FFFFFF"/>
                          </a:solidFill>
                          <a:latin typeface="Arial"/>
                          <a:ea typeface="Arial"/>
                          <a:cs typeface="Arial"/>
                        </a:rPr>
                        <a:t/>
                      </a:r>
                    </a:p>
                  </a:txBody>
                  <a:tcPr marL="91440" marR="91440" marT="45720" marB="45720" anchor="ctr">
                    <a:lnL w="9525">
                      <a:solidFill>
                        <a:srgbClr val="DCE4E8"/>
                      </a:solidFill>
                      <a:prstDash val="solid"/>
                    </a:lnL>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500" b="1">
                          <a:solidFill>
                            <a:srgbClr val="FFFFFF"/>
                          </a:solidFill>
                          <a:latin typeface="Arial"/>
                          <a:ea typeface="Arial"/>
                          <a:cs typeface="Arial"/>
                        </a:rPr>
                        <a:t>FY2025A</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500" b="1">
                          <a:solidFill>
                            <a:srgbClr val="FFFFFF"/>
                          </a:solidFill>
                          <a:latin typeface="Arial"/>
                          <a:ea typeface="Arial"/>
                          <a:cs typeface="Arial"/>
                        </a:rPr>
                        <a:t>FY2026F</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500" b="1">
                          <a:solidFill>
                            <a:srgbClr val="FFFFFF"/>
                          </a:solidFill>
                          <a:latin typeface="Arial"/>
                          <a:ea typeface="Arial"/>
                          <a:cs typeface="Arial"/>
                        </a:rPr>
                        <a:t>FY2027F</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r>
              <a:tr h="452735">
                <a:tc>
                  <a:txBody>
                    <a:bodyPr lIns="114300" tIns="76200" rIns="114300" bIns="76200">
                      <a:noAutofit/>
                    </a:bodyPr>
                    <a:lstStyle/>
                    <a:p>
                      <a:r>
                        <a:rPr sz="1500" b="0">
                          <a:solidFill>
                            <a:srgbClr val="132E42"/>
                          </a:solidFill>
                          <a:latin typeface="Arial"/>
                          <a:ea typeface="Arial"/>
                          <a:cs typeface="Arial"/>
                        </a:rPr>
                        <a:t>EBITDA (£m)</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5.0</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6.1</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7.4</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bl>
          </a:graphicData>
        </a:graphic>
      </p:graphicFrame>
      <p:sp>
        <p:nvSpPr>
          <p:cNvPr id="9" name="s8-plan">
            <a:extLst xmlns:a="http://schemas.openxmlformats.org/drawingml/2006/main">
              <a:ext uri="{FF2B5EF4-FFF2-40B4-BE49-F238E27FC236}">
                <a16:creationId xmlns:a16="http://schemas.microsoft.com/office/drawing/2014/main" id="{F09CFDB6-9E4D-4E7E-AEF4-0834BCE21C49}"/>
              </a:ext>
            </a:extLst>
          </p:cNvPr>
          <p:cNvSpPr>
            <a:spLocks xmlns:a="http://schemas.openxmlformats.org/drawingml/2006/main" noGrp="1"/>
          </p:cNvSpPr>
          <p:nvPr/>
        </p:nvSpPr>
        <p:spPr>
          <a:xfrm xmlns:a="http://schemas.openxmlformats.org/drawingml/2006/main">
            <a:off x="7810500" y="180975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E42"/>
                </a:solidFill>
                <a:latin typeface="Arial"/>
                <a:ea typeface="Arial"/>
                <a:cs typeface="Arial"/>
              </a:defRPr>
            </a:defPPr>
            <a:lvl1pPr algn="l">
              <a:defRPr sz="2025" b="1">
                <a:solidFill>
                  <a:srgbClr val="132E42"/>
                </a:solidFill>
                <a:latin typeface="Arial"/>
                <a:ea typeface="Arial"/>
                <a:cs typeface="Arial"/>
              </a:defRPr>
            </a:lvl1pPr>
            <a:lvl2pPr algn="l">
              <a:defRPr sz="2025" b="1">
                <a:solidFill>
                  <a:srgbClr val="132E42"/>
                </a:solidFill>
                <a:latin typeface="Arial"/>
                <a:ea typeface="Arial"/>
                <a:cs typeface="Arial"/>
              </a:defRPr>
            </a:lvl2pPr>
            <a:lvl3pPr algn="l">
              <a:defRPr sz="2025" b="1">
                <a:solidFill>
                  <a:srgbClr val="132E42"/>
                </a:solidFill>
                <a:latin typeface="Arial"/>
                <a:ea typeface="Arial"/>
                <a:cs typeface="Arial"/>
              </a:defRPr>
            </a:lvl3pPr>
            <a:lvl4pPr algn="l">
              <a:defRPr sz="2025" b="1">
                <a:solidFill>
                  <a:srgbClr val="132E42"/>
                </a:solidFill>
                <a:latin typeface="Arial"/>
                <a:ea typeface="Arial"/>
                <a:cs typeface="Arial"/>
              </a:defRPr>
            </a:lvl4pPr>
            <a:lvl5pPr algn="l">
              <a:defRPr sz="2025" b="1">
                <a:solidFill>
                  <a:srgbClr val="132E42"/>
                </a:solidFill>
                <a:latin typeface="Arial"/>
                <a:ea typeface="Arial"/>
                <a:cs typeface="Arial"/>
              </a:defRPr>
            </a:lvl5pPr>
            <a:lvl6pPr algn="l">
              <a:defRPr sz="2025" b="1">
                <a:solidFill>
                  <a:srgbClr val="132E42"/>
                </a:solidFill>
                <a:latin typeface="Arial"/>
                <a:ea typeface="Arial"/>
                <a:cs typeface="Arial"/>
              </a:defRPr>
            </a:lvl6pPr>
            <a:lvl7pPr algn="l">
              <a:defRPr sz="2025" b="1">
                <a:solidFill>
                  <a:srgbClr val="132E42"/>
                </a:solidFill>
                <a:latin typeface="Arial"/>
                <a:ea typeface="Arial"/>
                <a:cs typeface="Arial"/>
              </a:defRPr>
            </a:lvl7pPr>
            <a:lvl8pPr algn="l">
              <a:defRPr sz="2025" b="1">
                <a:solidFill>
                  <a:srgbClr val="132E42"/>
                </a:solidFill>
                <a:latin typeface="Arial"/>
                <a:ea typeface="Arial"/>
                <a:cs typeface="Arial"/>
              </a:defRPr>
            </a:lvl8pPr>
            <a:lvl9pPr algn="l">
              <a:defRPr sz="2025" b="1">
                <a:solidFill>
                  <a:srgbClr val="132E42"/>
                </a:solidFill>
                <a:latin typeface="Arial"/>
                <a:ea typeface="Arial"/>
                <a:cs typeface="Arial"/>
              </a:defRPr>
            </a:lvl9pPr>
          </a:lstStyle>
          <a:p xmlns:a="http://schemas.openxmlformats.org/drawingml/2006/main">
            <a:pPr algn="l">
              <a:defRPr sz="2025" b="1">
                <a:solidFill>
                  <a:srgbClr val="132E42"/>
                </a:solidFill>
                <a:latin typeface="Arial"/>
                <a:ea typeface="Arial"/>
                <a:cs typeface="Arial"/>
              </a:defRPr>
            </a:pPr>
            <a:r>
              <a:rPr sz="2025" b="1">
                <a:solidFill>
                  <a:srgbClr val="132E42"/>
                </a:solidFill>
                <a:latin typeface="Arial"/>
                <a:ea typeface="Arial"/>
                <a:cs typeface="Arial"/>
              </a:rPr>
              <a:t>Management priorities</a:t>
            </a:r>
          </a:p>
        </p:txBody>
      </p:sp>
      <p:sp>
        <p:nvSpPr>
          <p:cNvPr id="10" name="s8-plan-body">
            <a:extLst xmlns:a="http://schemas.openxmlformats.org/drawingml/2006/main">
              <a:ext uri="{FF2B5EF4-FFF2-40B4-BE49-F238E27FC236}">
                <a16:creationId xmlns:a16="http://schemas.microsoft.com/office/drawing/2014/main" id="{EFBFC491-7387-4137-87DE-32AFE001510F}"/>
              </a:ext>
            </a:extLst>
          </p:cNvPr>
          <p:cNvSpPr>
            <a:spLocks xmlns:a="http://schemas.openxmlformats.org/drawingml/2006/main" noGrp="1"/>
          </p:cNvSpPr>
          <p:nvPr/>
        </p:nvSpPr>
        <p:spPr>
          <a:xfrm xmlns:a="http://schemas.openxmlformats.org/drawingml/2006/main">
            <a:off x="7810500" y="2381250"/>
            <a:ext cx="3810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E42"/>
                </a:solidFill>
                <a:latin typeface="Arial"/>
                <a:ea typeface="Arial"/>
                <a:cs typeface="Arial"/>
              </a:defRPr>
            </a:defPPr>
            <a:lvl1pPr algn="l">
              <a:defRPr sz="1725" b="0">
                <a:solidFill>
                  <a:srgbClr val="132E42"/>
                </a:solidFill>
                <a:latin typeface="Arial"/>
                <a:ea typeface="Arial"/>
                <a:cs typeface="Arial"/>
              </a:defRPr>
            </a:lvl1pPr>
            <a:lvl2pPr algn="l">
              <a:defRPr sz="1725" b="0">
                <a:solidFill>
                  <a:srgbClr val="132E42"/>
                </a:solidFill>
                <a:latin typeface="Arial"/>
                <a:ea typeface="Arial"/>
                <a:cs typeface="Arial"/>
              </a:defRPr>
            </a:lvl2pPr>
            <a:lvl3pPr algn="l">
              <a:defRPr sz="1725" b="0">
                <a:solidFill>
                  <a:srgbClr val="132E42"/>
                </a:solidFill>
                <a:latin typeface="Arial"/>
                <a:ea typeface="Arial"/>
                <a:cs typeface="Arial"/>
              </a:defRPr>
            </a:lvl3pPr>
            <a:lvl4pPr algn="l">
              <a:defRPr sz="1725" b="0">
                <a:solidFill>
                  <a:srgbClr val="132E42"/>
                </a:solidFill>
                <a:latin typeface="Arial"/>
                <a:ea typeface="Arial"/>
                <a:cs typeface="Arial"/>
              </a:defRPr>
            </a:lvl4pPr>
            <a:lvl5pPr algn="l">
              <a:defRPr sz="1725" b="0">
                <a:solidFill>
                  <a:srgbClr val="132E42"/>
                </a:solidFill>
                <a:latin typeface="Arial"/>
                <a:ea typeface="Arial"/>
                <a:cs typeface="Arial"/>
              </a:defRPr>
            </a:lvl5pPr>
            <a:lvl6pPr algn="l">
              <a:defRPr sz="1725" b="0">
                <a:solidFill>
                  <a:srgbClr val="132E42"/>
                </a:solidFill>
                <a:latin typeface="Arial"/>
                <a:ea typeface="Arial"/>
                <a:cs typeface="Arial"/>
              </a:defRPr>
            </a:lvl6pPr>
            <a:lvl7pPr algn="l">
              <a:defRPr sz="1725" b="0">
                <a:solidFill>
                  <a:srgbClr val="132E42"/>
                </a:solidFill>
                <a:latin typeface="Arial"/>
                <a:ea typeface="Arial"/>
                <a:cs typeface="Arial"/>
              </a:defRPr>
            </a:lvl7pPr>
            <a:lvl8pPr algn="l">
              <a:defRPr sz="1725" b="0">
                <a:solidFill>
                  <a:srgbClr val="132E42"/>
                </a:solidFill>
                <a:latin typeface="Arial"/>
                <a:ea typeface="Arial"/>
                <a:cs typeface="Arial"/>
              </a:defRPr>
            </a:lvl8pPr>
            <a:lvl9pPr algn="l">
              <a:defRPr sz="1725" b="0">
                <a:solidFill>
                  <a:srgbClr val="132E42"/>
                </a:solidFill>
                <a:latin typeface="Arial"/>
                <a:ea typeface="Arial"/>
                <a:cs typeface="Arial"/>
              </a:defRPr>
            </a:lvl9pPr>
          </a:lstStyle>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Add 20 net engineers by FY2027.</a:t>
            </a:r>
          </a:p>
          <a:p xmlns:a="http://schemas.openxmlformats.org/drawingml/2006/main">
            <a:r>
              <a:t/>
            </a:r>
          </a:p>
          <a:p xmlns:a="http://schemas.openxmlformats.org/drawingml/2006/main">
            <a:pPr algn="l">
              <a:defRPr sz="1725" b="0">
                <a:solidFill>
                  <a:srgbClr val="132E42"/>
                </a:solidFill>
                <a:latin typeface="Arial"/>
                <a:ea typeface="Arial"/>
                <a:cs typeface="Arial"/>
              </a:defRPr>
            </a:pPr>
            <a:r>
              <a:rPr sz="1725" b="0">
                <a:solidFill>
                  <a:srgbClr val="132E42"/>
                </a:solidFill>
                <a:latin typeface="Arial"/>
                <a:ea typeface="Arial"/>
                <a:cs typeface="Arial"/>
              </a:rPr>
              <a:t>Cross-sell maintenance to repair customers and extend coverage from existing hubs.</a:t>
            </a:r>
          </a:p>
        </p:txBody>
      </p:sp>
      <p:sp>
        <p:nvSpPr>
          <p:cNvPr id="11" name="s8-caveat">
            <a:extLst xmlns:a="http://schemas.openxmlformats.org/drawingml/2006/main">
              <a:ext uri="{FF2B5EF4-FFF2-40B4-BE49-F238E27FC236}">
                <a16:creationId xmlns:a16="http://schemas.microsoft.com/office/drawing/2014/main" id="{3DAA5BF4-0704-4C64-8155-B40BE3A30A9A}"/>
              </a:ext>
            </a:extLst>
          </p:cNvPr>
          <p:cNvSpPr>
            <a:spLocks xmlns:a="http://schemas.openxmlformats.org/drawingml/2006/main" noGrp="1"/>
          </p:cNvSpPr>
          <p:nvPr/>
        </p:nvSpPr>
        <p:spPr>
          <a:xfrm xmlns:a="http://schemas.openxmlformats.org/drawingml/2006/main">
            <a:off x="7810500" y="4238625"/>
            <a:ext cx="3810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99621B"/>
                </a:solidFill>
                <a:latin typeface="Arial"/>
                <a:ea typeface="Arial"/>
                <a:cs typeface="Arial"/>
              </a:defRPr>
            </a:defPPr>
            <a:lvl1pPr algn="l">
              <a:defRPr sz="1575" b="0">
                <a:solidFill>
                  <a:srgbClr val="99621B"/>
                </a:solidFill>
                <a:latin typeface="Arial"/>
                <a:ea typeface="Arial"/>
                <a:cs typeface="Arial"/>
              </a:defRPr>
            </a:lvl1pPr>
            <a:lvl2pPr algn="l">
              <a:defRPr sz="1575" b="0">
                <a:solidFill>
                  <a:srgbClr val="99621B"/>
                </a:solidFill>
                <a:latin typeface="Arial"/>
                <a:ea typeface="Arial"/>
                <a:cs typeface="Arial"/>
              </a:defRPr>
            </a:lvl2pPr>
            <a:lvl3pPr algn="l">
              <a:defRPr sz="1575" b="0">
                <a:solidFill>
                  <a:srgbClr val="99621B"/>
                </a:solidFill>
                <a:latin typeface="Arial"/>
                <a:ea typeface="Arial"/>
                <a:cs typeface="Arial"/>
              </a:defRPr>
            </a:lvl3pPr>
            <a:lvl4pPr algn="l">
              <a:defRPr sz="1575" b="0">
                <a:solidFill>
                  <a:srgbClr val="99621B"/>
                </a:solidFill>
                <a:latin typeface="Arial"/>
                <a:ea typeface="Arial"/>
                <a:cs typeface="Arial"/>
              </a:defRPr>
            </a:lvl4pPr>
            <a:lvl5pPr algn="l">
              <a:defRPr sz="1575" b="0">
                <a:solidFill>
                  <a:srgbClr val="99621B"/>
                </a:solidFill>
                <a:latin typeface="Arial"/>
                <a:ea typeface="Arial"/>
                <a:cs typeface="Arial"/>
              </a:defRPr>
            </a:lvl5pPr>
            <a:lvl6pPr algn="l">
              <a:defRPr sz="1575" b="0">
                <a:solidFill>
                  <a:srgbClr val="99621B"/>
                </a:solidFill>
                <a:latin typeface="Arial"/>
                <a:ea typeface="Arial"/>
                <a:cs typeface="Arial"/>
              </a:defRPr>
            </a:lvl6pPr>
            <a:lvl7pPr algn="l">
              <a:defRPr sz="1575" b="0">
                <a:solidFill>
                  <a:srgbClr val="99621B"/>
                </a:solidFill>
                <a:latin typeface="Arial"/>
                <a:ea typeface="Arial"/>
                <a:cs typeface="Arial"/>
              </a:defRPr>
            </a:lvl7pPr>
            <a:lvl8pPr algn="l">
              <a:defRPr sz="1575" b="0">
                <a:solidFill>
                  <a:srgbClr val="99621B"/>
                </a:solidFill>
                <a:latin typeface="Arial"/>
                <a:ea typeface="Arial"/>
                <a:cs typeface="Arial"/>
              </a:defRPr>
            </a:lvl8pPr>
            <a:lvl9pPr algn="l">
              <a:defRPr sz="1575" b="0">
                <a:solidFill>
                  <a:srgbClr val="99621B"/>
                </a:solidFill>
                <a:latin typeface="Arial"/>
                <a:ea typeface="Arial"/>
                <a:cs typeface="Arial"/>
              </a:defRPr>
            </a:lvl9pPr>
          </a:lstStyle>
          <a:p xmlns:a="http://schemas.openxmlformats.org/drawingml/2006/main">
            <a:pPr algn="l">
              <a:defRPr sz="1575" b="0">
                <a:solidFill>
                  <a:srgbClr val="99621B"/>
                </a:solidFill>
                <a:latin typeface="Arial"/>
                <a:ea typeface="Arial"/>
                <a:cs typeface="Arial"/>
              </a:defRPr>
            </a:pPr>
            <a:r>
              <a:rPr sz="1575" b="0">
                <a:solidFill>
                  <a:srgbClr val="99621B"/>
                </a:solidFill>
                <a:latin typeface="Arial"/>
                <a:ea typeface="Arial"/>
                <a:cs typeface="Arial"/>
              </a:rPr>
              <a:t>Forecasts depend on hiring and renewals. No customer-level forecast bridge or signed pipeline is available.</a:t>
            </a:r>
          </a:p>
          <a:p xmlns:a="http://schemas.openxmlformats.org/drawingml/2006/main">
            <a:r>
              <a:t/>
            </a:r>
          </a:p>
          <a:p xmlns:a="http://schemas.openxmlformats.org/drawingml/2006/main">
            <a:pPr algn="l">
              <a:defRPr sz="1575" b="0">
                <a:solidFill>
                  <a:srgbClr val="99621B"/>
                </a:solidFill>
                <a:latin typeface="Arial"/>
                <a:ea typeface="Arial"/>
                <a:cs typeface="Arial"/>
              </a:defRPr>
            </a:pPr>
            <a:r>
              <a:rPr sz="1575" b="0">
                <a:solidFill>
                  <a:srgbClr val="99621B"/>
                </a:solidFill>
                <a:latin typeface="Arial"/>
                <a:ea typeface="Arial"/>
                <a:cs typeface="Arial"/>
              </a:rPr>
              <a:t>Market size and share remain unsubstantiated.</a:t>
            </a:r>
          </a:p>
        </p:txBody>
      </p:sp>
    </p:spTree>
    <p:extLst>
      <p:ext uri="{BB962C8B-B14F-4D97-AF65-F5344CB8AC3E}">
        <p14:creationId xmlns:p14="http://schemas.microsoft.com/office/powerpoint/2010/main" val="148085562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9-section">
            <a:extLst xmlns:a="http://schemas.openxmlformats.org/drawingml/2006/main">
              <a:ext uri="{FF2B5EF4-FFF2-40B4-BE49-F238E27FC236}">
                <a16:creationId xmlns:a16="http://schemas.microsoft.com/office/drawing/2014/main" id="{94FBAD6B-23F3-4445-A770-4A9B02AC3DC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TRANSACTION OVERVIEW</a:t>
            </a:r>
          </a:p>
        </p:txBody>
      </p:sp>
      <p:sp>
        <p:nvSpPr>
          <p:cNvPr id="2" name="s9-title">
            <a:extLst xmlns:a="http://schemas.openxmlformats.org/drawingml/2006/main">
              <a:ext uri="{FF2B5EF4-FFF2-40B4-BE49-F238E27FC236}">
                <a16:creationId xmlns:a16="http://schemas.microsoft.com/office/drawing/2014/main" id="{AC56C934-53D7-4B01-9E46-AF5D72902878}"/>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Proposed transaction</a:t>
            </a:r>
          </a:p>
        </p:txBody>
      </p:sp>
      <p:sp>
        <p:nvSpPr>
          <p:cNvPr id="3" name="s9-header-rule">
            <a:extLst xmlns:a="http://schemas.openxmlformats.org/drawingml/2006/main">
              <a:ext uri="{FF2B5EF4-FFF2-40B4-BE49-F238E27FC236}">
                <a16:creationId xmlns:a16="http://schemas.microsoft.com/office/drawing/2014/main" id="{F3EF0CE4-C5F9-4946-A7C9-036FA269A548}"/>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9-footer">
            <a:extLst xmlns:a="http://schemas.openxmlformats.org/drawingml/2006/main">
              <a:ext uri="{FF2B5EF4-FFF2-40B4-BE49-F238E27FC236}">
                <a16:creationId xmlns:a16="http://schemas.microsoft.com/office/drawing/2014/main" id="{1B3D3357-D241-42B9-9625-BB679149AB54}"/>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9-page">
            <a:extLst xmlns:a="http://schemas.openxmlformats.org/drawingml/2006/main">
              <a:ext uri="{FF2B5EF4-FFF2-40B4-BE49-F238E27FC236}">
                <a16:creationId xmlns:a16="http://schemas.microsoft.com/office/drawing/2014/main" id="{19448D6E-B584-4800-8272-AC1C852A6798}"/>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09</a:t>
            </a:r>
          </a:p>
        </p:txBody>
      </p:sp>
      <p:graphicFrame>
        <p:nvGraphicFramePr>
          <p:cNvPr id="6" name="">
            <a:extLst xmlns:a="http://schemas.openxmlformats.org/drawingml/2006/main">
              <a:ext uri="{FF2B5EF4-FFF2-40B4-BE49-F238E27FC236}">
                <a16:creationId xmlns:a16="http://schemas.microsoft.com/office/drawing/2014/main" id="{796BCCF7-7E1A-4B98-93FC-ECB2E7C393F1}"/>
              </a:ext>
            </a:extLst>
          </p:cNvPr>
          <p:cNvGraphicFramePr/>
          <p:nvPr/>
        </p:nvGraphicFramePr>
        <p:xfrm>
          <a:off xmlns:a="http://schemas.openxmlformats.org/drawingml/2006/main" x="571500" y="1952625"/>
          <a:ext xmlns:a="http://schemas.openxmlformats.org/drawingml/2006/main" cx="5238750" cy="2333625"/>
        </p:xfrm>
        <a:graphic xmlns:a="http://schemas.openxmlformats.org/drawingml/2006/main">
          <a:graphicData uri="http://schemas.openxmlformats.org/drawingml/2006/table">
            <a:tbl>
              <a:tblPr/>
              <a:tblGrid>
                <a:gridCol w="3651250"/>
                <a:gridCol w="1587500"/>
              </a:tblGrid>
              <a:tr h="579239">
                <a:tc>
                  <a:txBody>
                    <a:bodyPr lIns="114300" tIns="76200" rIns="114300" bIns="76200">
                      <a:noAutofit/>
                    </a:bodyPr>
                    <a:lstStyle/>
                    <a:p>
                      <a:r>
                        <a:rPr sz="1725" b="1">
                          <a:solidFill>
                            <a:srgbClr val="FFFFFF"/>
                          </a:solidFill>
                          <a:latin typeface="Arial"/>
                          <a:ea typeface="Arial"/>
                          <a:cs typeface="Arial"/>
                        </a:rPr>
                        <a:t>Current shareholder</a:t>
                      </a:r>
                    </a:p>
                  </a:txBody>
                  <a:tcPr marL="91440" marR="91440" marT="45720" marB="45720" anchor="ctr">
                    <a:lnL w="9525">
                      <a:solidFill>
                        <a:srgbClr val="DCE4E8"/>
                      </a:solidFill>
                      <a:prstDash val="solid"/>
                    </a:lnL>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725" b="1">
                          <a:solidFill>
                            <a:srgbClr val="FFFFFF"/>
                          </a:solidFill>
                          <a:latin typeface="Arial"/>
                          <a:ea typeface="Arial"/>
                          <a:cs typeface="Arial"/>
                        </a:rPr>
                        <a:t>Ownership</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r>
              <a:tr h="583704">
                <a:tc>
                  <a:txBody>
                    <a:bodyPr lIns="114300" tIns="76200" rIns="114300" bIns="76200">
                      <a:noAutofit/>
                    </a:bodyPr>
                    <a:lstStyle/>
                    <a:p>
                      <a:r>
                        <a:rPr sz="1725" b="0">
                          <a:solidFill>
                            <a:srgbClr val="132E42"/>
                          </a:solidFill>
                          <a:latin typeface="Arial"/>
                          <a:ea typeface="Arial"/>
                          <a:cs typeface="Arial"/>
                        </a:rPr>
                        <a:t>Founder</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725" b="0">
                          <a:solidFill>
                            <a:srgbClr val="132E42"/>
                          </a:solidFill>
                          <a:latin typeface="Arial"/>
                          <a:ea typeface="Arial"/>
                          <a:cs typeface="Arial"/>
                        </a:rPr>
                        <a:t>70%</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583704">
                <a:tc>
                  <a:txBody>
                    <a:bodyPr lIns="114300" tIns="76200" rIns="114300" bIns="76200">
                      <a:noAutofit/>
                    </a:bodyPr>
                    <a:lstStyle/>
                    <a:p>
                      <a:r>
                        <a:rPr sz="1725" b="0">
                          <a:solidFill>
                            <a:srgbClr val="132E42"/>
                          </a:solidFill>
                          <a:latin typeface="Arial"/>
                          <a:ea typeface="Arial"/>
                          <a:cs typeface="Arial"/>
                        </a:rPr>
                        <a:t>Management</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725" b="0">
                          <a:solidFill>
                            <a:srgbClr val="132E42"/>
                          </a:solidFill>
                          <a:latin typeface="Arial"/>
                          <a:ea typeface="Arial"/>
                          <a:cs typeface="Arial"/>
                        </a:rPr>
                        <a:t>20%</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583803">
                <a:tc>
                  <a:txBody>
                    <a:bodyPr lIns="114300" tIns="76200" rIns="114300" bIns="76200">
                      <a:noAutofit/>
                    </a:bodyPr>
                    <a:lstStyle/>
                    <a:p>
                      <a:r>
                        <a:rPr sz="1725" b="0">
                          <a:solidFill>
                            <a:srgbClr val="132E42"/>
                          </a:solidFill>
                          <a:latin typeface="Arial"/>
                          <a:ea typeface="Arial"/>
                          <a:cs typeface="Arial"/>
                        </a:rPr>
                        <a:t>Seed investor</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725" b="0">
                          <a:solidFill>
                            <a:srgbClr val="132E42"/>
                          </a:solidFill>
                          <a:latin typeface="Arial"/>
                          <a:ea typeface="Arial"/>
                          <a:cs typeface="Arial"/>
                        </a:rPr>
                        <a:t>10%</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bl>
          </a:graphicData>
        </a:graphic>
      </p:graphicFrame>
      <p:sp>
        <p:nvSpPr>
          <p:cNvPr id="7" name="s9-sale">
            <a:extLst xmlns:a="http://schemas.openxmlformats.org/drawingml/2006/main">
              <a:ext uri="{FF2B5EF4-FFF2-40B4-BE49-F238E27FC236}">
                <a16:creationId xmlns:a16="http://schemas.microsoft.com/office/drawing/2014/main" id="{7EEA6B8B-7AD1-48FE-AAA2-E1BC3995546D}"/>
              </a:ext>
            </a:extLst>
          </p:cNvPr>
          <p:cNvSpPr>
            <a:spLocks xmlns:a="http://schemas.openxmlformats.org/drawingml/2006/main" noGrp="1"/>
          </p:cNvSpPr>
          <p:nvPr/>
        </p:nvSpPr>
        <p:spPr>
          <a:xfrm xmlns:a="http://schemas.openxmlformats.org/drawingml/2006/main">
            <a:off x="6667500" y="1857375"/>
            <a:ext cx="4953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17F79"/>
                </a:solidFill>
                <a:latin typeface="Arial"/>
                <a:ea typeface="Arial"/>
                <a:cs typeface="Arial"/>
              </a:defRPr>
            </a:defPPr>
            <a:lvl1pPr algn="l">
              <a:defRPr sz="4350" b="1">
                <a:solidFill>
                  <a:srgbClr val="117F79"/>
                </a:solidFill>
                <a:latin typeface="Arial"/>
                <a:ea typeface="Arial"/>
                <a:cs typeface="Arial"/>
              </a:defRPr>
            </a:lvl1pPr>
            <a:lvl2pPr algn="l">
              <a:defRPr sz="4350" b="1">
                <a:solidFill>
                  <a:srgbClr val="117F79"/>
                </a:solidFill>
                <a:latin typeface="Arial"/>
                <a:ea typeface="Arial"/>
                <a:cs typeface="Arial"/>
              </a:defRPr>
            </a:lvl2pPr>
            <a:lvl3pPr algn="l">
              <a:defRPr sz="4350" b="1">
                <a:solidFill>
                  <a:srgbClr val="117F79"/>
                </a:solidFill>
                <a:latin typeface="Arial"/>
                <a:ea typeface="Arial"/>
                <a:cs typeface="Arial"/>
              </a:defRPr>
            </a:lvl3pPr>
            <a:lvl4pPr algn="l">
              <a:defRPr sz="4350" b="1">
                <a:solidFill>
                  <a:srgbClr val="117F79"/>
                </a:solidFill>
                <a:latin typeface="Arial"/>
                <a:ea typeface="Arial"/>
                <a:cs typeface="Arial"/>
              </a:defRPr>
            </a:lvl4pPr>
            <a:lvl5pPr algn="l">
              <a:defRPr sz="4350" b="1">
                <a:solidFill>
                  <a:srgbClr val="117F79"/>
                </a:solidFill>
                <a:latin typeface="Arial"/>
                <a:ea typeface="Arial"/>
                <a:cs typeface="Arial"/>
              </a:defRPr>
            </a:lvl5pPr>
            <a:lvl6pPr algn="l">
              <a:defRPr sz="4350" b="1">
                <a:solidFill>
                  <a:srgbClr val="117F79"/>
                </a:solidFill>
                <a:latin typeface="Arial"/>
                <a:ea typeface="Arial"/>
                <a:cs typeface="Arial"/>
              </a:defRPr>
            </a:lvl6pPr>
            <a:lvl7pPr algn="l">
              <a:defRPr sz="4350" b="1">
                <a:solidFill>
                  <a:srgbClr val="117F79"/>
                </a:solidFill>
                <a:latin typeface="Arial"/>
                <a:ea typeface="Arial"/>
                <a:cs typeface="Arial"/>
              </a:defRPr>
            </a:lvl7pPr>
            <a:lvl8pPr algn="l">
              <a:defRPr sz="4350" b="1">
                <a:solidFill>
                  <a:srgbClr val="117F79"/>
                </a:solidFill>
                <a:latin typeface="Arial"/>
                <a:ea typeface="Arial"/>
                <a:cs typeface="Arial"/>
              </a:defRPr>
            </a:lvl8pPr>
            <a:lvl9pPr algn="l">
              <a:defRPr sz="4350" b="1">
                <a:solidFill>
                  <a:srgbClr val="117F79"/>
                </a:solidFill>
                <a:latin typeface="Arial"/>
                <a:ea typeface="Arial"/>
                <a:cs typeface="Arial"/>
              </a:defRPr>
            </a:lvl9pPr>
          </a:lstStyle>
          <a:p xmlns:a="http://schemas.openxmlformats.org/drawingml/2006/main">
            <a:pPr algn="l">
              <a:defRPr sz="4350" b="1">
                <a:solidFill>
                  <a:srgbClr val="117F79"/>
                </a:solidFill>
                <a:latin typeface="Arial"/>
                <a:ea typeface="Arial"/>
                <a:cs typeface="Arial"/>
              </a:defRPr>
            </a:pPr>
            <a:r>
              <a:rPr sz="4350" b="1">
                <a:solidFill>
                  <a:srgbClr val="117F79"/>
                </a:solidFill>
                <a:latin typeface="Arial"/>
                <a:ea typeface="Arial"/>
                <a:cs typeface="Arial"/>
              </a:rPr>
              <a:t>70%–100%</a:t>
            </a:r>
          </a:p>
        </p:txBody>
      </p:sp>
      <p:sp>
        <p:nvSpPr>
          <p:cNvPr id="8" name="s9-sale-label">
            <a:extLst xmlns:a="http://schemas.openxmlformats.org/drawingml/2006/main">
              <a:ext uri="{FF2B5EF4-FFF2-40B4-BE49-F238E27FC236}">
                <a16:creationId xmlns:a16="http://schemas.microsoft.com/office/drawing/2014/main" id="{77298A9A-84A3-460D-970B-0F9E5262776A}"/>
              </a:ext>
            </a:extLst>
          </p:cNvPr>
          <p:cNvSpPr>
            <a:spLocks xmlns:a="http://schemas.openxmlformats.org/drawingml/2006/main" noGrp="1"/>
          </p:cNvSpPr>
          <p:nvPr/>
        </p:nvSpPr>
        <p:spPr>
          <a:xfrm xmlns:a="http://schemas.openxmlformats.org/drawingml/2006/main">
            <a:off x="6667500" y="2762250"/>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32E42"/>
                </a:solidFill>
                <a:latin typeface="Arial"/>
                <a:ea typeface="Arial"/>
                <a:cs typeface="Arial"/>
              </a:defRPr>
            </a:defPPr>
            <a:lvl1pPr algn="l">
              <a:defRPr sz="1875" b="0">
                <a:solidFill>
                  <a:srgbClr val="132E42"/>
                </a:solidFill>
                <a:latin typeface="Arial"/>
                <a:ea typeface="Arial"/>
                <a:cs typeface="Arial"/>
              </a:defRPr>
            </a:lvl1pPr>
            <a:lvl2pPr algn="l">
              <a:defRPr sz="1875" b="0">
                <a:solidFill>
                  <a:srgbClr val="132E42"/>
                </a:solidFill>
                <a:latin typeface="Arial"/>
                <a:ea typeface="Arial"/>
                <a:cs typeface="Arial"/>
              </a:defRPr>
            </a:lvl2pPr>
            <a:lvl3pPr algn="l">
              <a:defRPr sz="1875" b="0">
                <a:solidFill>
                  <a:srgbClr val="132E42"/>
                </a:solidFill>
                <a:latin typeface="Arial"/>
                <a:ea typeface="Arial"/>
                <a:cs typeface="Arial"/>
              </a:defRPr>
            </a:lvl3pPr>
            <a:lvl4pPr algn="l">
              <a:defRPr sz="1875" b="0">
                <a:solidFill>
                  <a:srgbClr val="132E42"/>
                </a:solidFill>
                <a:latin typeface="Arial"/>
                <a:ea typeface="Arial"/>
                <a:cs typeface="Arial"/>
              </a:defRPr>
            </a:lvl4pPr>
            <a:lvl5pPr algn="l">
              <a:defRPr sz="1875" b="0">
                <a:solidFill>
                  <a:srgbClr val="132E42"/>
                </a:solidFill>
                <a:latin typeface="Arial"/>
                <a:ea typeface="Arial"/>
                <a:cs typeface="Arial"/>
              </a:defRPr>
            </a:lvl5pPr>
            <a:lvl6pPr algn="l">
              <a:defRPr sz="1875" b="0">
                <a:solidFill>
                  <a:srgbClr val="132E42"/>
                </a:solidFill>
                <a:latin typeface="Arial"/>
                <a:ea typeface="Arial"/>
                <a:cs typeface="Arial"/>
              </a:defRPr>
            </a:lvl6pPr>
            <a:lvl7pPr algn="l">
              <a:defRPr sz="1875" b="0">
                <a:solidFill>
                  <a:srgbClr val="132E42"/>
                </a:solidFill>
                <a:latin typeface="Arial"/>
                <a:ea typeface="Arial"/>
                <a:cs typeface="Arial"/>
              </a:defRPr>
            </a:lvl7pPr>
            <a:lvl8pPr algn="l">
              <a:defRPr sz="1875" b="0">
                <a:solidFill>
                  <a:srgbClr val="132E42"/>
                </a:solidFill>
                <a:latin typeface="Arial"/>
                <a:ea typeface="Arial"/>
                <a:cs typeface="Arial"/>
              </a:defRPr>
            </a:lvl8pPr>
            <a:lvl9pPr algn="l">
              <a:defRPr sz="1875" b="0">
                <a:solidFill>
                  <a:srgbClr val="132E42"/>
                </a:solidFill>
                <a:latin typeface="Arial"/>
                <a:ea typeface="Arial"/>
                <a:cs typeface="Arial"/>
              </a:defRPr>
            </a:lvl9pPr>
          </a:lstStyle>
          <a:p xmlns:a="http://schemas.openxmlformats.org/drawingml/2006/main">
            <a:pPr algn="l">
              <a:defRPr sz="1875" b="0">
                <a:solidFill>
                  <a:srgbClr val="132E42"/>
                </a:solidFill>
                <a:latin typeface="Arial"/>
                <a:ea typeface="Arial"/>
                <a:cs typeface="Arial"/>
              </a:defRPr>
            </a:pPr>
            <a:r>
              <a:rPr sz="1875" b="0">
                <a:solidFill>
                  <a:srgbClr val="132E42"/>
                </a:solidFill>
                <a:latin typeface="Arial"/>
                <a:ea typeface="Arial"/>
                <a:cs typeface="Arial"/>
              </a:rPr>
              <a:t>Indicative equity sale perimeter</a:t>
            </a:r>
          </a:p>
        </p:txBody>
      </p:sp>
      <p:sp>
        <p:nvSpPr>
          <p:cNvPr id="9" name="s9-scope">
            <a:extLst xmlns:a="http://schemas.openxmlformats.org/drawingml/2006/main">
              <a:ext uri="{FF2B5EF4-FFF2-40B4-BE49-F238E27FC236}">
                <a16:creationId xmlns:a16="http://schemas.microsoft.com/office/drawing/2014/main" id="{04ACC773-A2BA-4EF6-94AB-FA8D35F02ED8}"/>
              </a:ext>
            </a:extLst>
          </p:cNvPr>
          <p:cNvSpPr>
            <a:spLocks xmlns:a="http://schemas.openxmlformats.org/drawingml/2006/main" noGrp="1"/>
          </p:cNvSpPr>
          <p:nvPr/>
        </p:nvSpPr>
        <p:spPr>
          <a:xfrm xmlns:a="http://schemas.openxmlformats.org/drawingml/2006/main">
            <a:off x="6667500" y="3619500"/>
            <a:ext cx="4953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32E42"/>
                </a:solidFill>
                <a:latin typeface="Arial"/>
                <a:ea typeface="Arial"/>
                <a:cs typeface="Arial"/>
              </a:defRPr>
            </a:defPPr>
            <a:lvl1pPr algn="l">
              <a:defRPr sz="1800" b="0">
                <a:solidFill>
                  <a:srgbClr val="132E42"/>
                </a:solidFill>
                <a:latin typeface="Arial"/>
                <a:ea typeface="Arial"/>
                <a:cs typeface="Arial"/>
              </a:defRPr>
            </a:lvl1pPr>
            <a:lvl2pPr algn="l">
              <a:defRPr sz="1800" b="0">
                <a:solidFill>
                  <a:srgbClr val="132E42"/>
                </a:solidFill>
                <a:latin typeface="Arial"/>
                <a:ea typeface="Arial"/>
                <a:cs typeface="Arial"/>
              </a:defRPr>
            </a:lvl2pPr>
            <a:lvl3pPr algn="l">
              <a:defRPr sz="1800" b="0">
                <a:solidFill>
                  <a:srgbClr val="132E42"/>
                </a:solidFill>
                <a:latin typeface="Arial"/>
                <a:ea typeface="Arial"/>
                <a:cs typeface="Arial"/>
              </a:defRPr>
            </a:lvl3pPr>
            <a:lvl4pPr algn="l">
              <a:defRPr sz="1800" b="0">
                <a:solidFill>
                  <a:srgbClr val="132E42"/>
                </a:solidFill>
                <a:latin typeface="Arial"/>
                <a:ea typeface="Arial"/>
                <a:cs typeface="Arial"/>
              </a:defRPr>
            </a:lvl4pPr>
            <a:lvl5pPr algn="l">
              <a:defRPr sz="1800" b="0">
                <a:solidFill>
                  <a:srgbClr val="132E42"/>
                </a:solidFill>
                <a:latin typeface="Arial"/>
                <a:ea typeface="Arial"/>
                <a:cs typeface="Arial"/>
              </a:defRPr>
            </a:lvl5pPr>
            <a:lvl6pPr algn="l">
              <a:defRPr sz="1800" b="0">
                <a:solidFill>
                  <a:srgbClr val="132E42"/>
                </a:solidFill>
                <a:latin typeface="Arial"/>
                <a:ea typeface="Arial"/>
                <a:cs typeface="Arial"/>
              </a:defRPr>
            </a:lvl6pPr>
            <a:lvl7pPr algn="l">
              <a:defRPr sz="1800" b="0">
                <a:solidFill>
                  <a:srgbClr val="132E42"/>
                </a:solidFill>
                <a:latin typeface="Arial"/>
                <a:ea typeface="Arial"/>
                <a:cs typeface="Arial"/>
              </a:defRPr>
            </a:lvl7pPr>
            <a:lvl8pPr algn="l">
              <a:defRPr sz="1800" b="0">
                <a:solidFill>
                  <a:srgbClr val="132E42"/>
                </a:solidFill>
                <a:latin typeface="Arial"/>
                <a:ea typeface="Arial"/>
                <a:cs typeface="Arial"/>
              </a:defRPr>
            </a:lvl8pPr>
            <a:lvl9pPr algn="l">
              <a:defRPr sz="1800" b="0">
                <a:solidFill>
                  <a:srgbClr val="132E42"/>
                </a:solidFill>
                <a:latin typeface="Arial"/>
                <a:ea typeface="Arial"/>
                <a:cs typeface="Arial"/>
              </a:defRPr>
            </a:lvl9pPr>
          </a:lstStyle>
          <a:p xmlns:a="http://schemas.openxmlformats.org/drawingml/2006/main">
            <a:pPr algn="l">
              <a:defRPr sz="1800" b="0">
                <a:solidFill>
                  <a:srgbClr val="132E42"/>
                </a:solidFill>
                <a:latin typeface="Arial"/>
                <a:ea typeface="Arial"/>
                <a:cs typeface="Arial"/>
              </a:defRPr>
            </a:pPr>
            <a:r>
              <a:rPr sz="1800" b="0">
                <a:solidFill>
                  <a:srgbClr val="132E42"/>
                </a:solidFill>
                <a:latin typeface="Arial"/>
                <a:ea typeface="Arial"/>
                <a:cs typeface="Arial"/>
              </a:rPr>
              <a:t>The proposal covers the standalone UK company. Management rollover, valuation, timetable and financing remain to be agreed.</a:t>
            </a:r>
          </a:p>
        </p:txBody>
      </p:sp>
      <p:sp>
        <p:nvSpPr>
          <p:cNvPr id="10" name="s9-caveat">
            <a:extLst xmlns:a="http://schemas.openxmlformats.org/drawingml/2006/main">
              <a:ext uri="{FF2B5EF4-FFF2-40B4-BE49-F238E27FC236}">
                <a16:creationId xmlns:a16="http://schemas.microsoft.com/office/drawing/2014/main" id="{2BCC35FA-57A3-4FB9-8EBE-EC6B426E631E}"/>
              </a:ext>
            </a:extLst>
          </p:cNvPr>
          <p:cNvSpPr>
            <a:spLocks xmlns:a="http://schemas.openxmlformats.org/drawingml/2006/main" noGrp="1"/>
          </p:cNvSpPr>
          <p:nvPr/>
        </p:nvSpPr>
        <p:spPr>
          <a:xfrm xmlns:a="http://schemas.openxmlformats.org/drawingml/2006/main">
            <a:off x="571500" y="52387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99621B"/>
                </a:solidFill>
                <a:latin typeface="Arial"/>
                <a:ea typeface="Arial"/>
                <a:cs typeface="Arial"/>
              </a:defRPr>
            </a:defPPr>
            <a:lvl1pPr algn="l">
              <a:defRPr sz="1650" b="0">
                <a:solidFill>
                  <a:srgbClr val="99621B"/>
                </a:solidFill>
                <a:latin typeface="Arial"/>
                <a:ea typeface="Arial"/>
                <a:cs typeface="Arial"/>
              </a:defRPr>
            </a:lvl1pPr>
            <a:lvl2pPr algn="l">
              <a:defRPr sz="1650" b="0">
                <a:solidFill>
                  <a:srgbClr val="99621B"/>
                </a:solidFill>
                <a:latin typeface="Arial"/>
                <a:ea typeface="Arial"/>
                <a:cs typeface="Arial"/>
              </a:defRPr>
            </a:lvl2pPr>
            <a:lvl3pPr algn="l">
              <a:defRPr sz="1650" b="0">
                <a:solidFill>
                  <a:srgbClr val="99621B"/>
                </a:solidFill>
                <a:latin typeface="Arial"/>
                <a:ea typeface="Arial"/>
                <a:cs typeface="Arial"/>
              </a:defRPr>
            </a:lvl3pPr>
            <a:lvl4pPr algn="l">
              <a:defRPr sz="1650" b="0">
                <a:solidFill>
                  <a:srgbClr val="99621B"/>
                </a:solidFill>
                <a:latin typeface="Arial"/>
                <a:ea typeface="Arial"/>
                <a:cs typeface="Arial"/>
              </a:defRPr>
            </a:lvl4pPr>
            <a:lvl5pPr algn="l">
              <a:defRPr sz="1650" b="0">
                <a:solidFill>
                  <a:srgbClr val="99621B"/>
                </a:solidFill>
                <a:latin typeface="Arial"/>
                <a:ea typeface="Arial"/>
                <a:cs typeface="Arial"/>
              </a:defRPr>
            </a:lvl5pPr>
            <a:lvl6pPr algn="l">
              <a:defRPr sz="1650" b="0">
                <a:solidFill>
                  <a:srgbClr val="99621B"/>
                </a:solidFill>
                <a:latin typeface="Arial"/>
                <a:ea typeface="Arial"/>
                <a:cs typeface="Arial"/>
              </a:defRPr>
            </a:lvl6pPr>
            <a:lvl7pPr algn="l">
              <a:defRPr sz="1650" b="0">
                <a:solidFill>
                  <a:srgbClr val="99621B"/>
                </a:solidFill>
                <a:latin typeface="Arial"/>
                <a:ea typeface="Arial"/>
                <a:cs typeface="Arial"/>
              </a:defRPr>
            </a:lvl7pPr>
            <a:lvl8pPr algn="l">
              <a:defRPr sz="1650" b="0">
                <a:solidFill>
                  <a:srgbClr val="99621B"/>
                </a:solidFill>
                <a:latin typeface="Arial"/>
                <a:ea typeface="Arial"/>
                <a:cs typeface="Arial"/>
              </a:defRPr>
            </a:lvl8pPr>
            <a:lvl9pPr algn="l">
              <a:defRPr sz="1650" b="0">
                <a:solidFill>
                  <a:srgbClr val="99621B"/>
                </a:solidFill>
                <a:latin typeface="Arial"/>
                <a:ea typeface="Arial"/>
                <a:cs typeface="Arial"/>
              </a:defRPr>
            </a:lvl9pPr>
          </a:lstStyle>
          <a:p xmlns:a="http://schemas.openxmlformats.org/drawingml/2006/main">
            <a:pPr algn="l">
              <a:defRPr sz="1650" b="0">
                <a:solidFill>
                  <a:srgbClr val="99621B"/>
                </a:solidFill>
                <a:latin typeface="Arial"/>
                <a:ea typeface="Arial"/>
                <a:cs typeface="Arial"/>
              </a:defRPr>
            </a:pPr>
            <a:r>
              <a:rPr sz="1650" b="0">
                <a:solidFill>
                  <a:srgbClr val="99621B"/>
                </a:solidFill>
                <a:latin typeface="Arial"/>
                <a:ea typeface="Arial"/>
                <a:cs typeface="Arial"/>
              </a:rPr>
              <a:t>Cash, debt and normalised working capital have not been supplied.</a:t>
            </a:r>
          </a:p>
          <a:p xmlns:a="http://schemas.openxmlformats.org/drawingml/2006/main">
            <a:pPr algn="l">
              <a:defRPr sz="1650" b="0">
                <a:solidFill>
                  <a:srgbClr val="99621B"/>
                </a:solidFill>
                <a:latin typeface="Arial"/>
                <a:ea typeface="Arial"/>
                <a:cs typeface="Arial"/>
              </a:defRPr>
            </a:pPr>
            <a:r>
              <a:rPr sz="1650" b="0">
                <a:solidFill>
                  <a:srgbClr val="99621B"/>
                </a:solidFill>
                <a:latin typeface="Arial"/>
                <a:ea typeface="Arial"/>
                <a:cs typeface="Arial"/>
              </a:rPr>
              <a:t>An enterprise-to-equity value bridge cannot yet be prepared.</a:t>
            </a:r>
          </a:p>
        </p:txBody>
      </p:sp>
    </p:spTree>
    <p:extLst>
      <p:ext uri="{BB962C8B-B14F-4D97-AF65-F5344CB8AC3E}">
        <p14:creationId xmlns:p14="http://schemas.microsoft.com/office/powerpoint/2010/main" val="11042084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10-section">
            <a:extLst xmlns:a="http://schemas.openxmlformats.org/drawingml/2006/main">
              <a:ext uri="{FF2B5EF4-FFF2-40B4-BE49-F238E27FC236}">
                <a16:creationId xmlns:a16="http://schemas.microsoft.com/office/drawing/2014/main" id="{42CC75CF-EEC7-44D3-8A76-B1A15CFDEE2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117F79"/>
                </a:solidFill>
                <a:latin typeface="Arial"/>
                <a:ea typeface="Arial"/>
                <a:cs typeface="Arial"/>
              </a:defRPr>
            </a:defPPr>
            <a:lvl1pPr algn="l">
              <a:defRPr sz="1050" b="1">
                <a:solidFill>
                  <a:srgbClr val="117F79"/>
                </a:solidFill>
                <a:latin typeface="Arial"/>
                <a:ea typeface="Arial"/>
                <a:cs typeface="Arial"/>
              </a:defRPr>
            </a:lvl1pPr>
            <a:lvl2pPr algn="l">
              <a:defRPr sz="1050" b="1">
                <a:solidFill>
                  <a:srgbClr val="117F79"/>
                </a:solidFill>
                <a:latin typeface="Arial"/>
                <a:ea typeface="Arial"/>
                <a:cs typeface="Arial"/>
              </a:defRPr>
            </a:lvl2pPr>
            <a:lvl3pPr algn="l">
              <a:defRPr sz="1050" b="1">
                <a:solidFill>
                  <a:srgbClr val="117F79"/>
                </a:solidFill>
                <a:latin typeface="Arial"/>
                <a:ea typeface="Arial"/>
                <a:cs typeface="Arial"/>
              </a:defRPr>
            </a:lvl3pPr>
            <a:lvl4pPr algn="l">
              <a:defRPr sz="1050" b="1">
                <a:solidFill>
                  <a:srgbClr val="117F79"/>
                </a:solidFill>
                <a:latin typeface="Arial"/>
                <a:ea typeface="Arial"/>
                <a:cs typeface="Arial"/>
              </a:defRPr>
            </a:lvl4pPr>
            <a:lvl5pPr algn="l">
              <a:defRPr sz="1050" b="1">
                <a:solidFill>
                  <a:srgbClr val="117F79"/>
                </a:solidFill>
                <a:latin typeface="Arial"/>
                <a:ea typeface="Arial"/>
                <a:cs typeface="Arial"/>
              </a:defRPr>
            </a:lvl5pPr>
            <a:lvl6pPr algn="l">
              <a:defRPr sz="1050" b="1">
                <a:solidFill>
                  <a:srgbClr val="117F79"/>
                </a:solidFill>
                <a:latin typeface="Arial"/>
                <a:ea typeface="Arial"/>
                <a:cs typeface="Arial"/>
              </a:defRPr>
            </a:lvl6pPr>
            <a:lvl7pPr algn="l">
              <a:defRPr sz="1050" b="1">
                <a:solidFill>
                  <a:srgbClr val="117F79"/>
                </a:solidFill>
                <a:latin typeface="Arial"/>
                <a:ea typeface="Arial"/>
                <a:cs typeface="Arial"/>
              </a:defRPr>
            </a:lvl7pPr>
            <a:lvl8pPr algn="l">
              <a:defRPr sz="1050" b="1">
                <a:solidFill>
                  <a:srgbClr val="117F79"/>
                </a:solidFill>
                <a:latin typeface="Arial"/>
                <a:ea typeface="Arial"/>
                <a:cs typeface="Arial"/>
              </a:defRPr>
            </a:lvl8pPr>
            <a:lvl9pPr algn="l">
              <a:defRPr sz="1050" b="1">
                <a:solidFill>
                  <a:srgbClr val="117F79"/>
                </a:solidFill>
                <a:latin typeface="Arial"/>
                <a:ea typeface="Arial"/>
                <a:cs typeface="Arial"/>
              </a:defRPr>
            </a:lvl9pPr>
          </a:lstStyle>
          <a:p xmlns:a="http://schemas.openxmlformats.org/drawingml/2006/main">
            <a:pPr algn="l">
              <a:defRPr sz="1050" b="1">
                <a:solidFill>
                  <a:srgbClr val="117F79"/>
                </a:solidFill>
                <a:latin typeface="Arial"/>
                <a:ea typeface="Arial"/>
                <a:cs typeface="Arial"/>
              </a:defRPr>
            </a:pPr>
            <a:r>
              <a:rPr sz="1050" b="1">
                <a:solidFill>
                  <a:srgbClr val="117F79"/>
                </a:solidFill>
                <a:latin typeface="Arial"/>
                <a:ea typeface="Arial"/>
                <a:cs typeface="Arial"/>
              </a:rPr>
              <a:t>NORTHBRIDGE  /  REVIEW AGENDA</a:t>
            </a:r>
          </a:p>
        </p:txBody>
      </p:sp>
      <p:sp>
        <p:nvSpPr>
          <p:cNvPr id="2" name="s10-title">
            <a:extLst xmlns:a="http://schemas.openxmlformats.org/drawingml/2006/main">
              <a:ext uri="{FF2B5EF4-FFF2-40B4-BE49-F238E27FC236}">
                <a16:creationId xmlns:a16="http://schemas.microsoft.com/office/drawing/2014/main" id="{D4EFD09D-2415-452D-94F1-B2BD5E73E5BC}"/>
              </a:ext>
            </a:extLst>
          </p:cNvPr>
          <p:cNvSpPr>
            <a:spLocks xmlns:a="http://schemas.openxmlformats.org/drawingml/2006/main" noGrp="1"/>
          </p:cNvSpPr>
          <p:nvPr/>
        </p:nvSpPr>
        <p:spPr>
          <a:xfrm xmlns:a="http://schemas.openxmlformats.org/drawingml/2006/main">
            <a:off x="571500" y="7239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32E42"/>
                </a:solidFill>
                <a:latin typeface="Arial"/>
                <a:ea typeface="Arial"/>
                <a:cs typeface="Arial"/>
              </a:defRPr>
            </a:defPPr>
            <a:lvl1pPr algn="l">
              <a:defRPr sz="3150" b="1">
                <a:solidFill>
                  <a:srgbClr val="132E42"/>
                </a:solidFill>
                <a:latin typeface="Arial"/>
                <a:ea typeface="Arial"/>
                <a:cs typeface="Arial"/>
              </a:defRPr>
            </a:lvl1pPr>
            <a:lvl2pPr algn="l">
              <a:defRPr sz="3150" b="1">
                <a:solidFill>
                  <a:srgbClr val="132E42"/>
                </a:solidFill>
                <a:latin typeface="Arial"/>
                <a:ea typeface="Arial"/>
                <a:cs typeface="Arial"/>
              </a:defRPr>
            </a:lvl2pPr>
            <a:lvl3pPr algn="l">
              <a:defRPr sz="3150" b="1">
                <a:solidFill>
                  <a:srgbClr val="132E42"/>
                </a:solidFill>
                <a:latin typeface="Arial"/>
                <a:ea typeface="Arial"/>
                <a:cs typeface="Arial"/>
              </a:defRPr>
            </a:lvl3pPr>
            <a:lvl4pPr algn="l">
              <a:defRPr sz="3150" b="1">
                <a:solidFill>
                  <a:srgbClr val="132E42"/>
                </a:solidFill>
                <a:latin typeface="Arial"/>
                <a:ea typeface="Arial"/>
                <a:cs typeface="Arial"/>
              </a:defRPr>
            </a:lvl4pPr>
            <a:lvl5pPr algn="l">
              <a:defRPr sz="3150" b="1">
                <a:solidFill>
                  <a:srgbClr val="132E42"/>
                </a:solidFill>
                <a:latin typeface="Arial"/>
                <a:ea typeface="Arial"/>
                <a:cs typeface="Arial"/>
              </a:defRPr>
            </a:lvl5pPr>
            <a:lvl6pPr algn="l">
              <a:defRPr sz="3150" b="1">
                <a:solidFill>
                  <a:srgbClr val="132E42"/>
                </a:solidFill>
                <a:latin typeface="Arial"/>
                <a:ea typeface="Arial"/>
                <a:cs typeface="Arial"/>
              </a:defRPr>
            </a:lvl6pPr>
            <a:lvl7pPr algn="l">
              <a:defRPr sz="3150" b="1">
                <a:solidFill>
                  <a:srgbClr val="132E42"/>
                </a:solidFill>
                <a:latin typeface="Arial"/>
                <a:ea typeface="Arial"/>
                <a:cs typeface="Arial"/>
              </a:defRPr>
            </a:lvl7pPr>
            <a:lvl8pPr algn="l">
              <a:defRPr sz="3150" b="1">
                <a:solidFill>
                  <a:srgbClr val="132E42"/>
                </a:solidFill>
                <a:latin typeface="Arial"/>
                <a:ea typeface="Arial"/>
                <a:cs typeface="Arial"/>
              </a:defRPr>
            </a:lvl8pPr>
            <a:lvl9pPr algn="l">
              <a:defRPr sz="3150" b="1">
                <a:solidFill>
                  <a:srgbClr val="132E42"/>
                </a:solidFill>
                <a:latin typeface="Arial"/>
                <a:ea typeface="Arial"/>
                <a:cs typeface="Arial"/>
              </a:defRPr>
            </a:lvl9pPr>
          </a:lstStyle>
          <a:p xmlns:a="http://schemas.openxmlformats.org/drawingml/2006/main">
            <a:pPr algn="l">
              <a:defRPr sz="3150" b="1">
                <a:solidFill>
                  <a:srgbClr val="132E42"/>
                </a:solidFill>
                <a:latin typeface="Arial"/>
                <a:ea typeface="Arial"/>
                <a:cs typeface="Arial"/>
              </a:defRPr>
            </a:pPr>
            <a:r>
              <a:rPr sz="3150" b="1">
                <a:solidFill>
                  <a:srgbClr val="132E42"/>
                </a:solidFill>
                <a:latin typeface="Arial"/>
                <a:ea typeface="Arial"/>
                <a:cs typeface="Arial"/>
              </a:rPr>
              <a:t>Key considerations and diligence</a:t>
            </a:r>
          </a:p>
        </p:txBody>
      </p:sp>
      <p:sp>
        <p:nvSpPr>
          <p:cNvPr id="3" name="s10-header-rule">
            <a:extLst xmlns:a="http://schemas.openxmlformats.org/drawingml/2006/main">
              <a:ext uri="{FF2B5EF4-FFF2-40B4-BE49-F238E27FC236}">
                <a16:creationId xmlns:a16="http://schemas.microsoft.com/office/drawing/2014/main" id="{2C1B6DD6-F33E-4363-9ED1-0D56DE6F7725}"/>
              </a:ext>
            </a:extLst>
          </p:cNvPr>
          <p:cNvSpPr>
            <a:spLocks xmlns:a="http://schemas.openxmlformats.org/drawingml/2006/main" noGrp="1"/>
          </p:cNvSpPr>
          <p:nvPr/>
        </p:nvSpPr>
        <p:spPr>
          <a:xfrm xmlns:a="http://schemas.openxmlformats.org/drawingml/2006/main">
            <a:off x="571500" y="1466850"/>
            <a:ext cx="11049000" cy="9525"/>
          </a:xfrm>
          <a:prstGeom xmlns:a="http://schemas.openxmlformats.org/drawingml/2006/main" prst="rect">
            <a:avLst/>
          </a:prstGeom>
          <a:solidFill xmlns:a="http://schemas.openxmlformats.org/drawingml/2006/main">
            <a:srgbClr val="DCE4E8"/>
          </a:solidFill>
          <a:ln xmlns:a="http://schemas.openxmlformats.org/drawingml/2006/main" w="0">
            <a:noFill/>
          </a:ln>
        </p:spPr>
      </p:sp>
      <p:sp>
        <p:nvSpPr>
          <p:cNvPr id="4" name="s10-footer">
            <a:extLst xmlns:a="http://schemas.openxmlformats.org/drawingml/2006/main">
              <a:ext uri="{FF2B5EF4-FFF2-40B4-BE49-F238E27FC236}">
                <a16:creationId xmlns:a16="http://schemas.microsoft.com/office/drawing/2014/main" id="{CF30A3CC-0320-4481-99D0-3EFEF6171E3A}"/>
              </a:ext>
            </a:extLst>
          </p:cNvPr>
          <p:cNvSpPr>
            <a:spLocks xmlns:a="http://schemas.openxmlformats.org/drawingml/2006/main" noGrp="1"/>
          </p:cNvSpPr>
          <p:nvPr/>
        </p:nvSpPr>
        <p:spPr>
          <a:xfrm xmlns:a="http://schemas.openxmlformats.org/drawingml/2006/main">
            <a:off x="571500" y="6448425"/>
            <a:ext cx="10191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75" b="0">
                <a:solidFill>
                  <a:srgbClr val="586D7C"/>
                </a:solidFill>
                <a:latin typeface="Arial"/>
                <a:ea typeface="Arial"/>
                <a:cs typeface="Arial"/>
              </a:defRPr>
            </a:defPPr>
            <a:lvl1pPr algn="l">
              <a:defRPr sz="975" b="0">
                <a:solidFill>
                  <a:srgbClr val="586D7C"/>
                </a:solidFill>
                <a:latin typeface="Arial"/>
                <a:ea typeface="Arial"/>
                <a:cs typeface="Arial"/>
              </a:defRPr>
            </a:lvl1pPr>
            <a:lvl2pPr algn="l">
              <a:defRPr sz="975" b="0">
                <a:solidFill>
                  <a:srgbClr val="586D7C"/>
                </a:solidFill>
                <a:latin typeface="Arial"/>
                <a:ea typeface="Arial"/>
                <a:cs typeface="Arial"/>
              </a:defRPr>
            </a:lvl2pPr>
            <a:lvl3pPr algn="l">
              <a:defRPr sz="975" b="0">
                <a:solidFill>
                  <a:srgbClr val="586D7C"/>
                </a:solidFill>
                <a:latin typeface="Arial"/>
                <a:ea typeface="Arial"/>
                <a:cs typeface="Arial"/>
              </a:defRPr>
            </a:lvl3pPr>
            <a:lvl4pPr algn="l">
              <a:defRPr sz="975" b="0">
                <a:solidFill>
                  <a:srgbClr val="586D7C"/>
                </a:solidFill>
                <a:latin typeface="Arial"/>
                <a:ea typeface="Arial"/>
                <a:cs typeface="Arial"/>
              </a:defRPr>
            </a:lvl4pPr>
            <a:lvl5pPr algn="l">
              <a:defRPr sz="975" b="0">
                <a:solidFill>
                  <a:srgbClr val="586D7C"/>
                </a:solidFill>
                <a:latin typeface="Arial"/>
                <a:ea typeface="Arial"/>
                <a:cs typeface="Arial"/>
              </a:defRPr>
            </a:lvl5pPr>
            <a:lvl6pPr algn="l">
              <a:defRPr sz="975" b="0">
                <a:solidFill>
                  <a:srgbClr val="586D7C"/>
                </a:solidFill>
                <a:latin typeface="Arial"/>
                <a:ea typeface="Arial"/>
                <a:cs typeface="Arial"/>
              </a:defRPr>
            </a:lvl6pPr>
            <a:lvl7pPr algn="l">
              <a:defRPr sz="975" b="0">
                <a:solidFill>
                  <a:srgbClr val="586D7C"/>
                </a:solidFill>
                <a:latin typeface="Arial"/>
                <a:ea typeface="Arial"/>
                <a:cs typeface="Arial"/>
              </a:defRPr>
            </a:lvl7pPr>
            <a:lvl8pPr algn="l">
              <a:defRPr sz="975" b="0">
                <a:solidFill>
                  <a:srgbClr val="586D7C"/>
                </a:solidFill>
                <a:latin typeface="Arial"/>
                <a:ea typeface="Arial"/>
                <a:cs typeface="Arial"/>
              </a:defRPr>
            </a:lvl8pPr>
            <a:lvl9pPr algn="l">
              <a:defRPr sz="975" b="0">
                <a:solidFill>
                  <a:srgbClr val="586D7C"/>
                </a:solidFill>
                <a:latin typeface="Arial"/>
                <a:ea typeface="Arial"/>
                <a:cs typeface="Arial"/>
              </a:defRPr>
            </a:lvl9pPr>
          </a:lstStyle>
          <a:p xmlns:a="http://schemas.openxmlformats.org/drawingml/2006/main">
            <a:pPr algn="l">
              <a:defRPr sz="975" b="0">
                <a:solidFill>
                  <a:srgbClr val="586D7C"/>
                </a:solidFill>
                <a:latin typeface="Arial"/>
                <a:ea typeface="Arial"/>
                <a:cs typeface="Arial"/>
              </a:defRPr>
            </a:pPr>
            <a:r>
              <a:rPr sz="975" b="0">
                <a:solidFill>
                  <a:srgbClr val="586D7C"/>
                </a:solidFill>
                <a:latin typeface="Arial"/>
                <a:ea typeface="Arial"/>
                <a:cs typeface="Arial"/>
              </a:rPr>
              <a:t>FICTIONAL TRAINING MATERIAL   •   Management information, January 2026</a:t>
            </a:r>
          </a:p>
        </p:txBody>
      </p:sp>
      <p:sp>
        <p:nvSpPr>
          <p:cNvPr id="5" name="s10-page">
            <a:extLst xmlns:a="http://schemas.openxmlformats.org/drawingml/2006/main">
              <a:ext uri="{FF2B5EF4-FFF2-40B4-BE49-F238E27FC236}">
                <a16:creationId xmlns:a16="http://schemas.microsoft.com/office/drawing/2014/main" id="{67FD9F13-713C-4075-BC97-B8FDF881DA46}"/>
              </a:ext>
            </a:extLst>
          </p:cNvPr>
          <p:cNvSpPr>
            <a:spLocks xmlns:a="http://schemas.openxmlformats.org/drawingml/2006/main" noGrp="1"/>
          </p:cNvSpPr>
          <p:nvPr/>
        </p:nvSpPr>
        <p:spPr>
          <a:xfrm xmlns:a="http://schemas.openxmlformats.org/drawingml/2006/main">
            <a:off x="11144250" y="6448425"/>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050" b="0">
                <a:solidFill>
                  <a:srgbClr val="586D7C"/>
                </a:solidFill>
                <a:latin typeface="Arial"/>
                <a:ea typeface="Arial"/>
                <a:cs typeface="Arial"/>
              </a:defRPr>
            </a:defPPr>
            <a:lvl1pPr algn="r">
              <a:defRPr sz="1050" b="0">
                <a:solidFill>
                  <a:srgbClr val="586D7C"/>
                </a:solidFill>
                <a:latin typeface="Arial"/>
                <a:ea typeface="Arial"/>
                <a:cs typeface="Arial"/>
              </a:defRPr>
            </a:lvl1pPr>
            <a:lvl2pPr algn="r">
              <a:defRPr sz="1050" b="0">
                <a:solidFill>
                  <a:srgbClr val="586D7C"/>
                </a:solidFill>
                <a:latin typeface="Arial"/>
                <a:ea typeface="Arial"/>
                <a:cs typeface="Arial"/>
              </a:defRPr>
            </a:lvl2pPr>
            <a:lvl3pPr algn="r">
              <a:defRPr sz="1050" b="0">
                <a:solidFill>
                  <a:srgbClr val="586D7C"/>
                </a:solidFill>
                <a:latin typeface="Arial"/>
                <a:ea typeface="Arial"/>
                <a:cs typeface="Arial"/>
              </a:defRPr>
            </a:lvl3pPr>
            <a:lvl4pPr algn="r">
              <a:defRPr sz="1050" b="0">
                <a:solidFill>
                  <a:srgbClr val="586D7C"/>
                </a:solidFill>
                <a:latin typeface="Arial"/>
                <a:ea typeface="Arial"/>
                <a:cs typeface="Arial"/>
              </a:defRPr>
            </a:lvl4pPr>
            <a:lvl5pPr algn="r">
              <a:defRPr sz="1050" b="0">
                <a:solidFill>
                  <a:srgbClr val="586D7C"/>
                </a:solidFill>
                <a:latin typeface="Arial"/>
                <a:ea typeface="Arial"/>
                <a:cs typeface="Arial"/>
              </a:defRPr>
            </a:lvl5pPr>
            <a:lvl6pPr algn="r">
              <a:defRPr sz="1050" b="0">
                <a:solidFill>
                  <a:srgbClr val="586D7C"/>
                </a:solidFill>
                <a:latin typeface="Arial"/>
                <a:ea typeface="Arial"/>
                <a:cs typeface="Arial"/>
              </a:defRPr>
            </a:lvl6pPr>
            <a:lvl7pPr algn="r">
              <a:defRPr sz="1050" b="0">
                <a:solidFill>
                  <a:srgbClr val="586D7C"/>
                </a:solidFill>
                <a:latin typeface="Arial"/>
                <a:ea typeface="Arial"/>
                <a:cs typeface="Arial"/>
              </a:defRPr>
            </a:lvl7pPr>
            <a:lvl8pPr algn="r">
              <a:defRPr sz="1050" b="0">
                <a:solidFill>
                  <a:srgbClr val="586D7C"/>
                </a:solidFill>
                <a:latin typeface="Arial"/>
                <a:ea typeface="Arial"/>
                <a:cs typeface="Arial"/>
              </a:defRPr>
            </a:lvl8pPr>
            <a:lvl9pPr algn="r">
              <a:defRPr sz="1050" b="0">
                <a:solidFill>
                  <a:srgbClr val="586D7C"/>
                </a:solidFill>
                <a:latin typeface="Arial"/>
                <a:ea typeface="Arial"/>
                <a:cs typeface="Arial"/>
              </a:defRPr>
            </a:lvl9pPr>
          </a:lstStyle>
          <a:p xmlns:a="http://schemas.openxmlformats.org/drawingml/2006/main">
            <a:pPr algn="r">
              <a:defRPr sz="1050" b="0">
                <a:solidFill>
                  <a:srgbClr val="586D7C"/>
                </a:solidFill>
                <a:latin typeface="Arial"/>
                <a:ea typeface="Arial"/>
                <a:cs typeface="Arial"/>
              </a:defRPr>
            </a:pPr>
            <a:r>
              <a:rPr sz="1050" b="0">
                <a:solidFill>
                  <a:srgbClr val="586D7C"/>
                </a:solidFill>
                <a:latin typeface="Arial"/>
                <a:ea typeface="Arial"/>
                <a:cs typeface="Arial"/>
              </a:rPr>
              <a:t>10</a:t>
            </a:r>
          </a:p>
        </p:txBody>
      </p:sp>
      <p:graphicFrame>
        <p:nvGraphicFramePr>
          <p:cNvPr id="6" name="">
            <a:extLst xmlns:a="http://schemas.openxmlformats.org/drawingml/2006/main">
              <a:ext uri="{FF2B5EF4-FFF2-40B4-BE49-F238E27FC236}">
                <a16:creationId xmlns:a16="http://schemas.microsoft.com/office/drawing/2014/main" id="{51243ABE-CF89-4E0D-98FA-16822983C454}"/>
              </a:ext>
            </a:extLst>
          </p:cNvPr>
          <p:cNvGraphicFramePr/>
          <p:nvPr/>
        </p:nvGraphicFramePr>
        <p:xfrm>
          <a:off xmlns:a="http://schemas.openxmlformats.org/drawingml/2006/main" x="571500" y="1809750"/>
          <a:ext xmlns:a="http://schemas.openxmlformats.org/drawingml/2006/main" cx="11049000" cy="3714750"/>
        </p:xfrm>
        <a:graphic xmlns:a="http://schemas.openxmlformats.org/drawingml/2006/main">
          <a:graphicData uri="http://schemas.openxmlformats.org/drawingml/2006/table">
            <a:tbl>
              <a:tblPr/>
              <a:tblGrid>
                <a:gridCol w="2599730"/>
                <a:gridCol w="3899595"/>
                <a:gridCol w="4549676"/>
              </a:tblGrid>
              <a:tr h="474861">
                <a:tc>
                  <a:txBody>
                    <a:bodyPr lIns="114300" tIns="76200" rIns="114300" bIns="76200">
                      <a:noAutofit/>
                    </a:bodyPr>
                    <a:lstStyle/>
                    <a:p>
                      <a:r>
                        <a:rPr sz="1500" b="1">
                          <a:solidFill>
                            <a:srgbClr val="FFFFFF"/>
                          </a:solidFill>
                          <a:latin typeface="Arial"/>
                          <a:ea typeface="Arial"/>
                          <a:cs typeface="Arial"/>
                        </a:rPr>
                        <a:t>Topic</a:t>
                      </a:r>
                    </a:p>
                  </a:txBody>
                  <a:tcPr marL="91440" marR="91440" marT="45720" marB="45720" anchor="ctr">
                    <a:lnL w="9525">
                      <a:solidFill>
                        <a:srgbClr val="DCE4E8"/>
                      </a:solidFill>
                      <a:prstDash val="solid"/>
                    </a:lnL>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500" b="1">
                          <a:solidFill>
                            <a:srgbClr val="FFFFFF"/>
                          </a:solidFill>
                          <a:latin typeface="Arial"/>
                          <a:ea typeface="Arial"/>
                          <a:cs typeface="Arial"/>
                        </a:rPr>
                        <a:t>Current position</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c>
                  <a:txBody>
                    <a:bodyPr lIns="114300" tIns="76200" rIns="114300" bIns="76200">
                      <a:noAutofit/>
                    </a:bodyPr>
                    <a:lstStyle/>
                    <a:p>
                      <a:r>
                        <a:rPr sz="1500" b="1">
                          <a:solidFill>
                            <a:srgbClr val="FFFFFF"/>
                          </a:solidFill>
                          <a:latin typeface="Arial"/>
                          <a:ea typeface="Arial"/>
                          <a:cs typeface="Arial"/>
                        </a:rPr>
                        <a:t>Evidence required</a:t>
                      </a:r>
                    </a:p>
                  </a:txBody>
                  <a:tcPr marL="91440" marR="91440" marT="45720" marB="45720" anchor="ctr">
                    <a:lnR w="9525">
                      <a:solidFill>
                        <a:srgbClr val="DCE4E8"/>
                      </a:solidFill>
                      <a:prstDash val="solid"/>
                    </a:lnR>
                    <a:lnT w="9525">
                      <a:solidFill>
                        <a:srgbClr val="DCE4E8"/>
                      </a:solidFill>
                      <a:prstDash val="solid"/>
                    </a:lnT>
                    <a:lnB w="9525">
                      <a:solidFill>
                        <a:srgbClr val="DCE4E8"/>
                      </a:solidFill>
                      <a:prstDash val="solid"/>
                    </a:lnB>
                    <a:solidFill>
                      <a:srgbClr val="132E42"/>
                    </a:solidFill>
                  </a:tcPr>
                </a:tc>
              </a:tr>
              <a:tr h="478830">
                <a:tc>
                  <a:txBody>
                    <a:bodyPr lIns="114300" tIns="76200" rIns="114300" bIns="76200">
                      <a:noAutofit/>
                    </a:bodyPr>
                    <a:lstStyle/>
                    <a:p>
                      <a:r>
                        <a:rPr sz="1500" b="0">
                          <a:solidFill>
                            <a:srgbClr val="132E42"/>
                          </a:solidFill>
                          <a:latin typeface="Arial"/>
                          <a:ea typeface="Arial"/>
                          <a:cs typeface="Arial"/>
                        </a:rPr>
                        <a:t>Revenue recognition</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£25.0m model vs £26.2m briefing</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Recognised revenue reconciliation</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759520">
                <a:tc>
                  <a:txBody>
                    <a:bodyPr lIns="114300" tIns="76200" rIns="114300" bIns="76200">
                      <a:noAutofit/>
                    </a:bodyPr>
                    <a:lstStyle/>
                    <a:p>
                      <a:r>
                        <a:rPr sz="1500" b="0">
                          <a:solidFill>
                            <a:srgbClr val="132E42"/>
                          </a:solidFill>
                          <a:latin typeface="Arial"/>
                          <a:ea typeface="Arial"/>
                          <a:cs typeface="Arial"/>
                        </a:rPr>
                        <a:t>Earnings and</a:t>
                      </a:r>
                    </a:p>
                    <a:p>
                      <a:r>
                        <a:rPr sz="1500" b="0">
                          <a:solidFill>
                            <a:srgbClr val="132E42"/>
                          </a:solidFill>
                          <a:latin typeface="Arial"/>
                          <a:ea typeface="Arial"/>
                          <a:cs typeface="Arial"/>
                        </a:rPr>
                        <a:t>balance sheet</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500" b="0">
                          <a:solidFill>
                            <a:srgbClr val="132E42"/>
                          </a:solidFill>
                          <a:latin typeface="Arial"/>
                          <a:ea typeface="Arial"/>
                          <a:cs typeface="Arial"/>
                        </a:rPr>
                        <a:t>Unaudited management EBITDA</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500" b="0">
                          <a:solidFill>
                            <a:srgbClr val="132E42"/>
                          </a:solidFill>
                          <a:latin typeface="Arial"/>
                          <a:ea typeface="Arial"/>
                          <a:cs typeface="Arial"/>
                        </a:rPr>
                        <a:t>QoE, normalisation, debt,</a:t>
                      </a:r>
                    </a:p>
                    <a:p>
                      <a:r>
                        <a:rPr sz="1500" b="0">
                          <a:solidFill>
                            <a:srgbClr val="132E42"/>
                          </a:solidFill>
                          <a:latin typeface="Arial"/>
                          <a:ea typeface="Arial"/>
                          <a:cs typeface="Arial"/>
                        </a:rPr>
                        <a:t>cash and working capital</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759520">
                <a:tc>
                  <a:txBody>
                    <a:bodyPr lIns="114300" tIns="76200" rIns="114300" bIns="76200">
                      <a:noAutofit/>
                    </a:bodyPr>
                    <a:lstStyle/>
                    <a:p>
                      <a:r>
                        <a:rPr sz="1500" b="0">
                          <a:solidFill>
                            <a:srgbClr val="132E42"/>
                          </a:solidFill>
                          <a:latin typeface="Arial"/>
                          <a:ea typeface="Arial"/>
                          <a:cs typeface="Arial"/>
                        </a:rPr>
                        <a:t>Customer quality</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Top five account for 42%</a:t>
                      </a:r>
                    </a:p>
                    <a:p>
                      <a:r>
                        <a:rPr sz="1500" b="0">
                          <a:solidFill>
                            <a:srgbClr val="132E42"/>
                          </a:solidFill>
                          <a:latin typeface="Arial"/>
                          <a:ea typeface="Arial"/>
                          <a:cs typeface="Arial"/>
                        </a:rPr>
                        <a:t>of revenue</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Contracts and defined</a:t>
                      </a:r>
                    </a:p>
                    <a:p>
                      <a:r>
                        <a:rPr sz="1500" b="0">
                          <a:solidFill>
                            <a:srgbClr val="132E42"/>
                          </a:solidFill>
                          <a:latin typeface="Arial"/>
                          <a:ea typeface="Arial"/>
                          <a:cs typeface="Arial"/>
                        </a:rPr>
                        <a:t>retention cohorts</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r h="759520">
                <a:tc>
                  <a:txBody>
                    <a:bodyPr lIns="114300" tIns="76200" rIns="114300" bIns="76200">
                      <a:noAutofit/>
                    </a:bodyPr>
                    <a:lstStyle/>
                    <a:p>
                      <a:r>
                        <a:rPr sz="1500" b="0">
                          <a:solidFill>
                            <a:srgbClr val="132E42"/>
                          </a:solidFill>
                          <a:latin typeface="Arial"/>
                          <a:ea typeface="Arial"/>
                          <a:cs typeface="Arial"/>
                        </a:rPr>
                        <a:t>Growth execution</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500" b="0">
                          <a:solidFill>
                            <a:srgbClr val="132E42"/>
                          </a:solidFill>
                          <a:latin typeface="Arial"/>
                          <a:ea typeface="Arial"/>
                          <a:cs typeface="Arial"/>
                        </a:rPr>
                        <a:t>Hiring and renewals</a:t>
                      </a:r>
                    </a:p>
                    <a:p>
                      <a:r>
                        <a:rPr sz="1500" b="0">
                          <a:solidFill>
                            <a:srgbClr val="132E42"/>
                          </a:solidFill>
                          <a:latin typeface="Arial"/>
                          <a:ea typeface="Arial"/>
                          <a:cs typeface="Arial"/>
                        </a:rPr>
                        <a:t>underpin forecast</a:t>
                      </a:r>
                    </a:p>
                  </a:txBody>
                  <a:tcPr marL="91440" marR="91440" marT="45720" marB="45720" anchor="ctr">
                    <a:lnR w="9525">
                      <a:solidFill>
                        <a:srgbClr val="DCE4E8"/>
                      </a:solidFill>
                      <a:prstDash val="solid"/>
                    </a:lnR>
                    <a:lnB w="9525">
                      <a:solidFill>
                        <a:srgbClr val="DCE4E8"/>
                      </a:solidFill>
                      <a:prstDash val="solid"/>
                    </a:lnB>
                    <a:solidFill>
                      <a:srgbClr val="F2F6F7"/>
                    </a:solidFill>
                  </a:tcPr>
                </a:tc>
                <a:tc>
                  <a:txBody>
                    <a:bodyPr lIns="114300" tIns="76200" rIns="114300" bIns="76200">
                      <a:noAutofit/>
                    </a:bodyPr>
                    <a:lstStyle/>
                    <a:p>
                      <a:r>
                        <a:rPr sz="1500" b="0">
                          <a:solidFill>
                            <a:srgbClr val="132E42"/>
                          </a:solidFill>
                          <a:latin typeface="Arial"/>
                          <a:ea typeface="Arial"/>
                          <a:cs typeface="Arial"/>
                        </a:rPr>
                        <a:t>Revenue bridge, pipeline</a:t>
                      </a:r>
                    </a:p>
                    <a:p>
                      <a:r>
                        <a:rPr sz="1500" b="0">
                          <a:solidFill>
                            <a:srgbClr val="132E42"/>
                          </a:solidFill>
                          <a:latin typeface="Arial"/>
                          <a:ea typeface="Arial"/>
                          <a:cs typeface="Arial"/>
                        </a:rPr>
                        <a:t>and hiring costs</a:t>
                      </a:r>
                    </a:p>
                  </a:txBody>
                  <a:tcPr marL="91440" marR="91440" marT="45720" marB="45720" anchor="ctr">
                    <a:lnR w="9525">
                      <a:solidFill>
                        <a:srgbClr val="DCE4E8"/>
                      </a:solidFill>
                      <a:prstDash val="solid"/>
                    </a:lnR>
                    <a:lnB w="9525">
                      <a:solidFill>
                        <a:srgbClr val="DCE4E8"/>
                      </a:solidFill>
                      <a:prstDash val="solid"/>
                    </a:lnB>
                    <a:solidFill>
                      <a:srgbClr val="F2F6F7"/>
                    </a:solidFill>
                  </a:tcPr>
                </a:tc>
              </a:tr>
              <a:tr h="479326">
                <a:tc>
                  <a:txBody>
                    <a:bodyPr lIns="114300" tIns="76200" rIns="114300" bIns="76200">
                      <a:noAutofit/>
                    </a:bodyPr>
                    <a:lstStyle/>
                    <a:p>
                      <a:r>
                        <a:rPr sz="1500" b="0">
                          <a:solidFill>
                            <a:srgbClr val="132E42"/>
                          </a:solidFill>
                          <a:latin typeface="Arial"/>
                          <a:ea typeface="Arial"/>
                          <a:cs typeface="Arial"/>
                        </a:rPr>
                        <a:t>Market positioning</a:t>
                      </a:r>
                    </a:p>
                  </a:txBody>
                  <a:tcPr marL="91440" marR="91440" marT="45720" marB="45720" anchor="ctr">
                    <a:lnL w="9525">
                      <a:solidFill>
                        <a:srgbClr val="DCE4E8"/>
                      </a:solidFill>
                      <a:prstDash val="solid"/>
                    </a:lnL>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No substantiated size or share</a:t>
                      </a:r>
                    </a:p>
                  </a:txBody>
                  <a:tcPr marL="91440" marR="91440" marT="45720" marB="45720" anchor="ctr">
                    <a:lnR w="9525">
                      <a:solidFill>
                        <a:srgbClr val="DCE4E8"/>
                      </a:solidFill>
                      <a:prstDash val="solid"/>
                    </a:lnR>
                    <a:lnB w="9525">
                      <a:solidFill>
                        <a:srgbClr val="DCE4E8"/>
                      </a:solidFill>
                      <a:prstDash val="solid"/>
                    </a:lnB>
                    <a:solidFill>
                      <a:srgbClr val="FFFFFF"/>
                    </a:solidFill>
                  </a:tcPr>
                </a:tc>
                <a:tc>
                  <a:txBody>
                    <a:bodyPr lIns="114300" tIns="76200" rIns="114300" bIns="76200">
                      <a:noAutofit/>
                    </a:bodyPr>
                    <a:lstStyle/>
                    <a:p>
                      <a:r>
                        <a:rPr sz="1500" b="0">
                          <a:solidFill>
                            <a:srgbClr val="132E42"/>
                          </a:solidFill>
                          <a:latin typeface="Arial"/>
                          <a:ea typeface="Arial"/>
                          <a:cs typeface="Arial"/>
                        </a:rPr>
                        <a:t>Independent market and competitor work</a:t>
                      </a:r>
                    </a:p>
                  </a:txBody>
                  <a:tcPr marL="91440" marR="91440" marT="45720" marB="45720" anchor="ctr">
                    <a:lnR w="9525">
                      <a:solidFill>
                        <a:srgbClr val="DCE4E8"/>
                      </a:solidFill>
                      <a:prstDash val="solid"/>
                    </a:lnR>
                    <a:lnB w="9525">
                      <a:solidFill>
                        <a:srgbClr val="DCE4E8"/>
                      </a:solidFill>
                      <a:prstDash val="solid"/>
                    </a:lnB>
                    <a:solidFill>
                      <a:srgbClr val="FFFFFF"/>
                    </a:solidFill>
                  </a:tcPr>
                </a:tc>
              </a:tr>
            </a:tbl>
          </a:graphicData>
        </a:graphic>
      </p:graphicFrame>
      <p:sp>
        <p:nvSpPr>
          <p:cNvPr id="7" name="s10-close">
            <a:extLst xmlns:a="http://schemas.openxmlformats.org/drawingml/2006/main">
              <a:ext uri="{FF2B5EF4-FFF2-40B4-BE49-F238E27FC236}">
                <a16:creationId xmlns:a16="http://schemas.microsoft.com/office/drawing/2014/main" id="{82CBEB07-60EE-4636-B027-00CFEBEAF929}"/>
              </a:ext>
            </a:extLst>
          </p:cNvPr>
          <p:cNvSpPr>
            <a:spLocks xmlns:a="http://schemas.openxmlformats.org/drawingml/2006/main" noGrp="1"/>
          </p:cNvSpPr>
          <p:nvPr/>
        </p:nvSpPr>
        <p:spPr>
          <a:xfrm xmlns:a="http://schemas.openxmlformats.org/drawingml/2006/main">
            <a:off x="571500" y="581025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32E42"/>
                </a:solidFill>
                <a:latin typeface="Arial"/>
                <a:ea typeface="Arial"/>
                <a:cs typeface="Arial"/>
              </a:defRPr>
            </a:defPPr>
            <a:lvl1pPr algn="l">
              <a:defRPr sz="1800" b="1">
                <a:solidFill>
                  <a:srgbClr val="132E42"/>
                </a:solidFill>
                <a:latin typeface="Arial"/>
                <a:ea typeface="Arial"/>
                <a:cs typeface="Arial"/>
              </a:defRPr>
            </a:lvl1pPr>
            <a:lvl2pPr algn="l">
              <a:defRPr sz="1800" b="1">
                <a:solidFill>
                  <a:srgbClr val="132E42"/>
                </a:solidFill>
                <a:latin typeface="Arial"/>
                <a:ea typeface="Arial"/>
                <a:cs typeface="Arial"/>
              </a:defRPr>
            </a:lvl2pPr>
            <a:lvl3pPr algn="l">
              <a:defRPr sz="1800" b="1">
                <a:solidFill>
                  <a:srgbClr val="132E42"/>
                </a:solidFill>
                <a:latin typeface="Arial"/>
                <a:ea typeface="Arial"/>
                <a:cs typeface="Arial"/>
              </a:defRPr>
            </a:lvl3pPr>
            <a:lvl4pPr algn="l">
              <a:defRPr sz="1800" b="1">
                <a:solidFill>
                  <a:srgbClr val="132E42"/>
                </a:solidFill>
                <a:latin typeface="Arial"/>
                <a:ea typeface="Arial"/>
                <a:cs typeface="Arial"/>
              </a:defRPr>
            </a:lvl4pPr>
            <a:lvl5pPr algn="l">
              <a:defRPr sz="1800" b="1">
                <a:solidFill>
                  <a:srgbClr val="132E42"/>
                </a:solidFill>
                <a:latin typeface="Arial"/>
                <a:ea typeface="Arial"/>
                <a:cs typeface="Arial"/>
              </a:defRPr>
            </a:lvl5pPr>
            <a:lvl6pPr algn="l">
              <a:defRPr sz="1800" b="1">
                <a:solidFill>
                  <a:srgbClr val="132E42"/>
                </a:solidFill>
                <a:latin typeface="Arial"/>
                <a:ea typeface="Arial"/>
                <a:cs typeface="Arial"/>
              </a:defRPr>
            </a:lvl6pPr>
            <a:lvl7pPr algn="l">
              <a:defRPr sz="1800" b="1">
                <a:solidFill>
                  <a:srgbClr val="132E42"/>
                </a:solidFill>
                <a:latin typeface="Arial"/>
                <a:ea typeface="Arial"/>
                <a:cs typeface="Arial"/>
              </a:defRPr>
            </a:lvl7pPr>
            <a:lvl8pPr algn="l">
              <a:defRPr sz="1800" b="1">
                <a:solidFill>
                  <a:srgbClr val="132E42"/>
                </a:solidFill>
                <a:latin typeface="Arial"/>
                <a:ea typeface="Arial"/>
                <a:cs typeface="Arial"/>
              </a:defRPr>
            </a:lvl8pPr>
            <a:lvl9pPr algn="l">
              <a:defRPr sz="1800" b="1">
                <a:solidFill>
                  <a:srgbClr val="132E42"/>
                </a:solidFill>
                <a:latin typeface="Arial"/>
                <a:ea typeface="Arial"/>
                <a:cs typeface="Arial"/>
              </a:defRPr>
            </a:lvl9pPr>
          </a:lstStyle>
          <a:p xmlns:a="http://schemas.openxmlformats.org/drawingml/2006/main">
            <a:pPr algn="l">
              <a:defRPr sz="1800" b="1">
                <a:solidFill>
                  <a:srgbClr val="132E42"/>
                </a:solidFill>
                <a:latin typeface="Arial"/>
                <a:ea typeface="Arial"/>
                <a:cs typeface="Arial"/>
              </a:defRPr>
            </a:pPr>
            <a:r>
              <a:rPr sz="1800" b="1">
                <a:solidFill>
                  <a:srgbClr val="132E42"/>
                </a:solidFill>
                <a:latin typeface="Arial"/>
                <a:ea typeface="Arial"/>
                <a:cs typeface="Arial"/>
              </a:rPr>
              <a:t>The investment case remains subject to financial and commercial diligence.</a:t>
            </a:r>
          </a:p>
        </p:txBody>
      </p:sp>
    </p:spTree>
    <p:extLst>
      <p:ext uri="{BB962C8B-B14F-4D97-AF65-F5344CB8AC3E}">
        <p14:creationId xmlns:p14="http://schemas.microsoft.com/office/powerpoint/2010/main" val="8641698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2026-10-22T03:59:06.7860000Z</dcterms:created>
  <dcterms:modified xsi:type="dcterms:W3CDTF">2026-10-22T03:59:06.7860000Z</dcterms:modified>
</coreProperties>
</file>