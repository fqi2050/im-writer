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0c0feb788447e0" /><Relationship Type="http://schemas.openxmlformats.org/officeDocument/2006/relationships/extended-properties" Target="/docProps/app.xml" Id="R69e7b3d8775948df" /><Relationship Type="http://schemas.openxmlformats.org/officeDocument/2006/relationships/officeDocument" Target="/ppt/presentation.xml" Id="R7d6bc59ba97747b0" /></Relationships>
</file>

<file path=ppt/presentation.xml><?xml version="1.0" encoding="utf-8"?>
<p:presentation xmlns:p="http://schemas.openxmlformats.org/presentationml/2006/main">
  <p:sldMasterIdLst>
    <p:sldMasterId xmlns:r="http://schemas.openxmlformats.org/officeDocument/2006/relationships" id="2147483648" r:id="R4ffc7260bf794fdb"/>
  </p:sldMasterIdLst>
  <p:notesMasterIdLst>
    <p:notesMasterId xmlns:r="http://schemas.openxmlformats.org/officeDocument/2006/relationships" r:id="Re2f31fc6ddc948e8"/>
  </p:notesMasterIdLst>
  <p:sldIdLst>
    <p:sldId xmlns:r="http://schemas.openxmlformats.org/officeDocument/2006/relationships" id="256" r:id="R405d3aa663b84598"/>
    <p:sldId xmlns:r="http://schemas.openxmlformats.org/officeDocument/2006/relationships" id="257" r:id="Rd9f16757485f404e"/>
    <p:sldId xmlns:r="http://schemas.openxmlformats.org/officeDocument/2006/relationships" id="258" r:id="Rd5297980642d49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358302eb46449c" /><Relationship Type="http://schemas.openxmlformats.org/officeDocument/2006/relationships/slideMaster" Target="/ppt/slideMasters/slideMaster1.xml" Id="R4ffc7260bf794fdb" /><Relationship Type="http://schemas.openxmlformats.org/officeDocument/2006/relationships/notesMaster" Target="/ppt/notesMasters/notesMaster1.xml" Id="Re2f31fc6ddc948e8" /><Relationship Type="http://schemas.openxmlformats.org/officeDocument/2006/relationships/presProps" Target="/ppt/presProps.xml" Id="R857f4b1c4552480c" /><Relationship Type="http://schemas.openxmlformats.org/officeDocument/2006/relationships/tableStyles" Target="/ppt/tableStyles.xml" Id="R84696bb7c1e743d2" /><Relationship Type="http://schemas.openxmlformats.org/officeDocument/2006/relationships/slide" Target="/ppt/slides/slide1.xml" Id="R405d3aa663b84598" /><Relationship Type="http://schemas.openxmlformats.org/officeDocument/2006/relationships/slide" Target="/ppt/slides/slide2.xml" Id="Rd9f16757485f404e" /><Relationship Type="http://schemas.openxmlformats.org/officeDocument/2006/relationships/slide" Target="/ppt/slides/slide3.xml" Id="Rd5297980642d49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a8ed645cba4c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4a0c40a45441ad" /><Relationship Type="http://schemas.openxmlformats.org/officeDocument/2006/relationships/notesMaster" Target="/ppt/notesMasters/notesMaster1.xml" Id="R2a9508da3de644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19fd0325694d4c" /><Relationship Type="http://schemas.openxmlformats.org/officeDocument/2006/relationships/notesMaster" Target="/ppt/notesMasters/notesMaster1.xml" Id="Rffe0ac74ef6a4f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406ee7a9654127" /><Relationship Type="http://schemas.openxmlformats.org/officeDocument/2006/relationships/notesMaster" Target="/ppt/notesMasters/notesMaster1.xml" Id="R08bfb7fcbe2f43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Synthetic Northbridge evidence only.</a:t>
            </a:r>
          </a:p>
          <a:p xmlns:a="http://schemas.openxmlformats.org/drawingml/2006/main">
            <a:r>
              <a:t/>
            </a:r>
          </a:p>
          <a:p xmlns:a="http://schemas.openxmlformats.org/drawingml/2006/main">
            <a:r>
              <a:t>{"id": "CONFLICT", "claim": "FY2025 revenue difference", "raw_value": {"model": 25.0, "briefing": 26.2}, "value": {"model": 25.0, "briefing": 26.2}, "unit": "GBP million", "period": "FY2025", "basis": "actual", "scope": "Northbridge standalone UK company", "source_refs": [{"source_id": "02", "path": "02_management_model.xlsx", "locator": "PnL!D6", "excerpt": "25"}, {"source_id": "01", "path": "01_company_brief.docx", "locator": "paragraph 8", "excerpt": "The preliminary FY2025 revenue estimate is GBP 26.2 million. This briefing does not provide a reconciliation to the finance model. Financial years end on 31 December. All revenue figures exclude VAT."}, {"source_id": "04", "path": "04_cfo_email.eml", "locator": "line 8", "excerpt": "Please use the attached management model as the provisional basis for the draft. The GBP 1.2m difference against the briefing remains unresolved and must remain visible in the draft. This is not confirmation that the model has been audited."}], "status": "provisional_conflict", "limitations": "Use model provisionally under CFO instruction; do not call reconciled.", "synthetic": true}</a:t>
            </a:r>
          </a:p>
          <a:p xmlns:a="http://schemas.openxmlformats.org/drawingml/2006/main">
            <a:r>
              <a:t/>
            </a:r>
          </a:p>
          <a:p xmlns:a="http://schemas.openxmlformats.org/drawingml/2006/main">
            <a:r>
              <a:t>{"id": "CUSTOMERS", "claim": "FY2025 customer sales", "raw_value": [3000.0, 2250.0, 2000.0, 1750.0, 1500.0, 14500.0], "value": [3000.0, 2250.0, 2000.0, 1750.0, 1500.0, 14500.0], "unit": "GBP thousand", "period": "FY2025", "basis": "actual", "scope": "Northbridge standalone UK company", "source_refs": [{"source_id": "02", "path": "02_management_model.xlsx", "locator": "CustomerSales!A5", "excerpt": "C001"}, {"source_id": "02", "path": "02_management_model.xlsx", "locator": "CustomerSales!B5", "excerpt": "Customer A"}, {"source_id": "02", "path": "02_management_model.xlsx", "locator": "CustomerSales!C5", "excerpt": "3000"}, {"source_id": "02", "path": "02_management_model.xlsx", "locator": "CustomerSales!A6", "excerpt": "C002"}, {"source_id": "02", "path": "02_management_model.xlsx", "locator": "CustomerSales!B6", "excerpt": "Customer B"}, {"source_id": "02", "path": "02_management_model.xlsx", "locator": "CustomerSales!C6", "excerpt": "2250"}, {"source_id": "02", "path": "02_management_model.xlsx", "locator": "CustomerSales!A7", "excerpt": "C003"}, {"source_id": "02", "path": "02_management_model.xlsx", "locator": "CustomerSales!B7", "excerpt": "Customer C"}, {"source_id": "02", "path": "02_management_model.xlsx", "locator": "CustomerSales!C7", "excerpt": "2000"}, {"source_id": "02", "path": "02_management_model.xlsx", "locator": "CustomerSales!A8", "excerpt": "C004"}, {"source_id": "02", "path": "02_management_model.xlsx", "locator": "CustomerSales!B8", "excerpt": "Customer D"}, {"source_id": "02", "path": "02_management_model.xlsx", "locator": "CustomerSales!C8", "excerpt": "1750"}, {"source_id": "02", "path": "02_management_model.xlsx", "locator": "CustomerSales!A9", "excerpt": "C005"}, {"source_id": "02", "path": "02_management_model.xlsx", "locator": "CustomerSales!B9", "excerpt": "Customer E"}, {"source_id": "02", "path": "02_management_model.xlsx", "locator": "CustomerSales!C9", "excerpt": "1500"}, {"source_id": "02", "path": "02_management_model.xlsx", "locator": "CustomerSales!A10", "excerpt": "OTHER"}, {"source_id": "02", "path": "02_management_model.xlsx", "locator": "CustomerSales!B10", "excerpt": "All other customers (aggregate)"}, {"source_id": "02", "path": "02_management_model.xlsx", "locator": "CustomerSales!C10", "excerpt": "14500"}], "status": "source_supported", "limitations": "OTHER is an aggregate.", "synthetic": true}</a:t>
            </a:r>
          </a:p>
          <a:p xmlns:a="http://schemas.openxmlformats.org/drawingml/2006/main">
            <a:r>
              <a:t/>
            </a:r>
          </a:p>
          <a:p xmlns:a="http://schemas.openxmlformats.org/drawingml/2006/main">
            <a:r>
              <a:t>{"id": "FIN23", "claim": "FY2023 financial statements", "raw_value": {"revenue": 18.0, "cost": -10.8, "gross_profit": 7.199999999999999, "opex": -4.5, "ebitda": 2.6999999999999993, "margin": 0.14999999999999997}, "value": {"revenue": 18.0, "cost": -10.8, "gross_profit": 7.199999999999999, "opex": -4.5, "ebitda": 2.6999999999999993, "margin": 0.14999999999999997}, "unit": "GBP million / ratio", "period": "FY2023", "basis": "actual", "scope": "Northbridge standalone UK company", "source_refs": [{"source_id": "02", "path": "02_management_model.xlsx", "locator": "PnL!B5", "excerpt": "FY2023A"}, {"source_id": "02", "path": "02_management_model.xlsx", "locator": "PnL!B6", "excerpt": "18"}, {"source_id": "02", "path": "02_management_model.xlsx", "locator": "PnL!B7", "excerpt": "-10.8"}, {"source_id": "02", "path": "02_management_model.xlsx", "locator": "PnL!B8", "excerpt": "7.199999999999999"}, {"source_id": "02", "path": "02_management_model.xlsx", "locator": "PnL!B9", "excerpt": "-4.5"}, {"source_id": "02", "path": "02_management_model.xlsx", "locator": "PnL!B10", "excerpt": "2.6999999999999993"}, {"source_id": "02", "path": "02_management_model.xlsx", "locator": "PnL!B11", "excerpt": "0.14999999999999997"}], "status": "source_supported", "limitations": "Unaudited management figures; FY2025 revenue conflict remains open.", "synthetic": true}</a:t>
            </a:r>
          </a:p>
          <a:p xmlns:a="http://schemas.openxmlformats.org/drawingml/2006/main">
            <a:r>
              <a:t/>
            </a:r>
          </a:p>
          <a:p xmlns:a="http://schemas.openxmlformats.org/drawingml/2006/main">
            <a:r>
              <a:t>{"id": "FIN25", "claim": "FY2025 financial statements", "raw_value": {"revenue": 25.0, "cost": -14.5, "gross_profit": 10.5, "opex": -5.5, "ebitda": 5.0, "margin": 0.2}, "value": {"revenue": 25.0, "cost": -14.5, "gross_profit": 10.5, "opex": -5.5, "ebitda": 5.0, "margin": 0.2}, "unit": "GBP million / ratio", "period": "FY2025", "basis": "actual", "scope": "Northbridge standalone UK company", "source_refs": [{"source_id": "02", "path": "02_management_model.xlsx", "locator": "PnL!D5", "excerpt": "FY2025A"}, {"source_id": "02", "path": "02_management_model.xlsx", "locator": "PnL!D6", "excerpt": "25"}, {"source_id": "02", "path": "02_management_model.xlsx", "locator": "PnL!D7", "excerpt": "-14.5"}, {"source_id": "02", "path": "02_management_model.xlsx", "locator": "PnL!D8", "excerpt": "10.5"}, {"source_id": "02", "path": "02_management_model.xlsx", "locator": "PnL!D9", "excerpt": "-5.5"}, {"source_id": "02", "path": "02_management_model.xlsx", "locator": "PnL!D10", "excerpt": "5"}, {"source_id": "02", "path": "02_management_model.xlsx", "locator": "PnL!D11", "excerpt": "0.2"}], "status": "provisional_conflict", "limitations": "Unaudited management figures; FY2025 revenue conflict remains open.", "synthetic": true}</a:t>
            </a:r>
          </a:p>
          <a:p xmlns:a="http://schemas.openxmlformats.org/drawingml/2006/main">
            <a:r>
              <a:t/>
            </a:r>
          </a:p>
          <a:p xmlns:a="http://schemas.openxmlformats.org/drawingml/2006/main">
            <a:r>
              <a:t>{"id": "FORECAST_BASIS", "claim": "Forecast bridge unavailable", "raw_value": null, "value": null, "unit": "not available", "period": "FY2026-FY2027", "basis": "forecast", "scope": "Northbridge standalone UK company", "source_refs": [{"source_id": "04", "path": "04_cfo_email.eml", "locator": "line 12", "excerpt": "The model is version 2.0, dated 21 January 2026. The forecast is management's base case. There is no customer-level forecast bridge or recruitment cost schedule yet."}], "status": "missing", "limitations": "", "synthetic": true}</a:t>
            </a:r>
          </a:p>
          <a:p xmlns:a="http://schemas.openxmlformats.org/drawingml/2006/main">
            <a:r>
              <a:t/>
            </a:r>
          </a:p>
          <a:p xmlns:a="http://schemas.openxmlformats.org/drawingml/2006/main">
            <a:r>
              <a:t>{"id": "GROWTH", "claim": "Management growth plan", "raw_value": 20, "value": 20, "unit": "net engineers added", "period": "by FY2027", "basis": "forecast", "scope": "Northbridge standalone UK company", "source_refs": [{"source_id": "01", "path": "01_company_brief.docx", "locator": "paragraph 12", "excerpt": "Management plans to add 20 net field engineers by the end of FY2027, cross-sell scheduled maintenance to repair customers and expand service coverage from existing hubs. The plan assumes sufficient technician recruitment and contract renewals. No signed pipeline or customer-cohort evidence accompanies this briefing."}, {"source_id": "03", "path": "03_management_interview.txt", "locator": "line 10", "excerpt": "[00:28] CEO: Growth depends on technician recruitment, renewals and converting more repair customers to maintenance contracts. We plan 20 net new engineers by FY2027."}], "status": "source_supported", "limitations": "", "synthetic": true}</a:t>
            </a:r>
          </a:p>
          <a:p xmlns:a="http://schemas.openxmlformats.org/drawingml/2006/main">
            <a:r>
              <a:t/>
            </a:r>
          </a:p>
          <a:p xmlns:a="http://schemas.openxmlformats.org/drawingml/2006/main">
            <a:r>
              <a:t>{"id": "MIX", "claim": "FY2025 service revenue", "raw_value": [17500.0, 5000.0, 2500.0], "value": [17500.0, 5000.0, 2500.0], "unit": "GBP thousand", "period": "FY2025", "basis": "actual", "scope": "Northbridge standalone UK company", "source_refs": [{"source_id": "02", "path": "02_management_model.xlsx", "locator": "ServiceMix!A5", "excerpt": "Scheduled maintenance"}, {"source_id": "02", "path": "02_management_model.xlsx", "locator": "ServiceMix!B5", "excerpt": "17500"}, {"source_id": "02", "path": "02_management_model.xlsx", "locator": "ServiceMix!C5", "excerpt": "Annual service contracts"}, {"source_id": "02", "path": "02_management_model.xlsx", "locator": "ServiceMix!A6", "excerpt": "Reactive repairs"}, {"source_id": "02", "path": "02_management_model.xlsx", "locator": "ServiceMix!B6", "excerpt": "5000"}, {"source_id": "02", "path": "02_management_model.xlsx", "locator": "ServiceMix!C6", "excerpt": "Call-out and materials"}, {"source_id": "02", "path": "02_management_model.xlsx", "locator": "ServiceMix!A7", "excerpt": "Installation projects"}, {"source_id": "02", "path": "02_management_model.xlsx", "locator": "ServiceMix!B7", "excerpt": "2500"}, {"source_id": "02", "path": "02_management_model.xlsx", "locator": "ServiceMix!C7", "excerpt": "Project-based work"}], "status": "source_supported", "limitations": "", "synthetic": true}</a:t>
            </a:r>
          </a:p>
          <a:p xmlns:a="http://schemas.openxmlformats.org/drawingml/2006/main">
            <a:r>
              <a:t/>
            </a:r>
          </a:p>
          <a:p xmlns:a="http://schemas.openxmlformats.org/drawingml/2006/main">
            <a:r>
              <a:t>{"id": "OPS", "claim": "People, hubs and management", "raw_value": {"employees": 120, "engineers": 85, "hubs": ["Birmingham", "Manchester", "Bristol"]}, "value": {"employees": 120, "engineers": 85, "hubs": ["Birmingham", "Manchester", "Bristol"]}, "unit": "headcount / places", "period": "31 December 2025", "basis": "management assertion", "scope": "Northbridge standalone UK company", "source_refs": [{"source_id": "01", "path": "01_company_brief.docx", "locator": "paragraph 10", "excerpt":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 "status": "source_supported", "limitations": "", "synthetic": true}</a:t>
            </a:r>
          </a:p>
          <a:p xmlns:a="http://schemas.openxmlformats.org/drawingml/2006/main">
            <a:r>
              <a:t/>
            </a:r>
          </a:p>
          <a:p xmlns:a="http://schemas.openxmlformats.org/drawingml/2006/main">
            <a:r>
              <a:t>{"id": "QOE", "claim": "Financial diligence evidence unavailable", "raw_value": null, "value": null, "unit": "not available", "period": "January 2026", "basis": "management assertion", "scope": "Northbridge standalone UK company", "source_refs": [{"source_id": "03", "path": "03_management_interview.txt", "locator": "line 11", "excerpt": "[00:31] CFO: EBITDA is management-reported and unaudited. No normalisation bridge or quality-of-earnings report is available. We have not supplied cash, debt or normalised working capital."}], "status": "missing", "limitations": "No QoE, cash, debt or working-capital evidence.", "synthetic": true}</a:t>
            </a:r>
          </a:p>
          <a:p xmlns:a="http://schemas.openxmlformats.org/drawingml/2006/main">
            <a:r>
              <a:t/>
            </a:r>
          </a:p>
          <a:p xmlns:a="http://schemas.openxmlformats.org/drawingml/2006/main">
            <a:r>
              <a:t>{"id": "RETENTION", "claim": "Retention estimate lacks defined basis", "raw_value": 0.94, "value": 0.94, "unit": "ratio", "period": "FY2025", "basis": "management assertion", "scope": "Northbridge standalone UK company", "source_refs": [{"source_id": "03", "path": "03_management_interview.txt", "locator": "line 7", "excerpt": "[00:17] CEO: We estimate customer retention at 94% in FY2025, but have not supplied the cohort calculation or defined whether that refers to customers or revenue."}], "status": "management_unverified", "limitations": "No definition or cohort data; excluded from quantitative investment highlights.", "synthetic": true}</a:t>
            </a:r>
          </a:p>
          <a:p xmlns:a="http://schemas.openxmlformats.org/drawingml/2006/main">
            <a:r>
              <a:t/>
            </a:r>
          </a:p>
          <a:p xmlns:a="http://schemas.openxmlformats.org/drawingml/2006/main">
            <a:r>
              <a:t>{"id": "SERVICES", "claim": "Services and contract terms", "raw_value": null, "value": null, "unit": "text", "period": "FY2025", "basis": "management assertion", "scope": "Northbridge standalone UK company", "source_refs": [{"source_id": "01", "path": "01_company_brief.docx", "locator": "paragraph 6", "excerpt": "The business supplies scheduled maintenance under annual service contracts, reactive repairs and installation projects. Contracts generally run for one to three years and renew by agreement. Scheduled maintenance provides the contracted revenue stream. No assumption should be made that renewals are automatic. Customers include logistics operators, manufacturers and facilities managers."}], "status": "source_supported", "limitations": "", "synthetic": true}</a:t>
            </a:r>
          </a:p>
          <a:p xmlns:a="http://schemas.openxmlformats.org/drawingml/2006/main">
            <a:r>
              <a:t/>
            </a:r>
          </a:p>
          <a:p xmlns:a="http://schemas.openxmlformats.org/drawingml/2006/main">
            <a:r>
              <a:t>{"id": "CAGR", "formula": "(FY2025 revenue / FY2023 revenue)^(1/2) - 1", "input_ids": ["FIN23", "FIN25"], "result": 0.17851130197757925, "unit": "ratio", "rounding": "Full precision internally; one decimal for GBP million and most percentages"}</a:t>
            </a:r>
          </a:p>
          <a:p xmlns:a="http://schemas.openxmlformats.org/drawingml/2006/main">
            <a:r>
              <a:t/>
            </a:r>
          </a:p>
          <a:p xmlns:a="http://schemas.openxmlformats.org/drawingml/2006/main">
            <a:r>
              <a:t>{"id": "LARGEST", "formula": "max(CustomerSales!C5:C9) / sum(CustomerSales!C5:C10)", "input_ids": ["CUSTOMERS"], "result": 0.12, "unit": "ratio", "rounding": "Full precision internally; one decimal for GBP million and most percentages"}</a:t>
            </a:r>
          </a:p>
          <a:p xmlns:a="http://schemas.openxmlformats.org/drawingml/2006/main">
            <a:r>
              <a:t/>
            </a:r>
          </a:p>
          <a:p xmlns:a="http://schemas.openxmlformats.org/drawingml/2006/main">
            <a:r>
              <a:t>{"id": "MIX_SHARE", "formula": "ServiceMix!B5:B7 / sum(ServiceMix!B5:B7)", "input_ids": ["MIX"], "result": [0.7, 0.2, 0.1], "unit": "ratio", "rounding": "Full precision internally; one decimal for GBP million and most percentages"}</a:t>
            </a:r>
          </a:p>
          <a:p xmlns:a="http://schemas.openxmlformats.org/drawingml/2006/main">
            <a:r>
              <a:t/>
            </a:r>
          </a:p>
          <a:p xmlns:a="http://schemas.openxmlformats.org/drawingml/2006/main">
            <a:r>
              <a:t>{"id": "NORMALIZE", "formula": "GBP thousand / 1000", "input_ids": ["MIX", "CUSTOMERS", "UNITS"], "result": {"services_m": [17.5, 5.0, 2.5], "customers_m": [3.0, 2.25, 2.0, 1.75, 1.5, 14.5]}, "unit": "GBP million", "rounding": "Full precision internally; one decimal for GBP million and most percentages"}</a:t>
            </a:r>
          </a:p>
          <a:p xmlns:a="http://schemas.openxmlformats.org/drawingml/2006/main">
            <a:r>
              <a:t/>
            </a:r>
          </a:p>
          <a:p xmlns:a="http://schemas.openxmlformats.org/drawingml/2006/main">
            <a:r>
              <a:t>{"id": "TOP5", "formula": "sum(CustomerSales!C5:C9) / sum(CustomerSales!C5:C10)", "input_ids": ["CUSTOMERS"], "result": 0.42,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Synthetic Northbridge evidence only.</a:t>
            </a:r>
          </a:p>
          <a:p xmlns:a="http://schemas.openxmlformats.org/drawingml/2006/main">
            <a:r>
              <a:t/>
            </a:r>
          </a:p>
          <a:p xmlns:a="http://schemas.openxmlformats.org/drawingml/2006/main">
            <a:r>
              <a:t>{"id": "BUS", "claim": "Business and founding", "raw_value": 2012, "value": 2012, "unit": "year", "period": "January 2026", "basis": "management assertion", "scope": "Northbridge standalone UK company", "source_refs": [{"source_id": "01", "path": "01_company_brief.docx", "locator": "paragraph 4", "excerpt": "Northbridge Field Services Ltd was founded in 2012. The UK business provides equipment maintenance and technical field support to industrial and logistics customers. Its headquarters are in Birmingham. The transaction perimeter is the entire standalone UK company."}], "status": "source_supported", "limitations": "", "synthetic": true}</a:t>
            </a:r>
          </a:p>
          <a:p xmlns:a="http://schemas.openxmlformats.org/drawingml/2006/main">
            <a:r>
              <a:t/>
            </a:r>
          </a:p>
          <a:p xmlns:a="http://schemas.openxmlformats.org/drawingml/2006/main">
            <a:r>
              <a:t>{"id": "CONFLICT", "claim": "FY2025 revenue difference", "raw_value": {"model": 25.0, "briefing": 26.2}, "value": {"model": 25.0, "briefing": 26.2}, "unit": "GBP million", "period": "FY2025", "basis": "actual", "scope": "Northbridge standalone UK company", "source_refs": [{"source_id": "02", "path": "02_management_model.xlsx", "locator": "PnL!D6", "excerpt": "25"}, {"source_id": "01", "path": "01_company_brief.docx", "locator": "paragraph 8", "excerpt": "The preliminary FY2025 revenue estimate is GBP 26.2 million. This briefing does not provide a reconciliation to the finance model. Financial years end on 31 December. All revenue figures exclude VAT."}, {"source_id": "04", "path": "04_cfo_email.eml", "locator": "line 8", "excerpt": "Please use the attached management model as the provisional basis for the draft. The GBP 1.2m difference against the briefing remains unresolved and must remain visible in the draft. This is not confirmation that the model has been audited."}], "status": "provisional_conflict", "limitations": "Use model provisionally under CFO instruction; do not call reconciled.", "synthetic": true}</a:t>
            </a:r>
          </a:p>
          <a:p xmlns:a="http://schemas.openxmlformats.org/drawingml/2006/main">
            <a:r>
              <a:t/>
            </a:r>
          </a:p>
          <a:p xmlns:a="http://schemas.openxmlformats.org/drawingml/2006/main">
            <a:r>
              <a:t>{"id": "CUSTOMERS", "claim": "FY2025 customer sales", "raw_value": [3000.0, 2250.0, 2000.0, 1750.0, 1500.0, 14500.0], "value": [3000.0, 2250.0, 2000.0, 1750.0, 1500.0, 14500.0], "unit": "GBP thousand", "period": "FY2025", "basis": "actual", "scope": "Northbridge standalone UK company", "source_refs": [{"source_id": "02", "path": "02_management_model.xlsx", "locator": "CustomerSales!A5", "excerpt": "C001"}, {"source_id": "02", "path": "02_management_model.xlsx", "locator": "CustomerSales!B5", "excerpt": "Customer A"}, {"source_id": "02", "path": "02_management_model.xlsx", "locator": "CustomerSales!C5", "excerpt": "3000"}, {"source_id": "02", "path": "02_management_model.xlsx", "locator": "CustomerSales!A6", "excerpt": "C002"}, {"source_id": "02", "path": "02_management_model.xlsx", "locator": "CustomerSales!B6", "excerpt": "Customer B"}, {"source_id": "02", "path": "02_management_model.xlsx", "locator": "CustomerSales!C6", "excerpt": "2250"}, {"source_id": "02", "path": "02_management_model.xlsx", "locator": "CustomerSales!A7", "excerpt": "C003"}, {"source_id": "02", "path": "02_management_model.xlsx", "locator": "CustomerSales!B7", "excerpt": "Customer C"}, {"source_id": "02", "path": "02_management_model.xlsx", "locator": "CustomerSales!C7", "excerpt": "2000"}, {"source_id": "02", "path": "02_management_model.xlsx", "locator": "CustomerSales!A8", "excerpt": "C004"}, {"source_id": "02", "path": "02_management_model.xlsx", "locator": "CustomerSales!B8", "excerpt": "Customer D"}, {"source_id": "02", "path": "02_management_model.xlsx", "locator": "CustomerSales!C8", "excerpt": "1750"}, {"source_id": "02", "path": "02_management_model.xlsx", "locator": "CustomerSales!A9", "excerpt": "C005"}, {"source_id": "02", "path": "02_management_model.xlsx", "locator": "CustomerSales!B9", "excerpt": "Customer E"}, {"source_id": "02", "path": "02_management_model.xlsx", "locator": "CustomerSales!C9", "excerpt": "1500"}, {"source_id": "02", "path": "02_management_model.xlsx", "locator": "CustomerSales!A10", "excerpt": "OTHER"}, {"source_id": "02", "path": "02_management_model.xlsx", "locator": "CustomerSales!B10", "excerpt": "All other customers (aggregate)"}, {"source_id": "02", "path": "02_management_model.xlsx", "locator": "CustomerSales!C10", "excerpt": "14500"}], "status": "source_supported", "limitations": "OTHER is an aggregate.", "synthetic": true}</a:t>
            </a:r>
          </a:p>
          <a:p xmlns:a="http://schemas.openxmlformats.org/drawingml/2006/main">
            <a:r>
              <a:t/>
            </a:r>
          </a:p>
          <a:p xmlns:a="http://schemas.openxmlformats.org/drawingml/2006/main">
            <a:r>
              <a:t>{"id": "FIN25", "claim": "FY2025 financial statements", "raw_value": {"revenue": 25.0, "cost": -14.5, "gross_profit": 10.5, "opex": -5.5, "ebitda": 5.0, "margin": 0.2}, "value": {"revenue": 25.0, "cost": -14.5, "gross_profit": 10.5, "opex": -5.5, "ebitda": 5.0, "margin": 0.2}, "unit": "GBP million / ratio", "period": "FY2025", "basis": "actual", "scope": "Northbridge standalone UK company", "source_refs": [{"source_id": "02", "path": "02_management_model.xlsx", "locator": "PnL!D5", "excerpt": "FY2025A"}, {"source_id": "02", "path": "02_management_model.xlsx", "locator": "PnL!D6", "excerpt": "25"}, {"source_id": "02", "path": "02_management_model.xlsx", "locator": "PnL!D7", "excerpt": "-14.5"}, {"source_id": "02", "path": "02_management_model.xlsx", "locator": "PnL!D8", "excerpt": "10.5"}, {"source_id": "02", "path": "02_management_model.xlsx", "locator": "PnL!D9", "excerpt": "-5.5"}, {"source_id": "02", "path": "02_management_model.xlsx", "locator": "PnL!D10", "excerpt": "5"}, {"source_id": "02", "path": "02_management_model.xlsx", "locator": "PnL!D11", "excerpt": "0.2"}], "status": "provisional_conflict", "limitations": "Unaudited management figures; FY2025 revenue conflict remains open.", "synthetic": true}</a:t>
            </a:r>
          </a:p>
          <a:p xmlns:a="http://schemas.openxmlformats.org/drawingml/2006/main">
            <a:r>
              <a:t/>
            </a:r>
          </a:p>
          <a:p xmlns:a="http://schemas.openxmlformats.org/drawingml/2006/main">
            <a:r>
              <a:t>{"id": "MIX", "claim": "FY2025 service revenue", "raw_value": [17500.0, 5000.0, 2500.0], "value": [17500.0, 5000.0, 2500.0], "unit": "GBP thousand", "period": "FY2025", "basis": "actual", "scope": "Northbridge standalone UK company", "source_refs": [{"source_id": "02", "path": "02_management_model.xlsx", "locator": "ServiceMix!A5", "excerpt": "Scheduled maintenance"}, {"source_id": "02", "path": "02_management_model.xlsx", "locator": "ServiceMix!B5", "excerpt": "17500"}, {"source_id": "02", "path": "02_management_model.xlsx", "locator": "ServiceMix!C5", "excerpt": "Annual service contracts"}, {"source_id": "02", "path": "02_management_model.xlsx", "locator": "ServiceMix!A6", "excerpt": "Reactive repairs"}, {"source_id": "02", "path": "02_management_model.xlsx", "locator": "ServiceMix!B6", "excerpt": "5000"}, {"source_id": "02", "path": "02_management_model.xlsx", "locator": "ServiceMix!C6", "excerpt": "Call-out and materials"}, {"source_id": "02", "path": "02_management_model.xlsx", "locator": "ServiceMix!A7", "excerpt": "Installation projects"}, {"source_id": "02", "path": "02_management_model.xlsx", "locator": "ServiceMix!B7", "excerpt": "2500"}, {"source_id": "02", "path": "02_management_model.xlsx", "locator": "ServiceMix!C7", "excerpt": "Project-based work"}], "status": "source_supported", "limitations": "", "synthetic": true}</a:t>
            </a:r>
          </a:p>
          <a:p xmlns:a="http://schemas.openxmlformats.org/drawingml/2006/main">
            <a:r>
              <a:t/>
            </a:r>
          </a:p>
          <a:p xmlns:a="http://schemas.openxmlformats.org/drawingml/2006/main">
            <a:r>
              <a:t>{"id": "OPS", "claim": "People, hubs and management", "raw_value": {"employees": 120, "engineers": 85, "hubs": ["Birmingham", "Manchester", "Bristol"]}, "value": {"employees": 120, "engineers": 85, "hubs": ["Birmingham", "Manchester", "Bristol"]}, "unit": "headcount / places", "period": "31 December 2025", "basis": "management assertion", "scope": "Northbridge standalone UK company", "source_refs": [{"source_id": "01", "path": "01_company_brief.docx", "locator": "paragraph 10", "excerpt": "At 31 December 2025, Northbridge has 120 employees including 85 field engineers. It operates hubs in Birmingham, Manchester and Bristol. Maya Reed is founder and CEO, Daniel Cole is CFO and Aisha Patel is COO. These names and all company details are fictitious. The founder continues to lead major customer relationships."}], "status": "source_supported", "limitations": "", "synthetic": true}</a:t>
            </a:r>
          </a:p>
          <a:p xmlns:a="http://schemas.openxmlformats.org/drawingml/2006/main">
            <a:r>
              <a:t/>
            </a:r>
          </a:p>
          <a:p xmlns:a="http://schemas.openxmlformats.org/drawingml/2006/main">
            <a:r>
              <a:t>{"id": "RETENTION", "claim": "Retention estimate lacks defined basis", "raw_value": 0.94, "value": 0.94, "unit": "ratio", "period": "FY2025", "basis": "management assertion", "scope": "Northbridge standalone UK company", "source_refs": [{"source_id": "03", "path": "03_management_interview.txt", "locator": "line 7", "excerpt": "[00:17] CEO: We estimate customer retention at 94% in FY2025, but have not supplied the cohort calculation or defined whether that refers to customers or revenue."}], "status": "management_unverified", "limitations": "No definition or cohort data; excluded from quantitative investment highlights.", "synthetic": true}</a:t>
            </a:r>
          </a:p>
          <a:p xmlns:a="http://schemas.openxmlformats.org/drawingml/2006/main">
            <a:r>
              <a:t/>
            </a:r>
          </a:p>
          <a:p xmlns:a="http://schemas.openxmlformats.org/drawingml/2006/main">
            <a:r>
              <a:t>{"id": "SERVICES", "claim": "Services and contract terms", "raw_value": null, "value": null, "unit": "text", "period": "FY2025", "basis": "management assertion", "scope": "Northbridge standalone UK company", "source_refs": [{"source_id": "01", "path": "01_company_brief.docx", "locator": "paragraph 6", "excerpt": "The business supplies scheduled maintenance under annual service contracts, reactive repairs and installation projects. Contracts generally run for one to three years and renew by agreement. Scheduled maintenance provides the contracted revenue stream. No assumption should be made that renewals are automatic. Customers include logistics operators, manufacturers and facilities managers."}], "status": "source_supported", "limitations": "", "synthetic": true}</a:t>
            </a:r>
          </a:p>
          <a:p xmlns:a="http://schemas.openxmlformats.org/drawingml/2006/main">
            <a:r>
              <a:t/>
            </a:r>
          </a:p>
          <a:p xmlns:a="http://schemas.openxmlformats.org/drawingml/2006/main">
            <a:r>
              <a:t>{"id": "UNITS", "claim": "Financial and sales schedule units", "raw_value": {"pnl": "GBP million", "sales": "GBP thousand"}, "value": {"pnl": "GBP million", "sales": "GBP thousand"}, "unit": "text", "period": "FY2025", "basis": "management assertion", "scope": "Northbridge standalone UK company", "source_refs": [{"source_id": "04", "path": "04_cfo_email.eml", "locator": "line 10", "excerpt": "The P&amp;L tab is in GBP millions. The CustomerSales and ServiceMix tabs are in GBP thousands. They cover FY2025 recognised revenue, excluding VAT, for the same UK company. CustomerSales contains the five largest customers plus one aggregate row for all others. Do not treat that aggregate as a single customer."}], "status": "source_supported", "limitations": "", "synthetic": true}</a:t>
            </a:r>
          </a:p>
          <a:p xmlns:a="http://schemas.openxmlformats.org/drawingml/2006/main">
            <a:r>
              <a:t/>
            </a:r>
          </a:p>
          <a:p xmlns:a="http://schemas.openxmlformats.org/drawingml/2006/main">
            <a:r>
              <a:t>{"id": "MIX_SHARE", "formula": "ServiceMix!B5:B7 / sum(ServiceMix!B5:B7)", "input_ids": ["MIX"], "result": [0.7, 0.2, 0.1], "unit": "ratio", "rounding": "Full precision internally; one decimal for GBP million and most percentages"}</a:t>
            </a:r>
          </a:p>
          <a:p xmlns:a="http://schemas.openxmlformats.org/drawingml/2006/main">
            <a:r>
              <a:t/>
            </a:r>
          </a:p>
          <a:p xmlns:a="http://schemas.openxmlformats.org/drawingml/2006/main">
            <a:r>
              <a:t>{"id": "NORMALIZE", "formula": "GBP thousand / 1000", "input_ids": ["MIX", "CUSTOMERS", "UNITS"], "result": {"services_m": [17.5, 5.0, 2.5], "customers_m": [3.0, 2.25, 2.0, 1.75, 1.5, 14.5]}, "unit": "GBP million",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TRAINING CASE. Synthetic Northbridge evidence only.</a:t>
            </a:r>
          </a:p>
          <a:p xmlns:a="http://schemas.openxmlformats.org/drawingml/2006/main">
            <a:r>
              <a:t/>
            </a:r>
          </a:p>
          <a:p xmlns:a="http://schemas.openxmlformats.org/drawingml/2006/main">
            <a:r>
              <a:t>{"id": "CONFLICT", "claim": "FY2025 revenue difference", "raw_value": {"model": 25.0, "briefing": 26.2}, "value": {"model": 25.0, "briefing": 26.2}, "unit": "GBP million", "period": "FY2025", "basis": "actual", "scope": "Northbridge standalone UK company", "source_refs": [{"source_id": "02", "path": "02_management_model.xlsx", "locator": "PnL!D6", "excerpt": "25"}, {"source_id": "01", "path": "01_company_brief.docx", "locator": "paragraph 8", "excerpt": "The preliminary FY2025 revenue estimate is GBP 26.2 million. This briefing does not provide a reconciliation to the finance model. Financial years end on 31 December. All revenue figures exclude VAT."}, {"source_id": "04", "path": "04_cfo_email.eml", "locator": "line 8", "excerpt": "Please use the attached management model as the provisional basis for the draft. The GBP 1.2m difference against the briefing remains unresolved and must remain visible in the draft. This is not confirmation that the model has been audited."}], "status": "provisional_conflict", "limitations": "Use model provisionally under CFO instruction; do not call reconciled.", "synthetic": true}</a:t>
            </a:r>
          </a:p>
          <a:p xmlns:a="http://schemas.openxmlformats.org/drawingml/2006/main">
            <a:r>
              <a:t/>
            </a:r>
          </a:p>
          <a:p xmlns:a="http://schemas.openxmlformats.org/drawingml/2006/main">
            <a:r>
              <a:t>{"id": "FIN23", "claim": "FY2023 financial statements", "raw_value": {"revenue": 18.0, "cost": -10.8, "gross_profit": 7.199999999999999, "opex": -4.5, "ebitda": 2.6999999999999993, "margin": 0.14999999999999997}, "value": {"revenue": 18.0, "cost": -10.8, "gross_profit": 7.199999999999999, "opex": -4.5, "ebitda": 2.6999999999999993, "margin": 0.14999999999999997}, "unit": "GBP million / ratio", "period": "FY2023", "basis": "actual", "scope": "Northbridge standalone UK company", "source_refs": [{"source_id": "02", "path": "02_management_model.xlsx", "locator": "PnL!B5", "excerpt": "FY2023A"}, {"source_id": "02", "path": "02_management_model.xlsx", "locator": "PnL!B6", "excerpt": "18"}, {"source_id": "02", "path": "02_management_model.xlsx", "locator": "PnL!B7", "excerpt": "-10.8"}, {"source_id": "02", "path": "02_management_model.xlsx", "locator": "PnL!B8", "excerpt": "7.199999999999999"}, {"source_id": "02", "path": "02_management_model.xlsx", "locator": "PnL!B9", "excerpt": "-4.5"}, {"source_id": "02", "path": "02_management_model.xlsx", "locator": "PnL!B10", "excerpt": "2.6999999999999993"}, {"source_id": "02", "path": "02_management_model.xlsx", "locator": "PnL!B11", "excerpt": "0.14999999999999997"}], "status": "source_supported", "limitations": "Unaudited management figures; FY2025 revenue conflict remains open.", "synthetic": true}</a:t>
            </a:r>
          </a:p>
          <a:p xmlns:a="http://schemas.openxmlformats.org/drawingml/2006/main">
            <a:r>
              <a:t/>
            </a:r>
          </a:p>
          <a:p xmlns:a="http://schemas.openxmlformats.org/drawingml/2006/main">
            <a:r>
              <a:t>{"id": "FIN24", "claim": "FY2024 financial statements", "raw_value": {"revenue": 21.5, "cost": -12.7, "gross_profit": 8.8, "opex": -4.9, "ebitda": 3.9000000000000004, "margin": 0.1813953488372093}, "value": {"revenue": 21.5, "cost": -12.7, "gross_profit": 8.8, "opex": -4.9, "ebitda": 3.9000000000000004, "margin": 0.1813953488372093}, "unit": "GBP million / ratio", "period": "FY2024", "basis": "actual", "scope": "Northbridge standalone UK company", "source_refs": [{"source_id": "02", "path": "02_management_model.xlsx", "locator": "PnL!C5", "excerpt": "FY2024A"}, {"source_id": "02", "path": "02_management_model.xlsx", "locator": "PnL!C6", "excerpt": "21.5"}, {"source_id": "02", "path": "02_management_model.xlsx", "locator": "PnL!C7", "excerpt": "-12.7"}, {"source_id": "02", "path": "02_management_model.xlsx", "locator": "PnL!C8", "excerpt": "8.8"}, {"source_id": "02", "path": "02_management_model.xlsx", "locator": "PnL!C9", "excerpt": "-4.9"}, {"source_id": "02", "path": "02_management_model.xlsx", "locator": "PnL!C10", "excerpt": "3.9000000000000004"}, {"source_id": "02", "path": "02_management_model.xlsx", "locator": "PnL!C11", "excerpt": "0.1813953488372093"}], "status": "source_supported", "limitations": "Unaudited management figures; FY2025 revenue conflict remains open.", "synthetic": true}</a:t>
            </a:r>
          </a:p>
          <a:p xmlns:a="http://schemas.openxmlformats.org/drawingml/2006/main">
            <a:r>
              <a:t/>
            </a:r>
          </a:p>
          <a:p xmlns:a="http://schemas.openxmlformats.org/drawingml/2006/main">
            <a:r>
              <a:t>{"id": "FIN25", "claim": "FY2025 financial statements", "raw_value": {"revenue": 25.0, "cost": -14.5, "gross_profit": 10.5, "opex": -5.5, "ebitda": 5.0, "margin": 0.2}, "value": {"revenue": 25.0, "cost": -14.5, "gross_profit": 10.5, "opex": -5.5, "ebitda": 5.0, "margin": 0.2}, "unit": "GBP million / ratio", "period": "FY2025", "basis": "actual", "scope": "Northbridge standalone UK company", "source_refs": [{"source_id": "02", "path": "02_management_model.xlsx", "locator": "PnL!D5", "excerpt": "FY2025A"}, {"source_id": "02", "path": "02_management_model.xlsx", "locator": "PnL!D6", "excerpt": "25"}, {"source_id": "02", "path": "02_management_model.xlsx", "locator": "PnL!D7", "excerpt": "-14.5"}, {"source_id": "02", "path": "02_management_model.xlsx", "locator": "PnL!D8", "excerpt": "10.5"}, {"source_id": "02", "path": "02_management_model.xlsx", "locator": "PnL!D9", "excerpt": "-5.5"}, {"source_id": "02", "path": "02_management_model.xlsx", "locator": "PnL!D10", "excerpt": "5"}, {"source_id": "02", "path": "02_management_model.xlsx", "locator": "PnL!D11", "excerpt": "0.2"}], "status": "provisional_conflict", "limitations": "Unaudited management figures; FY2025 revenue conflict remains open.", "synthetic": true}</a:t>
            </a:r>
          </a:p>
          <a:p xmlns:a="http://schemas.openxmlformats.org/drawingml/2006/main">
            <a:r>
              <a:t/>
            </a:r>
          </a:p>
          <a:p xmlns:a="http://schemas.openxmlformats.org/drawingml/2006/main">
            <a:r>
              <a:t>{"id": "QOE", "claim": "Financial diligence evidence unavailable", "raw_value": null, "value": null, "unit": "not available", "period": "January 2026", "basis": "management assertion", "scope": "Northbridge standalone UK company", "source_refs": [{"source_id": "03", "path": "03_management_interview.txt", "locator": "line 11", "excerpt": "[00:31] CFO: EBITDA is management-reported and unaudited. No normalisation bridge or quality-of-earnings report is available. We have not supplied cash, debt or normalised working capital."}], "status": "missing", "limitations": "No QoE, cash, debt or working-capital evidence.", "synthetic": true}</a:t>
            </a:r>
          </a:p>
          <a:p xmlns:a="http://schemas.openxmlformats.org/drawingml/2006/main">
            <a:r>
              <a:t/>
            </a:r>
          </a:p>
          <a:p xmlns:a="http://schemas.openxmlformats.org/drawingml/2006/main">
            <a:r>
              <a:t>{"id": "UNITS", "claim": "Financial and sales schedule units", "raw_value": {"pnl": "GBP million", "sales": "GBP thousand"}, "value": {"pnl": "GBP million", "sales": "GBP thousand"}, "unit": "text", "period": "FY2025", "basis": "management assertion", "scope": "Northbridge standalone UK company", "source_refs": [{"source_id": "04", "path": "04_cfo_email.eml", "locator": "line 10", "excerpt": "The P&amp;L tab is in GBP millions. The CustomerSales and ServiceMix tabs are in GBP thousands. They cover FY2025 recognised revenue, excluding VAT, for the same UK company. CustomerSales contains the five largest customers plus one aggregate row for all others. Do not treat that aggregate as a single customer."}], "status": "source_supported", "limitations": "", "synthetic": true}</a:t>
            </a:r>
          </a:p>
          <a:p xmlns:a="http://schemas.openxmlformats.org/drawingml/2006/main">
            <a:r>
              <a:t/>
            </a:r>
          </a:p>
          <a:p xmlns:a="http://schemas.openxmlformats.org/drawingml/2006/main">
            <a:r>
              <a:t>{"id": "CAGR", "formula": "(FY2025 revenue / FY2023 revenue)^(1/2) - 1", "input_ids": ["FIN23", "FIN25"], "result": 0.17851130197757925, "unit": "ratio", "rounding": "Full precision internally; one decimal for GBP million and most percentages"}</a:t>
            </a:r>
          </a:p>
          <a:p xmlns:a="http://schemas.openxmlformats.org/drawingml/2006/main">
            <a:r>
              <a:t/>
            </a:r>
          </a:p>
          <a:p xmlns:a="http://schemas.openxmlformats.org/drawingml/2006/main">
            <a:r>
              <a:t>{"id": "MARGINS", "formula": "Each period EBITDA / same period revenue", "input_ids": ["FIN23", "FIN24", "FIN25", "FIN26", "FIN27"], "result": [0.14999999999999997, 0.1813953488372093, 0.2, 0.21034482758620687, 0.22023809523809523], "unit": "ratio", "rounding": "Full precision internally; one decimal for GBP million and most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c72dd199f540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56cd8bc6f142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5c1c1a085442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6bf52236f347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e6875f4fbd43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0ac84d113d4d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6FEFB0-40CB-4F69-832C-44FAD59C42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235BDF-52CF-4C86-8C7F-E22C9012E8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05C04D-B562-4FC6-83E5-B04203B5F3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FBF12-E437-4182-BCDA-5FC715AEEA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FB6EFD-13B7-42F1-A3E6-611805C07B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123BF0-C07A-4B98-900E-2D559AE792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282D0B-D3AC-40E3-A7BD-70423696F7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C12D4A-198D-4496-A122-99925513A1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DFD03F-A8D2-4132-85A9-55D8F75C9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92D679-D721-479C-94D2-C506AC48C9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0f0ed5b70f4ff6" /><Relationship Type="http://schemas.openxmlformats.org/officeDocument/2006/relationships/slideLayout" Target="/ppt/slideLayouts/slideLayout1.xml" Id="Ra076de84a24943ae" /><Relationship Type="http://schemas.openxmlformats.org/officeDocument/2006/relationships/slideLayout" Target="/ppt/slideLayouts/slideLayout2.xml" Id="R65204f8871ba4442" /><Relationship Type="http://schemas.openxmlformats.org/officeDocument/2006/relationships/slideLayout" Target="/ppt/slideLayouts/slideLayout3.xml" Id="Rc5df5d2345644bd3" /><Relationship Type="http://schemas.openxmlformats.org/officeDocument/2006/relationships/slideLayout" Target="/ppt/slideLayouts/slideLayout4.xml" Id="R6ccfeca8f9de4b7a" /><Relationship Type="http://schemas.openxmlformats.org/officeDocument/2006/relationships/slideLayout" Target="/ppt/slideLayouts/slideLayout5.xml" Id="R13f5ef4d14d04ea4" /><Relationship Type="http://schemas.openxmlformats.org/officeDocument/2006/relationships/slideLayout" Target="/ppt/slideLayouts/slideLayout6.xml" Id="R2e303e7888c44e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76de84a24943ae"/>
    <p:sldLayoutId xmlns:r="http://schemas.openxmlformats.org/officeDocument/2006/relationships" id="2147483650" r:id="R65204f8871ba4442"/>
    <p:sldLayoutId xmlns:r="http://schemas.openxmlformats.org/officeDocument/2006/relationships" id="2147483651" r:id="Rc5df5d2345644bd3"/>
    <p:sldLayoutId xmlns:r="http://schemas.openxmlformats.org/officeDocument/2006/relationships" id="2147483652" r:id="R6ccfeca8f9de4b7a"/>
    <p:sldLayoutId xmlns:r="http://schemas.openxmlformats.org/officeDocument/2006/relationships" id="2147483653" r:id="R13f5ef4d14d04ea4"/>
    <p:sldLayoutId xmlns:r="http://schemas.openxmlformats.org/officeDocument/2006/relationships" id="2147483654" r:id="R2e303e7888c44e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b5caebdb084b74" /><Relationship Type="http://schemas.openxmlformats.org/officeDocument/2006/relationships/notesSlide" Target="/ppt/notesSlides/notesSlide1.xml" Id="R9755fa732d8146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0e4bfec7604e75" /><Relationship Type="http://schemas.openxmlformats.org/officeDocument/2006/relationships/notesSlide" Target="/ppt/notesSlides/notesSlide2.xml" Id="R1bb67342570e41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6249fc2c6042d2" /><Relationship Type="http://schemas.openxmlformats.org/officeDocument/2006/relationships/notesSlide" Target="/ppt/notesSlides/notesSlide3.xml" Id="R7c2324632c5944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1-section">
            <a:extLst xmlns:a="http://schemas.openxmlformats.org/drawingml/2006/main">
              <a:ext uri="{FF2B5EF4-FFF2-40B4-BE49-F238E27FC236}">
                <a16:creationId xmlns:a16="http://schemas.microsoft.com/office/drawing/2014/main" id="{C893B958-1241-466C-9160-F58B981963B1}"/>
              </a:ext>
            </a:extLst>
          </p:cNvPr>
          <p:cNvSpPr>
            <a:spLocks xmlns:a="http://schemas.openxmlformats.org/drawingml/2006/main" noGrp="1"/>
          </p:cNvSpPr>
          <p:nvPr/>
        </p:nvSpPr>
        <p:spPr>
          <a:xfrm xmlns:a="http://schemas.openxmlformats.org/drawingml/2006/main">
            <a:off x="685800" y="266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338D"/>
                </a:solidFill>
                <a:latin typeface="Arial"/>
                <a:ea typeface="Arial"/>
                <a:cs typeface="Arial"/>
              </a:defRPr>
            </a:defPPr>
            <a:lvl1pPr algn="l">
              <a:defRPr sz="1200" b="1">
                <a:solidFill>
                  <a:srgbClr val="00338D"/>
                </a:solidFill>
                <a:latin typeface="Arial"/>
                <a:ea typeface="Arial"/>
                <a:cs typeface="Arial"/>
              </a:defRPr>
            </a:lvl1pPr>
            <a:lvl2pPr algn="l">
              <a:defRPr sz="1200" b="1">
                <a:solidFill>
                  <a:srgbClr val="00338D"/>
                </a:solidFill>
                <a:latin typeface="Arial"/>
                <a:ea typeface="Arial"/>
                <a:cs typeface="Arial"/>
              </a:defRPr>
            </a:lvl2pPr>
            <a:lvl3pPr algn="l">
              <a:defRPr sz="1200" b="1">
                <a:solidFill>
                  <a:srgbClr val="00338D"/>
                </a:solidFill>
                <a:latin typeface="Arial"/>
                <a:ea typeface="Arial"/>
                <a:cs typeface="Arial"/>
              </a:defRPr>
            </a:lvl3pPr>
            <a:lvl4pPr algn="l">
              <a:defRPr sz="1200" b="1">
                <a:solidFill>
                  <a:srgbClr val="00338D"/>
                </a:solidFill>
                <a:latin typeface="Arial"/>
                <a:ea typeface="Arial"/>
                <a:cs typeface="Arial"/>
              </a:defRPr>
            </a:lvl4pPr>
            <a:lvl5pPr algn="l">
              <a:defRPr sz="1200" b="1">
                <a:solidFill>
                  <a:srgbClr val="00338D"/>
                </a:solidFill>
                <a:latin typeface="Arial"/>
                <a:ea typeface="Arial"/>
                <a:cs typeface="Arial"/>
              </a:defRPr>
            </a:lvl5pPr>
            <a:lvl6pPr algn="l">
              <a:defRPr sz="1200" b="1">
                <a:solidFill>
                  <a:srgbClr val="00338D"/>
                </a:solidFill>
                <a:latin typeface="Arial"/>
                <a:ea typeface="Arial"/>
                <a:cs typeface="Arial"/>
              </a:defRPr>
            </a:lvl6pPr>
            <a:lvl7pPr algn="l">
              <a:defRPr sz="1200" b="1">
                <a:solidFill>
                  <a:srgbClr val="00338D"/>
                </a:solidFill>
                <a:latin typeface="Arial"/>
                <a:ea typeface="Arial"/>
                <a:cs typeface="Arial"/>
              </a:defRPr>
            </a:lvl7pPr>
            <a:lvl8pPr algn="l">
              <a:defRPr sz="1200" b="1">
                <a:solidFill>
                  <a:srgbClr val="00338D"/>
                </a:solidFill>
                <a:latin typeface="Arial"/>
                <a:ea typeface="Arial"/>
                <a:cs typeface="Arial"/>
              </a:defRPr>
            </a:lvl8pPr>
            <a:lvl9pPr algn="l">
              <a:defRPr sz="1200" b="1">
                <a:solidFill>
                  <a:srgbClr val="00338D"/>
                </a:solidFill>
                <a:latin typeface="Arial"/>
                <a:ea typeface="Arial"/>
                <a:cs typeface="Arial"/>
              </a:defRPr>
            </a:lvl9pPr>
          </a:lstStyle>
          <a:p xmlns:a="http://schemas.openxmlformats.org/drawingml/2006/main">
            <a:pPr algn="l">
              <a:defRPr sz="1200" b="1">
                <a:solidFill>
                  <a:srgbClr val="00338D"/>
                </a:solidFill>
                <a:latin typeface="Arial"/>
                <a:ea typeface="Arial"/>
                <a:cs typeface="Arial"/>
              </a:defRPr>
            </a:pPr>
            <a:r>
              <a:rPr sz="1200" b="1">
                <a:solidFill>
                  <a:srgbClr val="00338D"/>
                </a:solidFill>
                <a:latin typeface="Arial"/>
                <a:ea typeface="Arial"/>
                <a:cs typeface="Arial"/>
              </a:rPr>
              <a:t>Investment case | Evidence and qualifications</a:t>
            </a:r>
          </a:p>
        </p:txBody>
      </p:sp>
      <p:sp>
        <p:nvSpPr>
          <p:cNvPr id="2" name="p1-title">
            <a:extLst xmlns:a="http://schemas.openxmlformats.org/drawingml/2006/main">
              <a:ext uri="{FF2B5EF4-FFF2-40B4-BE49-F238E27FC236}">
                <a16:creationId xmlns:a16="http://schemas.microsoft.com/office/drawing/2014/main" id="{3FDD6180-C739-4CA2-813D-DD250A8F63AD}"/>
              </a:ext>
            </a:extLst>
          </p:cNvPr>
          <p:cNvSpPr>
            <a:spLocks xmlns:a="http://schemas.openxmlformats.org/drawingml/2006/main" noGrp="1"/>
          </p:cNvSpPr>
          <p:nvPr/>
        </p:nvSpPr>
        <p:spPr>
          <a:xfrm xmlns:a="http://schemas.openxmlformats.org/drawingml/2006/main">
            <a:off x="685800" y="581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338D"/>
                </a:solidFill>
                <a:latin typeface="Arial"/>
                <a:ea typeface="Arial"/>
                <a:cs typeface="Arial"/>
              </a:defRPr>
            </a:defPPr>
            <a:lvl1pPr algn="l">
              <a:defRPr sz="2550" b="1">
                <a:solidFill>
                  <a:srgbClr val="00338D"/>
                </a:solidFill>
                <a:latin typeface="Arial"/>
                <a:ea typeface="Arial"/>
                <a:cs typeface="Arial"/>
              </a:defRPr>
            </a:lvl1pPr>
            <a:lvl2pPr algn="l">
              <a:defRPr sz="2550" b="1">
                <a:solidFill>
                  <a:srgbClr val="00338D"/>
                </a:solidFill>
                <a:latin typeface="Arial"/>
                <a:ea typeface="Arial"/>
                <a:cs typeface="Arial"/>
              </a:defRPr>
            </a:lvl2pPr>
            <a:lvl3pPr algn="l">
              <a:defRPr sz="2550" b="1">
                <a:solidFill>
                  <a:srgbClr val="00338D"/>
                </a:solidFill>
                <a:latin typeface="Arial"/>
                <a:ea typeface="Arial"/>
                <a:cs typeface="Arial"/>
              </a:defRPr>
            </a:lvl3pPr>
            <a:lvl4pPr algn="l">
              <a:defRPr sz="2550" b="1">
                <a:solidFill>
                  <a:srgbClr val="00338D"/>
                </a:solidFill>
                <a:latin typeface="Arial"/>
                <a:ea typeface="Arial"/>
                <a:cs typeface="Arial"/>
              </a:defRPr>
            </a:lvl4pPr>
            <a:lvl5pPr algn="l">
              <a:defRPr sz="2550" b="1">
                <a:solidFill>
                  <a:srgbClr val="00338D"/>
                </a:solidFill>
                <a:latin typeface="Arial"/>
                <a:ea typeface="Arial"/>
                <a:cs typeface="Arial"/>
              </a:defRPr>
            </a:lvl5pPr>
            <a:lvl6pPr algn="l">
              <a:defRPr sz="2550" b="1">
                <a:solidFill>
                  <a:srgbClr val="00338D"/>
                </a:solidFill>
                <a:latin typeface="Arial"/>
                <a:ea typeface="Arial"/>
                <a:cs typeface="Arial"/>
              </a:defRPr>
            </a:lvl6pPr>
            <a:lvl7pPr algn="l">
              <a:defRPr sz="2550" b="1">
                <a:solidFill>
                  <a:srgbClr val="00338D"/>
                </a:solidFill>
                <a:latin typeface="Arial"/>
                <a:ea typeface="Arial"/>
                <a:cs typeface="Arial"/>
              </a:defRPr>
            </a:lvl7pPr>
            <a:lvl8pPr algn="l">
              <a:defRPr sz="2550" b="1">
                <a:solidFill>
                  <a:srgbClr val="00338D"/>
                </a:solidFill>
                <a:latin typeface="Arial"/>
                <a:ea typeface="Arial"/>
                <a:cs typeface="Arial"/>
              </a:defRPr>
            </a:lvl8pPr>
            <a:lvl9pPr algn="l">
              <a:defRPr sz="2550" b="1">
                <a:solidFill>
                  <a:srgbClr val="00338D"/>
                </a:solidFill>
                <a:latin typeface="Arial"/>
                <a:ea typeface="Arial"/>
                <a:cs typeface="Arial"/>
              </a:defRPr>
            </a:lvl9pPr>
          </a:lstStyle>
          <a:p xmlns:a="http://schemas.openxmlformats.org/drawingml/2006/main">
            <a:pPr algn="l">
              <a:defRPr sz="2550" b="1">
                <a:solidFill>
                  <a:srgbClr val="00338D"/>
                </a:solidFill>
                <a:latin typeface="Arial"/>
                <a:ea typeface="Arial"/>
                <a:cs typeface="Arial"/>
              </a:defRPr>
            </a:pPr>
            <a:r>
              <a:rPr sz="2550" b="1">
                <a:solidFill>
                  <a:srgbClr val="00338D"/>
                </a:solidFill>
                <a:latin typeface="Arial"/>
                <a:ea typeface="Arial"/>
                <a:cs typeface="Arial"/>
              </a:rPr>
              <a:t>Investment case: maintenance revenue and historical growth</a:t>
            </a:r>
          </a:p>
        </p:txBody>
      </p:sp>
      <p:sp>
        <p:nvSpPr>
          <p:cNvPr id="3" name="p1-source">
            <a:extLst xmlns:a="http://schemas.openxmlformats.org/drawingml/2006/main">
              <a:ext uri="{FF2B5EF4-FFF2-40B4-BE49-F238E27FC236}">
                <a16:creationId xmlns:a16="http://schemas.microsoft.com/office/drawing/2014/main" id="{369D857D-C861-4AD4-900E-10EB06010EFA}"/>
              </a:ext>
            </a:extLst>
          </p:cNvPr>
          <p:cNvSpPr>
            <a:spLocks xmlns:a="http://schemas.openxmlformats.org/drawingml/2006/main" noGrp="1"/>
          </p:cNvSpPr>
          <p:nvPr/>
        </p:nvSpPr>
        <p:spPr>
          <a:xfrm xmlns:a="http://schemas.openxmlformats.org/drawingml/2006/main">
            <a:off x="685800" y="6191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00338D"/>
                </a:solidFill>
                <a:latin typeface="Arial"/>
                <a:ea typeface="Arial"/>
                <a:cs typeface="Arial"/>
              </a:defRPr>
            </a:defPPr>
            <a:lvl1pPr algn="l">
              <a:defRPr sz="900" b="0">
                <a:solidFill>
                  <a:srgbClr val="00338D"/>
                </a:solidFill>
                <a:latin typeface="Arial"/>
                <a:ea typeface="Arial"/>
                <a:cs typeface="Arial"/>
              </a:defRPr>
            </a:lvl1pPr>
            <a:lvl2pPr algn="l">
              <a:defRPr sz="900" b="0">
                <a:solidFill>
                  <a:srgbClr val="00338D"/>
                </a:solidFill>
                <a:latin typeface="Arial"/>
                <a:ea typeface="Arial"/>
                <a:cs typeface="Arial"/>
              </a:defRPr>
            </a:lvl2pPr>
            <a:lvl3pPr algn="l">
              <a:defRPr sz="900" b="0">
                <a:solidFill>
                  <a:srgbClr val="00338D"/>
                </a:solidFill>
                <a:latin typeface="Arial"/>
                <a:ea typeface="Arial"/>
                <a:cs typeface="Arial"/>
              </a:defRPr>
            </a:lvl3pPr>
            <a:lvl4pPr algn="l">
              <a:defRPr sz="900" b="0">
                <a:solidFill>
                  <a:srgbClr val="00338D"/>
                </a:solidFill>
                <a:latin typeface="Arial"/>
                <a:ea typeface="Arial"/>
                <a:cs typeface="Arial"/>
              </a:defRPr>
            </a:lvl4pPr>
            <a:lvl5pPr algn="l">
              <a:defRPr sz="900" b="0">
                <a:solidFill>
                  <a:srgbClr val="00338D"/>
                </a:solidFill>
                <a:latin typeface="Arial"/>
                <a:ea typeface="Arial"/>
                <a:cs typeface="Arial"/>
              </a:defRPr>
            </a:lvl5pPr>
            <a:lvl6pPr algn="l">
              <a:defRPr sz="900" b="0">
                <a:solidFill>
                  <a:srgbClr val="00338D"/>
                </a:solidFill>
                <a:latin typeface="Arial"/>
                <a:ea typeface="Arial"/>
                <a:cs typeface="Arial"/>
              </a:defRPr>
            </a:lvl6pPr>
            <a:lvl7pPr algn="l">
              <a:defRPr sz="900" b="0">
                <a:solidFill>
                  <a:srgbClr val="00338D"/>
                </a:solidFill>
                <a:latin typeface="Arial"/>
                <a:ea typeface="Arial"/>
                <a:cs typeface="Arial"/>
              </a:defRPr>
            </a:lvl7pPr>
            <a:lvl8pPr algn="l">
              <a:defRPr sz="900" b="0">
                <a:solidFill>
                  <a:srgbClr val="00338D"/>
                </a:solidFill>
                <a:latin typeface="Arial"/>
                <a:ea typeface="Arial"/>
                <a:cs typeface="Arial"/>
              </a:defRPr>
            </a:lvl8pPr>
            <a:lvl9pPr algn="l">
              <a:defRPr sz="900" b="0">
                <a:solidFill>
                  <a:srgbClr val="00338D"/>
                </a:solidFill>
                <a:latin typeface="Arial"/>
                <a:ea typeface="Arial"/>
                <a:cs typeface="Arial"/>
              </a:defRPr>
            </a:lvl9pPr>
          </a:lstStyle>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Sources: company brief; management model (PnL, ServiceMix, CustomerSales); management interview; CFO email.</a:t>
            </a:r>
          </a:p>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Full source locators and calculations are retained in slide notes.</a:t>
            </a:r>
          </a:p>
        </p:txBody>
      </p:sp>
      <p:sp>
        <p:nvSpPr>
          <p:cNvPr id="4" name="p1-footer-rule">
            <a:extLst xmlns:a="http://schemas.openxmlformats.org/drawingml/2006/main">
              <a:ext uri="{FF2B5EF4-FFF2-40B4-BE49-F238E27FC236}">
                <a16:creationId xmlns:a16="http://schemas.microsoft.com/office/drawing/2014/main" id="{C912153C-55D0-4A88-B342-B449C9FC14E1}"/>
              </a:ext>
            </a:extLst>
          </p:cNvPr>
          <p:cNvSpPr>
            <a:spLocks xmlns:a="http://schemas.openxmlformats.org/drawingml/2006/main" noGrp="1"/>
          </p:cNvSpPr>
          <p:nvPr/>
        </p:nvSpPr>
        <p:spPr>
          <a:xfrm xmlns:a="http://schemas.openxmlformats.org/drawingml/2006/main">
            <a:off x="685800" y="6581775"/>
            <a:ext cx="108204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5" name="p1-footer">
            <a:extLst xmlns:a="http://schemas.openxmlformats.org/drawingml/2006/main">
              <a:ext uri="{FF2B5EF4-FFF2-40B4-BE49-F238E27FC236}">
                <a16:creationId xmlns:a16="http://schemas.microsoft.com/office/drawing/2014/main" id="{6F601A7B-4282-43F1-8B3A-C5996FBFB5AD}"/>
              </a:ext>
            </a:extLst>
          </p:cNvPr>
          <p:cNvSpPr>
            <a:spLocks xmlns:a="http://schemas.openxmlformats.org/drawingml/2006/main" noGrp="1"/>
          </p:cNvSpPr>
          <p:nvPr/>
        </p:nvSpPr>
        <p:spPr>
          <a:xfrm xmlns:a="http://schemas.openxmlformats.org/drawingml/2006/main">
            <a:off x="685800" y="6638925"/>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95959"/>
                </a:solidFill>
                <a:latin typeface="Arial"/>
                <a:ea typeface="Arial"/>
                <a:cs typeface="Arial"/>
              </a:defRPr>
            </a:defPPr>
            <a:lvl1pPr algn="l">
              <a:defRPr sz="825" b="0">
                <a:solidFill>
                  <a:srgbClr val="595959"/>
                </a:solidFill>
                <a:latin typeface="Arial"/>
                <a:ea typeface="Arial"/>
                <a:cs typeface="Arial"/>
              </a:defRPr>
            </a:lvl1pPr>
            <a:lvl2pPr algn="l">
              <a:defRPr sz="825" b="0">
                <a:solidFill>
                  <a:srgbClr val="595959"/>
                </a:solidFill>
                <a:latin typeface="Arial"/>
                <a:ea typeface="Arial"/>
                <a:cs typeface="Arial"/>
              </a:defRPr>
            </a:lvl2pPr>
            <a:lvl3pPr algn="l">
              <a:defRPr sz="825" b="0">
                <a:solidFill>
                  <a:srgbClr val="595959"/>
                </a:solidFill>
                <a:latin typeface="Arial"/>
                <a:ea typeface="Arial"/>
                <a:cs typeface="Arial"/>
              </a:defRPr>
            </a:lvl3pPr>
            <a:lvl4pPr algn="l">
              <a:defRPr sz="825" b="0">
                <a:solidFill>
                  <a:srgbClr val="595959"/>
                </a:solidFill>
                <a:latin typeface="Arial"/>
                <a:ea typeface="Arial"/>
                <a:cs typeface="Arial"/>
              </a:defRPr>
            </a:lvl4pPr>
            <a:lvl5pPr algn="l">
              <a:defRPr sz="825" b="0">
                <a:solidFill>
                  <a:srgbClr val="595959"/>
                </a:solidFill>
                <a:latin typeface="Arial"/>
                <a:ea typeface="Arial"/>
                <a:cs typeface="Arial"/>
              </a:defRPr>
            </a:lvl5pPr>
            <a:lvl6pPr algn="l">
              <a:defRPr sz="825" b="0">
                <a:solidFill>
                  <a:srgbClr val="595959"/>
                </a:solidFill>
                <a:latin typeface="Arial"/>
                <a:ea typeface="Arial"/>
                <a:cs typeface="Arial"/>
              </a:defRPr>
            </a:lvl6pPr>
            <a:lvl7pPr algn="l">
              <a:defRPr sz="825" b="0">
                <a:solidFill>
                  <a:srgbClr val="595959"/>
                </a:solidFill>
                <a:latin typeface="Arial"/>
                <a:ea typeface="Arial"/>
                <a:cs typeface="Arial"/>
              </a:defRPr>
            </a:lvl7pPr>
            <a:lvl8pPr algn="l">
              <a:defRPr sz="825" b="0">
                <a:solidFill>
                  <a:srgbClr val="595959"/>
                </a:solidFill>
                <a:latin typeface="Arial"/>
                <a:ea typeface="Arial"/>
                <a:cs typeface="Arial"/>
              </a:defRPr>
            </a:lvl8pPr>
            <a:lvl9pPr algn="l">
              <a:defRPr sz="825" b="0">
                <a:solidFill>
                  <a:srgbClr val="595959"/>
                </a:solidFill>
                <a:latin typeface="Arial"/>
                <a:ea typeface="Arial"/>
                <a:cs typeface="Arial"/>
              </a:defRPr>
            </a:lvl9pPr>
          </a:lstStyle>
          <a:p xmlns:a="http://schemas.openxmlformats.org/drawingml/2006/main">
            <a:pPr algn="l">
              <a:defRPr sz="825" b="0">
                <a:solidFill>
                  <a:srgbClr val="595959"/>
                </a:solidFill>
                <a:latin typeface="Arial"/>
                <a:ea typeface="Arial"/>
                <a:cs typeface="Arial"/>
              </a:defRPr>
            </a:pPr>
            <a:r>
              <a:rPr sz="825" b="0">
                <a:solidFill>
                  <a:srgbClr val="595959"/>
                </a:solidFill>
                <a:latin typeface="Arial"/>
                <a:ea typeface="Arial"/>
                <a:cs typeface="Arial"/>
              </a:rPr>
              <a:t>NORTHBRIDGE  |  FICTIONAL TRAINING CASE  |  January 2026</a:t>
            </a:r>
          </a:p>
        </p:txBody>
      </p:sp>
      <p:sp>
        <p:nvSpPr>
          <p:cNvPr id="6" name="p1-number">
            <a:extLst xmlns:a="http://schemas.openxmlformats.org/drawingml/2006/main">
              <a:ext uri="{FF2B5EF4-FFF2-40B4-BE49-F238E27FC236}">
                <a16:creationId xmlns:a16="http://schemas.microsoft.com/office/drawing/2014/main" id="{E958BFC9-50CC-4687-9DBB-EE8D341C7EDD}"/>
              </a:ext>
            </a:extLst>
          </p:cNvPr>
          <p:cNvSpPr>
            <a:spLocks xmlns:a="http://schemas.openxmlformats.org/drawingml/2006/main" noGrp="1"/>
          </p:cNvSpPr>
          <p:nvPr/>
        </p:nvSpPr>
        <p:spPr>
          <a:xfrm xmlns:a="http://schemas.openxmlformats.org/drawingml/2006/main">
            <a:off x="11144250" y="663892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00338D"/>
                </a:solidFill>
                <a:latin typeface="Arial"/>
                <a:ea typeface="Arial"/>
                <a:cs typeface="Arial"/>
              </a:defRPr>
            </a:defPPr>
            <a:lvl1pPr algn="l">
              <a:defRPr sz="825" b="0">
                <a:solidFill>
                  <a:srgbClr val="00338D"/>
                </a:solidFill>
                <a:latin typeface="Arial"/>
                <a:ea typeface="Arial"/>
                <a:cs typeface="Arial"/>
              </a:defRPr>
            </a:lvl1pPr>
            <a:lvl2pPr algn="l">
              <a:defRPr sz="825" b="0">
                <a:solidFill>
                  <a:srgbClr val="00338D"/>
                </a:solidFill>
                <a:latin typeface="Arial"/>
                <a:ea typeface="Arial"/>
                <a:cs typeface="Arial"/>
              </a:defRPr>
            </a:lvl2pPr>
            <a:lvl3pPr algn="l">
              <a:defRPr sz="825" b="0">
                <a:solidFill>
                  <a:srgbClr val="00338D"/>
                </a:solidFill>
                <a:latin typeface="Arial"/>
                <a:ea typeface="Arial"/>
                <a:cs typeface="Arial"/>
              </a:defRPr>
            </a:lvl3pPr>
            <a:lvl4pPr algn="l">
              <a:defRPr sz="825" b="0">
                <a:solidFill>
                  <a:srgbClr val="00338D"/>
                </a:solidFill>
                <a:latin typeface="Arial"/>
                <a:ea typeface="Arial"/>
                <a:cs typeface="Arial"/>
              </a:defRPr>
            </a:lvl4pPr>
            <a:lvl5pPr algn="l">
              <a:defRPr sz="825" b="0">
                <a:solidFill>
                  <a:srgbClr val="00338D"/>
                </a:solidFill>
                <a:latin typeface="Arial"/>
                <a:ea typeface="Arial"/>
                <a:cs typeface="Arial"/>
              </a:defRPr>
            </a:lvl5pPr>
            <a:lvl6pPr algn="l">
              <a:defRPr sz="825" b="0">
                <a:solidFill>
                  <a:srgbClr val="00338D"/>
                </a:solidFill>
                <a:latin typeface="Arial"/>
                <a:ea typeface="Arial"/>
                <a:cs typeface="Arial"/>
              </a:defRPr>
            </a:lvl6pPr>
            <a:lvl7pPr algn="l">
              <a:defRPr sz="825" b="0">
                <a:solidFill>
                  <a:srgbClr val="00338D"/>
                </a:solidFill>
                <a:latin typeface="Arial"/>
                <a:ea typeface="Arial"/>
                <a:cs typeface="Arial"/>
              </a:defRPr>
            </a:lvl7pPr>
            <a:lvl8pPr algn="l">
              <a:defRPr sz="825" b="0">
                <a:solidFill>
                  <a:srgbClr val="00338D"/>
                </a:solidFill>
                <a:latin typeface="Arial"/>
                <a:ea typeface="Arial"/>
                <a:cs typeface="Arial"/>
              </a:defRPr>
            </a:lvl8pPr>
            <a:lvl9pPr algn="l">
              <a:defRPr sz="825" b="0">
                <a:solidFill>
                  <a:srgbClr val="00338D"/>
                </a:solidFill>
                <a:latin typeface="Arial"/>
                <a:ea typeface="Arial"/>
                <a:cs typeface="Arial"/>
              </a:defRPr>
            </a:lvl9pPr>
          </a:lstStyle>
          <a:p xmlns:a="http://schemas.openxmlformats.org/drawingml/2006/main">
            <a:pPr algn="l">
              <a:defRPr sz="825" b="0">
                <a:solidFill>
                  <a:srgbClr val="00338D"/>
                </a:solidFill>
                <a:latin typeface="Arial"/>
                <a:ea typeface="Arial"/>
                <a:cs typeface="Arial"/>
              </a:defRPr>
            </a:pPr>
            <a:r>
              <a:rPr sz="825" b="0">
                <a:solidFill>
                  <a:srgbClr val="00338D"/>
                </a:solidFill>
                <a:latin typeface="Arial"/>
                <a:ea typeface="Arial"/>
                <a:cs typeface="Arial"/>
              </a:rPr>
              <a:t>1</a:t>
            </a:r>
          </a:p>
        </p:txBody>
      </p:sp>
      <p:graphicFrame>
        <p:nvGraphicFramePr>
          <p:cNvPr id="7" name="">
            <a:extLst xmlns:a="http://schemas.openxmlformats.org/drawingml/2006/main">
              <a:ext uri="{FF2B5EF4-FFF2-40B4-BE49-F238E27FC236}">
                <a16:creationId xmlns:a16="http://schemas.microsoft.com/office/drawing/2014/main" id="{6ED20A32-FD09-4705-978A-BE7BBB7762EF}"/>
              </a:ext>
            </a:extLst>
          </p:cNvPr>
          <p:cNvGraphicFramePr/>
          <p:nvPr/>
        </p:nvGraphicFramePr>
        <p:xfrm>
          <a:off xmlns:a="http://schemas.openxmlformats.org/drawingml/2006/main" x="685800" y="1409700"/>
          <a:ext xmlns:a="http://schemas.openxmlformats.org/drawingml/2006/main" cx="10820400" cy="3333750"/>
        </p:xfrm>
        <a:graphic xmlns:a="http://schemas.openxmlformats.org/drawingml/2006/main">
          <a:graphicData uri="http://schemas.openxmlformats.org/drawingml/2006/table">
            <a:tbl>
              <a:tblPr/>
              <a:tblGrid>
                <a:gridCol w="1938834"/>
                <a:gridCol w="4378127"/>
                <a:gridCol w="4503440"/>
              </a:tblGrid>
              <a:tr h="451743">
                <a:tc>
                  <a:txBody>
                    <a:bodyPr lIns="95250" tIns="66675" rIns="95250" bIns="66675">
                      <a:noAutofit/>
                    </a:bodyPr>
                    <a:lstStyle/>
                    <a:p>
                      <a:pPr algn="l"/>
                      <a:r>
                        <a:rPr sz="1275" b="1">
                          <a:solidFill>
                            <a:srgbClr val="FFFFFF"/>
                          </a:solidFill>
                          <a:latin typeface="Arial"/>
                          <a:ea typeface="Arial"/>
                          <a:cs typeface="Arial"/>
                        </a:rPr>
                        <a:t>Investment theme</a:t>
                      </a:r>
                    </a:p>
                  </a:txBody>
                  <a:tcPr marL="91440" marR="91440" marT="45720" marB="45720" anchor="ctr">
                    <a:lnL w="9525">
                      <a:solidFill>
                        <a:srgbClr val="B8C7DF"/>
                      </a:solidFill>
                      <a:prstDash val="solid"/>
                    </a:lnL>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l"/>
                      <a:r>
                        <a:rPr sz="1275" b="1">
                          <a:solidFill>
                            <a:srgbClr val="FFFFFF"/>
                          </a:solidFill>
                          <a:latin typeface="Arial"/>
                          <a:ea typeface="Arial"/>
                          <a:cs typeface="Arial"/>
                        </a:rPr>
                        <a:t>Supporting evidence</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l"/>
                      <a:r>
                        <a:rPr sz="1275" b="1">
                          <a:solidFill>
                            <a:srgbClr val="FFFFFF"/>
                          </a:solidFill>
                          <a:latin typeface="Arial"/>
                          <a:ea typeface="Arial"/>
                          <a:cs typeface="Arial"/>
                        </a:rPr>
                        <a:t>Qualification / diligence focus</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r>
              <a:tr h="719634">
                <a:tc>
                  <a:txBody>
                    <a:bodyPr lIns="95250" tIns="66675" rIns="95250" bIns="66675">
                      <a:noAutofit/>
                    </a:bodyPr>
                    <a:lstStyle/>
                    <a:p>
                      <a:pPr algn="l"/>
                      <a:r>
                        <a:rPr sz="1275" b="0">
                          <a:solidFill>
                            <a:srgbClr val="000000"/>
                          </a:solidFill>
                          <a:latin typeface="Arial"/>
                          <a:ea typeface="Arial"/>
                          <a:cs typeface="Arial"/>
                        </a:rPr>
                        <a:t>Maintenance activity</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Scheduled maintenance: £17.5m, or 70% of FY2025 revenue. Contracts generally run for one to three years.</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Renewal is by agreement. The 94% retention estimate has no defined cohort or calculation basis.</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719634">
                <a:tc>
                  <a:txBody>
                    <a:bodyPr lIns="95250" tIns="66675" rIns="95250" bIns="66675">
                      <a:noAutofit/>
                    </a:bodyPr>
                    <a:lstStyle/>
                    <a:p>
                      <a:pPr algn="l"/>
                      <a:r>
                        <a:rPr sz="1275" b="0">
                          <a:solidFill>
                            <a:srgbClr val="000000"/>
                          </a:solidFill>
                          <a:latin typeface="Arial"/>
                          <a:ea typeface="Arial"/>
                          <a:cs typeface="Arial"/>
                        </a:rPr>
                        <a:t>Historical growth</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0">
                          <a:solidFill>
                            <a:srgbClr val="000000"/>
                          </a:solidFill>
                          <a:latin typeface="Arial"/>
                          <a:ea typeface="Arial"/>
                          <a:cs typeface="Arial"/>
                        </a:rPr>
                        <a:t>Revenue: £18.0m in FY2023 to £25.0m in FY2025; 17.9% CAGR. FY2025 EBITDA: £5.0m.</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0">
                          <a:solidFill>
                            <a:srgbClr val="000000"/>
                          </a:solidFill>
                          <a:latin typeface="Arial"/>
                          <a:ea typeface="Arial"/>
                          <a:cs typeface="Arial"/>
                        </a:rPr>
                        <a:t>FY2025 revenue remains provisional versus £26.2m in the earlier brief. EBITDA is unaudited.</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r h="719634">
                <a:tc>
                  <a:txBody>
                    <a:bodyPr lIns="95250" tIns="66675" rIns="95250" bIns="66675">
                      <a:noAutofit/>
                    </a:bodyPr>
                    <a:lstStyle/>
                    <a:p>
                      <a:pPr algn="l"/>
                      <a:r>
                        <a:rPr sz="1275" b="0">
                          <a:solidFill>
                            <a:srgbClr val="000000"/>
                          </a:solidFill>
                          <a:latin typeface="Arial"/>
                          <a:ea typeface="Arial"/>
                          <a:cs typeface="Arial"/>
                        </a:rPr>
                        <a:t>Delivery capacity</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85 field engineers within 120 employees; hubs in Birmingham, Manchester and Bristol.</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The founder leads major customer relationships. Relationship continuity requires diligence.</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719931">
                <a:tc>
                  <a:txBody>
                    <a:bodyPr lIns="95250" tIns="66675" rIns="95250" bIns="66675">
                      <a:noAutofit/>
                    </a:bodyPr>
                    <a:lstStyle/>
                    <a:p>
                      <a:pPr algn="l"/>
                      <a:r>
                        <a:rPr sz="1275" b="0">
                          <a:solidFill>
                            <a:srgbClr val="000000"/>
                          </a:solidFill>
                          <a:latin typeface="Arial"/>
                          <a:ea typeface="Arial"/>
                          <a:cs typeface="Arial"/>
                        </a:rPr>
                        <a:t>Management growth plan</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0">
                          <a:solidFill>
                            <a:srgbClr val="000000"/>
                          </a:solidFill>
                          <a:latin typeface="Arial"/>
                          <a:ea typeface="Arial"/>
                          <a:cs typeface="Arial"/>
                        </a:rPr>
                        <a:t>Add 20 net engineers by FY2027 and cross-sell maintenance to repair customers.</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0">
                          <a:solidFill>
                            <a:srgbClr val="000000"/>
                          </a:solidFill>
                          <a:latin typeface="Arial"/>
                          <a:ea typeface="Arial"/>
                          <a:cs typeface="Arial"/>
                        </a:rPr>
                        <a:t>Execution depends on hiring and renewals. A customer-level forecast bridge is unavailable.</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bl>
          </a:graphicData>
        </a:graphic>
      </p:graphicFrame>
      <p:sp>
        <p:nvSpPr>
          <p:cNvPr id="8" name="p1-concentration-head">
            <a:extLst xmlns:a="http://schemas.openxmlformats.org/drawingml/2006/main">
              <a:ext uri="{FF2B5EF4-FFF2-40B4-BE49-F238E27FC236}">
                <a16:creationId xmlns:a16="http://schemas.microsoft.com/office/drawing/2014/main" id="{9ED3C5CC-0162-4AC1-97CC-7D74F5F5DE0F}"/>
              </a:ext>
            </a:extLst>
          </p:cNvPr>
          <p:cNvSpPr>
            <a:spLocks xmlns:a="http://schemas.openxmlformats.org/drawingml/2006/main" noGrp="1"/>
          </p:cNvSpPr>
          <p:nvPr/>
        </p:nvSpPr>
        <p:spPr>
          <a:xfrm xmlns:a="http://schemas.openxmlformats.org/drawingml/2006/main">
            <a:off x="685800" y="504825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Customer concentration</a:t>
            </a:r>
          </a:p>
        </p:txBody>
      </p:sp>
      <p:sp>
        <p:nvSpPr>
          <p:cNvPr id="9" name="p1-concentration">
            <a:extLst xmlns:a="http://schemas.openxmlformats.org/drawingml/2006/main">
              <a:ext uri="{FF2B5EF4-FFF2-40B4-BE49-F238E27FC236}">
                <a16:creationId xmlns:a16="http://schemas.microsoft.com/office/drawing/2014/main" id="{0DB50EC9-AC3F-4429-857B-50F6F3D7B389}"/>
              </a:ext>
            </a:extLst>
          </p:cNvPr>
          <p:cNvSpPr>
            <a:spLocks xmlns:a="http://schemas.openxmlformats.org/drawingml/2006/main" noGrp="1"/>
          </p:cNvSpPr>
          <p:nvPr/>
        </p:nvSpPr>
        <p:spPr>
          <a:xfrm xmlns:a="http://schemas.openxmlformats.org/drawingml/2006/main">
            <a:off x="685800" y="54102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The top five customers represent 42% of FY2025 revenue; the largest represents 12%. Contract-level review is required.</a:t>
            </a:r>
          </a:p>
        </p:txBody>
      </p:sp>
      <p:sp>
        <p:nvSpPr>
          <p:cNvPr id="10" name="p1-earnings-head">
            <a:extLst xmlns:a="http://schemas.openxmlformats.org/drawingml/2006/main">
              <a:ext uri="{FF2B5EF4-FFF2-40B4-BE49-F238E27FC236}">
                <a16:creationId xmlns:a16="http://schemas.microsoft.com/office/drawing/2014/main" id="{2A9E4822-12AE-4C2E-874C-D1CDE5273E45}"/>
              </a:ext>
            </a:extLst>
          </p:cNvPr>
          <p:cNvSpPr>
            <a:spLocks xmlns:a="http://schemas.openxmlformats.org/drawingml/2006/main" noGrp="1"/>
          </p:cNvSpPr>
          <p:nvPr/>
        </p:nvSpPr>
        <p:spPr>
          <a:xfrm xmlns:a="http://schemas.openxmlformats.org/drawingml/2006/main">
            <a:off x="6162675" y="5048250"/>
            <a:ext cx="5343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Earnings evidence</a:t>
            </a:r>
          </a:p>
        </p:txBody>
      </p:sp>
      <p:sp>
        <p:nvSpPr>
          <p:cNvPr id="11" name="p1-earnings">
            <a:extLst xmlns:a="http://schemas.openxmlformats.org/drawingml/2006/main">
              <a:ext uri="{FF2B5EF4-FFF2-40B4-BE49-F238E27FC236}">
                <a16:creationId xmlns:a16="http://schemas.microsoft.com/office/drawing/2014/main" id="{F27DFE6C-1DBE-43D9-9CA9-E94CBAD6D08C}"/>
              </a:ext>
            </a:extLst>
          </p:cNvPr>
          <p:cNvSpPr>
            <a:spLocks xmlns:a="http://schemas.openxmlformats.org/drawingml/2006/main" noGrp="1"/>
          </p:cNvSpPr>
          <p:nvPr/>
        </p:nvSpPr>
        <p:spPr>
          <a:xfrm xmlns:a="http://schemas.openxmlformats.org/drawingml/2006/main">
            <a:off x="6162675" y="5410200"/>
            <a:ext cx="5343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No QoE report or EBITDA normalisation bridge has been supplied. Investment conclusions remain subject to financial diligence.</a:t>
            </a:r>
          </a:p>
        </p:txBody>
      </p:sp>
    </p:spTree>
    <p:extLst>
      <p:ext uri="{BB962C8B-B14F-4D97-AF65-F5344CB8AC3E}">
        <p14:creationId xmlns:p14="http://schemas.microsoft.com/office/powerpoint/2010/main" val="967110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2-section">
            <a:extLst xmlns:a="http://schemas.openxmlformats.org/drawingml/2006/main">
              <a:ext uri="{FF2B5EF4-FFF2-40B4-BE49-F238E27FC236}">
                <a16:creationId xmlns:a16="http://schemas.microsoft.com/office/drawing/2014/main" id="{6449D8F4-6B62-4D00-97C9-B5705794DCD8}"/>
              </a:ext>
            </a:extLst>
          </p:cNvPr>
          <p:cNvSpPr>
            <a:spLocks xmlns:a="http://schemas.openxmlformats.org/drawingml/2006/main" noGrp="1"/>
          </p:cNvSpPr>
          <p:nvPr/>
        </p:nvSpPr>
        <p:spPr>
          <a:xfrm xmlns:a="http://schemas.openxmlformats.org/drawingml/2006/main">
            <a:off x="685800" y="266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338D"/>
                </a:solidFill>
                <a:latin typeface="Arial"/>
                <a:ea typeface="Arial"/>
                <a:cs typeface="Arial"/>
              </a:defRPr>
            </a:defPPr>
            <a:lvl1pPr algn="l">
              <a:defRPr sz="1200" b="1">
                <a:solidFill>
                  <a:srgbClr val="00338D"/>
                </a:solidFill>
                <a:latin typeface="Arial"/>
                <a:ea typeface="Arial"/>
                <a:cs typeface="Arial"/>
              </a:defRPr>
            </a:lvl1pPr>
            <a:lvl2pPr algn="l">
              <a:defRPr sz="1200" b="1">
                <a:solidFill>
                  <a:srgbClr val="00338D"/>
                </a:solidFill>
                <a:latin typeface="Arial"/>
                <a:ea typeface="Arial"/>
                <a:cs typeface="Arial"/>
              </a:defRPr>
            </a:lvl2pPr>
            <a:lvl3pPr algn="l">
              <a:defRPr sz="1200" b="1">
                <a:solidFill>
                  <a:srgbClr val="00338D"/>
                </a:solidFill>
                <a:latin typeface="Arial"/>
                <a:ea typeface="Arial"/>
                <a:cs typeface="Arial"/>
              </a:defRPr>
            </a:lvl3pPr>
            <a:lvl4pPr algn="l">
              <a:defRPr sz="1200" b="1">
                <a:solidFill>
                  <a:srgbClr val="00338D"/>
                </a:solidFill>
                <a:latin typeface="Arial"/>
                <a:ea typeface="Arial"/>
                <a:cs typeface="Arial"/>
              </a:defRPr>
            </a:lvl4pPr>
            <a:lvl5pPr algn="l">
              <a:defRPr sz="1200" b="1">
                <a:solidFill>
                  <a:srgbClr val="00338D"/>
                </a:solidFill>
                <a:latin typeface="Arial"/>
                <a:ea typeface="Arial"/>
                <a:cs typeface="Arial"/>
              </a:defRPr>
            </a:lvl5pPr>
            <a:lvl6pPr algn="l">
              <a:defRPr sz="1200" b="1">
                <a:solidFill>
                  <a:srgbClr val="00338D"/>
                </a:solidFill>
                <a:latin typeface="Arial"/>
                <a:ea typeface="Arial"/>
                <a:cs typeface="Arial"/>
              </a:defRPr>
            </a:lvl6pPr>
            <a:lvl7pPr algn="l">
              <a:defRPr sz="1200" b="1">
                <a:solidFill>
                  <a:srgbClr val="00338D"/>
                </a:solidFill>
                <a:latin typeface="Arial"/>
                <a:ea typeface="Arial"/>
                <a:cs typeface="Arial"/>
              </a:defRPr>
            </a:lvl7pPr>
            <a:lvl8pPr algn="l">
              <a:defRPr sz="1200" b="1">
                <a:solidFill>
                  <a:srgbClr val="00338D"/>
                </a:solidFill>
                <a:latin typeface="Arial"/>
                <a:ea typeface="Arial"/>
                <a:cs typeface="Arial"/>
              </a:defRPr>
            </a:lvl8pPr>
            <a:lvl9pPr algn="l">
              <a:defRPr sz="1200" b="1">
                <a:solidFill>
                  <a:srgbClr val="00338D"/>
                </a:solidFill>
                <a:latin typeface="Arial"/>
                <a:ea typeface="Arial"/>
                <a:cs typeface="Arial"/>
              </a:defRPr>
            </a:lvl9pPr>
          </a:lstStyle>
          <a:p xmlns:a="http://schemas.openxmlformats.org/drawingml/2006/main">
            <a:pPr algn="l">
              <a:defRPr sz="1200" b="1">
                <a:solidFill>
                  <a:srgbClr val="00338D"/>
                </a:solidFill>
                <a:latin typeface="Arial"/>
                <a:ea typeface="Arial"/>
                <a:cs typeface="Arial"/>
              </a:defRPr>
            </a:pPr>
            <a:r>
              <a:rPr sz="1200" b="1">
                <a:solidFill>
                  <a:srgbClr val="00338D"/>
                </a:solidFill>
                <a:latin typeface="Arial"/>
                <a:ea typeface="Arial"/>
                <a:cs typeface="Arial"/>
              </a:rPr>
              <a:t>Business overview | Services and operating context</a:t>
            </a:r>
          </a:p>
        </p:txBody>
      </p:sp>
      <p:sp>
        <p:nvSpPr>
          <p:cNvPr id="2" name="p2-title">
            <a:extLst xmlns:a="http://schemas.openxmlformats.org/drawingml/2006/main">
              <a:ext uri="{FF2B5EF4-FFF2-40B4-BE49-F238E27FC236}">
                <a16:creationId xmlns:a16="http://schemas.microsoft.com/office/drawing/2014/main" id="{116F098B-B260-47B5-AB92-240011BFC0FB}"/>
              </a:ext>
            </a:extLst>
          </p:cNvPr>
          <p:cNvSpPr>
            <a:spLocks xmlns:a="http://schemas.openxmlformats.org/drawingml/2006/main" noGrp="1"/>
          </p:cNvSpPr>
          <p:nvPr/>
        </p:nvSpPr>
        <p:spPr>
          <a:xfrm xmlns:a="http://schemas.openxmlformats.org/drawingml/2006/main">
            <a:off x="685800" y="581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338D"/>
                </a:solidFill>
                <a:latin typeface="Arial"/>
                <a:ea typeface="Arial"/>
                <a:cs typeface="Arial"/>
              </a:defRPr>
            </a:defPPr>
            <a:lvl1pPr algn="l">
              <a:defRPr sz="2550" b="1">
                <a:solidFill>
                  <a:srgbClr val="00338D"/>
                </a:solidFill>
                <a:latin typeface="Arial"/>
                <a:ea typeface="Arial"/>
                <a:cs typeface="Arial"/>
              </a:defRPr>
            </a:lvl1pPr>
            <a:lvl2pPr algn="l">
              <a:defRPr sz="2550" b="1">
                <a:solidFill>
                  <a:srgbClr val="00338D"/>
                </a:solidFill>
                <a:latin typeface="Arial"/>
                <a:ea typeface="Arial"/>
                <a:cs typeface="Arial"/>
              </a:defRPr>
            </a:lvl2pPr>
            <a:lvl3pPr algn="l">
              <a:defRPr sz="2550" b="1">
                <a:solidFill>
                  <a:srgbClr val="00338D"/>
                </a:solidFill>
                <a:latin typeface="Arial"/>
                <a:ea typeface="Arial"/>
                <a:cs typeface="Arial"/>
              </a:defRPr>
            </a:lvl3pPr>
            <a:lvl4pPr algn="l">
              <a:defRPr sz="2550" b="1">
                <a:solidFill>
                  <a:srgbClr val="00338D"/>
                </a:solidFill>
                <a:latin typeface="Arial"/>
                <a:ea typeface="Arial"/>
                <a:cs typeface="Arial"/>
              </a:defRPr>
            </a:lvl4pPr>
            <a:lvl5pPr algn="l">
              <a:defRPr sz="2550" b="1">
                <a:solidFill>
                  <a:srgbClr val="00338D"/>
                </a:solidFill>
                <a:latin typeface="Arial"/>
                <a:ea typeface="Arial"/>
                <a:cs typeface="Arial"/>
              </a:defRPr>
            </a:lvl5pPr>
            <a:lvl6pPr algn="l">
              <a:defRPr sz="2550" b="1">
                <a:solidFill>
                  <a:srgbClr val="00338D"/>
                </a:solidFill>
                <a:latin typeface="Arial"/>
                <a:ea typeface="Arial"/>
                <a:cs typeface="Arial"/>
              </a:defRPr>
            </a:lvl6pPr>
            <a:lvl7pPr algn="l">
              <a:defRPr sz="2550" b="1">
                <a:solidFill>
                  <a:srgbClr val="00338D"/>
                </a:solidFill>
                <a:latin typeface="Arial"/>
                <a:ea typeface="Arial"/>
                <a:cs typeface="Arial"/>
              </a:defRPr>
            </a:lvl7pPr>
            <a:lvl8pPr algn="l">
              <a:defRPr sz="2550" b="1">
                <a:solidFill>
                  <a:srgbClr val="00338D"/>
                </a:solidFill>
                <a:latin typeface="Arial"/>
                <a:ea typeface="Arial"/>
                <a:cs typeface="Arial"/>
              </a:defRPr>
            </a:lvl8pPr>
            <a:lvl9pPr algn="l">
              <a:defRPr sz="2550" b="1">
                <a:solidFill>
                  <a:srgbClr val="00338D"/>
                </a:solidFill>
                <a:latin typeface="Arial"/>
                <a:ea typeface="Arial"/>
                <a:cs typeface="Arial"/>
              </a:defRPr>
            </a:lvl9pPr>
          </a:lstStyle>
          <a:p xmlns:a="http://schemas.openxmlformats.org/drawingml/2006/main">
            <a:pPr algn="l">
              <a:defRPr sz="2550" b="1">
                <a:solidFill>
                  <a:srgbClr val="00338D"/>
                </a:solidFill>
                <a:latin typeface="Arial"/>
                <a:ea typeface="Arial"/>
                <a:cs typeface="Arial"/>
              </a:defRPr>
            </a:pPr>
            <a:r>
              <a:rPr sz="2550" b="1">
                <a:solidFill>
                  <a:srgbClr val="00338D"/>
                </a:solidFill>
                <a:latin typeface="Arial"/>
                <a:ea typeface="Arial"/>
                <a:cs typeface="Arial"/>
              </a:rPr>
              <a:t>Scheduled maintenance contributes 70% of FY2025 revenue</a:t>
            </a:r>
          </a:p>
        </p:txBody>
      </p:sp>
      <p:sp>
        <p:nvSpPr>
          <p:cNvPr id="3" name="p2-source">
            <a:extLst xmlns:a="http://schemas.openxmlformats.org/drawingml/2006/main">
              <a:ext uri="{FF2B5EF4-FFF2-40B4-BE49-F238E27FC236}">
                <a16:creationId xmlns:a16="http://schemas.microsoft.com/office/drawing/2014/main" id="{F69579B3-03B9-47B7-AD7A-8F4DE1CA2260}"/>
              </a:ext>
            </a:extLst>
          </p:cNvPr>
          <p:cNvSpPr>
            <a:spLocks xmlns:a="http://schemas.openxmlformats.org/drawingml/2006/main" noGrp="1"/>
          </p:cNvSpPr>
          <p:nvPr/>
        </p:nvSpPr>
        <p:spPr>
          <a:xfrm xmlns:a="http://schemas.openxmlformats.org/drawingml/2006/main">
            <a:off x="685800" y="6191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00338D"/>
                </a:solidFill>
                <a:latin typeface="Arial"/>
                <a:ea typeface="Arial"/>
                <a:cs typeface="Arial"/>
              </a:defRPr>
            </a:defPPr>
            <a:lvl1pPr algn="l">
              <a:defRPr sz="900" b="0">
                <a:solidFill>
                  <a:srgbClr val="00338D"/>
                </a:solidFill>
                <a:latin typeface="Arial"/>
                <a:ea typeface="Arial"/>
                <a:cs typeface="Arial"/>
              </a:defRPr>
            </a:lvl1pPr>
            <a:lvl2pPr algn="l">
              <a:defRPr sz="900" b="0">
                <a:solidFill>
                  <a:srgbClr val="00338D"/>
                </a:solidFill>
                <a:latin typeface="Arial"/>
                <a:ea typeface="Arial"/>
                <a:cs typeface="Arial"/>
              </a:defRPr>
            </a:lvl2pPr>
            <a:lvl3pPr algn="l">
              <a:defRPr sz="900" b="0">
                <a:solidFill>
                  <a:srgbClr val="00338D"/>
                </a:solidFill>
                <a:latin typeface="Arial"/>
                <a:ea typeface="Arial"/>
                <a:cs typeface="Arial"/>
              </a:defRPr>
            </a:lvl3pPr>
            <a:lvl4pPr algn="l">
              <a:defRPr sz="900" b="0">
                <a:solidFill>
                  <a:srgbClr val="00338D"/>
                </a:solidFill>
                <a:latin typeface="Arial"/>
                <a:ea typeface="Arial"/>
                <a:cs typeface="Arial"/>
              </a:defRPr>
            </a:lvl4pPr>
            <a:lvl5pPr algn="l">
              <a:defRPr sz="900" b="0">
                <a:solidFill>
                  <a:srgbClr val="00338D"/>
                </a:solidFill>
                <a:latin typeface="Arial"/>
                <a:ea typeface="Arial"/>
                <a:cs typeface="Arial"/>
              </a:defRPr>
            </a:lvl5pPr>
            <a:lvl6pPr algn="l">
              <a:defRPr sz="900" b="0">
                <a:solidFill>
                  <a:srgbClr val="00338D"/>
                </a:solidFill>
                <a:latin typeface="Arial"/>
                <a:ea typeface="Arial"/>
                <a:cs typeface="Arial"/>
              </a:defRPr>
            </a:lvl6pPr>
            <a:lvl7pPr algn="l">
              <a:defRPr sz="900" b="0">
                <a:solidFill>
                  <a:srgbClr val="00338D"/>
                </a:solidFill>
                <a:latin typeface="Arial"/>
                <a:ea typeface="Arial"/>
                <a:cs typeface="Arial"/>
              </a:defRPr>
            </a:lvl7pPr>
            <a:lvl8pPr algn="l">
              <a:defRPr sz="900" b="0">
                <a:solidFill>
                  <a:srgbClr val="00338D"/>
                </a:solidFill>
                <a:latin typeface="Arial"/>
                <a:ea typeface="Arial"/>
                <a:cs typeface="Arial"/>
              </a:defRPr>
            </a:lvl8pPr>
            <a:lvl9pPr algn="l">
              <a:defRPr sz="900" b="0">
                <a:solidFill>
                  <a:srgbClr val="00338D"/>
                </a:solidFill>
                <a:latin typeface="Arial"/>
                <a:ea typeface="Arial"/>
                <a:cs typeface="Arial"/>
              </a:defRPr>
            </a:lvl9pPr>
          </a:lstStyle>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Sources: company brief; management model, ServiceMix!A5:C7; CFO email.</a:t>
            </a:r>
          </a:p>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Service schedules are in GBP thousand; amounts below are converted to GBP million.</a:t>
            </a:r>
          </a:p>
        </p:txBody>
      </p:sp>
      <p:sp>
        <p:nvSpPr>
          <p:cNvPr id="4" name="p2-footer-rule">
            <a:extLst xmlns:a="http://schemas.openxmlformats.org/drawingml/2006/main">
              <a:ext uri="{FF2B5EF4-FFF2-40B4-BE49-F238E27FC236}">
                <a16:creationId xmlns:a16="http://schemas.microsoft.com/office/drawing/2014/main" id="{FB5A8E47-F60B-4803-895E-DE4DA38E6B65}"/>
              </a:ext>
            </a:extLst>
          </p:cNvPr>
          <p:cNvSpPr>
            <a:spLocks xmlns:a="http://schemas.openxmlformats.org/drawingml/2006/main" noGrp="1"/>
          </p:cNvSpPr>
          <p:nvPr/>
        </p:nvSpPr>
        <p:spPr>
          <a:xfrm xmlns:a="http://schemas.openxmlformats.org/drawingml/2006/main">
            <a:off x="685800" y="6581775"/>
            <a:ext cx="108204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5" name="p2-footer">
            <a:extLst xmlns:a="http://schemas.openxmlformats.org/drawingml/2006/main">
              <a:ext uri="{FF2B5EF4-FFF2-40B4-BE49-F238E27FC236}">
                <a16:creationId xmlns:a16="http://schemas.microsoft.com/office/drawing/2014/main" id="{592D92BB-F1EB-482F-8B79-86E56E4467A9}"/>
              </a:ext>
            </a:extLst>
          </p:cNvPr>
          <p:cNvSpPr>
            <a:spLocks xmlns:a="http://schemas.openxmlformats.org/drawingml/2006/main" noGrp="1"/>
          </p:cNvSpPr>
          <p:nvPr/>
        </p:nvSpPr>
        <p:spPr>
          <a:xfrm xmlns:a="http://schemas.openxmlformats.org/drawingml/2006/main">
            <a:off x="685800" y="6638925"/>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95959"/>
                </a:solidFill>
                <a:latin typeface="Arial"/>
                <a:ea typeface="Arial"/>
                <a:cs typeface="Arial"/>
              </a:defRPr>
            </a:defPPr>
            <a:lvl1pPr algn="l">
              <a:defRPr sz="825" b="0">
                <a:solidFill>
                  <a:srgbClr val="595959"/>
                </a:solidFill>
                <a:latin typeface="Arial"/>
                <a:ea typeface="Arial"/>
                <a:cs typeface="Arial"/>
              </a:defRPr>
            </a:lvl1pPr>
            <a:lvl2pPr algn="l">
              <a:defRPr sz="825" b="0">
                <a:solidFill>
                  <a:srgbClr val="595959"/>
                </a:solidFill>
                <a:latin typeface="Arial"/>
                <a:ea typeface="Arial"/>
                <a:cs typeface="Arial"/>
              </a:defRPr>
            </a:lvl2pPr>
            <a:lvl3pPr algn="l">
              <a:defRPr sz="825" b="0">
                <a:solidFill>
                  <a:srgbClr val="595959"/>
                </a:solidFill>
                <a:latin typeface="Arial"/>
                <a:ea typeface="Arial"/>
                <a:cs typeface="Arial"/>
              </a:defRPr>
            </a:lvl3pPr>
            <a:lvl4pPr algn="l">
              <a:defRPr sz="825" b="0">
                <a:solidFill>
                  <a:srgbClr val="595959"/>
                </a:solidFill>
                <a:latin typeface="Arial"/>
                <a:ea typeface="Arial"/>
                <a:cs typeface="Arial"/>
              </a:defRPr>
            </a:lvl4pPr>
            <a:lvl5pPr algn="l">
              <a:defRPr sz="825" b="0">
                <a:solidFill>
                  <a:srgbClr val="595959"/>
                </a:solidFill>
                <a:latin typeface="Arial"/>
                <a:ea typeface="Arial"/>
                <a:cs typeface="Arial"/>
              </a:defRPr>
            </a:lvl5pPr>
            <a:lvl6pPr algn="l">
              <a:defRPr sz="825" b="0">
                <a:solidFill>
                  <a:srgbClr val="595959"/>
                </a:solidFill>
                <a:latin typeface="Arial"/>
                <a:ea typeface="Arial"/>
                <a:cs typeface="Arial"/>
              </a:defRPr>
            </a:lvl6pPr>
            <a:lvl7pPr algn="l">
              <a:defRPr sz="825" b="0">
                <a:solidFill>
                  <a:srgbClr val="595959"/>
                </a:solidFill>
                <a:latin typeface="Arial"/>
                <a:ea typeface="Arial"/>
                <a:cs typeface="Arial"/>
              </a:defRPr>
            </a:lvl7pPr>
            <a:lvl8pPr algn="l">
              <a:defRPr sz="825" b="0">
                <a:solidFill>
                  <a:srgbClr val="595959"/>
                </a:solidFill>
                <a:latin typeface="Arial"/>
                <a:ea typeface="Arial"/>
                <a:cs typeface="Arial"/>
              </a:defRPr>
            </a:lvl8pPr>
            <a:lvl9pPr algn="l">
              <a:defRPr sz="825" b="0">
                <a:solidFill>
                  <a:srgbClr val="595959"/>
                </a:solidFill>
                <a:latin typeface="Arial"/>
                <a:ea typeface="Arial"/>
                <a:cs typeface="Arial"/>
              </a:defRPr>
            </a:lvl9pPr>
          </a:lstStyle>
          <a:p xmlns:a="http://schemas.openxmlformats.org/drawingml/2006/main">
            <a:pPr algn="l">
              <a:defRPr sz="825" b="0">
                <a:solidFill>
                  <a:srgbClr val="595959"/>
                </a:solidFill>
                <a:latin typeface="Arial"/>
                <a:ea typeface="Arial"/>
                <a:cs typeface="Arial"/>
              </a:defRPr>
            </a:pPr>
            <a:r>
              <a:rPr sz="825" b="0">
                <a:solidFill>
                  <a:srgbClr val="595959"/>
                </a:solidFill>
                <a:latin typeface="Arial"/>
                <a:ea typeface="Arial"/>
                <a:cs typeface="Arial"/>
              </a:rPr>
              <a:t>NORTHBRIDGE  |  FICTIONAL TRAINING CASE  |  January 2026</a:t>
            </a:r>
          </a:p>
        </p:txBody>
      </p:sp>
      <p:sp>
        <p:nvSpPr>
          <p:cNvPr id="6" name="p2-number">
            <a:extLst xmlns:a="http://schemas.openxmlformats.org/drawingml/2006/main">
              <a:ext uri="{FF2B5EF4-FFF2-40B4-BE49-F238E27FC236}">
                <a16:creationId xmlns:a16="http://schemas.microsoft.com/office/drawing/2014/main" id="{2D582F9F-3EB2-4895-9E48-20006D622504}"/>
              </a:ext>
            </a:extLst>
          </p:cNvPr>
          <p:cNvSpPr>
            <a:spLocks xmlns:a="http://schemas.openxmlformats.org/drawingml/2006/main" noGrp="1"/>
          </p:cNvSpPr>
          <p:nvPr/>
        </p:nvSpPr>
        <p:spPr>
          <a:xfrm xmlns:a="http://schemas.openxmlformats.org/drawingml/2006/main">
            <a:off x="11144250" y="663892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00338D"/>
                </a:solidFill>
                <a:latin typeface="Arial"/>
                <a:ea typeface="Arial"/>
                <a:cs typeface="Arial"/>
              </a:defRPr>
            </a:defPPr>
            <a:lvl1pPr algn="l">
              <a:defRPr sz="825" b="0">
                <a:solidFill>
                  <a:srgbClr val="00338D"/>
                </a:solidFill>
                <a:latin typeface="Arial"/>
                <a:ea typeface="Arial"/>
                <a:cs typeface="Arial"/>
              </a:defRPr>
            </a:lvl1pPr>
            <a:lvl2pPr algn="l">
              <a:defRPr sz="825" b="0">
                <a:solidFill>
                  <a:srgbClr val="00338D"/>
                </a:solidFill>
                <a:latin typeface="Arial"/>
                <a:ea typeface="Arial"/>
                <a:cs typeface="Arial"/>
              </a:defRPr>
            </a:lvl2pPr>
            <a:lvl3pPr algn="l">
              <a:defRPr sz="825" b="0">
                <a:solidFill>
                  <a:srgbClr val="00338D"/>
                </a:solidFill>
                <a:latin typeface="Arial"/>
                <a:ea typeface="Arial"/>
                <a:cs typeface="Arial"/>
              </a:defRPr>
            </a:lvl3pPr>
            <a:lvl4pPr algn="l">
              <a:defRPr sz="825" b="0">
                <a:solidFill>
                  <a:srgbClr val="00338D"/>
                </a:solidFill>
                <a:latin typeface="Arial"/>
                <a:ea typeface="Arial"/>
                <a:cs typeface="Arial"/>
              </a:defRPr>
            </a:lvl4pPr>
            <a:lvl5pPr algn="l">
              <a:defRPr sz="825" b="0">
                <a:solidFill>
                  <a:srgbClr val="00338D"/>
                </a:solidFill>
                <a:latin typeface="Arial"/>
                <a:ea typeface="Arial"/>
                <a:cs typeface="Arial"/>
              </a:defRPr>
            </a:lvl5pPr>
            <a:lvl6pPr algn="l">
              <a:defRPr sz="825" b="0">
                <a:solidFill>
                  <a:srgbClr val="00338D"/>
                </a:solidFill>
                <a:latin typeface="Arial"/>
                <a:ea typeface="Arial"/>
                <a:cs typeface="Arial"/>
              </a:defRPr>
            </a:lvl6pPr>
            <a:lvl7pPr algn="l">
              <a:defRPr sz="825" b="0">
                <a:solidFill>
                  <a:srgbClr val="00338D"/>
                </a:solidFill>
                <a:latin typeface="Arial"/>
                <a:ea typeface="Arial"/>
                <a:cs typeface="Arial"/>
              </a:defRPr>
            </a:lvl7pPr>
            <a:lvl8pPr algn="l">
              <a:defRPr sz="825" b="0">
                <a:solidFill>
                  <a:srgbClr val="00338D"/>
                </a:solidFill>
                <a:latin typeface="Arial"/>
                <a:ea typeface="Arial"/>
                <a:cs typeface="Arial"/>
              </a:defRPr>
            </a:lvl8pPr>
            <a:lvl9pPr algn="l">
              <a:defRPr sz="825" b="0">
                <a:solidFill>
                  <a:srgbClr val="00338D"/>
                </a:solidFill>
                <a:latin typeface="Arial"/>
                <a:ea typeface="Arial"/>
                <a:cs typeface="Arial"/>
              </a:defRPr>
            </a:lvl9pPr>
          </a:lstStyle>
          <a:p xmlns:a="http://schemas.openxmlformats.org/drawingml/2006/main">
            <a:pPr algn="l">
              <a:defRPr sz="825" b="0">
                <a:solidFill>
                  <a:srgbClr val="00338D"/>
                </a:solidFill>
                <a:latin typeface="Arial"/>
                <a:ea typeface="Arial"/>
                <a:cs typeface="Arial"/>
              </a:defRPr>
            </a:pPr>
            <a:r>
              <a:rPr sz="825" b="0">
                <a:solidFill>
                  <a:srgbClr val="00338D"/>
                </a:solidFill>
                <a:latin typeface="Arial"/>
                <a:ea typeface="Arial"/>
                <a:cs typeface="Arial"/>
              </a:rPr>
              <a:t>2</a:t>
            </a:r>
          </a:p>
        </p:txBody>
      </p:sp>
      <p:sp>
        <p:nvSpPr>
          <p:cNvPr id="7" name="p2-intro">
            <a:extLst xmlns:a="http://schemas.openxmlformats.org/drawingml/2006/main">
              <a:ext uri="{FF2B5EF4-FFF2-40B4-BE49-F238E27FC236}">
                <a16:creationId xmlns:a16="http://schemas.microsoft.com/office/drawing/2014/main" id="{AAC2D8D0-DD09-41F6-9A6C-6BD7614F06DF}"/>
              </a:ext>
            </a:extLst>
          </p:cNvPr>
          <p:cNvSpPr>
            <a:spLocks xmlns:a="http://schemas.openxmlformats.org/drawingml/2006/main" noGrp="1"/>
          </p:cNvSpPr>
          <p:nvPr/>
        </p:nvSpPr>
        <p:spPr>
          <a:xfrm xmlns:a="http://schemas.openxmlformats.org/drawingml/2006/main">
            <a:off x="685800" y="13906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Founded in 2012, Northbridge provides scheduled maintenance, reactive repairs and installation work for industrial sites, logistics operations and facilities management.</a:t>
            </a:r>
          </a:p>
        </p:txBody>
      </p:sp>
      <p:graphicFrame>
        <p:nvGraphicFramePr>
          <p:cNvPr id="8" name="">
            <a:extLst xmlns:a="http://schemas.openxmlformats.org/drawingml/2006/main">
              <a:ext uri="{FF2B5EF4-FFF2-40B4-BE49-F238E27FC236}">
                <a16:creationId xmlns:a16="http://schemas.microsoft.com/office/drawing/2014/main" id="{742477F2-65BE-4112-837D-5D94DDA9A429}"/>
              </a:ext>
            </a:extLst>
          </p:cNvPr>
          <p:cNvGraphicFramePr/>
          <p:nvPr/>
        </p:nvGraphicFramePr>
        <p:xfrm>
          <a:off xmlns:a="http://schemas.openxmlformats.org/drawingml/2006/main" x="685800" y="2076450"/>
          <a:ext xmlns:a="http://schemas.openxmlformats.org/drawingml/2006/main" cx="10820400" cy="2190750"/>
        </p:xfrm>
        <a:graphic xmlns:a="http://schemas.openxmlformats.org/drawingml/2006/main">
          <a:graphicData uri="http://schemas.openxmlformats.org/drawingml/2006/table">
            <a:tbl>
              <a:tblPr/>
              <a:tblGrid>
                <a:gridCol w="3453309"/>
                <a:gridCol w="1381323"/>
                <a:gridCol w="1151037"/>
                <a:gridCol w="4834731"/>
              </a:tblGrid>
              <a:tr h="434082">
                <a:tc>
                  <a:txBody>
                    <a:bodyPr lIns="95250" tIns="66675" rIns="95250" bIns="66675">
                      <a:noAutofit/>
                    </a:bodyPr>
                    <a:lstStyle/>
                    <a:p>
                      <a:pPr algn="l"/>
                      <a:r>
                        <a:rPr sz="1275" b="1">
                          <a:solidFill>
                            <a:srgbClr val="FFFFFF"/>
                          </a:solidFill>
                          <a:latin typeface="Arial"/>
                          <a:ea typeface="Arial"/>
                          <a:cs typeface="Arial"/>
                        </a:rPr>
                        <a:t>Service</a:t>
                      </a:r>
                    </a:p>
                  </a:txBody>
                  <a:tcPr marL="91440" marR="91440" marT="45720" marB="45720" anchor="ctr">
                    <a:lnL w="9525">
                      <a:solidFill>
                        <a:srgbClr val="B8C7DF"/>
                      </a:solidFill>
                      <a:prstDash val="solid"/>
                    </a:lnL>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r"/>
                      <a:r>
                        <a:rPr sz="1275" b="1">
                          <a:solidFill>
                            <a:srgbClr val="FFFFFF"/>
                          </a:solidFill>
                          <a:latin typeface="Arial"/>
                          <a:ea typeface="Arial"/>
                          <a:cs typeface="Arial"/>
                        </a:rPr>
                        <a:t>FY2025 £m</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r"/>
                      <a:r>
                        <a:rPr sz="1275" b="1">
                          <a:solidFill>
                            <a:srgbClr val="FFFFFF"/>
                          </a:solidFill>
                          <a:latin typeface="Arial"/>
                          <a:ea typeface="Arial"/>
                          <a:cs typeface="Arial"/>
                        </a:rPr>
                        <a:t>Share</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l"/>
                      <a:r>
                        <a:rPr sz="1275" b="1">
                          <a:solidFill>
                            <a:srgbClr val="FFFFFF"/>
                          </a:solidFill>
                          <a:latin typeface="Arial"/>
                          <a:ea typeface="Arial"/>
                          <a:cs typeface="Arial"/>
                        </a:rPr>
                        <a:t>Commercial basis</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r>
              <a:tr h="438348">
                <a:tc>
                  <a:txBody>
                    <a:bodyPr lIns="95250" tIns="66675" rIns="95250" bIns="66675">
                      <a:noAutofit/>
                    </a:bodyPr>
                    <a:lstStyle/>
                    <a:p>
                      <a:pPr algn="l"/>
                      <a:r>
                        <a:rPr sz="1275" b="0">
                          <a:solidFill>
                            <a:srgbClr val="000000"/>
                          </a:solidFill>
                          <a:latin typeface="Arial"/>
                          <a:ea typeface="Arial"/>
                          <a:cs typeface="Arial"/>
                        </a:rPr>
                        <a:t>Scheduled maintenance</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17.5</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70%</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Annual service contracts</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438348">
                <a:tc>
                  <a:txBody>
                    <a:bodyPr lIns="95250" tIns="66675" rIns="95250" bIns="66675">
                      <a:noAutofit/>
                    </a:bodyPr>
                    <a:lstStyle/>
                    <a:p>
                      <a:pPr algn="l"/>
                      <a:r>
                        <a:rPr sz="1275" b="0">
                          <a:solidFill>
                            <a:srgbClr val="000000"/>
                          </a:solidFill>
                          <a:latin typeface="Arial"/>
                          <a:ea typeface="Arial"/>
                          <a:cs typeface="Arial"/>
                        </a:rPr>
                        <a:t>Reactive repairs</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5.0</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20%</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0">
                          <a:solidFill>
                            <a:srgbClr val="000000"/>
                          </a:solidFill>
                          <a:latin typeface="Arial"/>
                          <a:ea typeface="Arial"/>
                          <a:cs typeface="Arial"/>
                        </a:rPr>
                        <a:t>Call-out and materials</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r h="438348">
                <a:tc>
                  <a:txBody>
                    <a:bodyPr lIns="95250" tIns="66675" rIns="95250" bIns="66675">
                      <a:noAutofit/>
                    </a:bodyPr>
                    <a:lstStyle/>
                    <a:p>
                      <a:pPr algn="l"/>
                      <a:r>
                        <a:rPr sz="1275" b="0">
                          <a:solidFill>
                            <a:srgbClr val="000000"/>
                          </a:solidFill>
                          <a:latin typeface="Arial"/>
                          <a:ea typeface="Arial"/>
                          <a:cs typeface="Arial"/>
                        </a:rPr>
                        <a:t>Installation projects</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2.5</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10%</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l"/>
                      <a:r>
                        <a:rPr sz="1275" b="0">
                          <a:solidFill>
                            <a:srgbClr val="000000"/>
                          </a:solidFill>
                          <a:latin typeface="Arial"/>
                          <a:ea typeface="Arial"/>
                          <a:cs typeface="Arial"/>
                        </a:rPr>
                        <a:t>Project-based work</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438448">
                <a:tc>
                  <a:txBody>
                    <a:bodyPr lIns="95250" tIns="66675" rIns="95250" bIns="66675">
                      <a:noAutofit/>
                    </a:bodyPr>
                    <a:lstStyle/>
                    <a:p>
                      <a:pPr algn="l"/>
                      <a:r>
                        <a:rPr sz="1275" b="1">
                          <a:solidFill>
                            <a:srgbClr val="000000"/>
                          </a:solidFill>
                          <a:latin typeface="Arial"/>
                          <a:ea typeface="Arial"/>
                          <a:cs typeface="Arial"/>
                        </a:rPr>
                        <a:t>Total</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1">
                          <a:solidFill>
                            <a:srgbClr val="000000"/>
                          </a:solidFill>
                          <a:latin typeface="Arial"/>
                          <a:ea typeface="Arial"/>
                          <a:cs typeface="Arial"/>
                        </a:rPr>
                        <a:t>25.0</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1">
                          <a:solidFill>
                            <a:srgbClr val="000000"/>
                          </a:solidFill>
                          <a:latin typeface="Arial"/>
                          <a:ea typeface="Arial"/>
                          <a:cs typeface="Arial"/>
                        </a:rPr>
                        <a:t>100%</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l"/>
                      <a:r>
                        <a:rPr sz="1275" b="1">
                          <a:solidFill>
                            <a:srgbClr val="000000"/>
                          </a:solidFill>
                          <a:latin typeface="Arial"/>
                          <a:ea typeface="Arial"/>
                          <a:cs typeface="Arial"/>
                        </a:rPr>
                        <a:t>Ties to the provisional management model</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bl>
          </a:graphicData>
        </a:graphic>
      </p:graphicFrame>
      <p:sp>
        <p:nvSpPr>
          <p:cNvPr id="9" name="p2-delivery-head">
            <a:extLst xmlns:a="http://schemas.openxmlformats.org/drawingml/2006/main">
              <a:ext uri="{FF2B5EF4-FFF2-40B4-BE49-F238E27FC236}">
                <a16:creationId xmlns:a16="http://schemas.microsoft.com/office/drawing/2014/main" id="{C3376C21-CF8A-4C1C-976C-4257123486DB}"/>
              </a:ext>
            </a:extLst>
          </p:cNvPr>
          <p:cNvSpPr>
            <a:spLocks xmlns:a="http://schemas.openxmlformats.org/drawingml/2006/main" noGrp="1"/>
          </p:cNvSpPr>
          <p:nvPr/>
        </p:nvSpPr>
        <p:spPr>
          <a:xfrm xmlns:a="http://schemas.openxmlformats.org/drawingml/2006/main">
            <a:off x="685800" y="457200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Delivery footprint</a:t>
            </a:r>
          </a:p>
        </p:txBody>
      </p:sp>
      <p:sp>
        <p:nvSpPr>
          <p:cNvPr id="10" name="p2-delivery">
            <a:extLst xmlns:a="http://schemas.openxmlformats.org/drawingml/2006/main">
              <a:ext uri="{FF2B5EF4-FFF2-40B4-BE49-F238E27FC236}">
                <a16:creationId xmlns:a16="http://schemas.microsoft.com/office/drawing/2014/main" id="{F5FCCF02-F385-41A1-A5EB-4E7E149154A6}"/>
              </a:ext>
            </a:extLst>
          </p:cNvPr>
          <p:cNvSpPr>
            <a:spLocks xmlns:a="http://schemas.openxmlformats.org/drawingml/2006/main" noGrp="1"/>
          </p:cNvSpPr>
          <p:nvPr/>
        </p:nvSpPr>
        <p:spPr>
          <a:xfrm xmlns:a="http://schemas.openxmlformats.org/drawingml/2006/main">
            <a:off x="685800" y="4953000"/>
            <a:ext cx="5095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Three hubs: Birmingham, Manchester and Bristol.</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85 field engineers within 120 employees at 31 December 2025. The founder leads major customer relationships.</a:t>
            </a:r>
          </a:p>
        </p:txBody>
      </p:sp>
      <p:sp>
        <p:nvSpPr>
          <p:cNvPr id="11" name="p2-contract-head">
            <a:extLst xmlns:a="http://schemas.openxmlformats.org/drawingml/2006/main">
              <a:ext uri="{FF2B5EF4-FFF2-40B4-BE49-F238E27FC236}">
                <a16:creationId xmlns:a16="http://schemas.microsoft.com/office/drawing/2014/main" id="{A606F2A7-BC62-46A8-A638-5663CA2C1E29}"/>
              </a:ext>
            </a:extLst>
          </p:cNvPr>
          <p:cNvSpPr>
            <a:spLocks xmlns:a="http://schemas.openxmlformats.org/drawingml/2006/main" noGrp="1"/>
          </p:cNvSpPr>
          <p:nvPr/>
        </p:nvSpPr>
        <p:spPr>
          <a:xfrm xmlns:a="http://schemas.openxmlformats.org/drawingml/2006/main">
            <a:off x="6162675" y="4572000"/>
            <a:ext cx="5343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Contract quality and revenue basis</a:t>
            </a:r>
          </a:p>
        </p:txBody>
      </p:sp>
      <p:sp>
        <p:nvSpPr>
          <p:cNvPr id="12" name="p2-contract">
            <a:extLst xmlns:a="http://schemas.openxmlformats.org/drawingml/2006/main">
              <a:ext uri="{FF2B5EF4-FFF2-40B4-BE49-F238E27FC236}">
                <a16:creationId xmlns:a16="http://schemas.microsoft.com/office/drawing/2014/main" id="{67751F65-D1AF-4616-B58B-CFD217494CB6}"/>
              </a:ext>
            </a:extLst>
          </p:cNvPr>
          <p:cNvSpPr>
            <a:spLocks xmlns:a="http://schemas.openxmlformats.org/drawingml/2006/main" noGrp="1"/>
          </p:cNvSpPr>
          <p:nvPr/>
        </p:nvSpPr>
        <p:spPr>
          <a:xfrm xmlns:a="http://schemas.openxmlformats.org/drawingml/2006/main">
            <a:off x="6162675" y="4953000"/>
            <a:ext cx="53435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Contracts generally run for one to three years, with renewal by agreement. Maintenance share does not establish revenue retention. FY2025 revenue remains provisional: £25.0m in the model versus £26.2m in the earlier brief.</a:t>
            </a:r>
          </a:p>
        </p:txBody>
      </p:sp>
    </p:spTree>
    <p:extLst>
      <p:ext uri="{BB962C8B-B14F-4D97-AF65-F5344CB8AC3E}">
        <p14:creationId xmlns:p14="http://schemas.microsoft.com/office/powerpoint/2010/main" val="61935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3-section">
            <a:extLst xmlns:a="http://schemas.openxmlformats.org/drawingml/2006/main">
              <a:ext uri="{FF2B5EF4-FFF2-40B4-BE49-F238E27FC236}">
                <a16:creationId xmlns:a16="http://schemas.microsoft.com/office/drawing/2014/main" id="{9009EE12-168F-46F5-B1A4-E585C8D42CF8}"/>
              </a:ext>
            </a:extLst>
          </p:cNvPr>
          <p:cNvSpPr>
            <a:spLocks xmlns:a="http://schemas.openxmlformats.org/drawingml/2006/main" noGrp="1"/>
          </p:cNvSpPr>
          <p:nvPr/>
        </p:nvSpPr>
        <p:spPr>
          <a:xfrm xmlns:a="http://schemas.openxmlformats.org/drawingml/2006/main">
            <a:off x="685800" y="266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338D"/>
                </a:solidFill>
                <a:latin typeface="Arial"/>
                <a:ea typeface="Arial"/>
                <a:cs typeface="Arial"/>
              </a:defRPr>
            </a:defPPr>
            <a:lvl1pPr algn="l">
              <a:defRPr sz="1200" b="1">
                <a:solidFill>
                  <a:srgbClr val="00338D"/>
                </a:solidFill>
                <a:latin typeface="Arial"/>
                <a:ea typeface="Arial"/>
                <a:cs typeface="Arial"/>
              </a:defRPr>
            </a:lvl1pPr>
            <a:lvl2pPr algn="l">
              <a:defRPr sz="1200" b="1">
                <a:solidFill>
                  <a:srgbClr val="00338D"/>
                </a:solidFill>
                <a:latin typeface="Arial"/>
                <a:ea typeface="Arial"/>
                <a:cs typeface="Arial"/>
              </a:defRPr>
            </a:lvl2pPr>
            <a:lvl3pPr algn="l">
              <a:defRPr sz="1200" b="1">
                <a:solidFill>
                  <a:srgbClr val="00338D"/>
                </a:solidFill>
                <a:latin typeface="Arial"/>
                <a:ea typeface="Arial"/>
                <a:cs typeface="Arial"/>
              </a:defRPr>
            </a:lvl3pPr>
            <a:lvl4pPr algn="l">
              <a:defRPr sz="1200" b="1">
                <a:solidFill>
                  <a:srgbClr val="00338D"/>
                </a:solidFill>
                <a:latin typeface="Arial"/>
                <a:ea typeface="Arial"/>
                <a:cs typeface="Arial"/>
              </a:defRPr>
            </a:lvl4pPr>
            <a:lvl5pPr algn="l">
              <a:defRPr sz="1200" b="1">
                <a:solidFill>
                  <a:srgbClr val="00338D"/>
                </a:solidFill>
                <a:latin typeface="Arial"/>
                <a:ea typeface="Arial"/>
                <a:cs typeface="Arial"/>
              </a:defRPr>
            </a:lvl5pPr>
            <a:lvl6pPr algn="l">
              <a:defRPr sz="1200" b="1">
                <a:solidFill>
                  <a:srgbClr val="00338D"/>
                </a:solidFill>
                <a:latin typeface="Arial"/>
                <a:ea typeface="Arial"/>
                <a:cs typeface="Arial"/>
              </a:defRPr>
            </a:lvl6pPr>
            <a:lvl7pPr algn="l">
              <a:defRPr sz="1200" b="1">
                <a:solidFill>
                  <a:srgbClr val="00338D"/>
                </a:solidFill>
                <a:latin typeface="Arial"/>
                <a:ea typeface="Arial"/>
                <a:cs typeface="Arial"/>
              </a:defRPr>
            </a:lvl7pPr>
            <a:lvl8pPr algn="l">
              <a:defRPr sz="1200" b="1">
                <a:solidFill>
                  <a:srgbClr val="00338D"/>
                </a:solidFill>
                <a:latin typeface="Arial"/>
                <a:ea typeface="Arial"/>
                <a:cs typeface="Arial"/>
              </a:defRPr>
            </a:lvl8pPr>
            <a:lvl9pPr algn="l">
              <a:defRPr sz="1200" b="1">
                <a:solidFill>
                  <a:srgbClr val="00338D"/>
                </a:solidFill>
                <a:latin typeface="Arial"/>
                <a:ea typeface="Arial"/>
                <a:cs typeface="Arial"/>
              </a:defRPr>
            </a:lvl9pPr>
          </a:lstStyle>
          <a:p xmlns:a="http://schemas.openxmlformats.org/drawingml/2006/main">
            <a:pPr algn="l">
              <a:defRPr sz="1200" b="1">
                <a:solidFill>
                  <a:srgbClr val="00338D"/>
                </a:solidFill>
                <a:latin typeface="Arial"/>
                <a:ea typeface="Arial"/>
                <a:cs typeface="Arial"/>
              </a:defRPr>
            </a:pPr>
            <a:r>
              <a:rPr sz="1200" b="1">
                <a:solidFill>
                  <a:srgbClr val="00338D"/>
                </a:solidFill>
                <a:latin typeface="Arial"/>
                <a:ea typeface="Arial"/>
                <a:cs typeface="Arial"/>
              </a:rPr>
              <a:t>Financial analysis | Historical management actuals</a:t>
            </a:r>
          </a:p>
        </p:txBody>
      </p:sp>
      <p:sp>
        <p:nvSpPr>
          <p:cNvPr id="2" name="p3-title">
            <a:extLst xmlns:a="http://schemas.openxmlformats.org/drawingml/2006/main">
              <a:ext uri="{FF2B5EF4-FFF2-40B4-BE49-F238E27FC236}">
                <a16:creationId xmlns:a16="http://schemas.microsoft.com/office/drawing/2014/main" id="{B1110C44-BF5D-4F2A-86C4-BE535A529C92}"/>
              </a:ext>
            </a:extLst>
          </p:cNvPr>
          <p:cNvSpPr>
            <a:spLocks xmlns:a="http://schemas.openxmlformats.org/drawingml/2006/main" noGrp="1"/>
          </p:cNvSpPr>
          <p:nvPr/>
        </p:nvSpPr>
        <p:spPr>
          <a:xfrm xmlns:a="http://schemas.openxmlformats.org/drawingml/2006/main">
            <a:off x="685800" y="581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338D"/>
                </a:solidFill>
                <a:latin typeface="Arial"/>
                <a:ea typeface="Arial"/>
                <a:cs typeface="Arial"/>
              </a:defRPr>
            </a:defPPr>
            <a:lvl1pPr algn="l">
              <a:defRPr sz="2550" b="1">
                <a:solidFill>
                  <a:srgbClr val="00338D"/>
                </a:solidFill>
                <a:latin typeface="Arial"/>
                <a:ea typeface="Arial"/>
                <a:cs typeface="Arial"/>
              </a:defRPr>
            </a:lvl1pPr>
            <a:lvl2pPr algn="l">
              <a:defRPr sz="2550" b="1">
                <a:solidFill>
                  <a:srgbClr val="00338D"/>
                </a:solidFill>
                <a:latin typeface="Arial"/>
                <a:ea typeface="Arial"/>
                <a:cs typeface="Arial"/>
              </a:defRPr>
            </a:lvl2pPr>
            <a:lvl3pPr algn="l">
              <a:defRPr sz="2550" b="1">
                <a:solidFill>
                  <a:srgbClr val="00338D"/>
                </a:solidFill>
                <a:latin typeface="Arial"/>
                <a:ea typeface="Arial"/>
                <a:cs typeface="Arial"/>
              </a:defRPr>
            </a:lvl3pPr>
            <a:lvl4pPr algn="l">
              <a:defRPr sz="2550" b="1">
                <a:solidFill>
                  <a:srgbClr val="00338D"/>
                </a:solidFill>
                <a:latin typeface="Arial"/>
                <a:ea typeface="Arial"/>
                <a:cs typeface="Arial"/>
              </a:defRPr>
            </a:lvl4pPr>
            <a:lvl5pPr algn="l">
              <a:defRPr sz="2550" b="1">
                <a:solidFill>
                  <a:srgbClr val="00338D"/>
                </a:solidFill>
                <a:latin typeface="Arial"/>
                <a:ea typeface="Arial"/>
                <a:cs typeface="Arial"/>
              </a:defRPr>
            </a:lvl5pPr>
            <a:lvl6pPr algn="l">
              <a:defRPr sz="2550" b="1">
                <a:solidFill>
                  <a:srgbClr val="00338D"/>
                </a:solidFill>
                <a:latin typeface="Arial"/>
                <a:ea typeface="Arial"/>
                <a:cs typeface="Arial"/>
              </a:defRPr>
            </a:lvl6pPr>
            <a:lvl7pPr algn="l">
              <a:defRPr sz="2550" b="1">
                <a:solidFill>
                  <a:srgbClr val="00338D"/>
                </a:solidFill>
                <a:latin typeface="Arial"/>
                <a:ea typeface="Arial"/>
                <a:cs typeface="Arial"/>
              </a:defRPr>
            </a:lvl7pPr>
            <a:lvl8pPr algn="l">
              <a:defRPr sz="2550" b="1">
                <a:solidFill>
                  <a:srgbClr val="00338D"/>
                </a:solidFill>
                <a:latin typeface="Arial"/>
                <a:ea typeface="Arial"/>
                <a:cs typeface="Arial"/>
              </a:defRPr>
            </a:lvl8pPr>
            <a:lvl9pPr algn="l">
              <a:defRPr sz="2550" b="1">
                <a:solidFill>
                  <a:srgbClr val="00338D"/>
                </a:solidFill>
                <a:latin typeface="Arial"/>
                <a:ea typeface="Arial"/>
                <a:cs typeface="Arial"/>
              </a:defRPr>
            </a:lvl9pPr>
          </a:lstStyle>
          <a:p xmlns:a="http://schemas.openxmlformats.org/drawingml/2006/main">
            <a:pPr algn="l">
              <a:defRPr sz="2550" b="1">
                <a:solidFill>
                  <a:srgbClr val="00338D"/>
                </a:solidFill>
                <a:latin typeface="Arial"/>
                <a:ea typeface="Arial"/>
                <a:cs typeface="Arial"/>
              </a:defRPr>
            </a:pPr>
            <a:r>
              <a:rPr sz="2550" b="1">
                <a:solidFill>
                  <a:srgbClr val="00338D"/>
                </a:solidFill>
                <a:latin typeface="Arial"/>
                <a:ea typeface="Arial"/>
                <a:cs typeface="Arial"/>
              </a:rPr>
              <a:t>Revenue reached a provisional £25.0m in FY2025</a:t>
            </a:r>
          </a:p>
        </p:txBody>
      </p:sp>
      <p:sp>
        <p:nvSpPr>
          <p:cNvPr id="3" name="p3-source">
            <a:extLst xmlns:a="http://schemas.openxmlformats.org/drawingml/2006/main">
              <a:ext uri="{FF2B5EF4-FFF2-40B4-BE49-F238E27FC236}">
                <a16:creationId xmlns:a16="http://schemas.microsoft.com/office/drawing/2014/main" id="{9DE61508-44A0-4DE1-8ADE-ECF6A2C24782}"/>
              </a:ext>
            </a:extLst>
          </p:cNvPr>
          <p:cNvSpPr>
            <a:spLocks xmlns:a="http://schemas.openxmlformats.org/drawingml/2006/main" noGrp="1"/>
          </p:cNvSpPr>
          <p:nvPr/>
        </p:nvSpPr>
        <p:spPr>
          <a:xfrm xmlns:a="http://schemas.openxmlformats.org/drawingml/2006/main">
            <a:off x="685800" y="6191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00338D"/>
                </a:solidFill>
                <a:latin typeface="Arial"/>
                <a:ea typeface="Arial"/>
                <a:cs typeface="Arial"/>
              </a:defRPr>
            </a:defPPr>
            <a:lvl1pPr algn="l">
              <a:defRPr sz="900" b="0">
                <a:solidFill>
                  <a:srgbClr val="00338D"/>
                </a:solidFill>
                <a:latin typeface="Arial"/>
                <a:ea typeface="Arial"/>
                <a:cs typeface="Arial"/>
              </a:defRPr>
            </a:lvl1pPr>
            <a:lvl2pPr algn="l">
              <a:defRPr sz="900" b="0">
                <a:solidFill>
                  <a:srgbClr val="00338D"/>
                </a:solidFill>
                <a:latin typeface="Arial"/>
                <a:ea typeface="Arial"/>
                <a:cs typeface="Arial"/>
              </a:defRPr>
            </a:lvl2pPr>
            <a:lvl3pPr algn="l">
              <a:defRPr sz="900" b="0">
                <a:solidFill>
                  <a:srgbClr val="00338D"/>
                </a:solidFill>
                <a:latin typeface="Arial"/>
                <a:ea typeface="Arial"/>
                <a:cs typeface="Arial"/>
              </a:defRPr>
            </a:lvl3pPr>
            <a:lvl4pPr algn="l">
              <a:defRPr sz="900" b="0">
                <a:solidFill>
                  <a:srgbClr val="00338D"/>
                </a:solidFill>
                <a:latin typeface="Arial"/>
                <a:ea typeface="Arial"/>
                <a:cs typeface="Arial"/>
              </a:defRPr>
            </a:lvl4pPr>
            <a:lvl5pPr algn="l">
              <a:defRPr sz="900" b="0">
                <a:solidFill>
                  <a:srgbClr val="00338D"/>
                </a:solidFill>
                <a:latin typeface="Arial"/>
                <a:ea typeface="Arial"/>
                <a:cs typeface="Arial"/>
              </a:defRPr>
            </a:lvl5pPr>
            <a:lvl6pPr algn="l">
              <a:defRPr sz="900" b="0">
                <a:solidFill>
                  <a:srgbClr val="00338D"/>
                </a:solidFill>
                <a:latin typeface="Arial"/>
                <a:ea typeface="Arial"/>
                <a:cs typeface="Arial"/>
              </a:defRPr>
            </a:lvl6pPr>
            <a:lvl7pPr algn="l">
              <a:defRPr sz="900" b="0">
                <a:solidFill>
                  <a:srgbClr val="00338D"/>
                </a:solidFill>
                <a:latin typeface="Arial"/>
                <a:ea typeface="Arial"/>
                <a:cs typeface="Arial"/>
              </a:defRPr>
            </a:lvl7pPr>
            <a:lvl8pPr algn="l">
              <a:defRPr sz="900" b="0">
                <a:solidFill>
                  <a:srgbClr val="00338D"/>
                </a:solidFill>
                <a:latin typeface="Arial"/>
                <a:ea typeface="Arial"/>
                <a:cs typeface="Arial"/>
              </a:defRPr>
            </a:lvl8pPr>
            <a:lvl9pPr algn="l">
              <a:defRPr sz="900" b="0">
                <a:solidFill>
                  <a:srgbClr val="00338D"/>
                </a:solidFill>
                <a:latin typeface="Arial"/>
                <a:ea typeface="Arial"/>
                <a:cs typeface="Arial"/>
              </a:defRPr>
            </a:lvl9pPr>
          </a:lstStyle>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Sources: management model, PnL!B5:D11; earlier company brief; CFO email; management interview.</a:t>
            </a:r>
          </a:p>
          <a:p xmlns:a="http://schemas.openxmlformats.org/drawingml/2006/main">
            <a:pPr algn="l">
              <a:defRPr sz="900" b="0">
                <a:solidFill>
                  <a:srgbClr val="00338D"/>
                </a:solidFill>
                <a:latin typeface="Arial"/>
                <a:ea typeface="Arial"/>
                <a:cs typeface="Arial"/>
              </a:defRPr>
            </a:pPr>
            <a:r>
              <a:rPr sz="900" b="0">
                <a:solidFill>
                  <a:srgbClr val="00338D"/>
                </a:solidFill>
                <a:latin typeface="Arial"/>
                <a:ea typeface="Arial"/>
                <a:cs typeface="Arial"/>
              </a:rPr>
              <a:t>A = management actuals. Figures are unaudited; FY2025 revenue remains provisional.</a:t>
            </a:r>
          </a:p>
        </p:txBody>
      </p:sp>
      <p:sp>
        <p:nvSpPr>
          <p:cNvPr id="4" name="p3-footer-rule">
            <a:extLst xmlns:a="http://schemas.openxmlformats.org/drawingml/2006/main">
              <a:ext uri="{FF2B5EF4-FFF2-40B4-BE49-F238E27FC236}">
                <a16:creationId xmlns:a16="http://schemas.microsoft.com/office/drawing/2014/main" id="{33D9C559-CA06-4D65-B77F-D4396C06160E}"/>
              </a:ext>
            </a:extLst>
          </p:cNvPr>
          <p:cNvSpPr>
            <a:spLocks xmlns:a="http://schemas.openxmlformats.org/drawingml/2006/main" noGrp="1"/>
          </p:cNvSpPr>
          <p:nvPr/>
        </p:nvSpPr>
        <p:spPr>
          <a:xfrm xmlns:a="http://schemas.openxmlformats.org/drawingml/2006/main">
            <a:off x="685800" y="6581775"/>
            <a:ext cx="10820400" cy="9525"/>
          </a:xfrm>
          <a:prstGeom xmlns:a="http://schemas.openxmlformats.org/drawingml/2006/main" prst="rect">
            <a:avLst/>
          </a:prstGeom>
          <a:solidFill xmlns:a="http://schemas.openxmlformats.org/drawingml/2006/main">
            <a:srgbClr val="B8C7DF"/>
          </a:solidFill>
          <a:ln xmlns:a="http://schemas.openxmlformats.org/drawingml/2006/main" w="0">
            <a:noFill/>
          </a:ln>
        </p:spPr>
      </p:sp>
      <p:sp>
        <p:nvSpPr>
          <p:cNvPr id="5" name="p3-footer">
            <a:extLst xmlns:a="http://schemas.openxmlformats.org/drawingml/2006/main">
              <a:ext uri="{FF2B5EF4-FFF2-40B4-BE49-F238E27FC236}">
                <a16:creationId xmlns:a16="http://schemas.microsoft.com/office/drawing/2014/main" id="{29B47FA3-FAC8-476E-9E9F-31321D3C3472}"/>
              </a:ext>
            </a:extLst>
          </p:cNvPr>
          <p:cNvSpPr>
            <a:spLocks xmlns:a="http://schemas.openxmlformats.org/drawingml/2006/main" noGrp="1"/>
          </p:cNvSpPr>
          <p:nvPr/>
        </p:nvSpPr>
        <p:spPr>
          <a:xfrm xmlns:a="http://schemas.openxmlformats.org/drawingml/2006/main">
            <a:off x="685800" y="6638925"/>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95959"/>
                </a:solidFill>
                <a:latin typeface="Arial"/>
                <a:ea typeface="Arial"/>
                <a:cs typeface="Arial"/>
              </a:defRPr>
            </a:defPPr>
            <a:lvl1pPr algn="l">
              <a:defRPr sz="825" b="0">
                <a:solidFill>
                  <a:srgbClr val="595959"/>
                </a:solidFill>
                <a:latin typeface="Arial"/>
                <a:ea typeface="Arial"/>
                <a:cs typeface="Arial"/>
              </a:defRPr>
            </a:lvl1pPr>
            <a:lvl2pPr algn="l">
              <a:defRPr sz="825" b="0">
                <a:solidFill>
                  <a:srgbClr val="595959"/>
                </a:solidFill>
                <a:latin typeface="Arial"/>
                <a:ea typeface="Arial"/>
                <a:cs typeface="Arial"/>
              </a:defRPr>
            </a:lvl2pPr>
            <a:lvl3pPr algn="l">
              <a:defRPr sz="825" b="0">
                <a:solidFill>
                  <a:srgbClr val="595959"/>
                </a:solidFill>
                <a:latin typeface="Arial"/>
                <a:ea typeface="Arial"/>
                <a:cs typeface="Arial"/>
              </a:defRPr>
            </a:lvl3pPr>
            <a:lvl4pPr algn="l">
              <a:defRPr sz="825" b="0">
                <a:solidFill>
                  <a:srgbClr val="595959"/>
                </a:solidFill>
                <a:latin typeface="Arial"/>
                <a:ea typeface="Arial"/>
                <a:cs typeface="Arial"/>
              </a:defRPr>
            </a:lvl4pPr>
            <a:lvl5pPr algn="l">
              <a:defRPr sz="825" b="0">
                <a:solidFill>
                  <a:srgbClr val="595959"/>
                </a:solidFill>
                <a:latin typeface="Arial"/>
                <a:ea typeface="Arial"/>
                <a:cs typeface="Arial"/>
              </a:defRPr>
            </a:lvl5pPr>
            <a:lvl6pPr algn="l">
              <a:defRPr sz="825" b="0">
                <a:solidFill>
                  <a:srgbClr val="595959"/>
                </a:solidFill>
                <a:latin typeface="Arial"/>
                <a:ea typeface="Arial"/>
                <a:cs typeface="Arial"/>
              </a:defRPr>
            </a:lvl6pPr>
            <a:lvl7pPr algn="l">
              <a:defRPr sz="825" b="0">
                <a:solidFill>
                  <a:srgbClr val="595959"/>
                </a:solidFill>
                <a:latin typeface="Arial"/>
                <a:ea typeface="Arial"/>
                <a:cs typeface="Arial"/>
              </a:defRPr>
            </a:lvl7pPr>
            <a:lvl8pPr algn="l">
              <a:defRPr sz="825" b="0">
                <a:solidFill>
                  <a:srgbClr val="595959"/>
                </a:solidFill>
                <a:latin typeface="Arial"/>
                <a:ea typeface="Arial"/>
                <a:cs typeface="Arial"/>
              </a:defRPr>
            </a:lvl8pPr>
            <a:lvl9pPr algn="l">
              <a:defRPr sz="825" b="0">
                <a:solidFill>
                  <a:srgbClr val="595959"/>
                </a:solidFill>
                <a:latin typeface="Arial"/>
                <a:ea typeface="Arial"/>
                <a:cs typeface="Arial"/>
              </a:defRPr>
            </a:lvl9pPr>
          </a:lstStyle>
          <a:p xmlns:a="http://schemas.openxmlformats.org/drawingml/2006/main">
            <a:pPr algn="l">
              <a:defRPr sz="825" b="0">
                <a:solidFill>
                  <a:srgbClr val="595959"/>
                </a:solidFill>
                <a:latin typeface="Arial"/>
                <a:ea typeface="Arial"/>
                <a:cs typeface="Arial"/>
              </a:defRPr>
            </a:pPr>
            <a:r>
              <a:rPr sz="825" b="0">
                <a:solidFill>
                  <a:srgbClr val="595959"/>
                </a:solidFill>
                <a:latin typeface="Arial"/>
                <a:ea typeface="Arial"/>
                <a:cs typeface="Arial"/>
              </a:rPr>
              <a:t>NORTHBRIDGE  |  FICTIONAL TRAINING CASE  |  January 2026</a:t>
            </a:r>
          </a:p>
        </p:txBody>
      </p:sp>
      <p:sp>
        <p:nvSpPr>
          <p:cNvPr id="6" name="p3-number">
            <a:extLst xmlns:a="http://schemas.openxmlformats.org/drawingml/2006/main">
              <a:ext uri="{FF2B5EF4-FFF2-40B4-BE49-F238E27FC236}">
                <a16:creationId xmlns:a16="http://schemas.microsoft.com/office/drawing/2014/main" id="{6F6B08D9-02C1-4546-9EFF-6F1F62633EB5}"/>
              </a:ext>
            </a:extLst>
          </p:cNvPr>
          <p:cNvSpPr>
            <a:spLocks xmlns:a="http://schemas.openxmlformats.org/drawingml/2006/main" noGrp="1"/>
          </p:cNvSpPr>
          <p:nvPr/>
        </p:nvSpPr>
        <p:spPr>
          <a:xfrm xmlns:a="http://schemas.openxmlformats.org/drawingml/2006/main">
            <a:off x="11144250" y="6638925"/>
            <a:ext cx="361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00338D"/>
                </a:solidFill>
                <a:latin typeface="Arial"/>
                <a:ea typeface="Arial"/>
                <a:cs typeface="Arial"/>
              </a:defRPr>
            </a:defPPr>
            <a:lvl1pPr algn="l">
              <a:defRPr sz="825" b="0">
                <a:solidFill>
                  <a:srgbClr val="00338D"/>
                </a:solidFill>
                <a:latin typeface="Arial"/>
                <a:ea typeface="Arial"/>
                <a:cs typeface="Arial"/>
              </a:defRPr>
            </a:lvl1pPr>
            <a:lvl2pPr algn="l">
              <a:defRPr sz="825" b="0">
                <a:solidFill>
                  <a:srgbClr val="00338D"/>
                </a:solidFill>
                <a:latin typeface="Arial"/>
                <a:ea typeface="Arial"/>
                <a:cs typeface="Arial"/>
              </a:defRPr>
            </a:lvl2pPr>
            <a:lvl3pPr algn="l">
              <a:defRPr sz="825" b="0">
                <a:solidFill>
                  <a:srgbClr val="00338D"/>
                </a:solidFill>
                <a:latin typeface="Arial"/>
                <a:ea typeface="Arial"/>
                <a:cs typeface="Arial"/>
              </a:defRPr>
            </a:lvl3pPr>
            <a:lvl4pPr algn="l">
              <a:defRPr sz="825" b="0">
                <a:solidFill>
                  <a:srgbClr val="00338D"/>
                </a:solidFill>
                <a:latin typeface="Arial"/>
                <a:ea typeface="Arial"/>
                <a:cs typeface="Arial"/>
              </a:defRPr>
            </a:lvl4pPr>
            <a:lvl5pPr algn="l">
              <a:defRPr sz="825" b="0">
                <a:solidFill>
                  <a:srgbClr val="00338D"/>
                </a:solidFill>
                <a:latin typeface="Arial"/>
                <a:ea typeface="Arial"/>
                <a:cs typeface="Arial"/>
              </a:defRPr>
            </a:lvl5pPr>
            <a:lvl6pPr algn="l">
              <a:defRPr sz="825" b="0">
                <a:solidFill>
                  <a:srgbClr val="00338D"/>
                </a:solidFill>
                <a:latin typeface="Arial"/>
                <a:ea typeface="Arial"/>
                <a:cs typeface="Arial"/>
              </a:defRPr>
            </a:lvl6pPr>
            <a:lvl7pPr algn="l">
              <a:defRPr sz="825" b="0">
                <a:solidFill>
                  <a:srgbClr val="00338D"/>
                </a:solidFill>
                <a:latin typeface="Arial"/>
                <a:ea typeface="Arial"/>
                <a:cs typeface="Arial"/>
              </a:defRPr>
            </a:lvl7pPr>
            <a:lvl8pPr algn="l">
              <a:defRPr sz="825" b="0">
                <a:solidFill>
                  <a:srgbClr val="00338D"/>
                </a:solidFill>
                <a:latin typeface="Arial"/>
                <a:ea typeface="Arial"/>
                <a:cs typeface="Arial"/>
              </a:defRPr>
            </a:lvl8pPr>
            <a:lvl9pPr algn="l">
              <a:defRPr sz="825" b="0">
                <a:solidFill>
                  <a:srgbClr val="00338D"/>
                </a:solidFill>
                <a:latin typeface="Arial"/>
                <a:ea typeface="Arial"/>
                <a:cs typeface="Arial"/>
              </a:defRPr>
            </a:lvl9pPr>
          </a:lstStyle>
          <a:p xmlns:a="http://schemas.openxmlformats.org/drawingml/2006/main">
            <a:pPr algn="l">
              <a:defRPr sz="825" b="0">
                <a:solidFill>
                  <a:srgbClr val="00338D"/>
                </a:solidFill>
                <a:latin typeface="Arial"/>
                <a:ea typeface="Arial"/>
                <a:cs typeface="Arial"/>
              </a:defRPr>
            </a:pPr>
            <a:r>
              <a:rPr sz="825" b="0">
                <a:solidFill>
                  <a:srgbClr val="00338D"/>
                </a:solidFill>
                <a:latin typeface="Arial"/>
                <a:ea typeface="Arial"/>
                <a:cs typeface="Arial"/>
              </a:rPr>
              <a:t>3</a:t>
            </a:r>
          </a:p>
        </p:txBody>
      </p:sp>
      <p:sp>
        <p:nvSpPr>
          <p:cNvPr id="7" name="p3-units">
            <a:extLst xmlns:a="http://schemas.openxmlformats.org/drawingml/2006/main">
              <a:ext uri="{FF2B5EF4-FFF2-40B4-BE49-F238E27FC236}">
                <a16:creationId xmlns:a16="http://schemas.microsoft.com/office/drawing/2014/main" id="{574CCF91-D443-43FE-A91F-695374F40D15}"/>
              </a:ext>
            </a:extLst>
          </p:cNvPr>
          <p:cNvSpPr>
            <a:spLocks xmlns:a="http://schemas.openxmlformats.org/drawingml/2006/main" noGrp="1"/>
          </p:cNvSpPr>
          <p:nvPr/>
        </p:nvSpPr>
        <p:spPr>
          <a:xfrm xmlns:a="http://schemas.openxmlformats.org/drawingml/2006/main">
            <a:off x="685800" y="13811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5959"/>
                </a:solidFill>
                <a:latin typeface="Arial"/>
                <a:ea typeface="Arial"/>
                <a:cs typeface="Arial"/>
              </a:defRPr>
            </a:defPPr>
            <a:lvl1pPr algn="l">
              <a:defRPr sz="1200" b="0">
                <a:solidFill>
                  <a:srgbClr val="595959"/>
                </a:solidFill>
                <a:latin typeface="Arial"/>
                <a:ea typeface="Arial"/>
                <a:cs typeface="Arial"/>
              </a:defRPr>
            </a:lvl1pPr>
            <a:lvl2pPr algn="l">
              <a:defRPr sz="1200" b="0">
                <a:solidFill>
                  <a:srgbClr val="595959"/>
                </a:solidFill>
                <a:latin typeface="Arial"/>
                <a:ea typeface="Arial"/>
                <a:cs typeface="Arial"/>
              </a:defRPr>
            </a:lvl2pPr>
            <a:lvl3pPr algn="l">
              <a:defRPr sz="1200" b="0">
                <a:solidFill>
                  <a:srgbClr val="595959"/>
                </a:solidFill>
                <a:latin typeface="Arial"/>
                <a:ea typeface="Arial"/>
                <a:cs typeface="Arial"/>
              </a:defRPr>
            </a:lvl3pPr>
            <a:lvl4pPr algn="l">
              <a:defRPr sz="1200" b="0">
                <a:solidFill>
                  <a:srgbClr val="595959"/>
                </a:solidFill>
                <a:latin typeface="Arial"/>
                <a:ea typeface="Arial"/>
                <a:cs typeface="Arial"/>
              </a:defRPr>
            </a:lvl4pPr>
            <a:lvl5pPr algn="l">
              <a:defRPr sz="1200" b="0">
                <a:solidFill>
                  <a:srgbClr val="595959"/>
                </a:solidFill>
                <a:latin typeface="Arial"/>
                <a:ea typeface="Arial"/>
                <a:cs typeface="Arial"/>
              </a:defRPr>
            </a:lvl5pPr>
            <a:lvl6pPr algn="l">
              <a:defRPr sz="1200" b="0">
                <a:solidFill>
                  <a:srgbClr val="595959"/>
                </a:solidFill>
                <a:latin typeface="Arial"/>
                <a:ea typeface="Arial"/>
                <a:cs typeface="Arial"/>
              </a:defRPr>
            </a:lvl6pPr>
            <a:lvl7pPr algn="l">
              <a:defRPr sz="1200" b="0">
                <a:solidFill>
                  <a:srgbClr val="595959"/>
                </a:solidFill>
                <a:latin typeface="Arial"/>
                <a:ea typeface="Arial"/>
                <a:cs typeface="Arial"/>
              </a:defRPr>
            </a:lvl7pPr>
            <a:lvl8pPr algn="l">
              <a:defRPr sz="1200" b="0">
                <a:solidFill>
                  <a:srgbClr val="595959"/>
                </a:solidFill>
                <a:latin typeface="Arial"/>
                <a:ea typeface="Arial"/>
                <a:cs typeface="Arial"/>
              </a:defRPr>
            </a:lvl8pPr>
            <a:lvl9pPr algn="l">
              <a:defRPr sz="1200" b="0">
                <a:solidFill>
                  <a:srgbClr val="595959"/>
                </a:solidFill>
                <a:latin typeface="Arial"/>
                <a:ea typeface="Arial"/>
                <a:cs typeface="Arial"/>
              </a:defRPr>
            </a:lvl9pPr>
          </a:lstStyle>
          <a:p xmlns:a="http://schemas.openxmlformats.org/drawingml/2006/main">
            <a:pPr algn="l">
              <a:defRPr sz="1200" b="0">
                <a:solidFill>
                  <a:srgbClr val="595959"/>
                </a:solidFill>
                <a:latin typeface="Arial"/>
                <a:ea typeface="Arial"/>
                <a:cs typeface="Arial"/>
              </a:defRPr>
            </a:pPr>
            <a:r>
              <a:rPr sz="1200" b="0">
                <a:solidFill>
                  <a:srgbClr val="595959"/>
                </a:solidFill>
                <a:latin typeface="Arial"/>
                <a:ea typeface="Arial"/>
                <a:cs typeface="Arial"/>
              </a:rPr>
              <a:t>GBP million unless stated. Year ending 31 December.</a:t>
            </a:r>
          </a:p>
        </p:txBody>
      </p:sp>
      <p:graphicFrame>
        <p:nvGraphicFramePr>
          <p:cNvPr id="8" name="">
            <a:extLst xmlns:a="http://schemas.openxmlformats.org/drawingml/2006/main">
              <a:ext uri="{FF2B5EF4-FFF2-40B4-BE49-F238E27FC236}">
                <a16:creationId xmlns:a16="http://schemas.microsoft.com/office/drawing/2014/main" id="{DF7DDF19-9BD6-45A5-ADDF-73A0CC3501BB}"/>
              </a:ext>
            </a:extLst>
          </p:cNvPr>
          <p:cNvGraphicFramePr/>
          <p:nvPr/>
        </p:nvGraphicFramePr>
        <p:xfrm>
          <a:off xmlns:a="http://schemas.openxmlformats.org/drawingml/2006/main" x="685800" y="1790700"/>
          <a:ext xmlns:a="http://schemas.openxmlformats.org/drawingml/2006/main" cx="6705600" cy="3105150"/>
        </p:xfrm>
        <a:graphic xmlns:a="http://schemas.openxmlformats.org/drawingml/2006/main">
          <a:graphicData uri="http://schemas.openxmlformats.org/drawingml/2006/table">
            <a:tbl>
              <a:tblPr/>
              <a:tblGrid>
                <a:gridCol w="2748161"/>
                <a:gridCol w="1319113"/>
                <a:gridCol w="1319113"/>
                <a:gridCol w="1319213"/>
              </a:tblGrid>
              <a:tr h="439440">
                <a:tc>
                  <a:txBody>
                    <a:bodyPr lIns="95250" tIns="66675" rIns="95250" bIns="66675">
                      <a:noAutofit/>
                    </a:bodyPr>
                    <a:lstStyle/>
                    <a:p>
                      <a:r>
                        <a:rPr sz="1275" b="1">
                          <a:solidFill>
                            <a:srgbClr val="FFFFFF"/>
                          </a:solidFill>
                          <a:latin typeface="Arial"/>
                          <a:ea typeface="Arial"/>
                          <a:cs typeface="Arial"/>
                        </a:rPr>
                        <a:t/>
                      </a:r>
                    </a:p>
                  </a:txBody>
                  <a:tcPr marL="91440" marR="91440" marT="45720" marB="45720" anchor="ctr">
                    <a:lnL w="9525">
                      <a:solidFill>
                        <a:srgbClr val="B8C7DF"/>
                      </a:solidFill>
                      <a:prstDash val="solid"/>
                    </a:lnL>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r"/>
                      <a:r>
                        <a:rPr sz="1275" b="1">
                          <a:solidFill>
                            <a:srgbClr val="FFFFFF"/>
                          </a:solidFill>
                          <a:latin typeface="Arial"/>
                          <a:ea typeface="Arial"/>
                          <a:cs typeface="Arial"/>
                        </a:rPr>
                        <a:t>FY2023A</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r"/>
                      <a:r>
                        <a:rPr sz="1275" b="1">
                          <a:solidFill>
                            <a:srgbClr val="FFFFFF"/>
                          </a:solidFill>
                          <a:latin typeface="Arial"/>
                          <a:ea typeface="Arial"/>
                          <a:cs typeface="Arial"/>
                        </a:rPr>
                        <a:t>FY2024A</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c>
                  <a:txBody>
                    <a:bodyPr lIns="95250" tIns="66675" rIns="95250" bIns="66675">
                      <a:noAutofit/>
                    </a:bodyPr>
                    <a:lstStyle/>
                    <a:p>
                      <a:pPr algn="r"/>
                      <a:r>
                        <a:rPr sz="1275" b="1">
                          <a:solidFill>
                            <a:srgbClr val="FFFFFF"/>
                          </a:solidFill>
                          <a:latin typeface="Arial"/>
                          <a:ea typeface="Arial"/>
                          <a:cs typeface="Arial"/>
                        </a:rPr>
                        <a:t>FY2025A</a:t>
                      </a:r>
                    </a:p>
                  </a:txBody>
                  <a:tcPr marL="91440" marR="91440" marT="45720" marB="45720" anchor="ctr">
                    <a:lnR w="9525">
                      <a:solidFill>
                        <a:srgbClr val="B8C7DF"/>
                      </a:solidFill>
                      <a:prstDash val="solid"/>
                    </a:lnR>
                    <a:lnT w="9525">
                      <a:solidFill>
                        <a:srgbClr val="B8C7DF"/>
                      </a:solidFill>
                      <a:prstDash val="solid"/>
                    </a:lnT>
                    <a:lnB w="9525">
                      <a:solidFill>
                        <a:srgbClr val="B8C7DF"/>
                      </a:solidFill>
                      <a:prstDash val="solid"/>
                    </a:lnB>
                    <a:solidFill>
                      <a:srgbClr val="00338D"/>
                    </a:solidFill>
                  </a:tcPr>
                </a:tc>
              </a:tr>
              <a:tr h="443706">
                <a:tc>
                  <a:txBody>
                    <a:bodyPr lIns="95250" tIns="66675" rIns="95250" bIns="66675">
                      <a:noAutofit/>
                    </a:bodyPr>
                    <a:lstStyle/>
                    <a:p>
                      <a:pPr algn="l"/>
                      <a:r>
                        <a:rPr sz="1275" b="1">
                          <a:solidFill>
                            <a:srgbClr val="000000"/>
                          </a:solidFill>
                          <a:latin typeface="Arial"/>
                          <a:ea typeface="Arial"/>
                          <a:cs typeface="Arial"/>
                        </a:rPr>
                        <a:t>Revenue</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18.0</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21.5</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25.0</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443706">
                <a:tc>
                  <a:txBody>
                    <a:bodyPr lIns="95250" tIns="66675" rIns="95250" bIns="66675">
                      <a:noAutofit/>
                    </a:bodyPr>
                    <a:lstStyle/>
                    <a:p>
                      <a:pPr algn="l"/>
                      <a:r>
                        <a:rPr sz="1275" b="0">
                          <a:solidFill>
                            <a:srgbClr val="000000"/>
                          </a:solidFill>
                          <a:latin typeface="Arial"/>
                          <a:ea typeface="Arial"/>
                          <a:cs typeface="Arial"/>
                        </a:rPr>
                        <a:t>Cost of services</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(10.8)</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(12.7)</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(14.5)</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r h="443706">
                <a:tc>
                  <a:txBody>
                    <a:bodyPr lIns="95250" tIns="66675" rIns="95250" bIns="66675">
                      <a:noAutofit/>
                    </a:bodyPr>
                    <a:lstStyle/>
                    <a:p>
                      <a:pPr algn="l"/>
                      <a:r>
                        <a:rPr sz="1275" b="0">
                          <a:solidFill>
                            <a:srgbClr val="000000"/>
                          </a:solidFill>
                          <a:latin typeface="Arial"/>
                          <a:ea typeface="Arial"/>
                          <a:cs typeface="Arial"/>
                        </a:rPr>
                        <a:t>Gross profit</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7.2</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8.8</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0">
                          <a:solidFill>
                            <a:srgbClr val="000000"/>
                          </a:solidFill>
                          <a:latin typeface="Arial"/>
                          <a:ea typeface="Arial"/>
                          <a:cs typeface="Arial"/>
                        </a:rPr>
                        <a:t>10.5</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443706">
                <a:tc>
                  <a:txBody>
                    <a:bodyPr lIns="95250" tIns="66675" rIns="95250" bIns="66675">
                      <a:noAutofit/>
                    </a:bodyPr>
                    <a:lstStyle/>
                    <a:p>
                      <a:pPr algn="l"/>
                      <a:r>
                        <a:rPr sz="1275" b="0">
                          <a:solidFill>
                            <a:srgbClr val="000000"/>
                          </a:solidFill>
                          <a:latin typeface="Arial"/>
                          <a:ea typeface="Arial"/>
                          <a:cs typeface="Arial"/>
                        </a:rPr>
                        <a:t>Operating expenses</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(4.5)</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(4.9)</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0">
                          <a:solidFill>
                            <a:srgbClr val="000000"/>
                          </a:solidFill>
                          <a:latin typeface="Arial"/>
                          <a:ea typeface="Arial"/>
                          <a:cs typeface="Arial"/>
                        </a:rPr>
                        <a:t>(5.5)</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r h="443706">
                <a:tc>
                  <a:txBody>
                    <a:bodyPr lIns="95250" tIns="66675" rIns="95250" bIns="66675">
                      <a:noAutofit/>
                    </a:bodyPr>
                    <a:lstStyle/>
                    <a:p>
                      <a:pPr algn="l"/>
                      <a:r>
                        <a:rPr sz="1275" b="1">
                          <a:solidFill>
                            <a:srgbClr val="000000"/>
                          </a:solidFill>
                          <a:latin typeface="Arial"/>
                          <a:ea typeface="Arial"/>
                          <a:cs typeface="Arial"/>
                        </a:rPr>
                        <a:t>EBITDA</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2.7</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3.9</a:t>
                      </a:r>
                    </a:p>
                  </a:txBody>
                  <a:tcPr marL="91440" marR="91440" marT="45720" marB="45720" anchor="ctr">
                    <a:lnR w="9525">
                      <a:solidFill>
                        <a:srgbClr val="B8C7DF"/>
                      </a:solidFill>
                      <a:prstDash val="solid"/>
                    </a:lnR>
                    <a:lnB w="9525">
                      <a:solidFill>
                        <a:srgbClr val="B8C7DF"/>
                      </a:solidFill>
                      <a:prstDash val="solid"/>
                    </a:lnB>
                    <a:solidFill>
                      <a:srgbClr val="FFFFFF"/>
                    </a:solidFill>
                  </a:tcPr>
                </a:tc>
                <a:tc>
                  <a:txBody>
                    <a:bodyPr lIns="95250" tIns="66675" rIns="95250" bIns="66675">
                      <a:noAutofit/>
                    </a:bodyPr>
                    <a:lstStyle/>
                    <a:p>
                      <a:pPr algn="r"/>
                      <a:r>
                        <a:rPr sz="1275" b="1">
                          <a:solidFill>
                            <a:srgbClr val="000000"/>
                          </a:solidFill>
                          <a:latin typeface="Arial"/>
                          <a:ea typeface="Arial"/>
                          <a:cs typeface="Arial"/>
                        </a:rPr>
                        <a:t>5.0</a:t>
                      </a:r>
                    </a:p>
                  </a:txBody>
                  <a:tcPr marL="91440" marR="91440" marT="45720" marB="45720" anchor="ctr">
                    <a:lnR w="9525">
                      <a:solidFill>
                        <a:srgbClr val="B8C7DF"/>
                      </a:solidFill>
                      <a:prstDash val="solid"/>
                    </a:lnR>
                    <a:lnB w="9525">
                      <a:solidFill>
                        <a:srgbClr val="B8C7DF"/>
                      </a:solidFill>
                      <a:prstDash val="solid"/>
                    </a:lnB>
                    <a:solidFill>
                      <a:srgbClr val="FFFFFF"/>
                    </a:solidFill>
                  </a:tcPr>
                </a:tc>
              </a:tr>
              <a:tr h="444004">
                <a:tc>
                  <a:txBody>
                    <a:bodyPr lIns="95250" tIns="66675" rIns="95250" bIns="66675">
                      <a:noAutofit/>
                    </a:bodyPr>
                    <a:lstStyle/>
                    <a:p>
                      <a:pPr algn="l"/>
                      <a:r>
                        <a:rPr sz="1275" b="1">
                          <a:solidFill>
                            <a:srgbClr val="000000"/>
                          </a:solidFill>
                          <a:latin typeface="Arial"/>
                          <a:ea typeface="Arial"/>
                          <a:cs typeface="Arial"/>
                        </a:rPr>
                        <a:t>EBITDA margin</a:t>
                      </a:r>
                    </a:p>
                  </a:txBody>
                  <a:tcPr marL="91440" marR="91440" marT="45720" marB="45720" anchor="ctr">
                    <a:lnL w="9525">
                      <a:solidFill>
                        <a:srgbClr val="B8C7DF"/>
                      </a:solidFill>
                      <a:prstDash val="solid"/>
                    </a:lnL>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1">
                          <a:solidFill>
                            <a:srgbClr val="000000"/>
                          </a:solidFill>
                          <a:latin typeface="Arial"/>
                          <a:ea typeface="Arial"/>
                          <a:cs typeface="Arial"/>
                        </a:rPr>
                        <a:t>15.0%</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1">
                          <a:solidFill>
                            <a:srgbClr val="000000"/>
                          </a:solidFill>
                          <a:latin typeface="Arial"/>
                          <a:ea typeface="Arial"/>
                          <a:cs typeface="Arial"/>
                        </a:rPr>
                        <a:t>18.1%</a:t>
                      </a:r>
                    </a:p>
                  </a:txBody>
                  <a:tcPr marL="91440" marR="91440" marT="45720" marB="45720" anchor="ctr">
                    <a:lnR w="9525">
                      <a:solidFill>
                        <a:srgbClr val="B8C7DF"/>
                      </a:solidFill>
                      <a:prstDash val="solid"/>
                    </a:lnR>
                    <a:lnB w="9525">
                      <a:solidFill>
                        <a:srgbClr val="B8C7DF"/>
                      </a:solidFill>
                      <a:prstDash val="solid"/>
                    </a:lnB>
                    <a:solidFill>
                      <a:srgbClr val="DBE8F8"/>
                    </a:solidFill>
                  </a:tcPr>
                </a:tc>
                <a:tc>
                  <a:txBody>
                    <a:bodyPr lIns="95250" tIns="66675" rIns="95250" bIns="66675">
                      <a:noAutofit/>
                    </a:bodyPr>
                    <a:lstStyle/>
                    <a:p>
                      <a:pPr algn="r"/>
                      <a:r>
                        <a:rPr sz="1275" b="1">
                          <a:solidFill>
                            <a:srgbClr val="000000"/>
                          </a:solidFill>
                          <a:latin typeface="Arial"/>
                          <a:ea typeface="Arial"/>
                          <a:cs typeface="Arial"/>
                        </a:rPr>
                        <a:t>20.0%</a:t>
                      </a:r>
                    </a:p>
                  </a:txBody>
                  <a:tcPr marL="91440" marR="91440" marT="45720" marB="45720" anchor="ctr">
                    <a:lnR w="9525">
                      <a:solidFill>
                        <a:srgbClr val="B8C7DF"/>
                      </a:solidFill>
                      <a:prstDash val="solid"/>
                    </a:lnR>
                    <a:lnB w="9525">
                      <a:solidFill>
                        <a:srgbClr val="B8C7DF"/>
                      </a:solidFill>
                      <a:prstDash val="solid"/>
                    </a:lnB>
                    <a:solidFill>
                      <a:srgbClr val="DBE8F8"/>
                    </a:solidFill>
                  </a:tcPr>
                </a:tc>
              </a:tr>
            </a:tbl>
          </a:graphicData>
        </a:graphic>
      </p:graphicFrame>
      <p:sp>
        <p:nvSpPr>
          <p:cNvPr id="9" name="p3-analysis-head">
            <a:extLst xmlns:a="http://schemas.openxmlformats.org/drawingml/2006/main">
              <a:ext uri="{FF2B5EF4-FFF2-40B4-BE49-F238E27FC236}">
                <a16:creationId xmlns:a16="http://schemas.microsoft.com/office/drawing/2014/main" id="{4F91892A-6AC8-4A72-BB2E-C3F833566F79}"/>
              </a:ext>
            </a:extLst>
          </p:cNvPr>
          <p:cNvSpPr>
            <a:spLocks xmlns:a="http://schemas.openxmlformats.org/drawingml/2006/main" noGrp="1"/>
          </p:cNvSpPr>
          <p:nvPr/>
        </p:nvSpPr>
        <p:spPr>
          <a:xfrm xmlns:a="http://schemas.openxmlformats.org/drawingml/2006/main">
            <a:off x="7772400" y="1790700"/>
            <a:ext cx="373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Historical development</a:t>
            </a:r>
          </a:p>
        </p:txBody>
      </p:sp>
      <p:sp>
        <p:nvSpPr>
          <p:cNvPr id="10" name="p3-analysis">
            <a:extLst xmlns:a="http://schemas.openxmlformats.org/drawingml/2006/main">
              <a:ext uri="{FF2B5EF4-FFF2-40B4-BE49-F238E27FC236}">
                <a16:creationId xmlns:a16="http://schemas.microsoft.com/office/drawing/2014/main" id="{530A7FA1-6A8F-4A27-BC76-A17D28446360}"/>
              </a:ext>
            </a:extLst>
          </p:cNvPr>
          <p:cNvSpPr>
            <a:spLocks xmlns:a="http://schemas.openxmlformats.org/drawingml/2006/main" noGrp="1"/>
          </p:cNvSpPr>
          <p:nvPr/>
        </p:nvSpPr>
        <p:spPr>
          <a:xfrm xmlns:a="http://schemas.openxmlformats.org/drawingml/2006/main">
            <a:off x="7772400" y="2190750"/>
            <a:ext cx="3733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Revenue increased from £18.0m to £25.0m between FY2023 and FY2025 (17.9% CAGR).</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Management EBITDA rose from £2.7m to £5.0m. Reported margins were 15.0%, 18.1% and 20.0% across the three years.</a:t>
            </a:r>
          </a:p>
        </p:txBody>
      </p:sp>
      <p:sp>
        <p:nvSpPr>
          <p:cNvPr id="11" name="p3-quality-head">
            <a:extLst xmlns:a="http://schemas.openxmlformats.org/drawingml/2006/main">
              <a:ext uri="{FF2B5EF4-FFF2-40B4-BE49-F238E27FC236}">
                <a16:creationId xmlns:a16="http://schemas.microsoft.com/office/drawing/2014/main" id="{B106E133-E1E7-4C6C-BEC2-A1F12C25ADE1}"/>
              </a:ext>
            </a:extLst>
          </p:cNvPr>
          <p:cNvSpPr>
            <a:spLocks xmlns:a="http://schemas.openxmlformats.org/drawingml/2006/main" noGrp="1"/>
          </p:cNvSpPr>
          <p:nvPr/>
        </p:nvSpPr>
        <p:spPr>
          <a:xfrm xmlns:a="http://schemas.openxmlformats.org/drawingml/2006/main">
            <a:off x="7772400" y="4057650"/>
            <a:ext cx="373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0338D"/>
                </a:solidFill>
                <a:latin typeface="Arial"/>
                <a:ea typeface="Arial"/>
                <a:cs typeface="Arial"/>
              </a:defRPr>
            </a:defPPr>
            <a:lvl1pPr algn="l">
              <a:defRPr sz="1575" b="1">
                <a:solidFill>
                  <a:srgbClr val="00338D"/>
                </a:solidFill>
                <a:latin typeface="Arial"/>
                <a:ea typeface="Arial"/>
                <a:cs typeface="Arial"/>
              </a:defRPr>
            </a:lvl1pPr>
            <a:lvl2pPr algn="l">
              <a:defRPr sz="1575" b="1">
                <a:solidFill>
                  <a:srgbClr val="00338D"/>
                </a:solidFill>
                <a:latin typeface="Arial"/>
                <a:ea typeface="Arial"/>
                <a:cs typeface="Arial"/>
              </a:defRPr>
            </a:lvl2pPr>
            <a:lvl3pPr algn="l">
              <a:defRPr sz="1575" b="1">
                <a:solidFill>
                  <a:srgbClr val="00338D"/>
                </a:solidFill>
                <a:latin typeface="Arial"/>
                <a:ea typeface="Arial"/>
                <a:cs typeface="Arial"/>
              </a:defRPr>
            </a:lvl3pPr>
            <a:lvl4pPr algn="l">
              <a:defRPr sz="1575" b="1">
                <a:solidFill>
                  <a:srgbClr val="00338D"/>
                </a:solidFill>
                <a:latin typeface="Arial"/>
                <a:ea typeface="Arial"/>
                <a:cs typeface="Arial"/>
              </a:defRPr>
            </a:lvl4pPr>
            <a:lvl5pPr algn="l">
              <a:defRPr sz="1575" b="1">
                <a:solidFill>
                  <a:srgbClr val="00338D"/>
                </a:solidFill>
                <a:latin typeface="Arial"/>
                <a:ea typeface="Arial"/>
                <a:cs typeface="Arial"/>
              </a:defRPr>
            </a:lvl5pPr>
            <a:lvl6pPr algn="l">
              <a:defRPr sz="1575" b="1">
                <a:solidFill>
                  <a:srgbClr val="00338D"/>
                </a:solidFill>
                <a:latin typeface="Arial"/>
                <a:ea typeface="Arial"/>
                <a:cs typeface="Arial"/>
              </a:defRPr>
            </a:lvl6pPr>
            <a:lvl7pPr algn="l">
              <a:defRPr sz="1575" b="1">
                <a:solidFill>
                  <a:srgbClr val="00338D"/>
                </a:solidFill>
                <a:latin typeface="Arial"/>
                <a:ea typeface="Arial"/>
                <a:cs typeface="Arial"/>
              </a:defRPr>
            </a:lvl7pPr>
            <a:lvl8pPr algn="l">
              <a:defRPr sz="1575" b="1">
                <a:solidFill>
                  <a:srgbClr val="00338D"/>
                </a:solidFill>
                <a:latin typeface="Arial"/>
                <a:ea typeface="Arial"/>
                <a:cs typeface="Arial"/>
              </a:defRPr>
            </a:lvl8pPr>
            <a:lvl9pPr algn="l">
              <a:defRPr sz="1575" b="1">
                <a:solidFill>
                  <a:srgbClr val="00338D"/>
                </a:solidFill>
                <a:latin typeface="Arial"/>
                <a:ea typeface="Arial"/>
                <a:cs typeface="Arial"/>
              </a:defRPr>
            </a:lvl9pPr>
          </a:lstStyle>
          <a:p xmlns:a="http://schemas.openxmlformats.org/drawingml/2006/main">
            <a:pPr algn="l">
              <a:defRPr sz="1575" b="1">
                <a:solidFill>
                  <a:srgbClr val="00338D"/>
                </a:solidFill>
                <a:latin typeface="Arial"/>
                <a:ea typeface="Arial"/>
                <a:cs typeface="Arial"/>
              </a:defRPr>
            </a:pPr>
            <a:r>
              <a:rPr sz="1575" b="1">
                <a:solidFill>
                  <a:srgbClr val="00338D"/>
                </a:solidFill>
                <a:latin typeface="Arial"/>
                <a:ea typeface="Arial"/>
                <a:cs typeface="Arial"/>
              </a:rPr>
              <a:t>Diligence focus</a:t>
            </a:r>
          </a:p>
        </p:txBody>
      </p:sp>
      <p:sp>
        <p:nvSpPr>
          <p:cNvPr id="12" name="p3-quality">
            <a:extLst xmlns:a="http://schemas.openxmlformats.org/drawingml/2006/main">
              <a:ext uri="{FF2B5EF4-FFF2-40B4-BE49-F238E27FC236}">
                <a16:creationId xmlns:a16="http://schemas.microsoft.com/office/drawing/2014/main" id="{7064D28E-246E-488A-8D4F-8787513BC320}"/>
              </a:ext>
            </a:extLst>
          </p:cNvPr>
          <p:cNvSpPr>
            <a:spLocks xmlns:a="http://schemas.openxmlformats.org/drawingml/2006/main" noGrp="1"/>
          </p:cNvSpPr>
          <p:nvPr/>
        </p:nvSpPr>
        <p:spPr>
          <a:xfrm xmlns:a="http://schemas.openxmlformats.org/drawingml/2006/main">
            <a:off x="7772400" y="4457700"/>
            <a:ext cx="37338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Arial"/>
                <a:ea typeface="Arial"/>
                <a:cs typeface="Arial"/>
              </a:defRPr>
            </a:defPPr>
            <a:lvl1pPr algn="l">
              <a:defRPr sz="1350" b="0">
                <a:solidFill>
                  <a:srgbClr val="000000"/>
                </a:solidFill>
                <a:latin typeface="Arial"/>
                <a:ea typeface="Arial"/>
                <a:cs typeface="Arial"/>
              </a:defRPr>
            </a:lvl1pPr>
            <a:lvl2pPr algn="l">
              <a:defRPr sz="1350" b="0">
                <a:solidFill>
                  <a:srgbClr val="000000"/>
                </a:solidFill>
                <a:latin typeface="Arial"/>
                <a:ea typeface="Arial"/>
                <a:cs typeface="Arial"/>
              </a:defRPr>
            </a:lvl2pPr>
            <a:lvl3pPr algn="l">
              <a:defRPr sz="1350" b="0">
                <a:solidFill>
                  <a:srgbClr val="000000"/>
                </a:solidFill>
                <a:latin typeface="Arial"/>
                <a:ea typeface="Arial"/>
                <a:cs typeface="Arial"/>
              </a:defRPr>
            </a:lvl3pPr>
            <a:lvl4pPr algn="l">
              <a:defRPr sz="1350" b="0">
                <a:solidFill>
                  <a:srgbClr val="000000"/>
                </a:solidFill>
                <a:latin typeface="Arial"/>
                <a:ea typeface="Arial"/>
                <a:cs typeface="Arial"/>
              </a:defRPr>
            </a:lvl4pPr>
            <a:lvl5pPr algn="l">
              <a:defRPr sz="1350" b="0">
                <a:solidFill>
                  <a:srgbClr val="000000"/>
                </a:solidFill>
                <a:latin typeface="Arial"/>
                <a:ea typeface="Arial"/>
                <a:cs typeface="Arial"/>
              </a:defRPr>
            </a:lvl5pPr>
            <a:lvl6pPr algn="l">
              <a:defRPr sz="1350" b="0">
                <a:solidFill>
                  <a:srgbClr val="000000"/>
                </a:solidFill>
                <a:latin typeface="Arial"/>
                <a:ea typeface="Arial"/>
                <a:cs typeface="Arial"/>
              </a:defRPr>
            </a:lvl6pPr>
            <a:lvl7pPr algn="l">
              <a:defRPr sz="1350" b="0">
                <a:solidFill>
                  <a:srgbClr val="000000"/>
                </a:solidFill>
                <a:latin typeface="Arial"/>
                <a:ea typeface="Arial"/>
                <a:cs typeface="Arial"/>
              </a:defRPr>
            </a:lvl7pPr>
            <a:lvl8pPr algn="l">
              <a:defRPr sz="1350" b="0">
                <a:solidFill>
                  <a:srgbClr val="000000"/>
                </a:solidFill>
                <a:latin typeface="Arial"/>
                <a:ea typeface="Arial"/>
                <a:cs typeface="Arial"/>
              </a:defRPr>
            </a:lvl8pPr>
            <a:lvl9pPr algn="l">
              <a:defRPr sz="1350" b="0">
                <a:solidFill>
                  <a:srgbClr val="000000"/>
                </a:solidFill>
                <a:latin typeface="Arial"/>
                <a:ea typeface="Arial"/>
                <a:cs typeface="Arial"/>
              </a:defRPr>
            </a:lvl9pPr>
          </a:lstStyle>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The earnings basis is management-reported. QoE, normalisation, debt, cash and working-capital schedules are unavailable. The revenue difference requires reconciliation before relying on the growth trend.</a:t>
            </a:r>
          </a:p>
        </p:txBody>
      </p:sp>
      <p:sp>
        <p:nvSpPr>
          <p:cNvPr id="13" name="p3-recon-rule">
            <a:extLst xmlns:a="http://schemas.openxmlformats.org/drawingml/2006/main">
              <a:ext uri="{FF2B5EF4-FFF2-40B4-BE49-F238E27FC236}">
                <a16:creationId xmlns:a16="http://schemas.microsoft.com/office/drawing/2014/main" id="{72FE0B39-5A6C-4815-8F7B-85CBAA2A1E1A}"/>
              </a:ext>
            </a:extLst>
          </p:cNvPr>
          <p:cNvSpPr>
            <a:spLocks xmlns:a="http://schemas.openxmlformats.org/drawingml/2006/main" noGrp="1"/>
          </p:cNvSpPr>
          <p:nvPr/>
        </p:nvSpPr>
        <p:spPr>
          <a:xfrm xmlns:a="http://schemas.openxmlformats.org/drawingml/2006/main">
            <a:off x="685800" y="5181600"/>
            <a:ext cx="6705600" cy="9525"/>
          </a:xfrm>
          <a:prstGeom xmlns:a="http://schemas.openxmlformats.org/drawingml/2006/main" prst="rect">
            <a:avLst/>
          </a:prstGeom>
          <a:solidFill xmlns:a="http://schemas.openxmlformats.org/drawingml/2006/main">
            <a:srgbClr val="00338D"/>
          </a:solidFill>
          <a:ln xmlns:a="http://schemas.openxmlformats.org/drawingml/2006/main" w="0">
            <a:noFill/>
          </a:ln>
        </p:spPr>
      </p:sp>
      <p:sp>
        <p:nvSpPr>
          <p:cNvPr id="14" name="p3-recon">
            <a:extLst xmlns:a="http://schemas.openxmlformats.org/drawingml/2006/main">
              <a:ext uri="{FF2B5EF4-FFF2-40B4-BE49-F238E27FC236}">
                <a16:creationId xmlns:a16="http://schemas.microsoft.com/office/drawing/2014/main" id="{89ACFCBD-3839-4EF5-9A10-0786DBB9EB55}"/>
              </a:ext>
            </a:extLst>
          </p:cNvPr>
          <p:cNvSpPr>
            <a:spLocks xmlns:a="http://schemas.openxmlformats.org/drawingml/2006/main" noGrp="1"/>
          </p:cNvSpPr>
          <p:nvPr/>
        </p:nvSpPr>
        <p:spPr>
          <a:xfrm xmlns:a="http://schemas.openxmlformats.org/drawingml/2006/main">
            <a:off x="685800" y="5381625"/>
            <a:ext cx="670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338D"/>
                </a:solidFill>
                <a:latin typeface="Arial"/>
                <a:ea typeface="Arial"/>
                <a:cs typeface="Arial"/>
              </a:defRPr>
            </a:defPPr>
            <a:lvl1pPr algn="l">
              <a:defRPr sz="1350" b="0">
                <a:solidFill>
                  <a:srgbClr val="00338D"/>
                </a:solidFill>
                <a:latin typeface="Arial"/>
                <a:ea typeface="Arial"/>
                <a:cs typeface="Arial"/>
              </a:defRPr>
            </a:lvl1pPr>
            <a:lvl2pPr algn="l">
              <a:defRPr sz="1350" b="0">
                <a:solidFill>
                  <a:srgbClr val="00338D"/>
                </a:solidFill>
                <a:latin typeface="Arial"/>
                <a:ea typeface="Arial"/>
                <a:cs typeface="Arial"/>
              </a:defRPr>
            </a:lvl2pPr>
            <a:lvl3pPr algn="l">
              <a:defRPr sz="1350" b="0">
                <a:solidFill>
                  <a:srgbClr val="00338D"/>
                </a:solidFill>
                <a:latin typeface="Arial"/>
                <a:ea typeface="Arial"/>
                <a:cs typeface="Arial"/>
              </a:defRPr>
            </a:lvl3pPr>
            <a:lvl4pPr algn="l">
              <a:defRPr sz="1350" b="0">
                <a:solidFill>
                  <a:srgbClr val="00338D"/>
                </a:solidFill>
                <a:latin typeface="Arial"/>
                <a:ea typeface="Arial"/>
                <a:cs typeface="Arial"/>
              </a:defRPr>
            </a:lvl4pPr>
            <a:lvl5pPr algn="l">
              <a:defRPr sz="1350" b="0">
                <a:solidFill>
                  <a:srgbClr val="00338D"/>
                </a:solidFill>
                <a:latin typeface="Arial"/>
                <a:ea typeface="Arial"/>
                <a:cs typeface="Arial"/>
              </a:defRPr>
            </a:lvl5pPr>
            <a:lvl6pPr algn="l">
              <a:defRPr sz="1350" b="0">
                <a:solidFill>
                  <a:srgbClr val="00338D"/>
                </a:solidFill>
                <a:latin typeface="Arial"/>
                <a:ea typeface="Arial"/>
                <a:cs typeface="Arial"/>
              </a:defRPr>
            </a:lvl6pPr>
            <a:lvl7pPr algn="l">
              <a:defRPr sz="1350" b="0">
                <a:solidFill>
                  <a:srgbClr val="00338D"/>
                </a:solidFill>
                <a:latin typeface="Arial"/>
                <a:ea typeface="Arial"/>
                <a:cs typeface="Arial"/>
              </a:defRPr>
            </a:lvl7pPr>
            <a:lvl8pPr algn="l">
              <a:defRPr sz="1350" b="0">
                <a:solidFill>
                  <a:srgbClr val="00338D"/>
                </a:solidFill>
                <a:latin typeface="Arial"/>
                <a:ea typeface="Arial"/>
                <a:cs typeface="Arial"/>
              </a:defRPr>
            </a:lvl8pPr>
            <a:lvl9pPr algn="l">
              <a:defRPr sz="1350" b="0">
                <a:solidFill>
                  <a:srgbClr val="00338D"/>
                </a:solidFill>
                <a:latin typeface="Arial"/>
                <a:ea typeface="Arial"/>
                <a:cs typeface="Arial"/>
              </a:defRPr>
            </a:lvl9pPr>
          </a:lstStyle>
          <a:p xmlns:a="http://schemas.openxmlformats.org/drawingml/2006/main">
            <a:pPr algn="l">
              <a:defRPr sz="1350" b="0">
                <a:solidFill>
                  <a:srgbClr val="00338D"/>
                </a:solidFill>
                <a:latin typeface="Arial"/>
                <a:ea typeface="Arial"/>
                <a:cs typeface="Arial"/>
              </a:defRPr>
            </a:pPr>
            <a:r>
              <a:rPr sz="1350" b="0">
                <a:solidFill>
                  <a:srgbClr val="00338D"/>
                </a:solidFill>
                <a:latin typeface="Arial"/>
                <a:ea typeface="Arial"/>
                <a:cs typeface="Arial"/>
              </a:rPr>
              <a:t>Revenue reconciliation remains open: £25.0m management model versus £26.2m earlier company brief. The CFO supports provisional use of the model; this does not resolve the difference.</a:t>
            </a:r>
          </a:p>
        </p:txBody>
      </p:sp>
    </p:spTree>
    <p:extLst>
      <p:ext uri="{BB962C8B-B14F-4D97-AF65-F5344CB8AC3E}">
        <p14:creationId xmlns:p14="http://schemas.microsoft.com/office/powerpoint/2010/main" val="535305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2026-10-22T06:51:33.0460000Z</dcterms:created>
  <dcterms:modified xsi:type="dcterms:W3CDTF">2026-10-22T06:51:33.0460000Z</dcterms:modified>
</coreProperties>
</file>